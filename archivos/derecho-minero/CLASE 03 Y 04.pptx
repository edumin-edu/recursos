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59"/>
  </p:notesMasterIdLst>
  <p:sldIdLst>
    <p:sldId id="350" r:id="rId2"/>
    <p:sldId id="257" r:id="rId3"/>
    <p:sldId id="272" r:id="rId4"/>
    <p:sldId id="260" r:id="rId5"/>
    <p:sldId id="291" r:id="rId6"/>
    <p:sldId id="292" r:id="rId7"/>
    <p:sldId id="346" r:id="rId8"/>
    <p:sldId id="293" r:id="rId9"/>
    <p:sldId id="294" r:id="rId10"/>
    <p:sldId id="295" r:id="rId11"/>
    <p:sldId id="256" r:id="rId12"/>
    <p:sldId id="298" r:id="rId13"/>
    <p:sldId id="297" r:id="rId14"/>
    <p:sldId id="351" r:id="rId15"/>
    <p:sldId id="299" r:id="rId16"/>
    <p:sldId id="300" r:id="rId17"/>
    <p:sldId id="301" r:id="rId18"/>
    <p:sldId id="302" r:id="rId19"/>
    <p:sldId id="303" r:id="rId20"/>
    <p:sldId id="304" r:id="rId21"/>
    <p:sldId id="305" r:id="rId22"/>
    <p:sldId id="306" r:id="rId23"/>
    <p:sldId id="307" r:id="rId24"/>
    <p:sldId id="352" r:id="rId25"/>
    <p:sldId id="309" r:id="rId26"/>
    <p:sldId id="310" r:id="rId27"/>
    <p:sldId id="311" r:id="rId28"/>
    <p:sldId id="312" r:id="rId29"/>
    <p:sldId id="313" r:id="rId30"/>
    <p:sldId id="314" r:id="rId31"/>
    <p:sldId id="315" r:id="rId32"/>
    <p:sldId id="316" r:id="rId33"/>
    <p:sldId id="317" r:id="rId34"/>
    <p:sldId id="318" r:id="rId35"/>
    <p:sldId id="319" r:id="rId36"/>
    <p:sldId id="323" r:id="rId37"/>
    <p:sldId id="324" r:id="rId38"/>
    <p:sldId id="325" r:id="rId39"/>
    <p:sldId id="320" r:id="rId40"/>
    <p:sldId id="353"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54" r:id="rId57"/>
    <p:sldId id="277" r:id="rId58"/>
  </p:sldIdLst>
  <p:sldSz cx="14630400" cy="8229600"/>
  <p:notesSz cx="8229600" cy="14630400"/>
  <p:embeddedFontLst>
    <p:embeddedFont>
      <p:font typeface="Anton" pitchFamily="2" charset="0"/>
      <p:regular r:id="rId60"/>
    </p:embeddedFont>
    <p:embeddedFont>
      <p:font typeface="Futura Std Book" panose="020B0802020204020204" pitchFamily="34" charset="0"/>
      <p:bold r:id="rId61"/>
    </p:embeddedFont>
    <p:embeddedFont>
      <p:font typeface="Inter" panose="02000503000000020004" pitchFamily="50" charset="0"/>
      <p:regular r:id="rId62"/>
      <p:bold r:id="rId63"/>
      <p:italic r:id="rId64"/>
      <p:boldItalic r:id="rId65"/>
    </p:embeddedFont>
    <p:embeddedFont>
      <p:font typeface="Inter Bold" panose="020B0604020202020204" charset="0"/>
      <p:regular r:id="rId66"/>
    </p:embeddedFont>
    <p:embeddedFont>
      <p:font typeface="Montserrat" pitchFamily="2" charset="0"/>
      <p:regular r:id="rId67"/>
      <p:bold r:id="rId68"/>
      <p:italic r:id="rId69"/>
    </p:embeddedFont>
    <p:embeddedFont>
      <p:font typeface="Montserrat Bold" pitchFamily="2" charset="0"/>
      <p:bold r:id="rId70"/>
    </p:embeddedFont>
  </p:embeddedFontLst>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610"/>
  </p:normalViewPr>
  <p:slideViewPr>
    <p:cSldViewPr snapToGrid="0" snapToObjects="1">
      <p:cViewPr varScale="1">
        <p:scale>
          <a:sx n="51" d="100"/>
          <a:sy n="51" d="100"/>
        </p:scale>
        <p:origin x="748" y="48"/>
      </p:cViewPr>
      <p:guideLst>
        <p:guide orient="horz" pos="2592"/>
        <p:guide pos="4608"/>
      </p:guideLst>
    </p:cSldViewPr>
  </p:slideViewPr>
  <p:notesTextViewPr>
    <p:cViewPr>
      <p:scale>
        <a:sx n="1" d="1"/>
        <a:sy n="1" d="1"/>
      </p:scale>
      <p:origin x="0" y="0"/>
    </p:cViewPr>
  </p:notesTextViewPr>
  <p:sorterViewPr>
    <p:cViewPr>
      <p:scale>
        <a:sx n="50" d="100"/>
        <a:sy n="5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0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477171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0937050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descr="Imagen que contiene Gráfico&#10;&#10;El contenido generado por IA puede ser incorrecto.">
            <a:extLst>
              <a:ext uri="{FF2B5EF4-FFF2-40B4-BE49-F238E27FC236}">
                <a16:creationId xmlns:a16="http://schemas.microsoft.com/office/drawing/2014/main" id="{AA1D1778-C547-4FA4-7F5B-CFBFC9C94E53}"/>
              </a:ext>
            </a:extLst>
          </p:cNvPr>
          <p:cNvPicPr>
            <a:picLocks noChangeAspect="1"/>
          </p:cNvPicPr>
          <p:nvPr userDrawn="1"/>
        </p:nvPicPr>
        <p:blipFill>
          <a:blip r:embed="rId4"/>
          <a:stretch>
            <a:fillRect/>
          </a:stretch>
        </p:blipFill>
        <p:spPr>
          <a:xfrm>
            <a:off x="10573898" y="3945699"/>
            <a:ext cx="4056502" cy="4283901"/>
          </a:xfrm>
          <a:prstGeom prst="rect">
            <a:avLst/>
          </a:prstGeom>
        </p:spPr>
      </p:pic>
      <p:pic>
        <p:nvPicPr>
          <p:cNvPr id="3" name="Imagen 2" descr="Forma&#10;&#10;El contenido generado por IA puede ser incorrecto.">
            <a:extLst>
              <a:ext uri="{FF2B5EF4-FFF2-40B4-BE49-F238E27FC236}">
                <a16:creationId xmlns:a16="http://schemas.microsoft.com/office/drawing/2014/main" id="{25048F35-9D6F-9ED4-B3F0-294A4DBC3317}"/>
              </a:ext>
            </a:extLst>
          </p:cNvPr>
          <p:cNvPicPr>
            <a:picLocks noChangeAspect="1"/>
          </p:cNvPicPr>
          <p:nvPr userDrawn="1"/>
        </p:nvPicPr>
        <p:blipFill>
          <a:blip r:embed="rId5"/>
          <a:stretch>
            <a:fillRect/>
          </a:stretch>
        </p:blipFill>
        <p:spPr>
          <a:xfrm>
            <a:off x="12400767" y="356388"/>
            <a:ext cx="1878554" cy="80856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hyperlink" Target="https://pxhere.com/es/photo/1612874" TargetMode="External"/><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archivodeinalbis.blogspot.com/2020/06/" TargetMode="External"/><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es.wikipedia.org/wiki/Archivo:Regiones_naturales_del_Per%C3%BA.png" TargetMode="External"/><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hyperlink" Target="https://www.piqsels.com/es/public-domain-photo-onmmp" TargetMode="External"/><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3" Type="http://schemas.openxmlformats.org/officeDocument/2006/relationships/hyperlink" Target="https://www.ingenieriaquimicareviews.com/2020/09/hidrocarburos-alifaticos.html" TargetMode="External"/><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mineriagemas.blogspot.com/2015/10/" TargetMode="External"/><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pxhere.com/es/photo/1330466" TargetMode="External"/><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4.sv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hyperlink" Target="https://lasonrisavacia.blogspot.com/2015/07/responsabilidad-penal-y-civil-en-el.html" TargetMode="External"/><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www.ecointeligencia.com/2018/04/tips-contaminacion-plastico/" TargetMode="External"/><Relationship Id="rId2" Type="http://schemas.openxmlformats.org/officeDocument/2006/relationships/image" Target="../media/image30.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4.sv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24.sv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hyperlink" Target="https://pxhere.com/es/photo/1263765" TargetMode="External"/><Relationship Id="rId2" Type="http://schemas.openxmlformats.org/officeDocument/2006/relationships/image" Target="../media/image42.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8.sv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flipV="1">
            <a:off x="-651958" y="6465239"/>
            <a:ext cx="10049129" cy="2110317"/>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1205467" y="0"/>
            <a:ext cx="3424934" cy="3614706"/>
          </a:xfrm>
          <a:custGeom>
            <a:avLst/>
            <a:gdLst/>
            <a:ahLst/>
            <a:cxnLst/>
            <a:rect l="l" t="t" r="r" b="b"/>
            <a:pathLst>
              <a:path w="4281167" h="4518382">
                <a:moveTo>
                  <a:pt x="4281167" y="4518382"/>
                </a:moveTo>
                <a:lnTo>
                  <a:pt x="0" y="4518382"/>
                </a:lnTo>
                <a:lnTo>
                  <a:pt x="0" y="0"/>
                </a:lnTo>
                <a:lnTo>
                  <a:pt x="4281167" y="0"/>
                </a:lnTo>
                <a:lnTo>
                  <a:pt x="4281167" y="4518382"/>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
        <p:nvSpPr>
          <p:cNvPr id="4" name="AutoShape 4"/>
          <p:cNvSpPr/>
          <p:nvPr/>
        </p:nvSpPr>
        <p:spPr>
          <a:xfrm>
            <a:off x="3943060" y="3723626"/>
            <a:ext cx="6744281" cy="0"/>
          </a:xfrm>
          <a:prstGeom prst="line">
            <a:avLst/>
          </a:prstGeom>
          <a:ln w="57150" cap="flat">
            <a:solidFill>
              <a:srgbClr val="E38C26"/>
            </a:solidFill>
            <a:prstDash val="solid"/>
            <a:headEnd type="none" w="sm" len="sm"/>
            <a:tailEnd type="none" w="sm" len="sm"/>
          </a:ln>
        </p:spPr>
      </p:sp>
      <p:sp>
        <p:nvSpPr>
          <p:cNvPr id="5" name="Freeform 5"/>
          <p:cNvSpPr/>
          <p:nvPr/>
        </p:nvSpPr>
        <p:spPr>
          <a:xfrm>
            <a:off x="-431028" y="-609328"/>
            <a:ext cx="2864576" cy="2864576"/>
          </a:xfrm>
          <a:custGeom>
            <a:avLst/>
            <a:gdLst/>
            <a:ahLst/>
            <a:cxnLst/>
            <a:rect l="l" t="t" r="r" b="b"/>
            <a:pathLst>
              <a:path w="3580720" h="3580720">
                <a:moveTo>
                  <a:pt x="0" y="0"/>
                </a:moveTo>
                <a:lnTo>
                  <a:pt x="3580720" y="0"/>
                </a:lnTo>
                <a:lnTo>
                  <a:pt x="3580720" y="3580720"/>
                </a:lnTo>
                <a:lnTo>
                  <a:pt x="0" y="3580720"/>
                </a:lnTo>
                <a:lnTo>
                  <a:pt x="0" y="0"/>
                </a:lnTo>
                <a:close/>
              </a:path>
            </a:pathLst>
          </a:custGeom>
          <a:blipFill>
            <a:blip r:embed="rId6"/>
            <a:stretch>
              <a:fillRect/>
            </a:stretch>
          </a:blipFill>
        </p:spPr>
      </p:sp>
      <p:sp>
        <p:nvSpPr>
          <p:cNvPr id="6" name="TextBox 6"/>
          <p:cNvSpPr txBox="1"/>
          <p:nvPr/>
        </p:nvSpPr>
        <p:spPr>
          <a:xfrm>
            <a:off x="1296544" y="2344581"/>
            <a:ext cx="12037313" cy="1205458"/>
          </a:xfrm>
          <a:prstGeom prst="rect">
            <a:avLst/>
          </a:prstGeom>
        </p:spPr>
        <p:txBody>
          <a:bodyPr lIns="0" tIns="0" rIns="0" bIns="0" rtlCol="0" anchor="b">
            <a:spAutoFit/>
          </a:bodyPr>
          <a:lstStyle/>
          <a:p>
            <a:pPr algn="ctr">
              <a:lnSpc>
                <a:spcPts val="4720"/>
              </a:lnSpc>
            </a:pPr>
            <a:r>
              <a:rPr lang="en-US" sz="4000" b="1" dirty="0" err="1">
                <a:solidFill>
                  <a:srgbClr val="222023"/>
                </a:solidFill>
                <a:latin typeface="Montserrat Bold"/>
                <a:ea typeface="Montserrat Bold"/>
                <a:cs typeface="Montserrat Bold"/>
                <a:sym typeface="Montserrat Bold"/>
              </a:rPr>
              <a:t>DIPLOMADO</a:t>
            </a:r>
            <a:r>
              <a:rPr lang="en-US" sz="4000" b="1" dirty="0">
                <a:solidFill>
                  <a:srgbClr val="222023"/>
                </a:solidFill>
                <a:latin typeface="Montserrat Bold"/>
                <a:ea typeface="Montserrat Bold"/>
                <a:cs typeface="Montserrat Bold"/>
                <a:sym typeface="Montserrat Bold"/>
              </a:rPr>
              <a:t> DE ALTA </a:t>
            </a:r>
            <a:r>
              <a:rPr lang="en-US" sz="4000" b="1" dirty="0" err="1">
                <a:solidFill>
                  <a:srgbClr val="222023"/>
                </a:solidFill>
                <a:latin typeface="Montserrat Bold"/>
                <a:ea typeface="Montserrat Bold"/>
                <a:cs typeface="Montserrat Bold"/>
                <a:sym typeface="Montserrat Bold"/>
              </a:rPr>
              <a:t>ESPECIALIZACIÓN</a:t>
            </a:r>
            <a:r>
              <a:rPr lang="en-US" sz="4000" b="1" dirty="0">
                <a:solidFill>
                  <a:srgbClr val="222023"/>
                </a:solidFill>
                <a:latin typeface="Montserrat Bold"/>
                <a:ea typeface="Montserrat Bold"/>
                <a:cs typeface="Montserrat Bold"/>
                <a:sym typeface="Montserrat Bold"/>
              </a:rPr>
              <a:t> EN</a:t>
            </a:r>
          </a:p>
          <a:p>
            <a:pPr algn="ctr">
              <a:lnSpc>
                <a:spcPts val="4720"/>
              </a:lnSpc>
            </a:pPr>
            <a:r>
              <a:rPr lang="en-US" sz="4000" b="1" dirty="0">
                <a:solidFill>
                  <a:srgbClr val="222023"/>
                </a:solidFill>
                <a:latin typeface="Montserrat Bold"/>
                <a:ea typeface="Montserrat Bold"/>
                <a:cs typeface="Montserrat Bold"/>
                <a:sym typeface="Montserrat Bold"/>
              </a:rPr>
              <a:t>DERECHO </a:t>
            </a:r>
            <a:r>
              <a:rPr lang="en-US" sz="4000" b="1" dirty="0" err="1">
                <a:solidFill>
                  <a:srgbClr val="222023"/>
                </a:solidFill>
                <a:latin typeface="Montserrat Bold"/>
                <a:ea typeface="Montserrat Bold"/>
                <a:cs typeface="Montserrat Bold"/>
                <a:sym typeface="Montserrat Bold"/>
              </a:rPr>
              <a:t>MINERO</a:t>
            </a:r>
            <a:endParaRPr lang="en-US" sz="4000" b="1" dirty="0">
              <a:solidFill>
                <a:srgbClr val="222023"/>
              </a:solidFill>
              <a:latin typeface="Montserrat Bold"/>
              <a:ea typeface="Montserrat Bold"/>
              <a:cs typeface="Montserrat Bold"/>
              <a:sym typeface="Montserrat Bold"/>
            </a:endParaRPr>
          </a:p>
        </p:txBody>
      </p:sp>
      <p:sp>
        <p:nvSpPr>
          <p:cNvPr id="7" name="TextBox 7"/>
          <p:cNvSpPr txBox="1"/>
          <p:nvPr/>
        </p:nvSpPr>
        <p:spPr>
          <a:xfrm>
            <a:off x="3200400" y="4658453"/>
            <a:ext cx="8229600" cy="845231"/>
          </a:xfrm>
          <a:prstGeom prst="rect">
            <a:avLst/>
          </a:prstGeom>
        </p:spPr>
        <p:txBody>
          <a:bodyPr wrap="square" lIns="0" tIns="0" rIns="0" bIns="0" rtlCol="0" anchor="t">
            <a:spAutoFit/>
          </a:bodyPr>
          <a:lstStyle/>
          <a:p>
            <a:pPr algn="ctr">
              <a:lnSpc>
                <a:spcPts val="3405"/>
              </a:lnSpc>
            </a:pPr>
            <a:r>
              <a:rPr lang="en-US" sz="2639" b="1" dirty="0" err="1">
                <a:solidFill>
                  <a:srgbClr val="A42F0F"/>
                </a:solidFill>
                <a:latin typeface="Futura Std Book" panose="020B0802020204020204" pitchFamily="34" charset="0"/>
                <a:ea typeface="Futura Ultra-Bold"/>
                <a:cs typeface="Futura Ultra-Bold"/>
                <a:sym typeface="Futura Ultra-Bold"/>
              </a:rPr>
              <a:t>CLASE</a:t>
            </a:r>
            <a:r>
              <a:rPr lang="en-US" sz="2639" b="1" dirty="0">
                <a:solidFill>
                  <a:srgbClr val="A42F0F"/>
                </a:solidFill>
                <a:latin typeface="Futura Std Book" panose="020B0802020204020204" pitchFamily="34" charset="0"/>
                <a:ea typeface="Futura Ultra-Bold"/>
                <a:cs typeface="Futura Ultra-Bold"/>
                <a:sym typeface="Futura Ultra-Bold"/>
              </a:rPr>
              <a:t> 03 Y 04: </a:t>
            </a:r>
            <a:r>
              <a:rPr lang="es-ES" sz="2639" b="1" dirty="0">
                <a:solidFill>
                  <a:srgbClr val="A42F0F"/>
                </a:solidFill>
                <a:latin typeface="Futura Std Book" panose="020B0802020204020204" pitchFamily="34" charset="0"/>
                <a:ea typeface="Futura Ultra-Bold"/>
                <a:cs typeface="Futura Ultra-Bold"/>
                <a:sym typeface="Futura Ultra-Bold"/>
              </a:rPr>
              <a:t>MARCO LEGAL Y </a:t>
            </a:r>
            <a:r>
              <a:rPr lang="es-ES" sz="2639" b="1" dirty="0" err="1">
                <a:solidFill>
                  <a:srgbClr val="A42F0F"/>
                </a:solidFill>
                <a:latin typeface="Futura Std Book" panose="020B0802020204020204" pitchFamily="34" charset="0"/>
                <a:ea typeface="Futura Ultra-Bold"/>
                <a:cs typeface="Futura Ultra-Bold"/>
                <a:sym typeface="Futura Ultra-Bold"/>
              </a:rPr>
              <a:t>PERMISOLOGÍA</a:t>
            </a:r>
            <a:r>
              <a:rPr lang="es-ES" sz="2639" b="1" dirty="0">
                <a:solidFill>
                  <a:srgbClr val="A42F0F"/>
                </a:solidFill>
                <a:latin typeface="Futura Std Book" panose="020B0802020204020204" pitchFamily="34" charset="0"/>
                <a:ea typeface="Futura Ultra-Bold"/>
                <a:cs typeface="Futura Ultra-Bold"/>
                <a:sym typeface="Futura Ultra-Bold"/>
              </a:rPr>
              <a:t> AMBIENTAL EN MINERÍA</a:t>
            </a:r>
            <a:endParaRPr lang="en-US" sz="2639" b="1" dirty="0">
              <a:solidFill>
                <a:srgbClr val="A42F0F"/>
              </a:solidFill>
              <a:latin typeface="Futura Std Book" panose="020B0802020204020204" pitchFamily="34" charset="0"/>
              <a:ea typeface="Futura Ultra-Bold"/>
              <a:cs typeface="Futura Ultra-Bold"/>
              <a:sym typeface="Futura Ultra-Bold"/>
            </a:endParaRPr>
          </a:p>
        </p:txBody>
      </p:sp>
      <p:sp>
        <p:nvSpPr>
          <p:cNvPr id="8" name="TextBox 8"/>
          <p:cNvSpPr txBox="1"/>
          <p:nvPr/>
        </p:nvSpPr>
        <p:spPr>
          <a:xfrm>
            <a:off x="1001026" y="3815066"/>
            <a:ext cx="12628349" cy="315727"/>
          </a:xfrm>
          <a:prstGeom prst="rect">
            <a:avLst/>
          </a:prstGeom>
        </p:spPr>
        <p:txBody>
          <a:bodyPr lIns="0" tIns="0" rIns="0" bIns="0" rtlCol="0" anchor="t">
            <a:spAutoFit/>
          </a:bodyPr>
          <a:lstStyle/>
          <a:p>
            <a:pPr algn="ctr">
              <a:lnSpc>
                <a:spcPts val="2688"/>
              </a:lnSpc>
            </a:pPr>
            <a:r>
              <a:rPr lang="en-US" sz="1920" b="1" dirty="0" err="1">
                <a:solidFill>
                  <a:srgbClr val="222023"/>
                </a:solidFill>
                <a:latin typeface="Inter Bold"/>
                <a:ea typeface="Inter Bold"/>
                <a:cs typeface="Inter Bold"/>
                <a:sym typeface="Inter Bold"/>
              </a:rPr>
              <a:t>MÓDULO</a:t>
            </a:r>
            <a:r>
              <a:rPr lang="en-US" sz="1920" b="1" dirty="0">
                <a:solidFill>
                  <a:srgbClr val="222023"/>
                </a:solidFill>
                <a:latin typeface="Inter Bold"/>
                <a:ea typeface="Inter Bold"/>
                <a:cs typeface="Inter Bold"/>
                <a:sym typeface="Inter Bold"/>
              </a:rPr>
              <a:t> I: </a:t>
            </a:r>
            <a:r>
              <a:rPr lang="es-ES" sz="1920" b="1" dirty="0">
                <a:solidFill>
                  <a:srgbClr val="222023"/>
                </a:solidFill>
                <a:latin typeface="Inter Bold"/>
                <a:ea typeface="Inter Bold"/>
                <a:cs typeface="Inter Bold"/>
                <a:sym typeface="Inter Bold"/>
              </a:rPr>
              <a:t>LEGISLACIÓN MINERA Y MARCO LEGAL DEL SECTOR</a:t>
            </a:r>
            <a:endParaRPr lang="en-US" sz="1920" b="1" dirty="0">
              <a:solidFill>
                <a:srgbClr val="222023"/>
              </a:solidFill>
              <a:latin typeface="Inter Bold"/>
              <a:ea typeface="Inter Bold"/>
              <a:cs typeface="Inter Bold"/>
              <a:sym typeface="Inter Bold"/>
            </a:endParaRPr>
          </a:p>
        </p:txBody>
      </p:sp>
      <p:sp>
        <p:nvSpPr>
          <p:cNvPr id="9" name="TextBox 9"/>
          <p:cNvSpPr txBox="1"/>
          <p:nvPr/>
        </p:nvSpPr>
        <p:spPr>
          <a:xfrm>
            <a:off x="9795368" y="7368540"/>
            <a:ext cx="4510664" cy="691728"/>
          </a:xfrm>
          <a:prstGeom prst="rect">
            <a:avLst/>
          </a:prstGeom>
        </p:spPr>
        <p:txBody>
          <a:bodyPr lIns="0" tIns="0" rIns="0" bIns="0" rtlCol="0" anchor="t">
            <a:spAutoFit/>
          </a:bodyPr>
          <a:lstStyle/>
          <a:p>
            <a:pPr>
              <a:lnSpc>
                <a:spcPts val="2800"/>
              </a:lnSpc>
            </a:pPr>
            <a:r>
              <a:rPr lang="en-US" sz="2000" dirty="0" err="1">
                <a:solidFill>
                  <a:srgbClr val="000000"/>
                </a:solidFill>
                <a:latin typeface="Montserrat"/>
                <a:ea typeface="Montserrat"/>
                <a:cs typeface="Montserrat"/>
                <a:sym typeface="Montserrat"/>
              </a:rPr>
              <a:t>PRESENTADO</a:t>
            </a:r>
            <a:r>
              <a:rPr lang="en-US" sz="2000" dirty="0">
                <a:solidFill>
                  <a:srgbClr val="000000"/>
                </a:solidFill>
                <a:latin typeface="Montserrat"/>
                <a:ea typeface="Montserrat"/>
                <a:cs typeface="Montserrat"/>
                <a:sym typeface="Montserrat"/>
              </a:rPr>
              <a:t> POR: </a:t>
            </a:r>
          </a:p>
          <a:p>
            <a:pPr>
              <a:lnSpc>
                <a:spcPts val="2800"/>
              </a:lnSpc>
            </a:pPr>
            <a:r>
              <a:rPr lang="en-US" sz="2000" dirty="0">
                <a:solidFill>
                  <a:srgbClr val="000000"/>
                </a:solidFill>
                <a:latin typeface="Montserrat"/>
                <a:ea typeface="Montserrat"/>
                <a:cs typeface="Montserrat"/>
                <a:sym typeface="Montserrat"/>
              </a:rPr>
              <a:t>DOC. </a:t>
            </a:r>
            <a:r>
              <a:rPr lang="en-US" sz="2000" dirty="0" err="1">
                <a:solidFill>
                  <a:srgbClr val="000000"/>
                </a:solidFill>
                <a:latin typeface="Montserrat"/>
                <a:ea typeface="Montserrat"/>
                <a:cs typeface="Montserrat"/>
                <a:sym typeface="Montserrat"/>
              </a:rPr>
              <a:t>REGINALDO</a:t>
            </a:r>
            <a:r>
              <a:rPr lang="en-US" sz="2000" dirty="0">
                <a:solidFill>
                  <a:srgbClr val="000000"/>
                </a:solidFill>
                <a:latin typeface="Montserrat"/>
                <a:ea typeface="Montserrat"/>
                <a:cs typeface="Montserrat"/>
                <a:sym typeface="Montserrat"/>
              </a:rPr>
              <a:t> </a:t>
            </a:r>
            <a:r>
              <a:rPr lang="en-US" sz="2000" dirty="0" err="1">
                <a:solidFill>
                  <a:srgbClr val="000000"/>
                </a:solidFill>
                <a:latin typeface="Montserrat"/>
                <a:ea typeface="Montserrat"/>
                <a:cs typeface="Montserrat"/>
                <a:sym typeface="Montserrat"/>
              </a:rPr>
              <a:t>ANDIA</a:t>
            </a:r>
            <a:endParaRPr lang="en-US" sz="2000" dirty="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35528" y="-332920"/>
            <a:ext cx="8888820" cy="2343770"/>
          </a:xfrm>
          <a:custGeom>
            <a:avLst/>
            <a:gdLst/>
            <a:ahLst/>
            <a:cxnLst/>
            <a:rect l="l" t="t" r="r" b="b"/>
            <a:pathLst>
              <a:path w="11111025" h="2929712">
                <a:moveTo>
                  <a:pt x="0" y="0"/>
                </a:moveTo>
                <a:lnTo>
                  <a:pt x="11111025" y="0"/>
                </a:lnTo>
                <a:lnTo>
                  <a:pt x="11111025" y="2929712"/>
                </a:lnTo>
                <a:lnTo>
                  <a:pt x="0" y="2929712"/>
                </a:lnTo>
                <a:lnTo>
                  <a:pt x="0" y="0"/>
                </a:lnTo>
                <a:close/>
              </a:path>
            </a:pathLst>
          </a:custGeom>
          <a:blipFill>
            <a:blip r:embed="rId2"/>
            <a:stretch>
              <a:fillRect l="-48045" t="-197476"/>
            </a:stretch>
          </a:blipFill>
        </p:spPr>
      </p:sp>
      <p:grpSp>
        <p:nvGrpSpPr>
          <p:cNvPr id="4" name="Group 4"/>
          <p:cNvGrpSpPr/>
          <p:nvPr/>
        </p:nvGrpSpPr>
        <p:grpSpPr>
          <a:xfrm>
            <a:off x="3739132" y="-21909"/>
            <a:ext cx="8092837" cy="1803086"/>
            <a:chOff x="0" y="0"/>
            <a:chExt cx="1438895" cy="320586"/>
          </a:xfrm>
        </p:grpSpPr>
        <p:sp>
          <p:nvSpPr>
            <p:cNvPr id="5" name="Freeform 5"/>
            <p:cNvSpPr/>
            <p:nvPr/>
          </p:nvSpPr>
          <p:spPr>
            <a:xfrm>
              <a:off x="0" y="0"/>
              <a:ext cx="1438895" cy="320586"/>
            </a:xfrm>
            <a:custGeom>
              <a:avLst/>
              <a:gdLst/>
              <a:ahLst/>
              <a:cxnLst/>
              <a:rect l="l" t="t" r="r" b="b"/>
              <a:pathLst>
                <a:path w="1438895" h="320586">
                  <a:moveTo>
                    <a:pt x="203200" y="0"/>
                  </a:moveTo>
                  <a:lnTo>
                    <a:pt x="1438895" y="0"/>
                  </a:lnTo>
                  <a:lnTo>
                    <a:pt x="1235695" y="320586"/>
                  </a:lnTo>
                  <a:lnTo>
                    <a:pt x="0" y="320586"/>
                  </a:lnTo>
                  <a:lnTo>
                    <a:pt x="203200" y="0"/>
                  </a:lnTo>
                  <a:close/>
                </a:path>
              </a:pathLst>
            </a:custGeom>
            <a:blipFill>
              <a:blip r:embed="rId3"/>
              <a:stretch>
                <a:fillRect t="-99517" b="-99517"/>
              </a:stretch>
            </a:blipFill>
          </p:spPr>
        </p:sp>
      </p:grpSp>
      <p:sp>
        <p:nvSpPr>
          <p:cNvPr id="6" name="TextBox 6"/>
          <p:cNvSpPr txBox="1"/>
          <p:nvPr/>
        </p:nvSpPr>
        <p:spPr>
          <a:xfrm>
            <a:off x="737235" y="3277371"/>
            <a:ext cx="12195542" cy="3023200"/>
          </a:xfrm>
          <a:prstGeom prst="rect">
            <a:avLst/>
          </a:prstGeom>
        </p:spPr>
        <p:txBody>
          <a:bodyPr wrap="square" lIns="0" tIns="0" rIns="0" bIns="0" rtlCol="0" anchor="t">
            <a:spAutoFit/>
          </a:bodyPr>
          <a:lstStyle/>
          <a:p>
            <a:pPr marL="621792" lvl="1" indent="-310896">
              <a:lnSpc>
                <a:spcPts val="4032"/>
              </a:lnSpc>
              <a:buAutoNum type="arabicPeriod"/>
            </a:pPr>
            <a:r>
              <a:rPr lang="es-ES" sz="2400" dirty="0">
                <a:solidFill>
                  <a:srgbClr val="000000"/>
                </a:solidFill>
                <a:latin typeface="Inter"/>
                <a:ea typeface="Inter"/>
                <a:cs typeface="Inter"/>
                <a:sym typeface="Inter"/>
              </a:rPr>
              <a:t>LEGISLACIÓN AMBIENTAL, NORMATIVAS ESPECÍFICAS Y DECRETOS QUE APLICAN A LA </a:t>
            </a:r>
            <a:r>
              <a:rPr lang="es-ES" sz="2400" dirty="0" err="1">
                <a:solidFill>
                  <a:srgbClr val="000000"/>
                </a:solidFill>
                <a:latin typeface="Inter"/>
                <a:ea typeface="Inter"/>
                <a:cs typeface="Inter"/>
                <a:sym typeface="Inter"/>
              </a:rPr>
              <a:t>PERMISOLOGÍA</a:t>
            </a:r>
            <a:r>
              <a:rPr lang="es-ES" sz="2400" dirty="0">
                <a:solidFill>
                  <a:srgbClr val="000000"/>
                </a:solidFill>
                <a:latin typeface="Inter"/>
                <a:ea typeface="Inter"/>
                <a:cs typeface="Inter"/>
                <a:sym typeface="Inter"/>
              </a:rPr>
              <a:t> AMBIENTAL </a:t>
            </a:r>
          </a:p>
          <a:p>
            <a:pPr marL="621792" lvl="1" indent="-310896">
              <a:lnSpc>
                <a:spcPts val="4032"/>
              </a:lnSpc>
              <a:buAutoNum type="arabicPeriod"/>
            </a:pPr>
            <a:r>
              <a:rPr lang="es-ES" sz="2400" dirty="0">
                <a:solidFill>
                  <a:srgbClr val="000000"/>
                </a:solidFill>
                <a:latin typeface="Inter"/>
                <a:ea typeface="Inter"/>
                <a:cs typeface="Inter"/>
                <a:sym typeface="Inter"/>
              </a:rPr>
              <a:t>ASPECTOS LEGALES DE LOS MEGAPROYECTOS MINEROS</a:t>
            </a:r>
          </a:p>
          <a:p>
            <a:pPr marL="621792" lvl="1" indent="-310896">
              <a:lnSpc>
                <a:spcPts val="4032"/>
              </a:lnSpc>
              <a:buAutoNum type="arabicPeriod"/>
            </a:pPr>
            <a:r>
              <a:rPr lang="es-ES" sz="2400" dirty="0">
                <a:solidFill>
                  <a:srgbClr val="000000"/>
                </a:solidFill>
                <a:latin typeface="Inter"/>
                <a:ea typeface="Inter"/>
                <a:cs typeface="Inter"/>
                <a:sym typeface="Inter"/>
              </a:rPr>
              <a:t>TIPOS DE PERMISOS AMBIENTALES, EVALUACIÓN DE IMPACTO AMBIENTAL </a:t>
            </a:r>
          </a:p>
          <a:p>
            <a:pPr marL="621792" lvl="1" indent="-310896">
              <a:lnSpc>
                <a:spcPts val="4032"/>
              </a:lnSpc>
              <a:buAutoNum type="arabicPeriod"/>
            </a:pPr>
            <a:r>
              <a:rPr lang="es-ES" sz="2400" dirty="0">
                <a:solidFill>
                  <a:srgbClr val="000000"/>
                </a:solidFill>
                <a:latin typeface="Inter"/>
                <a:ea typeface="Inter"/>
                <a:cs typeface="Inter"/>
                <a:sym typeface="Inter"/>
              </a:rPr>
              <a:t>TRATADOS INTERNACIONALES Y ROLES DE LAS ENTIDADES GUBERNAMENTALES COMO ORGANISMOS REGULADORES </a:t>
            </a:r>
          </a:p>
        </p:txBody>
      </p:sp>
      <p:sp>
        <p:nvSpPr>
          <p:cNvPr id="7" name="TextBox 7"/>
          <p:cNvSpPr txBox="1"/>
          <p:nvPr/>
        </p:nvSpPr>
        <p:spPr>
          <a:xfrm>
            <a:off x="737235" y="2534606"/>
            <a:ext cx="12195542" cy="484363"/>
          </a:xfrm>
          <a:prstGeom prst="rect">
            <a:avLst/>
          </a:prstGeom>
        </p:spPr>
        <p:txBody>
          <a:bodyPr lIns="0" tIns="0" rIns="0" bIns="0" rtlCol="0" anchor="t">
            <a:spAutoFit/>
          </a:bodyPr>
          <a:lstStyle/>
          <a:p>
            <a:pPr>
              <a:lnSpc>
                <a:spcPts val="4031"/>
              </a:lnSpc>
            </a:pPr>
            <a:r>
              <a:rPr lang="en-US" sz="3199" b="1" dirty="0" err="1">
                <a:solidFill>
                  <a:srgbClr val="A42F0F"/>
                </a:solidFill>
                <a:latin typeface="Futura Std Book" panose="020B0802020204020204" pitchFamily="34" charset="0"/>
                <a:ea typeface="Futura Ultra-Bold"/>
                <a:cs typeface="Futura Ultra-Bold"/>
                <a:sym typeface="Futura Ultra-Bold"/>
              </a:rPr>
              <a:t>CONTENIDO</a:t>
            </a:r>
            <a:endParaRPr lang="en-US" sz="3199" b="1" dirty="0">
              <a:solidFill>
                <a:srgbClr val="A42F0F"/>
              </a:solidFill>
              <a:latin typeface="Futura Std Book" panose="020B0802020204020204" pitchFamily="34" charset="0"/>
              <a:ea typeface="Futura Ultra-Bold"/>
              <a:cs typeface="Futura Ultra-Bold"/>
              <a:sym typeface="Futura Ultra-Bold"/>
            </a:endParaRPr>
          </a:p>
        </p:txBody>
      </p:sp>
      <p:sp>
        <p:nvSpPr>
          <p:cNvPr id="8" name="Freeform 8"/>
          <p:cNvSpPr/>
          <p:nvPr/>
        </p:nvSpPr>
        <p:spPr>
          <a:xfrm flipH="1">
            <a:off x="7683187" y="2611042"/>
            <a:ext cx="6947213" cy="561855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147223" y="1096013"/>
            <a:ext cx="4652979" cy="869790"/>
          </a:xfrm>
          <a:prstGeom prst="rect">
            <a:avLst/>
          </a:prstGeom>
        </p:spPr>
        <p:txBody>
          <a:bodyPr lIns="0" tIns="0" rIns="0" bIns="0" rtlCol="0" anchor="t">
            <a:spAutoFit/>
          </a:bodyPr>
          <a:lstStyle/>
          <a:p>
            <a:pPr>
              <a:lnSpc>
                <a:spcPts val="6699"/>
              </a:lnSpc>
            </a:pPr>
            <a:r>
              <a:rPr lang="en-US" sz="6699" spc="-167" dirty="0">
                <a:latin typeface="Anton"/>
                <a:ea typeface="Anton"/>
                <a:cs typeface="Anton"/>
                <a:sym typeface="Anton"/>
              </a:rPr>
              <a:t>INTRODUCCIÓN </a:t>
            </a:r>
          </a:p>
        </p:txBody>
      </p:sp>
      <p:sp>
        <p:nvSpPr>
          <p:cNvPr id="3" name="2 CuadroTexto"/>
          <p:cNvSpPr txBox="1"/>
          <p:nvPr/>
        </p:nvSpPr>
        <p:spPr>
          <a:xfrm>
            <a:off x="1147223" y="2528455"/>
            <a:ext cx="10456354" cy="4062651"/>
          </a:xfrm>
          <a:prstGeom prst="rect">
            <a:avLst/>
          </a:prstGeom>
          <a:noFill/>
        </p:spPr>
        <p:txBody>
          <a:bodyPr wrap="square" rtlCol="0">
            <a:spAutoFit/>
          </a:bodyPr>
          <a:lstStyle/>
          <a:p>
            <a:pPr fontAlgn="ctr"/>
            <a:r>
              <a:rPr lang="es-MX" sz="2000" dirty="0">
                <a:latin typeface="Inter" panose="02000503000000020004" pitchFamily="50" charset="0"/>
              </a:rPr>
              <a:t>En Perú, las leyes que protegen los recursos naturales son la Ley Orgánica para el Aprovechamiento Sostenible de los Recursos Naturales (Ley 26821) y la Ley General del Ambiente (Ley 28611).</a:t>
            </a:r>
          </a:p>
          <a:p>
            <a:pPr fontAlgn="ctr"/>
            <a:r>
              <a:rPr lang="es-MX" sz="2000" dirty="0">
                <a:latin typeface="Inter" panose="02000503000000020004" pitchFamily="50" charset="0"/>
              </a:rPr>
              <a:t> </a:t>
            </a:r>
          </a:p>
          <a:p>
            <a:pPr fontAlgn="ctr"/>
            <a:r>
              <a:rPr lang="es-MX" sz="2000" dirty="0">
                <a:latin typeface="Inter" panose="02000503000000020004" pitchFamily="50" charset="0"/>
              </a:rPr>
              <a:t>La Ley 26821 regula el aprovechamiento sostenible de los recursos naturales, renovables y no renovables. Su objetivo es promover el equilibrio entre el crecimiento económico, la conservación del ambiente y el desarrollo humano. </a:t>
            </a:r>
          </a:p>
          <a:p>
            <a:pPr fontAlgn="ctr"/>
            <a:endParaRPr lang="es-MX" sz="2000" dirty="0">
              <a:latin typeface="Inter" panose="02000503000000020004" pitchFamily="50" charset="0"/>
            </a:endParaRPr>
          </a:p>
          <a:p>
            <a:pPr fontAlgn="ctr"/>
            <a:r>
              <a:rPr lang="es-MX" sz="2000" dirty="0">
                <a:latin typeface="Inter" panose="02000503000000020004" pitchFamily="50" charset="0"/>
              </a:rPr>
              <a:t>La Ley 28611 regula las acciones humanas relacionadas con el aprovechamiento de los recursos naturales. Además, establece el derecho de acceso a la información pública sobre las políticas y medidas que puedan afectar el ambiente. </a:t>
            </a:r>
          </a:p>
          <a:p>
            <a:pPr fontAlgn="ctr"/>
            <a:endParaRPr lang="es-MX" sz="2000" dirty="0">
              <a:latin typeface="Inter" panose="02000503000000020004" pitchFamily="50" charset="0"/>
            </a:endParaRPr>
          </a:p>
          <a:p>
            <a:endParaRPr lang="es-PE"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6586928" y="3139332"/>
            <a:ext cx="9731844" cy="97318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40640" tIns="40640" rIns="40640" bIns="40640" rtlCol="0" anchor="ctr"/>
            <a:lstStyle/>
            <a:p>
              <a:pPr algn="ctr">
                <a:lnSpc>
                  <a:spcPts val="1726"/>
                </a:lnSpc>
              </a:pPr>
              <a:endParaRPr sz="1440"/>
            </a:p>
          </p:txBody>
        </p:sp>
      </p:grpSp>
      <p:grpSp>
        <p:nvGrpSpPr>
          <p:cNvPr id="5" name="Group 5"/>
          <p:cNvGrpSpPr>
            <a:grpSpLocks noChangeAspect="1"/>
          </p:cNvGrpSpPr>
          <p:nvPr/>
        </p:nvGrpSpPr>
        <p:grpSpPr>
          <a:xfrm>
            <a:off x="10601812" y="822960"/>
            <a:ext cx="3205628" cy="6342886"/>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7094822" y="2952540"/>
            <a:ext cx="3207801" cy="6347185"/>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2954307" y="6746910"/>
            <a:ext cx="10049129" cy="2110317"/>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 y="-18895"/>
            <a:ext cx="2724951" cy="1683710"/>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1007726" y="1938528"/>
            <a:ext cx="5030574" cy="4873129"/>
          </a:xfrm>
          <a:prstGeom prst="rect">
            <a:avLst/>
          </a:prstGeom>
        </p:spPr>
        <p:txBody>
          <a:bodyPr lIns="0" tIns="0" rIns="0" bIns="0" rtlCol="0" anchor="t">
            <a:spAutoFit/>
          </a:bodyPr>
          <a:lstStyle/>
          <a:p>
            <a:pPr algn="ctr">
              <a:lnSpc>
                <a:spcPts val="3840"/>
              </a:lnSpc>
            </a:pPr>
            <a:r>
              <a:rPr lang="en-US" sz="3840" b="1" dirty="0">
                <a:solidFill>
                  <a:srgbClr val="303030"/>
                </a:solidFill>
                <a:latin typeface="Futura Std Book" panose="020B0802020204020204" pitchFamily="34" charset="0"/>
                <a:ea typeface="Futura Ultra-Bold"/>
                <a:cs typeface="Futura Ultra-Bold"/>
                <a:sym typeface="Futura Ultra-Bold"/>
              </a:rPr>
              <a:t>TEMA 1:</a:t>
            </a:r>
          </a:p>
          <a:p>
            <a:pPr algn="ctr">
              <a:lnSpc>
                <a:spcPts val="3840"/>
              </a:lnSpc>
            </a:pPr>
            <a:endParaRPr lang="en-US" sz="3840" b="1" dirty="0">
              <a:solidFill>
                <a:srgbClr val="303030"/>
              </a:solidFill>
              <a:latin typeface="Futura Std Book" panose="020B0802020204020204" pitchFamily="34" charset="0"/>
              <a:ea typeface="Futura Ultra-Bold"/>
              <a:cs typeface="Futura Ultra-Bold"/>
              <a:sym typeface="Futura Ultra-Bold"/>
            </a:endParaRPr>
          </a:p>
          <a:p>
            <a:pPr algn="ctr">
              <a:lnSpc>
                <a:spcPts val="3840"/>
              </a:lnSpc>
            </a:pPr>
            <a:r>
              <a:rPr lang="es-ES" sz="3840" b="1" dirty="0">
                <a:solidFill>
                  <a:srgbClr val="303030"/>
                </a:solidFill>
                <a:latin typeface="Futura Std Book" panose="020B0802020204020204" pitchFamily="34" charset="0"/>
                <a:ea typeface="Futura Ultra-Bold"/>
                <a:cs typeface="Futura Ultra-Bold"/>
                <a:sym typeface="Futura Ultra-Bold"/>
              </a:rPr>
              <a:t>LEGISLACIÓN AMBIENTAL, NORMATIVAS ESPECÍFICAS Y DECRETOS QUE APLICAN A LA </a:t>
            </a:r>
            <a:r>
              <a:rPr lang="es-ES" sz="3840" b="1" dirty="0" err="1">
                <a:solidFill>
                  <a:srgbClr val="303030"/>
                </a:solidFill>
                <a:latin typeface="Futura Std Book" panose="020B0802020204020204" pitchFamily="34" charset="0"/>
                <a:ea typeface="Futura Ultra-Bold"/>
                <a:cs typeface="Futura Ultra-Bold"/>
                <a:sym typeface="Futura Ultra-Bold"/>
              </a:rPr>
              <a:t>PERMISOLOGÍA</a:t>
            </a:r>
            <a:r>
              <a:rPr lang="es-ES" sz="3840" b="1" dirty="0">
                <a:solidFill>
                  <a:srgbClr val="303030"/>
                </a:solidFill>
                <a:latin typeface="Futura Std Book" panose="020B0802020204020204" pitchFamily="34" charset="0"/>
                <a:ea typeface="Futura Ultra-Bold"/>
                <a:cs typeface="Futura Ultra-Bold"/>
                <a:sym typeface="Futura Ultra-Bold"/>
              </a:rPr>
              <a:t> AMBIENTAL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249917" y="1639055"/>
            <a:ext cx="7315200" cy="5909310"/>
          </a:xfrm>
          <a:prstGeom prst="rect">
            <a:avLst/>
          </a:prstGeom>
        </p:spPr>
        <p:txBody>
          <a:bodyPr wrap="square">
            <a:spAutoFit/>
          </a:bodyPr>
          <a:lstStyle/>
          <a:p>
            <a:r>
              <a:rPr lang="es-MX" dirty="0"/>
              <a:t>La </a:t>
            </a:r>
            <a:r>
              <a:rPr lang="es-MX" b="1" dirty="0"/>
              <a:t>Ley N° 26821</a:t>
            </a:r>
            <a:r>
              <a:rPr lang="es-MX" dirty="0"/>
              <a:t>, también conocida como la Ley Orgánica para el Aprovechamiento Sostenible de los Recursos Naturales, es una normativa peruana promulgada el 10 de junio de 1997. </a:t>
            </a:r>
          </a:p>
          <a:p>
            <a:endParaRPr lang="es-MX" dirty="0"/>
          </a:p>
          <a:p>
            <a:r>
              <a:rPr lang="es-MX" dirty="0"/>
              <a:t>Su objetivo principal es establecer el marco normativo y los principios para promover y regular el uso responsable y sostenible de los recursos naturales en el país.</a:t>
            </a:r>
          </a:p>
          <a:p>
            <a:endParaRPr lang="es-MX" dirty="0"/>
          </a:p>
          <a:p>
            <a:r>
              <a:rPr lang="es-MX" dirty="0"/>
              <a:t>La ley busca lograr un equilibrio entre la explotación de los recursos naturales y la conservación del medio ambiente y la biodiversidad. Para ello, prevé la implementación de herramientas como los Planes de Aprovechamiento Sostenible de los Recursos Naturales y fomenta la colaboración entre diversas instituciones, así como la participación activa de las comunidades locales en las decisiones relacionadas con el uso de los recursos naturales.</a:t>
            </a:r>
          </a:p>
          <a:p>
            <a:endParaRPr lang="es-MX" dirty="0"/>
          </a:p>
          <a:p>
            <a:r>
              <a:rPr lang="es-MX" dirty="0"/>
              <a:t>La ley consta de 5 títulos, 30 artículos y 3 disposiciones finales, y define los recursos naturales como "</a:t>
            </a:r>
            <a:r>
              <a:rPr lang="es-MX" b="1" dirty="0"/>
              <a:t>todo componente de la naturaleza susceptible de ser aprovechado por el ser humano para la satisfacción de sus necesidades y que tenga un valor actual o potencial en el mercado"</a:t>
            </a:r>
            <a:endParaRPr lang="es-PE" b="1" dirty="0"/>
          </a:p>
        </p:txBody>
      </p:sp>
      <p:sp>
        <p:nvSpPr>
          <p:cNvPr id="4" name="3 Rectángulo"/>
          <p:cNvSpPr/>
          <p:nvPr/>
        </p:nvSpPr>
        <p:spPr>
          <a:xfrm>
            <a:off x="619414" y="502158"/>
            <a:ext cx="7315200" cy="830997"/>
          </a:xfrm>
          <a:prstGeom prst="rect">
            <a:avLst/>
          </a:prstGeom>
        </p:spPr>
        <p:txBody>
          <a:bodyPr>
            <a:spAutoFit/>
          </a:bodyPr>
          <a:lstStyle/>
          <a:p>
            <a:r>
              <a:rPr lang="es-MX" sz="2400" b="1" dirty="0">
                <a:latin typeface="Inter" panose="02000503000000020004" pitchFamily="50" charset="0"/>
              </a:rPr>
              <a:t>LEY ORGÁNICA PARA EL APROVECHAMIENTO SOSTENIBLE DE LOS RECURSOS NATURALES </a:t>
            </a:r>
            <a:endParaRPr lang="es-PE" sz="2400" b="1" dirty="0"/>
          </a:p>
        </p:txBody>
      </p:sp>
      <p:pic>
        <p:nvPicPr>
          <p:cNvPr id="6" name="Imagen 5">
            <a:extLst>
              <a:ext uri="{FF2B5EF4-FFF2-40B4-BE49-F238E27FC236}">
                <a16:creationId xmlns:a16="http://schemas.microsoft.com/office/drawing/2014/main" id="{80975609-B99F-493E-A75C-65A854D8B10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19414" y="1625444"/>
            <a:ext cx="3922005" cy="5883008"/>
          </a:xfrm>
          <a:prstGeom prst="rect">
            <a:avLst/>
          </a:prstGeom>
          <a:ln>
            <a:noFill/>
          </a:ln>
          <a:effectLst>
            <a:softEdge rad="112500"/>
          </a:effectLst>
        </p:spPr>
      </p:pic>
    </p:spTree>
    <p:extLst>
      <p:ext uri="{BB962C8B-B14F-4D97-AF65-F5344CB8AC3E}">
        <p14:creationId xmlns:p14="http://schemas.microsoft.com/office/powerpoint/2010/main" val="1288660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05644" y="1279249"/>
            <a:ext cx="11684756" cy="6463308"/>
          </a:xfrm>
          <a:prstGeom prst="rect">
            <a:avLst/>
          </a:prstGeom>
          <a:noFill/>
        </p:spPr>
        <p:txBody>
          <a:bodyPr wrap="square" rtlCol="0">
            <a:spAutoFit/>
          </a:bodyPr>
          <a:lstStyle/>
          <a:p>
            <a:r>
              <a:rPr lang="es-MX" dirty="0"/>
              <a:t>La </a:t>
            </a:r>
            <a:r>
              <a:rPr lang="es-MX" b="1" dirty="0"/>
              <a:t>Ley N° 28611</a:t>
            </a:r>
            <a:r>
              <a:rPr lang="es-MX" dirty="0"/>
              <a:t>, también conocida como la Ley General de Ambiente, es una normativa peruana que establece los principios y normas básicas para asegurar el efectivo ejercicio del derecho a un ambiente saludable, equilibrado y adecuado para el pleno desarrollo de la vida. </a:t>
            </a:r>
          </a:p>
          <a:p>
            <a:endParaRPr lang="es-MX" dirty="0"/>
          </a:p>
          <a:p>
            <a:r>
              <a:rPr lang="es-MX" b="1" dirty="0"/>
              <a:t>Derechos y Principios- </a:t>
            </a:r>
          </a:p>
          <a:p>
            <a:r>
              <a:rPr lang="es-MX" dirty="0"/>
              <a:t>- Derecho a un ambiente saludable y equilibrado.</a:t>
            </a:r>
          </a:p>
          <a:p>
            <a:r>
              <a:rPr lang="es-MX" dirty="0"/>
              <a:t>- Derecho a la información y participación ciudadana en la gestión ambiental.</a:t>
            </a:r>
          </a:p>
          <a:p>
            <a:r>
              <a:rPr lang="es-MX" dirty="0"/>
              <a:t>-Principio de prevención y precaución en la gestión ambiental.</a:t>
            </a:r>
          </a:p>
          <a:p>
            <a:r>
              <a:rPr lang="es-MX" dirty="0"/>
              <a:t>- Principio de responsabilidad y reparación por daños ambientales .</a:t>
            </a:r>
          </a:p>
          <a:p>
            <a:endParaRPr lang="es-MX" dirty="0"/>
          </a:p>
          <a:p>
            <a:r>
              <a:rPr lang="es-MX" b="1" dirty="0"/>
              <a:t>Gestión Ambiental</a:t>
            </a:r>
          </a:p>
          <a:p>
            <a:pPr marL="285750" indent="-285750">
              <a:buFontTx/>
              <a:buChar char="-"/>
            </a:pPr>
            <a:r>
              <a:rPr lang="es-MX" dirty="0"/>
              <a:t>La gestión ambiental es un proceso que involucra a todos los sectores de la sociedad</a:t>
            </a:r>
          </a:p>
          <a:p>
            <a:pPr marL="285750" indent="-285750">
              <a:buFontTx/>
              <a:buChar char="-"/>
            </a:pPr>
            <a:r>
              <a:rPr lang="es-MX" dirty="0"/>
              <a:t>El Estado promueve la participación ciudadana en la gestión ambiental</a:t>
            </a:r>
          </a:p>
          <a:p>
            <a:pPr marL="285750" indent="-285750">
              <a:buFontTx/>
              <a:buChar char="-"/>
            </a:pPr>
            <a:r>
              <a:rPr lang="es-MX" dirty="0"/>
              <a:t>Las entidades públicas y privadas deben cumplir con las normas y regulaciones ambientales </a:t>
            </a:r>
          </a:p>
          <a:p>
            <a:pPr marL="285750" indent="-285750">
              <a:buFontTx/>
              <a:buChar char="-"/>
            </a:pPr>
            <a:endParaRPr lang="es-MX" dirty="0"/>
          </a:p>
          <a:p>
            <a:r>
              <a:rPr lang="es-MX" b="1" dirty="0"/>
              <a:t>Instrumentos de Gestión Ambiental</a:t>
            </a:r>
          </a:p>
          <a:p>
            <a:pPr marL="285750" indent="-285750">
              <a:buFontTx/>
              <a:buChar char="-"/>
            </a:pPr>
            <a:r>
              <a:rPr lang="es-MX" dirty="0"/>
              <a:t>El Sistema Nacional de Información Ambiental (SINIA) es un instrumento para la gestión ambiental</a:t>
            </a:r>
          </a:p>
          <a:p>
            <a:pPr marL="285750" indent="-285750">
              <a:buFontTx/>
              <a:buChar char="-"/>
            </a:pPr>
            <a:r>
              <a:rPr lang="es-MX" dirty="0"/>
              <a:t>Los planes y programas de gestión ambiental deben ser elaborados con la participación de la sociedad civil </a:t>
            </a:r>
          </a:p>
          <a:p>
            <a:pPr marL="285750" indent="-285750">
              <a:buFontTx/>
              <a:buChar char="-"/>
            </a:pPr>
            <a:endParaRPr lang="es-MX" dirty="0"/>
          </a:p>
          <a:p>
            <a:r>
              <a:rPr lang="es-MX" b="1" dirty="0"/>
              <a:t>Educación y Participación Ciudadana</a:t>
            </a:r>
          </a:p>
          <a:p>
            <a:pPr marL="285750" indent="-285750">
              <a:buFontTx/>
              <a:buChar char="-"/>
            </a:pPr>
            <a:r>
              <a:rPr lang="es-MX" dirty="0"/>
              <a:t>La educación ambiental es un derecho y un deber de todos los ciudadanos</a:t>
            </a:r>
          </a:p>
          <a:p>
            <a:pPr marL="285750" indent="-285750">
              <a:buFontTx/>
              <a:buChar char="-"/>
            </a:pPr>
            <a:r>
              <a:rPr lang="es-MX" dirty="0"/>
              <a:t>La participación ciudadana en la gestión ambiental es fundamental para el desarrollo sostenible </a:t>
            </a:r>
            <a:endParaRPr lang="es-PE" dirty="0"/>
          </a:p>
        </p:txBody>
      </p:sp>
      <p:sp>
        <p:nvSpPr>
          <p:cNvPr id="4" name="3 Rectángulo"/>
          <p:cNvSpPr/>
          <p:nvPr/>
        </p:nvSpPr>
        <p:spPr>
          <a:xfrm>
            <a:off x="494545" y="564906"/>
            <a:ext cx="4459875" cy="461665"/>
          </a:xfrm>
          <a:prstGeom prst="rect">
            <a:avLst/>
          </a:prstGeom>
        </p:spPr>
        <p:txBody>
          <a:bodyPr wrap="none">
            <a:spAutoFit/>
          </a:bodyPr>
          <a:lstStyle/>
          <a:p>
            <a:r>
              <a:rPr lang="es-PE" sz="2400" b="1" dirty="0"/>
              <a:t>LEY GENERAL DE AMBIENTE</a:t>
            </a:r>
          </a:p>
        </p:txBody>
      </p:sp>
      <p:sp>
        <p:nvSpPr>
          <p:cNvPr id="5" name="4 Rectángulo"/>
          <p:cNvSpPr/>
          <p:nvPr/>
        </p:nvSpPr>
        <p:spPr>
          <a:xfrm>
            <a:off x="6274086" y="580903"/>
            <a:ext cx="4877104" cy="369332"/>
          </a:xfrm>
          <a:prstGeom prst="rect">
            <a:avLst/>
          </a:prstGeom>
        </p:spPr>
        <p:txBody>
          <a:bodyPr wrap="none">
            <a:spAutoFit/>
          </a:bodyPr>
          <a:lstStyle/>
          <a:p>
            <a:r>
              <a:rPr lang="es-PE" dirty="0">
                <a:highlight>
                  <a:srgbClr val="FFFF00"/>
                </a:highlight>
              </a:rPr>
              <a:t>https://www.youtube.com/watch?v=XKslr0KqP_w</a:t>
            </a:r>
          </a:p>
        </p:txBody>
      </p:sp>
      <p:pic>
        <p:nvPicPr>
          <p:cNvPr id="9" name="Imagen 8">
            <a:extLst>
              <a:ext uri="{FF2B5EF4-FFF2-40B4-BE49-F238E27FC236}">
                <a16:creationId xmlns:a16="http://schemas.microsoft.com/office/drawing/2014/main" id="{43E377C0-339B-4230-B7FC-3C3507D3133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0744199" y="1884685"/>
            <a:ext cx="3650561" cy="31419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59281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EC428E36-48FC-4185-A6A1-C5BF72F1F2C4}"/>
              </a:ext>
            </a:extLst>
          </p:cNvPr>
          <p:cNvSpPr txBox="1"/>
          <p:nvPr/>
        </p:nvSpPr>
        <p:spPr>
          <a:xfrm>
            <a:off x="3657600" y="3237637"/>
            <a:ext cx="7315200" cy="1754326"/>
          </a:xfrm>
          <a:prstGeom prst="rect">
            <a:avLst/>
          </a:prstGeom>
          <a:noFill/>
        </p:spPr>
        <p:txBody>
          <a:bodyPr wrap="square">
            <a:spAutoFit/>
          </a:bodyPr>
          <a:lstStyle/>
          <a:p>
            <a:pPr algn="just"/>
            <a:r>
              <a:rPr lang="es-MX" b="1" dirty="0">
                <a:solidFill>
                  <a:schemeClr val="bg1"/>
                </a:solidFill>
                <a:latin typeface="Inter" panose="02000503000000020004" pitchFamily="50" charset="0"/>
              </a:rPr>
              <a:t>OTRAS LEYES QUE REGULAN LOS RECURSOS NATURALES SON:</a:t>
            </a:r>
          </a:p>
          <a:p>
            <a:pPr algn="just"/>
            <a:endParaRPr lang="es-MX" b="1" dirty="0">
              <a:solidFill>
                <a:schemeClr val="bg1"/>
              </a:solidFill>
              <a:latin typeface="Inter" panose="02000503000000020004" pitchFamily="50" charset="0"/>
            </a:endParaRPr>
          </a:p>
          <a:p>
            <a:pPr algn="just"/>
            <a:r>
              <a:rPr lang="es-MX" dirty="0">
                <a:solidFill>
                  <a:schemeClr val="bg1"/>
                </a:solidFill>
                <a:latin typeface="Inter" panose="02000503000000020004" pitchFamily="50" charset="0"/>
              </a:rPr>
              <a:t> </a:t>
            </a:r>
          </a:p>
          <a:p>
            <a:pPr marL="285750" indent="-285750" algn="just">
              <a:buFont typeface="Arial" pitchFamily="34" charset="0"/>
              <a:buChar char="•"/>
            </a:pPr>
            <a:r>
              <a:rPr lang="es-MX" dirty="0">
                <a:solidFill>
                  <a:schemeClr val="bg1"/>
                </a:solidFill>
                <a:latin typeface="Inter" panose="02000503000000020004" pitchFamily="50" charset="0"/>
              </a:rPr>
              <a:t>LEY GENERAL DE HIDROCARBUROS.</a:t>
            </a:r>
          </a:p>
          <a:p>
            <a:pPr marL="285750" indent="-285750" algn="just">
              <a:buFont typeface="Arial" pitchFamily="34" charset="0"/>
              <a:buChar char="•"/>
            </a:pPr>
            <a:r>
              <a:rPr lang="es-MX" dirty="0">
                <a:solidFill>
                  <a:schemeClr val="bg1"/>
                </a:solidFill>
                <a:latin typeface="Inter" panose="02000503000000020004" pitchFamily="50" charset="0"/>
              </a:rPr>
              <a:t>LEY GENERAL DE MINERÍA.</a:t>
            </a:r>
          </a:p>
          <a:p>
            <a:pPr marL="285750" indent="-285750" algn="just">
              <a:buFont typeface="Arial" pitchFamily="34" charset="0"/>
              <a:buChar char="•"/>
            </a:pPr>
            <a:r>
              <a:rPr lang="es-MX" dirty="0">
                <a:solidFill>
                  <a:schemeClr val="bg1"/>
                </a:solidFill>
                <a:latin typeface="Inter" panose="02000503000000020004" pitchFamily="50" charset="0"/>
              </a:rPr>
              <a:t>LEY DE CONCESIONES ELÉCTRICAS.</a:t>
            </a:r>
          </a:p>
        </p:txBody>
      </p:sp>
      <p:sp>
        <p:nvSpPr>
          <p:cNvPr id="9" name="CuadroTexto 8">
            <a:extLst>
              <a:ext uri="{FF2B5EF4-FFF2-40B4-BE49-F238E27FC236}">
                <a16:creationId xmlns:a16="http://schemas.microsoft.com/office/drawing/2014/main" id="{7F465C47-4D58-4BA8-BF1B-085DCAB787E9}"/>
              </a:ext>
            </a:extLst>
          </p:cNvPr>
          <p:cNvSpPr txBox="1"/>
          <p:nvPr/>
        </p:nvSpPr>
        <p:spPr>
          <a:xfrm>
            <a:off x="5980965" y="2377157"/>
            <a:ext cx="7315200" cy="1200329"/>
          </a:xfrm>
          <a:prstGeom prst="rect">
            <a:avLst/>
          </a:prstGeom>
          <a:noFill/>
        </p:spPr>
        <p:txBody>
          <a:bodyPr wrap="square">
            <a:spAutoFit/>
          </a:bodyPr>
          <a:lstStyle/>
          <a:p>
            <a:pPr algn="just"/>
            <a:r>
              <a:rPr lang="es-MX" dirty="0">
                <a:latin typeface="Inter" panose="02000503000000020004" pitchFamily="50" charset="0"/>
              </a:rPr>
              <a:t> </a:t>
            </a:r>
          </a:p>
          <a:p>
            <a:pPr marL="285750" indent="-285750" algn="just">
              <a:buFont typeface="Arial" pitchFamily="34" charset="0"/>
              <a:buChar char="•"/>
            </a:pPr>
            <a:r>
              <a:rPr lang="es-MX" dirty="0">
                <a:latin typeface="Inter" panose="02000503000000020004" pitchFamily="50" charset="0"/>
              </a:rPr>
              <a:t>LEY GENERAL DE HIDROCARBUROS.</a:t>
            </a:r>
          </a:p>
          <a:p>
            <a:pPr marL="285750" indent="-285750" algn="just">
              <a:buFont typeface="Arial" pitchFamily="34" charset="0"/>
              <a:buChar char="•"/>
            </a:pPr>
            <a:r>
              <a:rPr lang="es-MX" dirty="0">
                <a:latin typeface="Inter" panose="02000503000000020004" pitchFamily="50" charset="0"/>
              </a:rPr>
              <a:t>LEY GENERAL DE MINERÍA.</a:t>
            </a:r>
          </a:p>
          <a:p>
            <a:pPr marL="285750" indent="-285750" algn="just">
              <a:buFont typeface="Arial" pitchFamily="34" charset="0"/>
              <a:buChar char="•"/>
            </a:pPr>
            <a:r>
              <a:rPr lang="es-MX" dirty="0">
                <a:latin typeface="Inter" panose="02000503000000020004" pitchFamily="50" charset="0"/>
              </a:rPr>
              <a:t>LEY DE CONCESIONES ELÉCTRICAS.</a:t>
            </a:r>
          </a:p>
        </p:txBody>
      </p:sp>
      <p:pic>
        <p:nvPicPr>
          <p:cNvPr id="11" name="Imagen 10">
            <a:extLst>
              <a:ext uri="{FF2B5EF4-FFF2-40B4-BE49-F238E27FC236}">
                <a16:creationId xmlns:a16="http://schemas.microsoft.com/office/drawing/2014/main" id="{22E73290-86F4-4CC5-AEE1-C3071E6EB97B}"/>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2502532" y="1778054"/>
            <a:ext cx="2658639" cy="34108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CuadroTexto 13">
            <a:extLst>
              <a:ext uri="{FF2B5EF4-FFF2-40B4-BE49-F238E27FC236}">
                <a16:creationId xmlns:a16="http://schemas.microsoft.com/office/drawing/2014/main" id="{1D543F38-C32B-4FDC-96B1-256D97C51D73}"/>
              </a:ext>
            </a:extLst>
          </p:cNvPr>
          <p:cNvSpPr txBox="1"/>
          <p:nvPr/>
        </p:nvSpPr>
        <p:spPr>
          <a:xfrm>
            <a:off x="804230" y="834268"/>
            <a:ext cx="10828969" cy="830997"/>
          </a:xfrm>
          <a:prstGeom prst="rect">
            <a:avLst/>
          </a:prstGeom>
          <a:noFill/>
        </p:spPr>
        <p:txBody>
          <a:bodyPr wrap="square">
            <a:spAutoFit/>
          </a:bodyPr>
          <a:lstStyle/>
          <a:p>
            <a:r>
              <a:rPr lang="es-MX" sz="2400" b="1" dirty="0">
                <a:latin typeface="Inter" panose="02000503000000020004" pitchFamily="50" charset="0"/>
              </a:rPr>
              <a:t>OTRAS LEYES QUE REGULAN LOS RECURSOS NATURALES SON:</a:t>
            </a:r>
          </a:p>
          <a:p>
            <a:endParaRPr lang="es-MX" sz="2400" b="1" dirty="0">
              <a:latin typeface="Inter" panose="02000503000000020004" pitchFamily="50" charset="0"/>
            </a:endParaRPr>
          </a:p>
        </p:txBody>
      </p:sp>
      <p:pic>
        <p:nvPicPr>
          <p:cNvPr id="19" name="Imagen 18">
            <a:extLst>
              <a:ext uri="{FF2B5EF4-FFF2-40B4-BE49-F238E27FC236}">
                <a16:creationId xmlns:a16="http://schemas.microsoft.com/office/drawing/2014/main" id="{18A54DA4-210F-43B8-ADCF-F32977CF4A1A}"/>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1144657" y="3121951"/>
            <a:ext cx="2512943" cy="24966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51859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770261" y="617026"/>
            <a:ext cx="5653151" cy="461665"/>
          </a:xfrm>
          <a:prstGeom prst="rect">
            <a:avLst/>
          </a:prstGeom>
        </p:spPr>
        <p:txBody>
          <a:bodyPr wrap="none">
            <a:spAutoFit/>
          </a:bodyPr>
          <a:lstStyle/>
          <a:p>
            <a:pPr lvl="0" algn="just"/>
            <a:r>
              <a:rPr lang="es-MX" sz="2400" b="1" dirty="0">
                <a:latin typeface="Inter" panose="02000503000000020004" pitchFamily="50" charset="0"/>
              </a:rPr>
              <a:t>LEY GENERAL DE HIDROCARBUROS</a:t>
            </a:r>
            <a:r>
              <a:rPr lang="es-MX" sz="2400" b="1" dirty="0">
                <a:solidFill>
                  <a:prstClr val="white"/>
                </a:solidFill>
                <a:latin typeface="Inter" panose="02000503000000020004" pitchFamily="50" charset="0"/>
              </a:rPr>
              <a:t>.</a:t>
            </a:r>
          </a:p>
        </p:txBody>
      </p:sp>
      <p:sp>
        <p:nvSpPr>
          <p:cNvPr id="3" name="2 CuadroTexto"/>
          <p:cNvSpPr txBox="1"/>
          <p:nvPr/>
        </p:nvSpPr>
        <p:spPr>
          <a:xfrm>
            <a:off x="3066757" y="1560970"/>
            <a:ext cx="9430044" cy="5632311"/>
          </a:xfrm>
          <a:prstGeom prst="rect">
            <a:avLst/>
          </a:prstGeom>
          <a:noFill/>
        </p:spPr>
        <p:txBody>
          <a:bodyPr wrap="square" rtlCol="0">
            <a:spAutoFit/>
          </a:bodyPr>
          <a:lstStyle/>
          <a:p>
            <a:r>
              <a:rPr lang="es-MX" dirty="0"/>
              <a:t>La Ley General de Hidrocarburos en Perú se establece principalmente en la Ley N° 26221, promulgada el 20 de agosto de 1993. Esta ley tiene como objetivo propiciar el aprovechamiento de los yacimientos de hidrocarburos y establecer una política petrolera que permita obtener mejores resultados en la exploración y explotación de estos recursos.</a:t>
            </a:r>
          </a:p>
          <a:p>
            <a:endParaRPr lang="es-MX" dirty="0"/>
          </a:p>
          <a:p>
            <a:r>
              <a:rPr lang="es-MX" dirty="0"/>
              <a:t>Principales aspectos de la ley:</a:t>
            </a:r>
          </a:p>
          <a:p>
            <a:r>
              <a:rPr lang="es-MX" dirty="0"/>
              <a:t>Propósito: Lograr la independencia energética del país y el autoabastecimiento de hidrocarburos.</a:t>
            </a:r>
          </a:p>
          <a:p>
            <a:endParaRPr lang="es-MX" dirty="0"/>
          </a:p>
          <a:p>
            <a:r>
              <a:rPr lang="es-MX" dirty="0"/>
              <a:t>Regulación: Establece las normas para la exploración, explotación, transporte y comercialización de hidrocarburos.</a:t>
            </a:r>
          </a:p>
          <a:p>
            <a:endParaRPr lang="es-MX" dirty="0"/>
          </a:p>
          <a:p>
            <a:r>
              <a:rPr lang="es-MX" dirty="0"/>
              <a:t>Participación ciudadana: Fomenta la participación de las comunidades locales en la toma de decisiones relacionadas con la explotación de hidrocarburos.</a:t>
            </a:r>
          </a:p>
          <a:p>
            <a:endParaRPr lang="es-MX" dirty="0"/>
          </a:p>
          <a:p>
            <a:r>
              <a:rPr lang="es-MX" dirty="0"/>
              <a:t>La ley también establece la creación de instituciones como </a:t>
            </a:r>
            <a:r>
              <a:rPr lang="es-MX" dirty="0" err="1"/>
              <a:t>Perupetro</a:t>
            </a:r>
            <a:r>
              <a:rPr lang="es-MX" dirty="0"/>
              <a:t> S.A., que se encarga de la promoción y regulación de las actividades de hidrocarburos en el país. Además, se establecen normas para la protección del medio ambiente y la seguridad en la explotación de hidrocarburos.</a:t>
            </a:r>
            <a:endParaRPr lang="es-PE" dirty="0"/>
          </a:p>
        </p:txBody>
      </p:sp>
      <p:pic>
        <p:nvPicPr>
          <p:cNvPr id="6" name="Imagen 5">
            <a:extLst>
              <a:ext uri="{FF2B5EF4-FFF2-40B4-BE49-F238E27FC236}">
                <a16:creationId xmlns:a16="http://schemas.microsoft.com/office/drawing/2014/main" id="{76CBF7FD-7E48-4B4B-8132-899027CFA15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369659" y="2043344"/>
            <a:ext cx="2401677" cy="3505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32149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353386" y="1029852"/>
            <a:ext cx="10428914" cy="7017306"/>
          </a:xfrm>
          <a:prstGeom prst="rect">
            <a:avLst/>
          </a:prstGeom>
        </p:spPr>
        <p:txBody>
          <a:bodyPr wrap="square">
            <a:spAutoFit/>
          </a:bodyPr>
          <a:lstStyle/>
          <a:p>
            <a:r>
              <a:rPr lang="es-MX" dirty="0"/>
              <a:t>La Ley General de Minería en Perú se establece principalmente en la Ley N° 28651, promulgada el 23 de octubre de 2005. </a:t>
            </a:r>
          </a:p>
          <a:p>
            <a:endParaRPr lang="es-MX" dirty="0"/>
          </a:p>
          <a:p>
            <a:r>
              <a:rPr lang="es-MX" dirty="0"/>
              <a:t>Esta ley tiene como objetivo regular la actividad minera en el país, promoviendo su desarrollo de manera sostenible y responsable.</a:t>
            </a:r>
          </a:p>
          <a:p>
            <a:endParaRPr lang="es-MX" dirty="0"/>
          </a:p>
          <a:p>
            <a:r>
              <a:rPr lang="es-MX" dirty="0"/>
              <a:t>Principales aspectos de la ley:</a:t>
            </a:r>
          </a:p>
          <a:p>
            <a:pPr marL="342900" indent="-342900">
              <a:buAutoNum type="arabicPeriod"/>
            </a:pPr>
            <a:r>
              <a:rPr lang="es-MX" dirty="0"/>
              <a:t>Objetivos: Fomentar el desarrollo de la minería, proteger el medio ambiente y promover la participación de las comunidades locales.</a:t>
            </a:r>
          </a:p>
          <a:p>
            <a:endParaRPr lang="es-MX" dirty="0"/>
          </a:p>
          <a:p>
            <a:r>
              <a:rPr lang="es-MX" dirty="0"/>
              <a:t>2. Regulación: Establece las normas para la exploración, explotación, beneficio y transporte de minerales.</a:t>
            </a:r>
          </a:p>
          <a:p>
            <a:endParaRPr lang="es-MX" dirty="0"/>
          </a:p>
          <a:p>
            <a:r>
              <a:rPr lang="es-MX" dirty="0"/>
              <a:t>3. Derechos y obligaciones: Define los derechos y obligaciones de los titulares de concesiones mineras, incluyendo la obligación de realizar estudios de impacto ambiental y sociales.</a:t>
            </a:r>
          </a:p>
          <a:p>
            <a:endParaRPr lang="es-MX" dirty="0"/>
          </a:p>
          <a:p>
            <a:r>
              <a:rPr lang="es-MX" dirty="0"/>
              <a:t>4. Participación ciudadana: Fomenta la participación de las comunidades locales en la toma de decisiones relacionadas con la explotación minera.</a:t>
            </a:r>
          </a:p>
          <a:p>
            <a:endParaRPr lang="es-MX" dirty="0"/>
          </a:p>
          <a:p>
            <a:r>
              <a:rPr lang="es-MX" dirty="0"/>
              <a:t>5. Medio ambiente: Establece normas para la protección del medio ambiente y la rehabilitación de áreas afectadas por la minería.</a:t>
            </a:r>
          </a:p>
          <a:p>
            <a:r>
              <a:rPr lang="es-MX" dirty="0"/>
              <a:t>6. Seguridad: Regula la seguridad en la actividad minera, incluyendo la obligación de implementar medidas de seguridad y salud </a:t>
            </a:r>
            <a:r>
              <a:rPr lang="es-MX" dirty="0" err="1"/>
              <a:t>ocupacional.La</a:t>
            </a:r>
            <a:r>
              <a:rPr lang="es-MX" dirty="0"/>
              <a:t> ley también establece la creación de instituciones como el Ministerio de Energía y Minas, que se encarga de la regulación y supervisión de la actividad minera en el país.</a:t>
            </a:r>
            <a:endParaRPr lang="es-PE" dirty="0"/>
          </a:p>
        </p:txBody>
      </p:sp>
      <p:sp>
        <p:nvSpPr>
          <p:cNvPr id="4" name="3 Rectángulo"/>
          <p:cNvSpPr/>
          <p:nvPr/>
        </p:nvSpPr>
        <p:spPr>
          <a:xfrm>
            <a:off x="353386" y="342768"/>
            <a:ext cx="5596404" cy="461665"/>
          </a:xfrm>
          <a:prstGeom prst="rect">
            <a:avLst/>
          </a:prstGeom>
        </p:spPr>
        <p:txBody>
          <a:bodyPr wrap="none">
            <a:spAutoFit/>
          </a:bodyPr>
          <a:lstStyle/>
          <a:p>
            <a:r>
              <a:rPr lang="es-MX" sz="2400" b="1" dirty="0"/>
              <a:t>LEY GENERAL DE MINERÍA EN PERÚ </a:t>
            </a:r>
            <a:endParaRPr lang="es-PE" sz="2400" b="1" dirty="0"/>
          </a:p>
        </p:txBody>
      </p:sp>
      <p:pic>
        <p:nvPicPr>
          <p:cNvPr id="6" name="Imagen 5">
            <a:extLst>
              <a:ext uri="{FF2B5EF4-FFF2-40B4-BE49-F238E27FC236}">
                <a16:creationId xmlns:a16="http://schemas.microsoft.com/office/drawing/2014/main" id="{2B39520D-56E7-499D-AF76-D447CC4B385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1410857" y="1853129"/>
            <a:ext cx="2591276" cy="4038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18854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715538" y="1232833"/>
            <a:ext cx="9797143" cy="5909310"/>
          </a:xfrm>
          <a:prstGeom prst="rect">
            <a:avLst/>
          </a:prstGeom>
          <a:noFill/>
        </p:spPr>
        <p:txBody>
          <a:bodyPr wrap="square" rtlCol="0">
            <a:spAutoFit/>
          </a:bodyPr>
          <a:lstStyle/>
          <a:p>
            <a:r>
              <a:rPr lang="es-MX" dirty="0"/>
              <a:t>La Ley de Concesiones Eléctricas en Perú se establece principalmente en la Ley N° 25952, promulgada el 23 de diciembre de 1992. </a:t>
            </a:r>
          </a:p>
          <a:p>
            <a:r>
              <a:rPr lang="es-MX" dirty="0"/>
              <a:t>Esta ley regula la concesión de servicios eléctricos en el país, con el objetivo de promover la inversión privada y mejorar la eficiencia en la prestación de estos servicios.</a:t>
            </a:r>
          </a:p>
          <a:p>
            <a:endParaRPr lang="es-MX" dirty="0"/>
          </a:p>
          <a:p>
            <a:r>
              <a:rPr lang="es-MX" dirty="0"/>
              <a:t>Principales aspectos de la ley:</a:t>
            </a:r>
          </a:p>
          <a:p>
            <a:pPr marL="342900" indent="-342900">
              <a:buAutoNum type="arabicPeriod"/>
            </a:pPr>
            <a:r>
              <a:rPr lang="es-MX" dirty="0"/>
              <a:t>Concesiones: Establece el régimen de concesiones para la generación, transmisión y distribución de energía eléctrica.</a:t>
            </a:r>
          </a:p>
          <a:p>
            <a:pPr marL="342900" indent="-342900">
              <a:buAutoNum type="arabicPeriod"/>
            </a:pPr>
            <a:r>
              <a:rPr lang="es-MX" dirty="0"/>
              <a:t>Procedimiento de concesión: Regula el procedimiento para otorgar concesiones, incluyendo la licitación pública y la evaluación de propuestas.</a:t>
            </a:r>
          </a:p>
          <a:p>
            <a:pPr marL="342900" indent="-342900">
              <a:buAutoNum type="arabicPeriod"/>
            </a:pPr>
            <a:r>
              <a:rPr lang="es-MX" dirty="0"/>
              <a:t>Derechos y obligaciones: Define los derechos y obligaciones de los concesionarios, incluyendo la obligación de prestar servicios de calidad y cumplir con las normas técnicas y de seguridad.</a:t>
            </a:r>
          </a:p>
          <a:p>
            <a:pPr marL="342900" indent="-342900">
              <a:buAutoNum type="arabicPeriod"/>
            </a:pPr>
            <a:r>
              <a:rPr lang="es-MX" dirty="0"/>
              <a:t>Regulación: Establece la regulación de las concesiones por parte del Estado, a través del Ministerio de Energía y Minas y la empresa reguladora </a:t>
            </a:r>
            <a:r>
              <a:rPr lang="es-MX" dirty="0" err="1"/>
              <a:t>Osinergmin</a:t>
            </a:r>
            <a:r>
              <a:rPr lang="es-MX" dirty="0"/>
              <a:t>.</a:t>
            </a:r>
          </a:p>
          <a:p>
            <a:pPr marL="342900" indent="-342900">
              <a:buAutoNum type="arabicPeriod"/>
            </a:pPr>
            <a:r>
              <a:rPr lang="es-MX" dirty="0"/>
              <a:t>Tarifas: Regula la fijación de tarifas eléctricas, considerando la eficiencia y la calidad de los servicios prestados.</a:t>
            </a:r>
          </a:p>
          <a:p>
            <a:pPr marL="342900" indent="-342900">
              <a:buAutoNum type="arabicPeriod"/>
            </a:pPr>
            <a:r>
              <a:rPr lang="es-MX" dirty="0"/>
              <a:t>Protección al consumidor: Establece normas para la protección de los derechos de los consumidores de servicios eléctricos. La ley busca promover la competencia, la eficiencia y la calidad en la prestación de servicios eléctricos, así como garantizar la seguridad y la confiabilidad del suministro eléctrico en el país.</a:t>
            </a:r>
            <a:endParaRPr lang="es-PE" dirty="0"/>
          </a:p>
        </p:txBody>
      </p:sp>
      <p:sp>
        <p:nvSpPr>
          <p:cNvPr id="4" name="3 Rectángulo"/>
          <p:cNvSpPr/>
          <p:nvPr/>
        </p:nvSpPr>
        <p:spPr>
          <a:xfrm>
            <a:off x="715538" y="682878"/>
            <a:ext cx="5668731" cy="461665"/>
          </a:xfrm>
          <a:prstGeom prst="rect">
            <a:avLst/>
          </a:prstGeom>
        </p:spPr>
        <p:txBody>
          <a:bodyPr wrap="none">
            <a:spAutoFit/>
          </a:bodyPr>
          <a:lstStyle/>
          <a:p>
            <a:r>
              <a:rPr lang="es-MX" sz="2400" b="1" dirty="0"/>
              <a:t>LEY DE CONCESIONES ELÉCTRICAS </a:t>
            </a:r>
            <a:endParaRPr lang="es-PE" sz="2400" b="1" dirty="0"/>
          </a:p>
        </p:txBody>
      </p:sp>
      <p:pic>
        <p:nvPicPr>
          <p:cNvPr id="6" name="Imagen 5">
            <a:extLst>
              <a:ext uri="{FF2B5EF4-FFF2-40B4-BE49-F238E27FC236}">
                <a16:creationId xmlns:a16="http://schemas.microsoft.com/office/drawing/2014/main" id="{43D0264C-4D0A-40B8-8F84-3A6F7F565429}"/>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1073229" y="1944141"/>
            <a:ext cx="2721167" cy="434131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96509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2 CuadroTexto"/>
          <p:cNvSpPr txBox="1"/>
          <p:nvPr/>
        </p:nvSpPr>
        <p:spPr>
          <a:xfrm>
            <a:off x="5806049" y="361295"/>
            <a:ext cx="6385951" cy="1200329"/>
          </a:xfrm>
          <a:prstGeom prst="rect">
            <a:avLst/>
          </a:prstGeom>
          <a:noFill/>
        </p:spPr>
        <p:txBody>
          <a:bodyPr wrap="square" rtlCol="0">
            <a:spAutoFit/>
          </a:bodyPr>
          <a:lstStyle/>
          <a:p>
            <a:r>
              <a:rPr lang="en-US" sz="2400" b="1" dirty="0">
                <a:latin typeface="Inter" panose="02000503000000020004" pitchFamily="50" charset="0"/>
                <a:ea typeface="Inter" panose="02000503000000020004" pitchFamily="50" charset="0"/>
                <a:cs typeface="Inter" panose="02000503000000020004" pitchFamily="50" charset="0"/>
                <a:sym typeface="Open Sans 2 Semi-Bold"/>
              </a:rPr>
              <a:t>NORMATIVA PARA EL CONTROL DE LA CONTAMINACIÓN DEL AIRE Y DEL AGUA</a:t>
            </a:r>
          </a:p>
          <a:p>
            <a:endParaRPr lang="es-PE" sz="2400" dirty="0"/>
          </a:p>
        </p:txBody>
      </p:sp>
      <p:sp>
        <p:nvSpPr>
          <p:cNvPr id="4" name="3 CuadroTexto"/>
          <p:cNvSpPr txBox="1"/>
          <p:nvPr/>
        </p:nvSpPr>
        <p:spPr>
          <a:xfrm>
            <a:off x="5930900" y="1284625"/>
            <a:ext cx="8470900" cy="6494085"/>
          </a:xfrm>
          <a:prstGeom prst="rect">
            <a:avLst/>
          </a:prstGeom>
          <a:noFill/>
        </p:spPr>
        <p:txBody>
          <a:bodyPr wrap="square" rtlCol="0">
            <a:spAutoFit/>
          </a:bodyPr>
          <a:lstStyle/>
          <a:p>
            <a:pPr fontAlgn="ctr"/>
            <a:r>
              <a:rPr lang="es-MX" dirty="0"/>
              <a:t>En Perú, las normativas para el control de la contaminación del aire y del agua son el Estándar de Calidad Ambiental (ECA) y la Ley General del Ambiente. </a:t>
            </a:r>
          </a:p>
          <a:p>
            <a:pPr fontAlgn="ctr"/>
            <a:endParaRPr lang="es-MX" dirty="0"/>
          </a:p>
          <a:p>
            <a:pPr fontAlgn="ctr"/>
            <a:r>
              <a:rPr lang="es-MX" b="1" dirty="0"/>
              <a:t>Estándar de Calidad Ambiental (ECA) </a:t>
            </a:r>
          </a:p>
          <a:p>
            <a:r>
              <a:rPr lang="es-MX" dirty="0"/>
              <a:t>Es un instrumento de gestión ambiental que establece los valores máximos de contaminantes en el ambiente.</a:t>
            </a:r>
          </a:p>
          <a:p>
            <a:r>
              <a:rPr lang="es-MX" dirty="0"/>
              <a:t>El ECA permite a las autoridades ambientales desarrollar acciones de control para proteger la salud pública y la calidad ambiental.</a:t>
            </a:r>
          </a:p>
          <a:p>
            <a:endParaRPr lang="es-MX" dirty="0"/>
          </a:p>
          <a:p>
            <a:pPr fontAlgn="ctr"/>
            <a:r>
              <a:rPr lang="es-MX" b="1" dirty="0"/>
              <a:t>Ley General del Ambiente </a:t>
            </a:r>
          </a:p>
          <a:p>
            <a:r>
              <a:rPr lang="es-MX" dirty="0"/>
              <a:t>Es la Ley N° 28611, que establece el derecho de las personas a vivir en un ambiente saludable.</a:t>
            </a:r>
          </a:p>
          <a:p>
            <a:r>
              <a:rPr lang="es-MX" dirty="0"/>
              <a:t>También establece el deber de las personas de contribuir a la gestión ambiental y proteger el ambiente.</a:t>
            </a:r>
          </a:p>
          <a:p>
            <a:endParaRPr lang="es-MX" dirty="0"/>
          </a:p>
          <a:p>
            <a:pPr fontAlgn="ctr"/>
            <a:r>
              <a:rPr lang="es-MX" sz="1600" dirty="0"/>
              <a:t>Otras normativas relacionadas con el control de la contaminación son: </a:t>
            </a:r>
          </a:p>
          <a:p>
            <a:pPr marL="285750" indent="-285750">
              <a:buFont typeface="Arial" pitchFamily="34" charset="0"/>
              <a:buChar char="•"/>
            </a:pPr>
            <a:r>
              <a:rPr lang="es-MX" sz="1600" dirty="0"/>
              <a:t>Reglamento de Estándares Nacionales de Calidad Ambiental del Aire</a:t>
            </a:r>
          </a:p>
          <a:p>
            <a:pPr marL="285750" indent="-285750">
              <a:buFont typeface="Arial" pitchFamily="34" charset="0"/>
              <a:buChar char="•"/>
            </a:pPr>
            <a:r>
              <a:rPr lang="es-MX" sz="1600" dirty="0"/>
              <a:t>Protocolo Nacional de Monitoreo de la Calidad Ambiental del Aire</a:t>
            </a:r>
          </a:p>
          <a:p>
            <a:pPr marL="285750" indent="-285750">
              <a:buFont typeface="Arial" pitchFamily="34" charset="0"/>
              <a:buChar char="•"/>
            </a:pPr>
            <a:r>
              <a:rPr lang="es-MX" sz="1600" dirty="0"/>
              <a:t>Ley de Recursos Hídricos</a:t>
            </a:r>
          </a:p>
          <a:p>
            <a:pPr marL="285750" indent="-285750">
              <a:buFont typeface="Arial" pitchFamily="34" charset="0"/>
              <a:buChar char="•"/>
            </a:pPr>
            <a:r>
              <a:rPr lang="es-MX" sz="1600" dirty="0"/>
              <a:t>Ley Orgánica para el Aprovechamiento Sostenible de los </a:t>
            </a:r>
            <a:br>
              <a:rPr lang="es-MX" sz="1600" dirty="0"/>
            </a:br>
            <a:r>
              <a:rPr lang="es-MX" sz="1600" dirty="0"/>
              <a:t>Recursos Naturales</a:t>
            </a:r>
          </a:p>
          <a:p>
            <a:pPr marL="285750" indent="-285750">
              <a:buFont typeface="Arial" pitchFamily="34" charset="0"/>
              <a:buChar char="•"/>
            </a:pPr>
            <a:r>
              <a:rPr lang="es-MX" sz="1600" dirty="0"/>
              <a:t>Código del Medio Ambiente y los </a:t>
            </a:r>
            <a:br>
              <a:rPr lang="es-MX" sz="1600" dirty="0"/>
            </a:br>
            <a:r>
              <a:rPr lang="es-MX" sz="1600" dirty="0"/>
              <a:t>Recursos Naturales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1484734" y="1085379"/>
            <a:ext cx="10691447" cy="6001643"/>
          </a:xfrm>
          <a:prstGeom prst="rect">
            <a:avLst/>
          </a:prstGeom>
          <a:noFill/>
        </p:spPr>
        <p:txBody>
          <a:bodyPr wrap="square" rtlCol="0">
            <a:spAutoFit/>
          </a:bodyPr>
          <a:lstStyle/>
          <a:p>
            <a:pPr fontAlgn="ctr"/>
            <a:r>
              <a:rPr lang="es-MX" sz="2400" b="1" dirty="0"/>
              <a:t>EVALUACIÓN DEL IMPACTO AMBIENTAL (</a:t>
            </a:r>
            <a:r>
              <a:rPr lang="es-MX" sz="2400" b="1" dirty="0" err="1"/>
              <a:t>EIA</a:t>
            </a:r>
            <a:r>
              <a:rPr lang="es-MX" sz="2400" b="1" dirty="0"/>
              <a:t>): </a:t>
            </a:r>
          </a:p>
          <a:p>
            <a:pPr fontAlgn="ctr"/>
            <a:endParaRPr lang="es-MX" b="1" dirty="0"/>
          </a:p>
          <a:p>
            <a:pPr fontAlgn="ctr"/>
            <a:endParaRPr lang="es-MX" b="1" dirty="0"/>
          </a:p>
          <a:p>
            <a:pPr fontAlgn="ctr"/>
            <a:r>
              <a:rPr lang="es-MX" b="1" dirty="0"/>
              <a:t> </a:t>
            </a:r>
            <a:r>
              <a:rPr lang="es-MX" dirty="0"/>
              <a:t>en Perú es un proceso técnico que identifica, previene y mitiga los impactos ambientales de un proyecto. El objetivo es que los proyectos de inversión se desarrollen de manera sostenible, sin perjudicar al medio ambiente o a las comunidades. </a:t>
            </a:r>
          </a:p>
          <a:p>
            <a:pPr fontAlgn="ctr"/>
            <a:endParaRPr lang="es-MX" dirty="0"/>
          </a:p>
          <a:p>
            <a:pPr fontAlgn="ctr"/>
            <a:r>
              <a:rPr lang="es-MX" dirty="0"/>
              <a:t>El Sistema Nacional de Evaluación de Impacto Ambiental (SEIA) es el encargado de coordinar la evaluación de los impactos ambientales en Perú. </a:t>
            </a:r>
          </a:p>
          <a:p>
            <a:pPr fontAlgn="ctr"/>
            <a:endParaRPr lang="es-MX" dirty="0"/>
          </a:p>
          <a:p>
            <a:r>
              <a:rPr lang="es-MX" b="1" dirty="0"/>
              <a:t>COMPONENTES DE LA EVALUACIÓN DEL IMPACTO AMBIENTAL</a:t>
            </a:r>
          </a:p>
          <a:p>
            <a:endParaRPr lang="es-MX" b="1" dirty="0"/>
          </a:p>
          <a:p>
            <a:pPr marL="285750" indent="-285750" fontAlgn="ctr">
              <a:buFont typeface="Arial" panose="020B0604020202020204" pitchFamily="34" charset="0"/>
              <a:buChar char="•"/>
            </a:pPr>
            <a:r>
              <a:rPr lang="es-MX" b="1" dirty="0"/>
              <a:t>Declaración de Impacto Ambiental (DIA)</a:t>
            </a:r>
            <a:r>
              <a:rPr lang="es-MX" dirty="0"/>
              <a:t>: Estima los impactos negativos leves y propone medidas para prevenirlos. </a:t>
            </a:r>
          </a:p>
          <a:p>
            <a:pPr marL="285750" indent="-285750" fontAlgn="ctr">
              <a:buFont typeface="Arial" panose="020B0604020202020204" pitchFamily="34" charset="0"/>
              <a:buChar char="•"/>
            </a:pPr>
            <a:r>
              <a:rPr lang="es-MX" b="1" dirty="0"/>
              <a:t>Estudio de Impacto Ambiental detallado (EIA-d)</a:t>
            </a:r>
            <a:r>
              <a:rPr lang="es-MX" dirty="0"/>
              <a:t>: Es un plan de acción para manejar los impactos negativos y potenciar los positivos. </a:t>
            </a:r>
          </a:p>
          <a:p>
            <a:pPr marL="285750" indent="-285750" fontAlgn="ctr">
              <a:buFont typeface="Arial" panose="020B0604020202020204" pitchFamily="34" charset="0"/>
              <a:buChar char="•"/>
            </a:pPr>
            <a:r>
              <a:rPr lang="es-MX" b="1" dirty="0"/>
              <a:t>Términos de Referencia (</a:t>
            </a:r>
            <a:r>
              <a:rPr lang="es-MX" b="1" dirty="0" err="1"/>
              <a:t>TdR</a:t>
            </a:r>
            <a:r>
              <a:rPr lang="es-MX" b="1" dirty="0"/>
              <a:t>)</a:t>
            </a:r>
            <a:r>
              <a:rPr lang="es-MX" dirty="0"/>
              <a:t>: Son las instrucciones para elaborar el EIA-d, y pueden ser específicos o para proyectos similares. </a:t>
            </a:r>
          </a:p>
          <a:p>
            <a:pPr marL="285750" indent="-285750" fontAlgn="ctr">
              <a:buFont typeface="Arial" panose="020B0604020202020204" pitchFamily="34" charset="0"/>
              <a:buChar char="•"/>
            </a:pPr>
            <a:endParaRPr lang="es-MX" dirty="0"/>
          </a:p>
          <a:p>
            <a:r>
              <a:rPr lang="es-MX" dirty="0"/>
              <a:t>Para solicitar la evaluación de un proyecto, se debe consultar a la autoridad competente y, si es necesario, presentar una solicitud al MINAM. </a:t>
            </a:r>
          </a:p>
        </p:txBody>
      </p:sp>
    </p:spTree>
    <p:extLst>
      <p:ext uri="{BB962C8B-B14F-4D97-AF65-F5344CB8AC3E}">
        <p14:creationId xmlns:p14="http://schemas.microsoft.com/office/powerpoint/2010/main" val="1191543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779" t="22019" r="35188" b="7596"/>
          <a:stretch/>
        </p:blipFill>
        <p:spPr bwMode="auto">
          <a:xfrm>
            <a:off x="839568" y="742058"/>
            <a:ext cx="10399932" cy="6971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4457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6586928" y="3139332"/>
            <a:ext cx="9731844" cy="97318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40640" tIns="40640" rIns="40640" bIns="40640" rtlCol="0" anchor="ctr"/>
            <a:lstStyle/>
            <a:p>
              <a:pPr algn="ctr">
                <a:lnSpc>
                  <a:spcPts val="1726"/>
                </a:lnSpc>
              </a:pPr>
              <a:endParaRPr sz="1440"/>
            </a:p>
          </p:txBody>
        </p:sp>
      </p:grpSp>
      <p:grpSp>
        <p:nvGrpSpPr>
          <p:cNvPr id="5" name="Group 5"/>
          <p:cNvGrpSpPr>
            <a:grpSpLocks noChangeAspect="1"/>
          </p:cNvGrpSpPr>
          <p:nvPr/>
        </p:nvGrpSpPr>
        <p:grpSpPr>
          <a:xfrm>
            <a:off x="10601812" y="822960"/>
            <a:ext cx="3205628" cy="6342886"/>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7094822" y="2952540"/>
            <a:ext cx="3207801" cy="6347185"/>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2954307" y="6746910"/>
            <a:ext cx="10049129" cy="2110317"/>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 y="-18895"/>
            <a:ext cx="2724951" cy="1683710"/>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1007726" y="1938528"/>
            <a:ext cx="5030574" cy="2923877"/>
          </a:xfrm>
          <a:prstGeom prst="rect">
            <a:avLst/>
          </a:prstGeom>
        </p:spPr>
        <p:txBody>
          <a:bodyPr wrap="square" lIns="0" tIns="0" rIns="0" bIns="0" rtlCol="0" anchor="t">
            <a:spAutoFit/>
          </a:bodyPr>
          <a:lstStyle/>
          <a:p>
            <a:pPr algn="ctr">
              <a:lnSpc>
                <a:spcPts val="3840"/>
              </a:lnSpc>
            </a:pPr>
            <a:r>
              <a:rPr lang="en-US" sz="3840" b="1" dirty="0">
                <a:solidFill>
                  <a:srgbClr val="303030"/>
                </a:solidFill>
                <a:latin typeface="Futura Std Book" panose="020B0802020204020204" pitchFamily="34" charset="0"/>
                <a:ea typeface="Futura Ultra-Bold"/>
                <a:cs typeface="Futura Ultra-Bold"/>
                <a:sym typeface="Futura Ultra-Bold"/>
              </a:rPr>
              <a:t>TEMA 2:</a:t>
            </a:r>
          </a:p>
          <a:p>
            <a:pPr algn="ctr">
              <a:lnSpc>
                <a:spcPts val="3840"/>
              </a:lnSpc>
            </a:pPr>
            <a:endParaRPr lang="en-US" sz="3840" b="1" dirty="0">
              <a:solidFill>
                <a:srgbClr val="303030"/>
              </a:solidFill>
              <a:latin typeface="Futura Std Book" panose="020B0802020204020204" pitchFamily="34" charset="0"/>
              <a:ea typeface="Futura Ultra-Bold"/>
              <a:cs typeface="Futura Ultra-Bold"/>
              <a:sym typeface="Futura Ultra-Bold"/>
            </a:endParaRPr>
          </a:p>
          <a:p>
            <a:pPr algn="ctr">
              <a:lnSpc>
                <a:spcPts val="3840"/>
              </a:lnSpc>
            </a:pPr>
            <a:r>
              <a:rPr lang="es-ES" sz="3840" b="1" dirty="0">
                <a:solidFill>
                  <a:srgbClr val="303030"/>
                </a:solidFill>
                <a:latin typeface="Futura Std Book" panose="020B0802020204020204" pitchFamily="34" charset="0"/>
                <a:ea typeface="Futura Ultra-Bold"/>
                <a:cs typeface="Futura Ultra-Bold"/>
                <a:sym typeface="Futura Ultra-Bold"/>
              </a:rPr>
              <a:t>ASPECTOS</a:t>
            </a:r>
            <a:br>
              <a:rPr lang="es-ES" sz="3840" b="1" dirty="0">
                <a:solidFill>
                  <a:srgbClr val="303030"/>
                </a:solidFill>
                <a:latin typeface="Futura Std Book" panose="020B0802020204020204" pitchFamily="34" charset="0"/>
                <a:ea typeface="Futura Ultra-Bold"/>
                <a:cs typeface="Futura Ultra-Bold"/>
                <a:sym typeface="Futura Ultra-Bold"/>
              </a:rPr>
            </a:br>
            <a:r>
              <a:rPr lang="es-ES" sz="3840" b="1" dirty="0">
                <a:solidFill>
                  <a:srgbClr val="303030"/>
                </a:solidFill>
                <a:latin typeface="Futura Std Book" panose="020B0802020204020204" pitchFamily="34" charset="0"/>
                <a:ea typeface="Futura Ultra-Bold"/>
                <a:cs typeface="Futura Ultra-Bold"/>
                <a:sym typeface="Futura Ultra-Bold"/>
              </a:rPr>
              <a:t>LEGALES DE LOS MEGAPROYECTOS MINEROS</a:t>
            </a:r>
          </a:p>
        </p:txBody>
      </p:sp>
    </p:spTree>
    <p:extLst>
      <p:ext uri="{BB962C8B-B14F-4D97-AF65-F5344CB8AC3E}">
        <p14:creationId xmlns:p14="http://schemas.microsoft.com/office/powerpoint/2010/main" val="800371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062689" y="1833001"/>
            <a:ext cx="9180112" cy="5096780"/>
          </a:xfrm>
          <a:prstGeom prst="rect">
            <a:avLst/>
          </a:prstGeom>
        </p:spPr>
        <p:txBody>
          <a:bodyPr wrap="square" lIns="109728" tIns="54864" rIns="109728" bIns="54864">
            <a:spAutoFit/>
          </a:bodyPr>
          <a:lstStyle/>
          <a:p>
            <a:endParaRPr lang="en-US" b="1" dirty="0">
              <a:solidFill>
                <a:srgbClr val="000000"/>
              </a:solidFill>
              <a:latin typeface="OTIJQP+AGaramondPro-Semibold"/>
              <a:ea typeface="Times New Roman" panose="02020603050405020304" pitchFamily="18" charset="0"/>
            </a:endParaRPr>
          </a:p>
          <a:p>
            <a:r>
              <a:rPr lang="es-PE" dirty="0">
                <a:solidFill>
                  <a:srgbClr val="000000"/>
                </a:solidFill>
                <a:latin typeface="+mj-lt"/>
                <a:ea typeface="Times New Roman" panose="02020603050405020304" pitchFamily="18" charset="0"/>
              </a:rPr>
              <a:t>Las competencias ambientales están repartidas entre los distintos niveles de gobierno (nacional, regional y local), lo que ha acentuado los </a:t>
            </a:r>
            <a:r>
              <a:rPr lang="es-PE" dirty="0" err="1">
                <a:solidFill>
                  <a:srgbClr val="000000"/>
                </a:solidFill>
                <a:latin typeface="+mj-lt"/>
                <a:ea typeface="Times New Roman" panose="02020603050405020304" pitchFamily="18" charset="0"/>
              </a:rPr>
              <a:t>conﬂictos</a:t>
            </a:r>
            <a:r>
              <a:rPr lang="es-PE" dirty="0">
                <a:solidFill>
                  <a:srgbClr val="000000"/>
                </a:solidFill>
                <a:latin typeface="+mj-lt"/>
                <a:ea typeface="Times New Roman" panose="02020603050405020304" pitchFamily="18" charset="0"/>
              </a:rPr>
              <a:t> de competencia entre las distintas entidades públicas con funciones ambientales.</a:t>
            </a:r>
          </a:p>
          <a:p>
            <a:endParaRPr lang="es-PE" dirty="0">
              <a:solidFill>
                <a:srgbClr val="000000"/>
              </a:solidFill>
              <a:latin typeface="OTIJQP+AGaramondPro-Semibold"/>
              <a:ea typeface="Times New Roman" panose="02020603050405020304" pitchFamily="18" charset="0"/>
            </a:endParaRPr>
          </a:p>
          <a:p>
            <a:pPr marL="342900" indent="-342900">
              <a:buFont typeface="Arial" panose="020B0604020202020204" pitchFamily="34" charset="0"/>
              <a:buChar char="•"/>
            </a:pPr>
            <a:r>
              <a:rPr lang="en-US" b="1" dirty="0"/>
              <a:t>MINISTERIO DEL AMBIENTE – MINAM</a:t>
            </a:r>
            <a:r>
              <a:rPr lang="en-US" dirty="0"/>
              <a:t>: </a:t>
            </a:r>
            <a:r>
              <a:rPr lang="es-PE" dirty="0"/>
              <a:t>Es el organismo rector del Sector </a:t>
            </a:r>
            <a:r>
              <a:rPr lang="es-PE" dirty="0" err="1"/>
              <a:t>Ambiente.Tiene</a:t>
            </a:r>
            <a:r>
              <a:rPr lang="es-PE" dirty="0"/>
              <a:t> como objetivo promover la sostenibilidad ambiental del país conservando, protegiendo, recuperando y asegurando las condiciones ambientales, los ecosistemas y los recursos naturales. Entre otras, el Ministerio del Ambiente tiene a su cargo las siguientes funciones:</a:t>
            </a:r>
          </a:p>
          <a:p>
            <a:endParaRPr lang="es-PE" dirty="0"/>
          </a:p>
          <a:p>
            <a:pPr marL="891540" lvl="1" indent="-342900">
              <a:buFont typeface="Wingdings" panose="05000000000000000000" pitchFamily="2" charset="2"/>
              <a:buChar char="ü"/>
            </a:pPr>
            <a:r>
              <a:rPr lang="es-PE" dirty="0"/>
              <a:t>Funciones rectoras: formular, ejecutar y supervisar la política nacional del ambiente aplicable a todos los niveles de gobierno, así como coordinar su implementación y monitorear el cumplimiento de las metas ambientales.</a:t>
            </a:r>
          </a:p>
          <a:p>
            <a:pPr marL="891540" lvl="1" indent="-342900">
              <a:buFont typeface="Wingdings" panose="05000000000000000000" pitchFamily="2" charset="2"/>
              <a:buChar char="ü"/>
            </a:pPr>
            <a:r>
              <a:rPr lang="es-PE" dirty="0"/>
              <a:t>Funciones técnico-normativas: formular propuestas y aprobar lineamientos, normas, directivas, planes, programas, proyectos, estrategias e instrumentos de gestión ambiental en las materias de su competencia.</a:t>
            </a:r>
            <a:endParaRPr lang="es-MX" dirty="0"/>
          </a:p>
        </p:txBody>
      </p:sp>
      <p:sp>
        <p:nvSpPr>
          <p:cNvPr id="5" name="CuadroTexto 4">
            <a:extLst>
              <a:ext uri="{FF2B5EF4-FFF2-40B4-BE49-F238E27FC236}">
                <a16:creationId xmlns:a16="http://schemas.microsoft.com/office/drawing/2014/main" id="{0EEBC271-CC3C-4200-848C-4D7981618864}"/>
              </a:ext>
            </a:extLst>
          </p:cNvPr>
          <p:cNvSpPr txBox="1"/>
          <p:nvPr/>
        </p:nvSpPr>
        <p:spPr>
          <a:xfrm>
            <a:off x="-308472" y="1349299"/>
            <a:ext cx="7623672" cy="369332"/>
          </a:xfrm>
          <a:prstGeom prst="rect">
            <a:avLst/>
          </a:prstGeom>
          <a:noFill/>
        </p:spPr>
        <p:txBody>
          <a:bodyPr wrap="square">
            <a:spAutoFit/>
          </a:bodyPr>
          <a:lstStyle/>
          <a:p>
            <a:pPr algn="ctr"/>
            <a:r>
              <a:rPr lang="en-US" b="1" spc="30" dirty="0">
                <a:solidFill>
                  <a:srgbClr val="000000"/>
                </a:solidFill>
                <a:latin typeface="OTIJQP+AGaramondPro-Semibold"/>
                <a:ea typeface="Times New Roman" panose="02020603050405020304" pitchFamily="18" charset="0"/>
                <a:cs typeface="Times New Roman" panose="02020603050405020304" pitchFamily="18" charset="0"/>
              </a:rPr>
              <a:t>INST</a:t>
            </a:r>
            <a:r>
              <a:rPr lang="en-US" b="1" spc="42" dirty="0">
                <a:solidFill>
                  <a:srgbClr val="000000"/>
                </a:solidFill>
                <a:latin typeface="OTIJQP+AGaramondPro-Semibold"/>
                <a:ea typeface="Times New Roman" panose="02020603050405020304" pitchFamily="18" charset="0"/>
                <a:cs typeface="Times New Roman" panose="02020603050405020304" pitchFamily="18" charset="0"/>
              </a:rPr>
              <a:t>IT</a:t>
            </a:r>
            <a:r>
              <a:rPr lang="en-US" b="1" spc="66" dirty="0">
                <a:solidFill>
                  <a:srgbClr val="000000"/>
                </a:solidFill>
                <a:latin typeface="OTIJQP+AGaramondPro-Semibold"/>
                <a:ea typeface="Times New Roman" panose="02020603050405020304" pitchFamily="18" charset="0"/>
                <a:cs typeface="Times New Roman" panose="02020603050405020304" pitchFamily="18" charset="0"/>
              </a:rPr>
              <a:t>UCIONAL</a:t>
            </a:r>
            <a:r>
              <a:rPr lang="en-US" b="1" spc="72" dirty="0">
                <a:solidFill>
                  <a:srgbClr val="000000"/>
                </a:solidFill>
                <a:latin typeface="OTIJQP+AGaramondPro-Semibold"/>
                <a:ea typeface="Times New Roman" panose="02020603050405020304" pitchFamily="18" charset="0"/>
                <a:cs typeface="Times New Roman" panose="02020603050405020304" pitchFamily="18" charset="0"/>
              </a:rPr>
              <a:t>IDAD</a:t>
            </a:r>
            <a:r>
              <a:rPr lang="en-US" b="1" spc="6" dirty="0">
                <a:solidFill>
                  <a:srgbClr val="000000"/>
                </a:solidFill>
                <a:latin typeface="OTIJQP+AGaramondPro-Semibold"/>
                <a:ea typeface="Times New Roman" panose="02020603050405020304" pitchFamily="18" charset="0"/>
                <a:cs typeface="Times New Roman" panose="02020603050405020304" pitchFamily="18" charset="0"/>
              </a:rPr>
              <a:t> AMBIENT</a:t>
            </a:r>
            <a:r>
              <a:rPr lang="en-US" b="1" spc="42" dirty="0">
                <a:solidFill>
                  <a:srgbClr val="000000"/>
                </a:solidFill>
                <a:latin typeface="OTIJQP+AGaramondPro-Semibold"/>
                <a:ea typeface="Times New Roman" panose="02020603050405020304" pitchFamily="18" charset="0"/>
                <a:cs typeface="Times New Roman" panose="02020603050405020304" pitchFamily="18" charset="0"/>
              </a:rPr>
              <a:t>AL</a:t>
            </a:r>
            <a:r>
              <a:rPr lang="en-US" b="1" spc="210"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78" dirty="0">
                <a:solidFill>
                  <a:srgbClr val="000000"/>
                </a:solidFill>
                <a:latin typeface="OTIJQP+AGaramondPro-Semibold"/>
                <a:ea typeface="Times New Roman" panose="02020603050405020304" pitchFamily="18" charset="0"/>
                <a:cs typeface="Times New Roman" panose="02020603050405020304" pitchFamily="18" charset="0"/>
              </a:rPr>
              <a:t>EN</a:t>
            </a:r>
            <a:r>
              <a:rPr lang="en-US" b="1" spc="-66"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78" dirty="0">
                <a:solidFill>
                  <a:srgbClr val="000000"/>
                </a:solidFill>
                <a:latin typeface="OTIJQP+AGaramondPro-Semibold"/>
                <a:ea typeface="Times New Roman" panose="02020603050405020304" pitchFamily="18" charset="0"/>
                <a:cs typeface="Times New Roman" panose="02020603050405020304" pitchFamily="18" charset="0"/>
              </a:rPr>
              <a:t>EL</a:t>
            </a:r>
            <a:r>
              <a:rPr lang="en-US" b="1" spc="180"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6" dirty="0">
                <a:solidFill>
                  <a:srgbClr val="000000"/>
                </a:solidFill>
                <a:latin typeface="OTIJQP+AGaramondPro-Semibold"/>
                <a:ea typeface="Times New Roman" panose="02020603050405020304" pitchFamily="18" charset="0"/>
                <a:cs typeface="Times New Roman" panose="02020603050405020304" pitchFamily="18" charset="0"/>
              </a:rPr>
              <a:t>PER</a:t>
            </a:r>
            <a:r>
              <a:rPr lang="en-US" b="1" dirty="0">
                <a:solidFill>
                  <a:srgbClr val="000000"/>
                </a:solidFill>
                <a:latin typeface="OTIJQP+AGaramondPro-Semibold"/>
                <a:ea typeface="Times New Roman" panose="02020603050405020304" pitchFamily="18" charset="0"/>
              </a:rPr>
              <a:t>Ú</a:t>
            </a:r>
          </a:p>
        </p:txBody>
      </p:sp>
      <p:sp>
        <p:nvSpPr>
          <p:cNvPr id="4" name="Rectángulo: esquinas redondeadas 3">
            <a:extLst>
              <a:ext uri="{FF2B5EF4-FFF2-40B4-BE49-F238E27FC236}">
                <a16:creationId xmlns:a16="http://schemas.microsoft.com/office/drawing/2014/main" id="{9AF555B5-26AA-4811-9E72-CFF033C70D55}"/>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pic>
        <p:nvPicPr>
          <p:cNvPr id="1026" name="Picture 2" descr="Ministerio del Ambiente - Perú - YouTube">
            <a:extLst>
              <a:ext uri="{FF2B5EF4-FFF2-40B4-BE49-F238E27FC236}">
                <a16:creationId xmlns:a16="http://schemas.microsoft.com/office/drawing/2014/main" id="{89E71516-FE4B-4D50-9597-78958C5838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959" y="4241493"/>
            <a:ext cx="1994053" cy="19940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54379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76174" y="1020749"/>
            <a:ext cx="10176280" cy="6481774"/>
          </a:xfrm>
          <a:prstGeom prst="rect">
            <a:avLst/>
          </a:prstGeom>
        </p:spPr>
        <p:txBody>
          <a:bodyPr wrap="square" lIns="109728" tIns="54864" rIns="109728" bIns="54864">
            <a:spAutoFit/>
          </a:bodyPr>
          <a:lstStyle/>
          <a:p>
            <a:pPr marL="342900" indent="-342900">
              <a:buFont typeface="Arial" panose="020B0604020202020204" pitchFamily="34" charset="0"/>
              <a:buChar char="•"/>
            </a:pPr>
            <a:r>
              <a:rPr lang="es-PE" b="1" dirty="0"/>
              <a:t>ORGANISMO DE EVALUACIÓN Y FISCALIZACIÓN AMBIENTAL – OEFA: EL OEFA </a:t>
            </a:r>
            <a:r>
              <a:rPr lang="es-PE" dirty="0"/>
              <a:t>es un organismo público técnico especializado adscrito al Ministerio del Ambiente y es el ente rector del Sistema Nacional de Evaluación y Fiscalización Ambiental (SINEFA). Está encargado de la supervisión, control, </a:t>
            </a:r>
            <a:r>
              <a:rPr lang="es-PE" dirty="0" err="1"/>
              <a:t>ﬁscalización</a:t>
            </a:r>
            <a:r>
              <a:rPr lang="es-PE" dirty="0"/>
              <a:t> y sanción en materia ambiental, </a:t>
            </a:r>
            <a:r>
              <a:rPr lang="es-PE" dirty="0" err="1"/>
              <a:t>asícomo</a:t>
            </a:r>
            <a:r>
              <a:rPr lang="es-PE" dirty="0"/>
              <a:t> de la aplicación de los incentivos, con la </a:t>
            </a:r>
            <a:r>
              <a:rPr lang="es-PE" dirty="0" err="1"/>
              <a:t>ﬁnalidad</a:t>
            </a:r>
            <a:r>
              <a:rPr lang="es-PE" dirty="0"/>
              <a:t> de garantizar el cumplimiento de la legislación ambiental y de los instrumentos de gestión ambiental, por parte de las personas naturales o jurídicas.</a:t>
            </a:r>
          </a:p>
          <a:p>
            <a:pPr marL="342900" indent="-342900">
              <a:buFont typeface="Arial" panose="020B0604020202020204" pitchFamily="34" charset="0"/>
              <a:buChar char="•"/>
            </a:pPr>
            <a:endParaRPr lang="es-PE" dirty="0"/>
          </a:p>
          <a:p>
            <a:pPr marL="342900" indent="-342900">
              <a:buFont typeface="Arial" panose="020B0604020202020204" pitchFamily="34" charset="0"/>
              <a:buChar char="•"/>
            </a:pPr>
            <a:r>
              <a:rPr lang="es-PE" dirty="0"/>
              <a:t> </a:t>
            </a:r>
            <a:r>
              <a:rPr lang="es-MX" b="1" dirty="0"/>
              <a:t>SERVICIO NACIONAL DE ÁREAS NATURALES PROTEGIDAS POR EL ESTADO-SERNANP: </a:t>
            </a:r>
            <a:r>
              <a:rPr lang="es-PE" b="1" dirty="0"/>
              <a:t>EL SERNANP </a:t>
            </a:r>
            <a:r>
              <a:rPr lang="es-PE" dirty="0"/>
              <a:t>es un organismo público técnico especializado del Ministerio del Ambiente encargado de la dirección del SINANPE. Tiene entre sus funciones aprobar los instrumentos de gestión y </a:t>
            </a:r>
            <a:r>
              <a:rPr lang="es-PE" dirty="0" err="1"/>
              <a:t>planiﬁcación</a:t>
            </a:r>
            <a:r>
              <a:rPr lang="es-PE" dirty="0"/>
              <a:t> de las áreas naturales protegidas de administración nacional. Cuando un proyecto de inversión va a ejecutarse dentro de un ANP o su zona de amortiguamiento, necesariamente deberá mediar la opinión técnica favorable del SERNANP.</a:t>
            </a:r>
          </a:p>
          <a:p>
            <a:endParaRPr lang="es-PE" dirty="0"/>
          </a:p>
          <a:p>
            <a:pPr marL="342900" indent="-342900">
              <a:buFont typeface="Arial" panose="020B0604020202020204" pitchFamily="34" charset="0"/>
              <a:buChar char="•"/>
            </a:pPr>
            <a:r>
              <a:rPr lang="es-PE" b="1" dirty="0"/>
              <a:t>SENACE: EL SENACE </a:t>
            </a:r>
            <a:r>
              <a:rPr lang="es-PE" dirty="0"/>
              <a:t>es un organismo público técnico especializado adscrito al Ministerio del Ambiente. Está encargado de revisar y aprobar los EIA-d, que comprenden los proyectos de inversión pública, privada o de capital mixto, de alcance nacional y </a:t>
            </a:r>
            <a:r>
              <a:rPr lang="es-PE" dirty="0" err="1"/>
              <a:t>multirregional</a:t>
            </a:r>
            <a:r>
              <a:rPr lang="es-PE" dirty="0"/>
              <a:t> que impliquen actividades, construcciones, obras y otras actividades comerciales y de servicios que puedan causar impactos ambientales </a:t>
            </a:r>
            <a:r>
              <a:rPr lang="es-PE" dirty="0" err="1"/>
              <a:t>signiﬁcativos</a:t>
            </a:r>
            <a:r>
              <a:rPr lang="es-PE" dirty="0"/>
              <a:t>. Con la entrada en vigencia de la Ley 30327, el SENACE asumirá progresivamente la función de aprobar los EIA </a:t>
            </a:r>
            <a:r>
              <a:rPr lang="es-PE" dirty="0" err="1"/>
              <a:t>semidetallados</a:t>
            </a:r>
            <a:r>
              <a:rPr lang="es-PE" dirty="0"/>
              <a:t> (EIA-</a:t>
            </a:r>
            <a:r>
              <a:rPr lang="es-PE" dirty="0" err="1"/>
              <a:t>sd</a:t>
            </a:r>
            <a:r>
              <a:rPr lang="es-PE" dirty="0"/>
              <a:t>).</a:t>
            </a:r>
            <a:endParaRPr lang="es-MX" dirty="0"/>
          </a:p>
        </p:txBody>
      </p:sp>
      <p:pic>
        <p:nvPicPr>
          <p:cNvPr id="2050" name="Picture 2" descr="Comunicado N° 2 - Noticias - Organismo de Evaluación y Fiscalización  Ambiental - Plataforma del Estado Peruano">
            <a:extLst>
              <a:ext uri="{FF2B5EF4-FFF2-40B4-BE49-F238E27FC236}">
                <a16:creationId xmlns:a16="http://schemas.microsoft.com/office/drawing/2014/main" id="{9D84FB34-FD09-4999-ACBB-2E27F2394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96724" y="1571473"/>
            <a:ext cx="2157297" cy="106841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4" name="Picture 6" descr="Servicio Nacional de Áreas Naturales Protegidas por el Estado - SERNANP -  Plataforma del Estado Peruano">
            <a:extLst>
              <a:ext uri="{FF2B5EF4-FFF2-40B4-BE49-F238E27FC236}">
                <a16:creationId xmlns:a16="http://schemas.microsoft.com/office/drawing/2014/main" id="{B4CD7FE6-CD34-4C59-9A5E-539D4DAA1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0622" y="3425602"/>
            <a:ext cx="2219291" cy="124899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8" name="Picture 10" descr="Senace Perú | Facebook">
            <a:extLst>
              <a:ext uri="{FF2B5EF4-FFF2-40B4-BE49-F238E27FC236}">
                <a16:creationId xmlns:a16="http://schemas.microsoft.com/office/drawing/2014/main" id="{A336F9F7-2B1A-4492-98BC-F087529B60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14454" y="5268628"/>
            <a:ext cx="1921835" cy="186782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9212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956719" y="3355246"/>
            <a:ext cx="7704073" cy="2573012"/>
          </a:xfrm>
          <a:prstGeom prst="rect">
            <a:avLst/>
          </a:prstGeom>
        </p:spPr>
        <p:txBody>
          <a:bodyPr wrap="square" lIns="109728" tIns="54864" rIns="109728" bIns="54864">
            <a:spAutoFit/>
          </a:bodyPr>
          <a:lstStyle/>
          <a:p>
            <a:r>
              <a:rPr lang="es-PE" sz="2000" dirty="0"/>
              <a:t>Las normas de responsabilidad ambiental procuran que el responsable del daño al ambiente asuma las consecuencias de su reparación y remediación.</a:t>
            </a:r>
          </a:p>
          <a:p>
            <a:r>
              <a:rPr lang="es-PE" sz="2000" dirty="0"/>
              <a:t>Esta regla se inspira en el principio «contaminador-pagador» o «quien contamina paga» del derecho ambiental internacional, cuya </a:t>
            </a:r>
            <a:r>
              <a:rPr lang="es-PE" sz="2000" dirty="0" err="1"/>
              <a:t>ﬁnalidad</a:t>
            </a:r>
            <a:r>
              <a:rPr lang="es-PE" sz="2000" dirty="0"/>
              <a:t> es corregir las externalidades negativas del mercado, asignando los costos de remediación al sujeto generador del daño. </a:t>
            </a:r>
          </a:p>
        </p:txBody>
      </p:sp>
      <p:sp>
        <p:nvSpPr>
          <p:cNvPr id="4" name="Rectángulo: esquinas redondeadas 3">
            <a:extLst>
              <a:ext uri="{FF2B5EF4-FFF2-40B4-BE49-F238E27FC236}">
                <a16:creationId xmlns:a16="http://schemas.microsoft.com/office/drawing/2014/main" id="{FBA2867A-5F5D-49AF-B796-E8D1122FA425}"/>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
        <p:nvSpPr>
          <p:cNvPr id="6" name="CuadroTexto 5">
            <a:extLst>
              <a:ext uri="{FF2B5EF4-FFF2-40B4-BE49-F238E27FC236}">
                <a16:creationId xmlns:a16="http://schemas.microsoft.com/office/drawing/2014/main" id="{B876FECD-0A6E-4726-925D-5870B45B6220}"/>
              </a:ext>
            </a:extLst>
          </p:cNvPr>
          <p:cNvSpPr txBox="1"/>
          <p:nvPr/>
        </p:nvSpPr>
        <p:spPr>
          <a:xfrm>
            <a:off x="851664" y="1908222"/>
            <a:ext cx="7623672" cy="369332"/>
          </a:xfrm>
          <a:prstGeom prst="rect">
            <a:avLst/>
          </a:prstGeom>
          <a:noFill/>
        </p:spPr>
        <p:txBody>
          <a:bodyPr wrap="square">
            <a:spAutoFit/>
          </a:bodyPr>
          <a:lstStyle/>
          <a:p>
            <a:pPr algn="ctr"/>
            <a:r>
              <a:rPr lang="es-PE" b="1" dirty="0"/>
              <a:t>LA RESPONSABILIDAD JURÍDICA POR DAÑOS AL AMBIENTE</a:t>
            </a:r>
          </a:p>
        </p:txBody>
      </p:sp>
      <p:pic>
        <p:nvPicPr>
          <p:cNvPr id="8" name="Imagen 7">
            <a:extLst>
              <a:ext uri="{FF2B5EF4-FFF2-40B4-BE49-F238E27FC236}">
                <a16:creationId xmlns:a16="http://schemas.microsoft.com/office/drawing/2014/main" id="{2CEF1F49-EEDF-4F0D-824D-C5492990BBAA}"/>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57505" y="2944868"/>
            <a:ext cx="2715468" cy="31033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51854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933881" y="2080993"/>
            <a:ext cx="9891427" cy="5096780"/>
          </a:xfrm>
          <a:prstGeom prst="rect">
            <a:avLst/>
          </a:prstGeom>
        </p:spPr>
        <p:txBody>
          <a:bodyPr wrap="square" lIns="109728" tIns="54864" rIns="109728" bIns="54864">
            <a:spAutoFit/>
          </a:bodyPr>
          <a:lstStyle/>
          <a:p>
            <a:endParaRPr lang="es-MX" b="1" dirty="0"/>
          </a:p>
          <a:p>
            <a:r>
              <a:rPr lang="es-PE" dirty="0"/>
              <a:t>El daño ambiental se </a:t>
            </a:r>
            <a:r>
              <a:rPr lang="es-PE" dirty="0" err="1"/>
              <a:t>reﬁere</a:t>
            </a:r>
            <a:r>
              <a:rPr lang="es-PE" dirty="0"/>
              <a:t> a la pérdida, disminución o menoscabo en uno o más de los componentes del ambiente. La causa del daño puede ser natural (la explosión de un volcán puede afectar la calidad del agua de un río) o humana (un derrame de hidrocarburos puede destruir un hábitat natural).</a:t>
            </a:r>
          </a:p>
          <a:p>
            <a:endParaRPr lang="es-PE" dirty="0"/>
          </a:p>
          <a:p>
            <a:endParaRPr lang="es-PE" dirty="0"/>
          </a:p>
          <a:p>
            <a:pPr marL="342900" indent="-342900">
              <a:buFont typeface="Arial" panose="020B0604020202020204" pitchFamily="34" charset="0"/>
              <a:buChar char="•"/>
            </a:pPr>
            <a:r>
              <a:rPr lang="es-PE" dirty="0"/>
              <a:t>El daño ambiental posee ciertas características que lo diferencian de los daños patrimoniales:</a:t>
            </a:r>
          </a:p>
          <a:p>
            <a:pPr marL="342900" indent="-342900">
              <a:buFont typeface="Wingdings" panose="05000000000000000000" pitchFamily="2" charset="2"/>
              <a:buChar char="q"/>
            </a:pPr>
            <a:r>
              <a:rPr lang="es-PE" dirty="0"/>
              <a:t>Se prolonga en el tiempo;</a:t>
            </a:r>
          </a:p>
          <a:p>
            <a:pPr marL="342900" indent="-342900">
              <a:buFont typeface="Wingdings" panose="05000000000000000000" pitchFamily="2" charset="2"/>
              <a:buChar char="q"/>
            </a:pPr>
            <a:r>
              <a:rPr lang="es-PE" dirty="0"/>
              <a:t>Lesiona de forma paulatina y lenta los elementos naturales;</a:t>
            </a:r>
          </a:p>
          <a:p>
            <a:pPr marL="342900" indent="-342900">
              <a:buFont typeface="Wingdings" panose="05000000000000000000" pitchFamily="2" charset="2"/>
              <a:buChar char="q"/>
            </a:pPr>
            <a:r>
              <a:rPr lang="es-PE" dirty="0"/>
              <a:t>Suele ser difícil determinar la identidad del sujeto contaminador;</a:t>
            </a:r>
          </a:p>
          <a:p>
            <a:pPr marL="342900" indent="-342900">
              <a:buFont typeface="Wingdings" panose="05000000000000000000" pitchFamily="2" charset="2"/>
              <a:buChar char="q"/>
            </a:pPr>
            <a:r>
              <a:rPr lang="es-PE" dirty="0"/>
              <a:t>Es difícil de individualizar;</a:t>
            </a:r>
          </a:p>
          <a:p>
            <a:pPr marL="342900" indent="-342900">
              <a:buFont typeface="Wingdings" panose="05000000000000000000" pitchFamily="2" charset="2"/>
              <a:buChar char="q"/>
            </a:pPr>
            <a:r>
              <a:rPr lang="es-PE" dirty="0"/>
              <a:t>Es colectivo, pues el ambiente pertenece a una colectividad;</a:t>
            </a:r>
          </a:p>
          <a:p>
            <a:pPr marL="342900" indent="-342900">
              <a:buFont typeface="Wingdings" panose="05000000000000000000" pitchFamily="2" charset="2"/>
              <a:buChar char="q"/>
            </a:pPr>
            <a:r>
              <a:rPr lang="es-PE" dirty="0"/>
              <a:t>Afecta no solo a las generaciones presentes sino también a las futuras;</a:t>
            </a:r>
          </a:p>
          <a:p>
            <a:pPr marL="342900" indent="-342900">
              <a:buFont typeface="Wingdings" panose="05000000000000000000" pitchFamily="2" charset="2"/>
              <a:buChar char="q"/>
            </a:pPr>
            <a:r>
              <a:rPr lang="es-PE" dirty="0"/>
              <a:t>Sus consecuencias pueden afectar a países vecinos.</a:t>
            </a:r>
          </a:p>
          <a:p>
            <a:endParaRPr lang="es-PE" dirty="0"/>
          </a:p>
          <a:p>
            <a:endParaRPr lang="es-MX" dirty="0"/>
          </a:p>
        </p:txBody>
      </p:sp>
      <p:sp>
        <p:nvSpPr>
          <p:cNvPr id="4" name="Rectángulo: esquinas redondeadas 3">
            <a:extLst>
              <a:ext uri="{FF2B5EF4-FFF2-40B4-BE49-F238E27FC236}">
                <a16:creationId xmlns:a16="http://schemas.microsoft.com/office/drawing/2014/main" id="{56DFE6BF-FA2A-428B-8047-F70A1200FBE4}"/>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
        <p:nvSpPr>
          <p:cNvPr id="6" name="CuadroTexto 5">
            <a:extLst>
              <a:ext uri="{FF2B5EF4-FFF2-40B4-BE49-F238E27FC236}">
                <a16:creationId xmlns:a16="http://schemas.microsoft.com/office/drawing/2014/main" id="{DFA02E16-C413-4474-9FF4-0DEDA67C2C1E}"/>
              </a:ext>
            </a:extLst>
          </p:cNvPr>
          <p:cNvSpPr txBox="1"/>
          <p:nvPr/>
        </p:nvSpPr>
        <p:spPr>
          <a:xfrm>
            <a:off x="1255923" y="1455787"/>
            <a:ext cx="7623672" cy="369332"/>
          </a:xfrm>
          <a:prstGeom prst="rect">
            <a:avLst/>
          </a:prstGeom>
          <a:noFill/>
        </p:spPr>
        <p:txBody>
          <a:bodyPr wrap="square">
            <a:spAutoFit/>
          </a:bodyPr>
          <a:lstStyle/>
          <a:p>
            <a:pPr algn="just"/>
            <a:r>
              <a:rPr lang="es-MX" b="1" dirty="0"/>
              <a:t>DAÑO AMBIENTAL</a:t>
            </a:r>
          </a:p>
        </p:txBody>
      </p:sp>
      <p:pic>
        <p:nvPicPr>
          <p:cNvPr id="8" name="Imagen 7">
            <a:extLst>
              <a:ext uri="{FF2B5EF4-FFF2-40B4-BE49-F238E27FC236}">
                <a16:creationId xmlns:a16="http://schemas.microsoft.com/office/drawing/2014/main" id="{3184D064-F21A-4F71-AD44-4A3D17E22664}"/>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495759" y="2884630"/>
            <a:ext cx="3150824" cy="31432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53668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80691" y="924045"/>
            <a:ext cx="12497110" cy="6481774"/>
          </a:xfrm>
          <a:prstGeom prst="rect">
            <a:avLst/>
          </a:prstGeom>
        </p:spPr>
        <p:txBody>
          <a:bodyPr wrap="square" lIns="109728" tIns="54864" rIns="109728" bIns="54864">
            <a:spAutoFit/>
          </a:bodyPr>
          <a:lstStyle/>
          <a:p>
            <a:r>
              <a:rPr lang="es-PE" b="1" u="sng" dirty="0"/>
              <a:t>LA LEY GENERAL DEL AMBIENTE </a:t>
            </a:r>
          </a:p>
          <a:p>
            <a:endParaRPr lang="es-PE" b="1" u="sng" dirty="0"/>
          </a:p>
          <a:p>
            <a:r>
              <a:rPr lang="es-PE" dirty="0" err="1"/>
              <a:t>Deﬁne</a:t>
            </a:r>
            <a:r>
              <a:rPr lang="es-PE" dirty="0"/>
              <a:t> al daño ambiental como «todo menoscabo material que sufre el ambiente o alguno de sus componentes, que puede ser causado contraviniendo o no disposición jurídica, y que genera efectos negativos actuales o potenciales». </a:t>
            </a:r>
          </a:p>
          <a:p>
            <a:endParaRPr lang="es-PE" dirty="0"/>
          </a:p>
          <a:p>
            <a:r>
              <a:rPr lang="es-PE" dirty="0"/>
              <a:t>De esta </a:t>
            </a:r>
            <a:r>
              <a:rPr lang="es-PE" dirty="0" err="1"/>
              <a:t>deﬁnición</a:t>
            </a:r>
            <a:r>
              <a:rPr lang="es-PE" dirty="0"/>
              <a:t> podemos resaltar los siguientes elementos del daño ambiental:</a:t>
            </a:r>
          </a:p>
          <a:p>
            <a:endParaRPr lang="es-PE" dirty="0"/>
          </a:p>
          <a:p>
            <a:pPr marL="342900" indent="-342900">
              <a:buFont typeface="Arial" panose="020B0604020202020204" pitchFamily="34" charset="0"/>
              <a:buChar char="•"/>
            </a:pPr>
            <a:r>
              <a:rPr lang="es-PE" dirty="0"/>
              <a:t>Implica un menoscabo material, que debe ser cierto o real. Ahora bien, la Ley General del Ambiente no establece un umbral de gravedad, por lo que cualquier menoscabo puede </a:t>
            </a:r>
            <a:r>
              <a:rPr lang="es-PE" dirty="0" err="1"/>
              <a:t>caliﬁcar</a:t>
            </a:r>
            <a:r>
              <a:rPr lang="es-PE" dirty="0"/>
              <a:t> como daño ambiental, pues no se excluyen los impactos o afectaciones leves o </a:t>
            </a:r>
            <a:r>
              <a:rPr lang="es-PE" dirty="0" err="1"/>
              <a:t>insigniﬁcantes</a:t>
            </a:r>
            <a:r>
              <a:rPr lang="es-PE" dirty="0"/>
              <a:t>:</a:t>
            </a:r>
          </a:p>
          <a:p>
            <a:pPr marL="342900" indent="-342900">
              <a:buFont typeface="Arial" panose="020B0604020202020204" pitchFamily="34" charset="0"/>
              <a:buChar char="•"/>
            </a:pPr>
            <a:r>
              <a:rPr lang="es-PE" dirty="0"/>
              <a:t>Supone efectos negativos al ambiente o sus componentes. Es decir, para que se </a:t>
            </a:r>
            <a:r>
              <a:rPr lang="es-PE" dirty="0" err="1"/>
              <a:t>conﬁgure</a:t>
            </a:r>
            <a:r>
              <a:rPr lang="es-PE" dirty="0"/>
              <a:t> un daño ambiental no basta que los impactos sean ciertos, sino que dichos impactos deben generar una alteración o efecto negativo.</a:t>
            </a:r>
          </a:p>
          <a:p>
            <a:pPr marL="342900" indent="-342900">
              <a:buFont typeface="Arial" panose="020B0604020202020204" pitchFamily="34" charset="0"/>
              <a:buChar char="•"/>
            </a:pPr>
            <a:endParaRPr lang="es-PE" dirty="0"/>
          </a:p>
          <a:p>
            <a:pPr marL="342900" indent="-342900">
              <a:buFont typeface="Arial" panose="020B0604020202020204" pitchFamily="34" charset="0"/>
              <a:buChar char="•"/>
            </a:pPr>
            <a:r>
              <a:rPr lang="es-PE" dirty="0"/>
              <a:t>Los efectos negativos pueden ser actuales o potenciales. En otras palabras, los efectos negativos del daño ambiental no necesariamente deben ser inmediatos y actuales, sino que sus consecuencias pueden ser también potenciales o futuras.</a:t>
            </a:r>
          </a:p>
          <a:p>
            <a:endParaRPr lang="es-PE" dirty="0"/>
          </a:p>
          <a:p>
            <a:pPr marL="342900" indent="-342900">
              <a:buFont typeface="Arial" panose="020B0604020202020204" pitchFamily="34" charset="0"/>
              <a:buChar char="•"/>
            </a:pPr>
            <a:r>
              <a:rPr lang="es-PE" dirty="0"/>
              <a:t>Puede ser causado cumpliendo o no disposición jurídica vigente. Para que se </a:t>
            </a:r>
            <a:r>
              <a:rPr lang="es-PE" dirty="0" err="1"/>
              <a:t>conﬁgure</a:t>
            </a:r>
            <a:r>
              <a:rPr lang="es-PE" dirty="0"/>
              <a:t> el daño ambiental no es necesario que se haya vulnerado una norma jurídica. Algunos autores critican el hecho de que quienes operan dentro del marco de la ley deban responder por daños ambientales que el ordenamiento ha tolerado como daños autorizados.</a:t>
            </a:r>
          </a:p>
        </p:txBody>
      </p:sp>
      <p:sp>
        <p:nvSpPr>
          <p:cNvPr id="4" name="Rectángulo: esquinas redondeadas 3">
            <a:extLst>
              <a:ext uri="{FF2B5EF4-FFF2-40B4-BE49-F238E27FC236}">
                <a16:creationId xmlns:a16="http://schemas.microsoft.com/office/drawing/2014/main" id="{657BD765-E788-489A-86CC-C2D7B2C7401D}"/>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3599951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38979" y="1330902"/>
            <a:ext cx="12264222" cy="5650778"/>
          </a:xfrm>
          <a:prstGeom prst="rect">
            <a:avLst/>
          </a:prstGeom>
        </p:spPr>
        <p:txBody>
          <a:bodyPr wrap="square" lIns="109728" tIns="54864" rIns="109728" bIns="54864">
            <a:spAutoFit/>
          </a:bodyPr>
          <a:lstStyle/>
          <a:p>
            <a:r>
              <a:rPr lang="es-MX" b="1" dirty="0"/>
              <a:t>RESPONSABILIDAD CIVIL</a:t>
            </a:r>
          </a:p>
          <a:p>
            <a:endParaRPr lang="es-MX" b="1" dirty="0"/>
          </a:p>
          <a:p>
            <a:r>
              <a:rPr lang="es-PE" dirty="0"/>
              <a:t>Busca imponer al responsable el deber de reparar los daños que ocasione. Su objetivo es determinar sobre qué patrimonio y en qué medida deben recaer las consecuencias de un acto humano.</a:t>
            </a:r>
          </a:p>
          <a:p>
            <a:endParaRPr lang="es-MX" dirty="0"/>
          </a:p>
          <a:p>
            <a:r>
              <a:rPr lang="es-PE" dirty="0"/>
              <a:t>En el Perú, para que se impute la responsabilidad civil extracontractual deben </a:t>
            </a:r>
            <a:r>
              <a:rPr lang="es-PE" dirty="0" err="1"/>
              <a:t>conﬁgurarse</a:t>
            </a:r>
            <a:r>
              <a:rPr lang="es-PE" dirty="0"/>
              <a:t> los siguientes elementos:</a:t>
            </a:r>
          </a:p>
          <a:p>
            <a:pPr marL="342900" indent="-342900">
              <a:buFont typeface="Arial" panose="020B0604020202020204" pitchFamily="34" charset="0"/>
              <a:buChar char="•"/>
            </a:pPr>
            <a:r>
              <a:rPr lang="es-PE" dirty="0"/>
              <a:t>Daño: debe existir un menoscabo ambiental que </a:t>
            </a:r>
            <a:r>
              <a:rPr lang="es-PE" dirty="0" err="1"/>
              <a:t>caliﬁque</a:t>
            </a:r>
            <a:r>
              <a:rPr lang="es-PE" dirty="0"/>
              <a:t> como daño ambiental.</a:t>
            </a:r>
          </a:p>
          <a:p>
            <a:pPr marL="342900" indent="-342900">
              <a:buFont typeface="Arial" panose="020B0604020202020204" pitchFamily="34" charset="0"/>
              <a:buChar char="•"/>
            </a:pPr>
            <a:r>
              <a:rPr lang="es-PE" dirty="0" err="1"/>
              <a:t>Antijuricidad</a:t>
            </a:r>
            <a:r>
              <a:rPr lang="es-PE" dirty="0"/>
              <a:t>: en materia ambiental no es necesario que la conducta haya sido antijurídica, pueden provocarse daños aún cumpliendo con los estándares ambientales aplicables.</a:t>
            </a:r>
          </a:p>
          <a:p>
            <a:pPr marL="342900" indent="-342900">
              <a:buFont typeface="Arial" panose="020B0604020202020204" pitchFamily="34" charset="0"/>
              <a:buChar char="•"/>
            </a:pPr>
            <a:r>
              <a:rPr lang="es-PE" dirty="0"/>
              <a:t>Factor de atribución: justificación para asignarle responsabilidad a un sujeto. Puede ser objetivo o subjetivo: Objetivo: el artículo 144 de la Ley General del Ambiente establece que basta que el daño se haya generado por la utilización de un bien riesgoso o peligroso o por la realización de una actividad riesgosa o peligrosa; Subjetivo: el artículo 145 de la Ley General del Ambiente establece que en aquellos casos que no involucren bienes o actividades riesgosas o peligrosas, para que exista responsabilidad debe probarse que el causante del daño tuvo «culpa» o «dolo» a la hora de efectuar el daño es aplicable.</a:t>
            </a:r>
          </a:p>
          <a:p>
            <a:pPr marL="342900" indent="-342900">
              <a:buFont typeface="Arial" panose="020B0604020202020204" pitchFamily="34" charset="0"/>
              <a:buChar char="•"/>
            </a:pPr>
            <a:r>
              <a:rPr lang="es-PE" dirty="0"/>
              <a:t>Nexo causal: es importante determinar la relación «causa-efecto» entre la conducta y el daño producido a efectos de poder determinar el verdadero causante del daño.</a:t>
            </a:r>
          </a:p>
          <a:p>
            <a:endParaRPr lang="es-PE" dirty="0"/>
          </a:p>
          <a:p>
            <a:endParaRPr lang="es-MX" dirty="0"/>
          </a:p>
        </p:txBody>
      </p:sp>
      <p:sp>
        <p:nvSpPr>
          <p:cNvPr id="4" name="Rectángulo: esquinas redondeadas 3">
            <a:extLst>
              <a:ext uri="{FF2B5EF4-FFF2-40B4-BE49-F238E27FC236}">
                <a16:creationId xmlns:a16="http://schemas.microsoft.com/office/drawing/2014/main" id="{3027A626-30E5-49F8-92CB-9EE2F1EBC57D}"/>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2429673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007707" y="1504011"/>
            <a:ext cx="12616853" cy="2326791"/>
          </a:xfrm>
          <a:prstGeom prst="rect">
            <a:avLst/>
          </a:prstGeom>
        </p:spPr>
        <p:txBody>
          <a:bodyPr wrap="square" lIns="109728" tIns="54864" rIns="109728" bIns="54864">
            <a:spAutoFit/>
          </a:bodyPr>
          <a:lstStyle/>
          <a:p>
            <a:pPr algn="just"/>
            <a:r>
              <a:rPr lang="es-PE" dirty="0"/>
              <a:t>De acuerdo con la Ley General del Ambiente, la consecuencia de iniciar un proceso judicial por responsabilidad civil extracontractual es:</a:t>
            </a:r>
          </a:p>
          <a:p>
            <a:pPr algn="just"/>
            <a:endParaRPr lang="es-PE" dirty="0"/>
          </a:p>
          <a:p>
            <a:pPr algn="ctr"/>
            <a:r>
              <a:rPr lang="es-PE" u="sng" dirty="0"/>
              <a:t>La reparación del daño ocasionado al ambiente (restablecimiento a la situación anterior) e indemnización económica por dicho daño; y, en caso no se pueda reparar el daño, la realización de tareas de recomposición o mejoramiento de los componentes afectados. Además, la indemnización debe tener como destino la realización de acciones que compensen los intereses afectados o que contribuyan a cumplir los objetivos constitucionales respecto del ambiente y los recursos naturales.</a:t>
            </a:r>
          </a:p>
          <a:p>
            <a:pPr algn="just"/>
            <a:endParaRPr lang="es-PE" dirty="0"/>
          </a:p>
        </p:txBody>
      </p:sp>
      <p:sp>
        <p:nvSpPr>
          <p:cNvPr id="4" name="Rectángulo: esquinas redondeadas 3">
            <a:extLst>
              <a:ext uri="{FF2B5EF4-FFF2-40B4-BE49-F238E27FC236}">
                <a16:creationId xmlns:a16="http://schemas.microsoft.com/office/drawing/2014/main" id="{F28C28DC-AA77-4566-83C7-858F79312DD0}"/>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pic>
        <p:nvPicPr>
          <p:cNvPr id="3074" name="Picture 2" descr="Tributación de la compensación económica por ruptura de pareja de hecho">
            <a:extLst>
              <a:ext uri="{FF2B5EF4-FFF2-40B4-BE49-F238E27FC236}">
                <a16:creationId xmlns:a16="http://schemas.microsoft.com/office/drawing/2014/main" id="{99581E8D-2EE2-451E-A76B-C36CDE491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8868" y="4094539"/>
            <a:ext cx="5062613" cy="27607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62581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31286" y="1564281"/>
            <a:ext cx="11795741" cy="4542782"/>
          </a:xfrm>
          <a:prstGeom prst="rect">
            <a:avLst/>
          </a:prstGeom>
        </p:spPr>
        <p:txBody>
          <a:bodyPr wrap="square" lIns="109728" tIns="54864" rIns="109728" bIns="54864">
            <a:spAutoFit/>
          </a:bodyPr>
          <a:lstStyle/>
          <a:p>
            <a:r>
              <a:rPr lang="en-US" b="1" spc="42" dirty="0">
                <a:solidFill>
                  <a:srgbClr val="000000"/>
                </a:solidFill>
                <a:latin typeface="OTIJQP+AGaramondPro-Semibold"/>
                <a:ea typeface="Times New Roman" panose="02020603050405020304" pitchFamily="18" charset="0"/>
                <a:cs typeface="Times New Roman" panose="02020603050405020304" pitchFamily="18" charset="0"/>
              </a:rPr>
              <a:t>RESPONSABIL</a:t>
            </a:r>
            <a:r>
              <a:rPr lang="en-US" b="1" spc="72" dirty="0">
                <a:solidFill>
                  <a:srgbClr val="000000"/>
                </a:solidFill>
                <a:latin typeface="OTIJQP+AGaramondPro-Semibold"/>
                <a:ea typeface="Times New Roman" panose="02020603050405020304" pitchFamily="18" charset="0"/>
                <a:cs typeface="Times New Roman" panose="02020603050405020304" pitchFamily="18" charset="0"/>
              </a:rPr>
              <a:t>IDAD</a:t>
            </a:r>
            <a:r>
              <a:rPr lang="en-US" b="1" spc="6"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24" dirty="0">
                <a:solidFill>
                  <a:srgbClr val="000000"/>
                </a:solidFill>
                <a:latin typeface="OTIJQP+AGaramondPro-Semibold"/>
                <a:ea typeface="Times New Roman" panose="02020603050405020304" pitchFamily="18" charset="0"/>
                <a:cs typeface="Times New Roman" panose="02020603050405020304" pitchFamily="18" charset="0"/>
              </a:rPr>
              <a:t>ADMINIST</a:t>
            </a:r>
            <a:r>
              <a:rPr lang="en-US" b="1" dirty="0">
                <a:solidFill>
                  <a:srgbClr val="000000"/>
                </a:solidFill>
                <a:latin typeface="OTIJQP+AGaramondPro-Semibold"/>
                <a:ea typeface="Times New Roman" panose="02020603050405020304" pitchFamily="18" charset="0"/>
                <a:cs typeface="Times New Roman" panose="02020603050405020304" pitchFamily="18" charset="0"/>
              </a:rPr>
              <a:t>R</a:t>
            </a:r>
            <a:r>
              <a:rPr lang="en-US" b="1" spc="6" dirty="0">
                <a:solidFill>
                  <a:srgbClr val="000000"/>
                </a:solidFill>
                <a:latin typeface="OTIJQP+AGaramondPro-Semibold"/>
                <a:ea typeface="Times New Roman" panose="02020603050405020304" pitchFamily="18" charset="0"/>
                <a:cs typeface="Times New Roman" panose="02020603050405020304" pitchFamily="18" charset="0"/>
              </a:rPr>
              <a:t>ATIVA</a:t>
            </a:r>
          </a:p>
          <a:p>
            <a:endParaRPr lang="en-US" spc="6" dirty="0">
              <a:solidFill>
                <a:srgbClr val="000000"/>
              </a:solidFill>
              <a:latin typeface="OTIJQP+AGaramondPro-Semibold"/>
              <a:cs typeface="Times New Roman" panose="02020603050405020304" pitchFamily="18" charset="0"/>
            </a:endParaRPr>
          </a:p>
          <a:p>
            <a:endParaRPr lang="en-US" spc="6" dirty="0">
              <a:solidFill>
                <a:srgbClr val="000000"/>
              </a:solidFill>
              <a:latin typeface="OTIJQP+AGaramondPro-Semibold"/>
              <a:cs typeface="Times New Roman" panose="02020603050405020304" pitchFamily="18" charset="0"/>
            </a:endParaRPr>
          </a:p>
          <a:p>
            <a:r>
              <a:rPr lang="es-PE" dirty="0"/>
              <a:t>El objetivo de esta potestad es reprimir mediante sanciones administrativas (pecuniarias o no) ciertas conductas y, por ello, incentivar el respeto y cumplimiento del ordenamiento jurídico.</a:t>
            </a:r>
          </a:p>
          <a:p>
            <a:endParaRPr lang="es-PE" dirty="0"/>
          </a:p>
          <a:p>
            <a:r>
              <a:rPr lang="es-PE" dirty="0"/>
              <a:t>La responsabilidad administrativa es objetiva, pues no importa la voluntad del infractor para imputar la responsabilidad. No obstante, la intención sí puede ser relevante como criterio para graduar el monto de la sanción a imponerse, vale decir para atenuar o agravar la sanción.</a:t>
            </a:r>
          </a:p>
          <a:p>
            <a:endParaRPr lang="es-PE" dirty="0"/>
          </a:p>
          <a:p>
            <a:r>
              <a:rPr lang="es-PE" dirty="0"/>
              <a:t>Para determinar la responsabilidad por la comisión de una infracción administrativa es necesario seguir un procedimiento administrativo sancionador (PAS). La Ley del Procedimiento Administrativo General regula de forma general el PAS y reconoce los principios y garantías mínimas que la administración pública debe cumplir para imponer una sanción, tales como el debido procedimiento, el derecho de defensa o el principio de tipicidad. Los PAS en materia ambiental están regulados por las entidades con competencia de </a:t>
            </a:r>
            <a:r>
              <a:rPr lang="es-PE" dirty="0" err="1"/>
              <a:t>ﬁscalización</a:t>
            </a:r>
            <a:r>
              <a:rPr lang="es-PE" dirty="0"/>
              <a:t> y sanción en materia ambiental. </a:t>
            </a:r>
            <a:endParaRPr lang="es-MX" dirty="0"/>
          </a:p>
        </p:txBody>
      </p:sp>
      <p:sp>
        <p:nvSpPr>
          <p:cNvPr id="4" name="Rectángulo: esquinas redondeadas 3">
            <a:extLst>
              <a:ext uri="{FF2B5EF4-FFF2-40B4-BE49-F238E27FC236}">
                <a16:creationId xmlns:a16="http://schemas.microsoft.com/office/drawing/2014/main" id="{6B6401CA-25E5-42FA-91F8-79D218DA21FC}"/>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10687341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683334" y="1707312"/>
            <a:ext cx="12283520" cy="5096780"/>
          </a:xfrm>
          <a:prstGeom prst="rect">
            <a:avLst/>
          </a:prstGeom>
        </p:spPr>
        <p:txBody>
          <a:bodyPr wrap="square" lIns="109728" tIns="54864" rIns="109728" bIns="54864">
            <a:spAutoFit/>
          </a:bodyPr>
          <a:lstStyle/>
          <a:p>
            <a:r>
              <a:rPr lang="en-US" b="1" spc="42" dirty="0">
                <a:solidFill>
                  <a:srgbClr val="000000"/>
                </a:solidFill>
                <a:latin typeface="OTIJQP+AGaramondPro-Semibold"/>
                <a:ea typeface="Times New Roman" panose="02020603050405020304" pitchFamily="18" charset="0"/>
                <a:cs typeface="Times New Roman" panose="02020603050405020304" pitchFamily="18" charset="0"/>
              </a:rPr>
              <a:t>RESPONSABIL</a:t>
            </a:r>
            <a:r>
              <a:rPr lang="en-US" b="1" spc="72" dirty="0">
                <a:solidFill>
                  <a:srgbClr val="000000"/>
                </a:solidFill>
                <a:latin typeface="OTIJQP+AGaramondPro-Semibold"/>
                <a:ea typeface="Times New Roman" panose="02020603050405020304" pitchFamily="18" charset="0"/>
                <a:cs typeface="Times New Roman" panose="02020603050405020304" pitchFamily="18" charset="0"/>
              </a:rPr>
              <a:t>IDAD</a:t>
            </a:r>
            <a:r>
              <a:rPr lang="en-US" b="1" spc="6"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36" dirty="0">
                <a:solidFill>
                  <a:srgbClr val="000000"/>
                </a:solidFill>
                <a:latin typeface="OTIJQP+AGaramondPro-Semibold"/>
                <a:ea typeface="Times New Roman" panose="02020603050405020304" pitchFamily="18" charset="0"/>
                <a:cs typeface="Times New Roman" panose="02020603050405020304" pitchFamily="18" charset="0"/>
              </a:rPr>
              <a:t>PENAL</a:t>
            </a:r>
            <a:r>
              <a:rPr lang="en-US" b="1" spc="222"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78" dirty="0">
                <a:solidFill>
                  <a:srgbClr val="000000"/>
                </a:solidFill>
                <a:latin typeface="OTIJQP+AGaramondPro-Semibold"/>
                <a:ea typeface="Times New Roman" panose="02020603050405020304" pitchFamily="18" charset="0"/>
                <a:cs typeface="Times New Roman" panose="02020603050405020304" pitchFamily="18" charset="0"/>
              </a:rPr>
              <a:t>EN</a:t>
            </a:r>
            <a:r>
              <a:rPr lang="en-US" b="1" spc="-66"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54" dirty="0">
                <a:solidFill>
                  <a:srgbClr val="000000"/>
                </a:solidFill>
                <a:latin typeface="OTIJQP+AGaramondPro-Semibold"/>
                <a:ea typeface="Times New Roman" panose="02020603050405020304" pitchFamily="18" charset="0"/>
                <a:cs typeface="Times New Roman" panose="02020603050405020304" pitchFamily="18" charset="0"/>
              </a:rPr>
              <a:t>MAT</a:t>
            </a:r>
            <a:r>
              <a:rPr lang="en-US" b="1" spc="-90" dirty="0">
                <a:solidFill>
                  <a:srgbClr val="000000"/>
                </a:solidFill>
                <a:latin typeface="OTIJQP+AGaramondPro-Semibold"/>
                <a:ea typeface="Times New Roman" panose="02020603050405020304" pitchFamily="18" charset="0"/>
                <a:cs typeface="Times New Roman" panose="02020603050405020304" pitchFamily="18" charset="0"/>
              </a:rPr>
              <a:t>E</a:t>
            </a:r>
            <a:r>
              <a:rPr lang="en-US" b="1" spc="78" dirty="0">
                <a:solidFill>
                  <a:srgbClr val="000000"/>
                </a:solidFill>
                <a:latin typeface="OTIJQP+AGaramondPro-Semibold"/>
                <a:ea typeface="Times New Roman" panose="02020603050405020304" pitchFamily="18" charset="0"/>
                <a:cs typeface="Times New Roman" panose="02020603050405020304" pitchFamily="18" charset="0"/>
              </a:rPr>
              <a:t>R</a:t>
            </a:r>
            <a:r>
              <a:rPr lang="en-US" b="1" spc="42" dirty="0">
                <a:solidFill>
                  <a:srgbClr val="000000"/>
                </a:solidFill>
                <a:latin typeface="OTIJQP+AGaramondPro-Semibold"/>
                <a:ea typeface="Times New Roman" panose="02020603050405020304" pitchFamily="18" charset="0"/>
                <a:cs typeface="Times New Roman" panose="02020603050405020304" pitchFamily="18" charset="0"/>
              </a:rPr>
              <a:t>IA</a:t>
            </a:r>
            <a:r>
              <a:rPr lang="en-US" b="1" spc="30" dirty="0">
                <a:solidFill>
                  <a:srgbClr val="000000"/>
                </a:solidFill>
                <a:latin typeface="OTIJQP+AGaramondPro-Semibold"/>
                <a:ea typeface="Times New Roman" panose="02020603050405020304" pitchFamily="18" charset="0"/>
                <a:cs typeface="Times New Roman" panose="02020603050405020304" pitchFamily="18" charset="0"/>
              </a:rPr>
              <a:t> </a:t>
            </a:r>
            <a:r>
              <a:rPr lang="en-US" b="1" spc="6" dirty="0">
                <a:solidFill>
                  <a:srgbClr val="000000"/>
                </a:solidFill>
                <a:latin typeface="OTIJQP+AGaramondPro-Semibold"/>
                <a:ea typeface="Times New Roman" panose="02020603050405020304" pitchFamily="18" charset="0"/>
                <a:cs typeface="Times New Roman" panose="02020603050405020304" pitchFamily="18" charset="0"/>
              </a:rPr>
              <a:t>AMBIENT</a:t>
            </a:r>
            <a:r>
              <a:rPr lang="en-US" b="1" spc="42" dirty="0">
                <a:solidFill>
                  <a:srgbClr val="000000"/>
                </a:solidFill>
                <a:latin typeface="OTIJQP+AGaramondPro-Semibold"/>
                <a:ea typeface="Times New Roman" panose="02020603050405020304" pitchFamily="18" charset="0"/>
                <a:cs typeface="Times New Roman" panose="02020603050405020304" pitchFamily="18" charset="0"/>
              </a:rPr>
              <a:t>AL</a:t>
            </a:r>
          </a:p>
          <a:p>
            <a:endParaRPr lang="en-US" b="1" spc="42" dirty="0">
              <a:solidFill>
                <a:srgbClr val="000000"/>
              </a:solidFill>
              <a:latin typeface="OTIJQP+AGaramondPro-Semibold"/>
              <a:ea typeface="Times New Roman" panose="02020603050405020304" pitchFamily="18" charset="0"/>
              <a:cs typeface="Times New Roman" panose="02020603050405020304" pitchFamily="18" charset="0"/>
            </a:endParaRPr>
          </a:p>
          <a:p>
            <a:endParaRPr lang="en-US" b="1" spc="42" dirty="0">
              <a:solidFill>
                <a:srgbClr val="000000"/>
              </a:solidFill>
              <a:latin typeface="OTIJQP+AGaramondPro-Semibold"/>
              <a:cs typeface="Times New Roman" panose="02020603050405020304" pitchFamily="18" charset="0"/>
            </a:endParaRPr>
          </a:p>
          <a:p>
            <a:r>
              <a:rPr lang="es-PE" dirty="0"/>
              <a:t>El Título XIII del Libro Segundo – Parte Especial del Código Penal Peruano regula los delitos ambientales. Dicho título se divide en:</a:t>
            </a:r>
          </a:p>
          <a:p>
            <a:pPr marL="480060" indent="-480060">
              <a:buAutoNum type="romanLcParenBoth"/>
            </a:pPr>
            <a:r>
              <a:rPr lang="es-PE" dirty="0"/>
              <a:t>Delitos de contaminación (artículos 304 al 307-F); </a:t>
            </a:r>
          </a:p>
          <a:p>
            <a:pPr marL="480060" indent="-480060">
              <a:buAutoNum type="romanLcParenBoth"/>
            </a:pPr>
            <a:r>
              <a:rPr lang="es-PE" dirty="0"/>
              <a:t>Delitos contra los recursos naturales (artículos 308 al 313); </a:t>
            </a:r>
          </a:p>
          <a:p>
            <a:pPr marL="480060" indent="-480060">
              <a:buAutoNum type="romanLcParenBoth"/>
            </a:pPr>
            <a:r>
              <a:rPr lang="es-PE" dirty="0"/>
              <a:t>Responsabilidad funcional e información falsa (artículos 314 al 314-B); y </a:t>
            </a:r>
          </a:p>
          <a:p>
            <a:pPr marL="480060" indent="-480060">
              <a:buAutoNum type="romanLcParenBoth"/>
            </a:pPr>
            <a:r>
              <a:rPr lang="es-PE" dirty="0"/>
              <a:t>Medidas cautelares y exclusión o reducción de penas (artículos 314-C al 314-D). </a:t>
            </a:r>
          </a:p>
          <a:p>
            <a:pPr marL="480060" indent="-480060">
              <a:buAutoNum type="romanLcParenBoth"/>
            </a:pPr>
            <a:endParaRPr lang="es-PE" dirty="0"/>
          </a:p>
          <a:p>
            <a:endParaRPr lang="es-PE" dirty="0"/>
          </a:p>
          <a:p>
            <a:r>
              <a:rPr lang="es-PE" dirty="0"/>
              <a:t>Por ejemplo, se penaliza el incumplimiento de las normas relativas al manejo de residuos sólidos, el </a:t>
            </a:r>
            <a:r>
              <a:rPr lang="es-PE" dirty="0" err="1"/>
              <a:t>tráﬁco</a:t>
            </a:r>
            <a:r>
              <a:rPr lang="es-PE" dirty="0"/>
              <a:t> ilegal de residuos peligrosos, el </a:t>
            </a:r>
            <a:r>
              <a:rPr lang="es-PE" dirty="0" err="1"/>
              <a:t>tráﬁco</a:t>
            </a:r>
            <a:r>
              <a:rPr lang="es-PE" dirty="0"/>
              <a:t> ilegal de especies de </a:t>
            </a:r>
            <a:r>
              <a:rPr lang="es-PE" dirty="0" err="1"/>
              <a:t>ﬂora</a:t>
            </a:r>
            <a:r>
              <a:rPr lang="es-PE" dirty="0"/>
              <a:t> y fauna silvestre protegida, la extracción ilegal de especies acuáticas, la depredación de </a:t>
            </a:r>
            <a:r>
              <a:rPr lang="es-PE" dirty="0" err="1"/>
              <a:t>ﬂora</a:t>
            </a:r>
            <a:r>
              <a:rPr lang="es-PE" dirty="0"/>
              <a:t> y fauna silvestre protegida, el </a:t>
            </a:r>
            <a:r>
              <a:rPr lang="es-PE" dirty="0" err="1"/>
              <a:t>tráﬁco</a:t>
            </a:r>
            <a:r>
              <a:rPr lang="es-PE" dirty="0"/>
              <a:t> ilegal de recursos genéticos, las tala, quema o daño ilegal a los bosques o formaciones boscosas, y el </a:t>
            </a:r>
            <a:r>
              <a:rPr lang="es-PE" dirty="0" err="1"/>
              <a:t>tráﬁco</a:t>
            </a:r>
            <a:r>
              <a:rPr lang="es-PE" dirty="0"/>
              <a:t> ilegal de productos forestales maderables.</a:t>
            </a:r>
          </a:p>
          <a:p>
            <a:endParaRPr lang="es-PE" dirty="0"/>
          </a:p>
          <a:p>
            <a:endParaRPr lang="es-MX" dirty="0"/>
          </a:p>
        </p:txBody>
      </p:sp>
      <p:sp>
        <p:nvSpPr>
          <p:cNvPr id="4" name="Rectángulo: esquinas redondeadas 3">
            <a:extLst>
              <a:ext uri="{FF2B5EF4-FFF2-40B4-BE49-F238E27FC236}">
                <a16:creationId xmlns:a16="http://schemas.microsoft.com/office/drawing/2014/main" id="{B7FF9882-9C0C-4847-A866-C294DFDA7DA8}"/>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3557906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6586928" y="3139332"/>
            <a:ext cx="9731844" cy="97318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40640" tIns="40640" rIns="40640" bIns="40640" rtlCol="0" anchor="ctr"/>
            <a:lstStyle/>
            <a:p>
              <a:pPr algn="ctr">
                <a:lnSpc>
                  <a:spcPts val="1726"/>
                </a:lnSpc>
              </a:pPr>
              <a:endParaRPr sz="1440"/>
            </a:p>
          </p:txBody>
        </p:sp>
      </p:grpSp>
      <p:grpSp>
        <p:nvGrpSpPr>
          <p:cNvPr id="5" name="Group 5"/>
          <p:cNvGrpSpPr>
            <a:grpSpLocks noChangeAspect="1"/>
          </p:cNvGrpSpPr>
          <p:nvPr/>
        </p:nvGrpSpPr>
        <p:grpSpPr>
          <a:xfrm>
            <a:off x="10601812" y="822960"/>
            <a:ext cx="3205628" cy="6342886"/>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7094822" y="2952540"/>
            <a:ext cx="3207801" cy="6347185"/>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2954307" y="6746910"/>
            <a:ext cx="10049129" cy="2110317"/>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 y="-18895"/>
            <a:ext cx="2724951" cy="1683710"/>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1007726" y="1938528"/>
            <a:ext cx="5030574" cy="3898503"/>
          </a:xfrm>
          <a:prstGeom prst="rect">
            <a:avLst/>
          </a:prstGeom>
        </p:spPr>
        <p:txBody>
          <a:bodyPr lIns="0" tIns="0" rIns="0" bIns="0" rtlCol="0" anchor="t">
            <a:spAutoFit/>
          </a:bodyPr>
          <a:lstStyle/>
          <a:p>
            <a:pPr algn="ctr">
              <a:lnSpc>
                <a:spcPts val="3840"/>
              </a:lnSpc>
            </a:pPr>
            <a:r>
              <a:rPr lang="en-US" sz="3840" b="1" dirty="0">
                <a:solidFill>
                  <a:srgbClr val="303030"/>
                </a:solidFill>
                <a:latin typeface="Futura Std Book" panose="020B0802020204020204" pitchFamily="34" charset="0"/>
                <a:ea typeface="Futura Ultra-Bold"/>
                <a:cs typeface="Futura Ultra-Bold"/>
                <a:sym typeface="Futura Ultra-Bold"/>
              </a:rPr>
              <a:t>TEMA 3:</a:t>
            </a:r>
          </a:p>
          <a:p>
            <a:pPr algn="ctr">
              <a:lnSpc>
                <a:spcPts val="3840"/>
              </a:lnSpc>
            </a:pPr>
            <a:endParaRPr lang="en-US" sz="3840" b="1" dirty="0">
              <a:solidFill>
                <a:srgbClr val="303030"/>
              </a:solidFill>
              <a:latin typeface="Futura Std Book" panose="020B0802020204020204" pitchFamily="34" charset="0"/>
              <a:ea typeface="Futura Ultra-Bold"/>
              <a:cs typeface="Futura Ultra-Bold"/>
              <a:sym typeface="Futura Ultra-Bold"/>
            </a:endParaRPr>
          </a:p>
          <a:p>
            <a:pPr algn="ctr">
              <a:lnSpc>
                <a:spcPts val="3840"/>
              </a:lnSpc>
            </a:pPr>
            <a:r>
              <a:rPr lang="es-ES" sz="3840" b="1" dirty="0">
                <a:solidFill>
                  <a:srgbClr val="303030"/>
                </a:solidFill>
                <a:latin typeface="Futura Std Book" panose="020B0802020204020204" pitchFamily="34" charset="0"/>
                <a:ea typeface="Futura Ultra-Bold"/>
                <a:cs typeface="Futura Ultra-Bold"/>
                <a:sym typeface="Futura Ultra-Bold"/>
              </a:rPr>
              <a:t>TIPOS DE PERMISOS AMBIENTALES, EVALUACIÓN DE IMPACTO AMBIENTAL </a:t>
            </a:r>
          </a:p>
        </p:txBody>
      </p:sp>
    </p:spTree>
    <p:extLst>
      <p:ext uri="{BB962C8B-B14F-4D97-AF65-F5344CB8AC3E}">
        <p14:creationId xmlns:p14="http://schemas.microsoft.com/office/powerpoint/2010/main" val="676954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4294967295"/>
          </p:nvPr>
        </p:nvSpPr>
        <p:spPr>
          <a:xfrm>
            <a:off x="6346825" y="1412875"/>
            <a:ext cx="7407275" cy="5848350"/>
          </a:xfrm>
          <a:prstGeom prst="rect">
            <a:avLst/>
          </a:prstGeom>
        </p:spPr>
        <p:txBody>
          <a:bodyPr/>
          <a:lstStyle/>
          <a:p>
            <a:r>
              <a:rPr lang="es-MX" sz="2400" b="1" dirty="0"/>
              <a:t>¿QUÉ ES LA CERTIFICACIÓN AMBIENTAL GLOBAL?</a:t>
            </a:r>
          </a:p>
          <a:p>
            <a:pPr marL="0" indent="0">
              <a:buNone/>
            </a:pPr>
            <a:r>
              <a:rPr lang="es-MX" dirty="0"/>
              <a:t>La Certificación Ambiental Global integra - en un solo procedimiento administrativo - la evaluación y aprobación de:</a:t>
            </a:r>
          </a:p>
          <a:p>
            <a:pPr marL="0" indent="0">
              <a:buNone/>
            </a:pPr>
            <a:endParaRPr lang="es-MX" dirty="0"/>
          </a:p>
          <a:p>
            <a:pPr marL="0" indent="0">
              <a:buNone/>
            </a:pPr>
            <a:endParaRPr lang="es-MX" dirty="0"/>
          </a:p>
          <a:p>
            <a:pPr marL="0" indent="0">
              <a:buNone/>
            </a:pPr>
            <a:endParaRPr lang="es-MX" dirty="0"/>
          </a:p>
          <a:p>
            <a:pPr marL="0" indent="0">
              <a:buNone/>
            </a:pPr>
            <a:endParaRPr lang="es-PE"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096" t="41164" r="24554" b="32328"/>
          <a:stretch/>
        </p:blipFill>
        <p:spPr bwMode="auto">
          <a:xfrm>
            <a:off x="6778625" y="4711700"/>
            <a:ext cx="5981446" cy="220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ángulo: esquinas redondeadas 5">
            <a:extLst>
              <a:ext uri="{FF2B5EF4-FFF2-40B4-BE49-F238E27FC236}">
                <a16:creationId xmlns:a16="http://schemas.microsoft.com/office/drawing/2014/main" id="{AF8F440A-BEA8-4CE8-9C11-2E3D9CA97F03}"/>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PE">
                <a:solidFill>
                  <a:schemeClr val="bg1"/>
                </a:solidFill>
              </a:rPr>
              <a:t>4.  tratados internacionales, Roles de las Entidades Gubernamentales como organismos reguladores</a:t>
            </a:r>
          </a:p>
        </p:txBody>
      </p:sp>
      <p:pic>
        <p:nvPicPr>
          <p:cNvPr id="4098" name="Picture 2" descr="CERTIFICACION AMBIENTAL – Servilex">
            <a:extLst>
              <a:ext uri="{FF2B5EF4-FFF2-40B4-BE49-F238E27FC236}">
                <a16:creationId xmlns:a16="http://schemas.microsoft.com/office/drawing/2014/main" id="{966B2DB3-6945-4146-B1C9-EA78EC0E4A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286" y="2014044"/>
            <a:ext cx="5031266" cy="32410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019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4294967295"/>
          </p:nvPr>
        </p:nvSpPr>
        <p:spPr>
          <a:xfrm>
            <a:off x="6461125" y="1450975"/>
            <a:ext cx="7407275" cy="5848350"/>
          </a:xfrm>
          <a:prstGeom prst="rect">
            <a:avLst/>
          </a:prstGeom>
        </p:spPr>
        <p:txBody>
          <a:bodyPr/>
          <a:lstStyle/>
          <a:p>
            <a:r>
              <a:rPr lang="es-MX" sz="2000" dirty="0"/>
              <a:t>Representa un esfuerzo por incrementar la eficiencia de la administración pública. Su objetivo principal es introducir mejoras en el proceso administrativo de la certificación ambiental a cargo del </a:t>
            </a:r>
            <a:r>
              <a:rPr lang="es-MX" sz="2000" dirty="0" err="1"/>
              <a:t>Senace</a:t>
            </a:r>
            <a:r>
              <a:rPr lang="es-MX" sz="2000" dirty="0"/>
              <a:t>, manteniendo o mejorando la rigurosidad de la evaluación de impactos ambientales. </a:t>
            </a:r>
          </a:p>
          <a:p>
            <a:endParaRPr lang="es-MX" sz="2000" dirty="0"/>
          </a:p>
          <a:p>
            <a:r>
              <a:rPr lang="es-MX" sz="2000" dirty="0"/>
              <a:t>La Certificación Ambiental Global cambia un sistema de permisos secuenciales, en el que primero se aprobaban los EIA-d y luego se otorgaban otros permisos, a un modelo más eficiente en el que se tramitan y aprueban de manera simultánea.</a:t>
            </a:r>
            <a:endParaRPr lang="es-PE" sz="2000" dirty="0"/>
          </a:p>
        </p:txBody>
      </p:sp>
      <p:sp>
        <p:nvSpPr>
          <p:cNvPr id="5" name="Rectángulo: esquinas redondeadas 4">
            <a:extLst>
              <a:ext uri="{FF2B5EF4-FFF2-40B4-BE49-F238E27FC236}">
                <a16:creationId xmlns:a16="http://schemas.microsoft.com/office/drawing/2014/main" id="{D10ABEB3-64AB-4D80-A50C-16E001FA1A59}"/>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pic>
        <p:nvPicPr>
          <p:cNvPr id="6" name="Picture 2" descr="CERTIFICACION AMBIENTAL – Servilex">
            <a:extLst>
              <a:ext uri="{FF2B5EF4-FFF2-40B4-BE49-F238E27FC236}">
                <a16:creationId xmlns:a16="http://schemas.microsoft.com/office/drawing/2014/main" id="{CAB31445-2A7A-4600-8249-4CC0384A7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86" y="2014044"/>
            <a:ext cx="5031266" cy="32410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9414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342900" y="762000"/>
            <a:ext cx="12344400" cy="1284288"/>
          </a:xfrm>
          <a:prstGeom prst="rect">
            <a:avLst/>
          </a:prstGeom>
        </p:spPr>
        <p:txBody>
          <a:bodyPr/>
          <a:lstStyle/>
          <a:p>
            <a:r>
              <a:rPr lang="es-MX" sz="2400" b="1" dirty="0"/>
              <a:t>¿QUÉ VENTAJAS TIENE LA CERTIFICACIÓN AMBIENTAL GLOBAL?</a:t>
            </a:r>
            <a:endParaRPr lang="es-PE" sz="2400" b="1" dirty="0"/>
          </a:p>
        </p:txBody>
      </p:sp>
      <p:sp>
        <p:nvSpPr>
          <p:cNvPr id="3" name="2 Marcador de contenido"/>
          <p:cNvSpPr>
            <a:spLocks noGrp="1"/>
          </p:cNvSpPr>
          <p:nvPr>
            <p:ph idx="4294967295"/>
          </p:nvPr>
        </p:nvSpPr>
        <p:spPr>
          <a:xfrm>
            <a:off x="5902325" y="1352550"/>
            <a:ext cx="8359775" cy="5848350"/>
          </a:xfrm>
          <a:prstGeom prst="rect">
            <a:avLst/>
          </a:prstGeom>
        </p:spPr>
        <p:txBody>
          <a:bodyPr/>
          <a:lstStyle/>
          <a:p>
            <a:pPr marL="0" indent="0">
              <a:buNone/>
            </a:pPr>
            <a:r>
              <a:rPr lang="es-MX" sz="2000" dirty="0"/>
              <a:t>La Certificación Ambiental Global tiene las siguientes ventajas:  </a:t>
            </a:r>
          </a:p>
          <a:p>
            <a:pPr marL="0" indent="0">
              <a:buNone/>
            </a:pPr>
            <a:endParaRPr lang="es-MX" sz="2000" dirty="0"/>
          </a:p>
          <a:p>
            <a:r>
              <a:rPr lang="es-MX" sz="2000" dirty="0"/>
              <a:t>Evita duplicidades tanto en la evaluación de impactos como en los procedimientos administrativos. </a:t>
            </a:r>
          </a:p>
          <a:p>
            <a:r>
              <a:rPr lang="es-MX" sz="2000" dirty="0"/>
              <a:t>Elimina posibles contradicciones entre las distintas autoridades ambientales y sus evaluadores. </a:t>
            </a:r>
          </a:p>
          <a:p>
            <a:r>
              <a:rPr lang="es-MX" sz="2000" dirty="0"/>
              <a:t>Reduce los costos de transacción, gestionando eficientemente el tiempo para poner en marcha de los proyectos de inversión. </a:t>
            </a:r>
          </a:p>
          <a:p>
            <a:r>
              <a:rPr lang="es-MX" sz="2000" dirty="0"/>
              <a:t>Optimiza la coordinación interinstitucional, facilitando el intercambio de información entre las entidades vinculadas al procedimiento de certificación ambiental global. </a:t>
            </a:r>
          </a:p>
          <a:p>
            <a:r>
              <a:rPr lang="es-MX" sz="2000" dirty="0"/>
              <a:t>Garantiza un trámite ágil y oportuno con plazos razonables, manteniendo o mejorando la rigurosidad de la evaluación</a:t>
            </a:r>
            <a:endParaRPr lang="es-PE" sz="2000" dirty="0"/>
          </a:p>
        </p:txBody>
      </p:sp>
      <p:pic>
        <p:nvPicPr>
          <p:cNvPr id="5" name="Picture 2" descr="CERTIFICACION AMBIENTAL – Servilex">
            <a:extLst>
              <a:ext uri="{FF2B5EF4-FFF2-40B4-BE49-F238E27FC236}">
                <a16:creationId xmlns:a16="http://schemas.microsoft.com/office/drawing/2014/main" id="{98CA2518-4EA0-4417-9018-D0A20EA86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808" y="2215997"/>
            <a:ext cx="4722496" cy="324100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04709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444098" y="2792413"/>
            <a:ext cx="4722813" cy="1284287"/>
          </a:xfrm>
          <a:prstGeom prst="rect">
            <a:avLst/>
          </a:prstGeom>
        </p:spPr>
        <p:txBody>
          <a:bodyPr/>
          <a:lstStyle/>
          <a:p>
            <a:r>
              <a:rPr lang="es-MX" sz="2400" b="1" dirty="0"/>
              <a:t>¿QUÉ NORMAS RIGEN LA CERTIFICACIÓN AMBIENTAL GLOBAL?</a:t>
            </a:r>
            <a:endParaRPr lang="es-PE" sz="2400" b="1" dirty="0"/>
          </a:p>
        </p:txBody>
      </p:sp>
      <p:sp>
        <p:nvSpPr>
          <p:cNvPr id="3" name="2 Marcador de contenido"/>
          <p:cNvSpPr>
            <a:spLocks noGrp="1"/>
          </p:cNvSpPr>
          <p:nvPr>
            <p:ph idx="4294967295"/>
          </p:nvPr>
        </p:nvSpPr>
        <p:spPr>
          <a:xfrm>
            <a:off x="5827713" y="1752600"/>
            <a:ext cx="7405687" cy="4648200"/>
          </a:xfrm>
          <a:prstGeom prst="rect">
            <a:avLst/>
          </a:prstGeom>
        </p:spPr>
        <p:txBody>
          <a:bodyPr/>
          <a:lstStyle/>
          <a:p>
            <a:r>
              <a:rPr lang="es-MX" sz="2800" dirty="0"/>
              <a:t>Las reglas de la Certificación Ambiental Global están establecidas por la Ley de Promoción de las Inversiones para el Crecimiento Económico y el Desarrollo Sostenible, Ley N° 30327. Actualmente, el Ministerio del Ambiente, en coordinación con los sectores involucrados y el </a:t>
            </a:r>
            <a:r>
              <a:rPr lang="es-MX" sz="2800" dirty="0" err="1"/>
              <a:t>Senace</a:t>
            </a:r>
            <a:r>
              <a:rPr lang="es-MX" sz="2800" dirty="0"/>
              <a:t>, se encuentra trabajando en el Reglamento de Certificación Ambiental Global.</a:t>
            </a:r>
            <a:endParaRPr lang="es-PE" sz="2800" dirty="0"/>
          </a:p>
        </p:txBody>
      </p:sp>
      <p:sp>
        <p:nvSpPr>
          <p:cNvPr id="4" name="Rectángulo: esquinas redondeadas 3">
            <a:extLst>
              <a:ext uri="{FF2B5EF4-FFF2-40B4-BE49-F238E27FC236}">
                <a16:creationId xmlns:a16="http://schemas.microsoft.com/office/drawing/2014/main" id="{AD7F5CBC-2D7B-48CB-AB67-0C7FDB302549}"/>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20472324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1257300" y="1270000"/>
            <a:ext cx="11582400" cy="1284288"/>
          </a:xfrm>
          <a:prstGeom prst="rect">
            <a:avLst/>
          </a:prstGeom>
        </p:spPr>
        <p:txBody>
          <a:bodyPr/>
          <a:lstStyle/>
          <a:p>
            <a:r>
              <a:rPr lang="es-MX" sz="2400" b="1" dirty="0"/>
              <a:t>¿QUIÉN IMPLEMENTA LA CERTIFICACIÓN AMBIENTAL GLOBAL?</a:t>
            </a:r>
            <a:endParaRPr lang="es-PE" sz="2400" b="1" dirty="0"/>
          </a:p>
        </p:txBody>
      </p:sp>
      <p:sp>
        <p:nvSpPr>
          <p:cNvPr id="3" name="2 Marcador de contenido"/>
          <p:cNvSpPr>
            <a:spLocks noGrp="1"/>
          </p:cNvSpPr>
          <p:nvPr>
            <p:ph idx="4294967295"/>
          </p:nvPr>
        </p:nvSpPr>
        <p:spPr>
          <a:xfrm>
            <a:off x="3975100" y="2254250"/>
            <a:ext cx="9766300" cy="3308350"/>
          </a:xfrm>
          <a:prstGeom prst="rect">
            <a:avLst/>
          </a:prstGeom>
        </p:spPr>
        <p:txBody>
          <a:bodyPr/>
          <a:lstStyle/>
          <a:p>
            <a:r>
              <a:rPr lang="es-MX" sz="2400" dirty="0"/>
              <a:t>El </a:t>
            </a:r>
            <a:r>
              <a:rPr lang="es-MX" sz="2400" dirty="0" err="1"/>
              <a:t>Senace</a:t>
            </a:r>
            <a:r>
              <a:rPr lang="es-MX" sz="2400" dirty="0"/>
              <a:t> es la entidad encargada de conducir la Certificación Ambiental Global, así como de aprobar las medidas operativas y procedimentales para implementarla. Además, el nuevo modelo de Certificación Ambiental Global requiere una coordinación estrecha entre diversas entidades para asegurar que el procedimiento se realice a tiempo y mantenga o incremente la rigurosidad en beneficio de los inversionistas y los ciudadanos.</a:t>
            </a:r>
            <a:endParaRPr lang="es-PE" sz="2400" dirty="0"/>
          </a:p>
        </p:txBody>
      </p:sp>
      <p:sp>
        <p:nvSpPr>
          <p:cNvPr id="4" name="Rectángulo: esquinas redondeadas 3">
            <a:extLst>
              <a:ext uri="{FF2B5EF4-FFF2-40B4-BE49-F238E27FC236}">
                <a16:creationId xmlns:a16="http://schemas.microsoft.com/office/drawing/2014/main" id="{3D038A92-6122-4E70-80A0-25882565C8E5}"/>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pic>
        <p:nvPicPr>
          <p:cNvPr id="5" name="Picture 10" descr="enace Perú | Facebook">
            <a:extLst>
              <a:ext uri="{FF2B5EF4-FFF2-40B4-BE49-F238E27FC236}">
                <a16:creationId xmlns:a16="http://schemas.microsoft.com/office/drawing/2014/main" id="{5ABDA25A-8E62-45C3-8F41-C386F5ADE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321" y="2713463"/>
            <a:ext cx="2423766" cy="235565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92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4294967295"/>
          </p:nvPr>
        </p:nvSpPr>
        <p:spPr>
          <a:xfrm>
            <a:off x="5166911" y="1450975"/>
            <a:ext cx="7407275" cy="5848350"/>
          </a:xfrm>
          <a:prstGeom prst="rect">
            <a:avLst/>
          </a:prstGeom>
        </p:spPr>
        <p:txBody>
          <a:bodyPr/>
          <a:lstStyle/>
          <a:p>
            <a:r>
              <a:rPr lang="es-MX" sz="2400" dirty="0"/>
              <a:t>En el marco de la Certificación Ambiental Global, el </a:t>
            </a:r>
            <a:r>
              <a:rPr lang="es-MX" sz="2400" dirty="0" err="1"/>
              <a:t>Senace</a:t>
            </a:r>
            <a:r>
              <a:rPr lang="es-MX" sz="2400" dirty="0"/>
              <a:t> coordinará con entidades que tienen competencias para emitir opiniones y autorizaciones ambientales sobre agua, bosques y otras materias especializadas. </a:t>
            </a:r>
          </a:p>
          <a:p>
            <a:pPr marL="0" indent="0">
              <a:buNone/>
            </a:pPr>
            <a:endParaRPr lang="es-MX" sz="2400" dirty="0"/>
          </a:p>
          <a:p>
            <a:r>
              <a:rPr lang="es-MX" sz="2400" dirty="0"/>
              <a:t>El </a:t>
            </a:r>
            <a:r>
              <a:rPr lang="es-MX" sz="2400" dirty="0" err="1"/>
              <a:t>Senace</a:t>
            </a:r>
            <a:r>
              <a:rPr lang="es-MX" sz="2400" dirty="0"/>
              <a:t> ya ha celebrado convenios interinstitucionales con varias de ellas para intercambiar información de forma fluida, interoperar a través de los sistemas informáticos, enlazar sus procedimientos y empezar a trabajar en criterios técnicos conjuntos</a:t>
            </a:r>
            <a:endParaRPr lang="es-PE" sz="2400" dirty="0"/>
          </a:p>
        </p:txBody>
      </p:sp>
      <p:sp>
        <p:nvSpPr>
          <p:cNvPr id="5" name="Rectángulo: esquinas redondeadas 4">
            <a:extLst>
              <a:ext uri="{FF2B5EF4-FFF2-40B4-BE49-F238E27FC236}">
                <a16:creationId xmlns:a16="http://schemas.microsoft.com/office/drawing/2014/main" id="{2B5384D7-BE2F-4EA8-A76B-1B179B6C6F3A}"/>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pic>
        <p:nvPicPr>
          <p:cNvPr id="6" name="Picture 10" descr="Senace Perú | Facebook">
            <a:extLst>
              <a:ext uri="{FF2B5EF4-FFF2-40B4-BE49-F238E27FC236}">
                <a16:creationId xmlns:a16="http://schemas.microsoft.com/office/drawing/2014/main" id="{0EECC361-11FC-4681-90F7-51982BC993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952" y="2554439"/>
            <a:ext cx="2662220" cy="258740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6608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1371600" y="793750"/>
            <a:ext cx="10172700" cy="1284288"/>
          </a:xfrm>
          <a:prstGeom prst="rect">
            <a:avLst/>
          </a:prstGeom>
        </p:spPr>
        <p:txBody>
          <a:bodyPr/>
          <a:lstStyle/>
          <a:p>
            <a:r>
              <a:rPr lang="es-MX" sz="2400" b="1" dirty="0"/>
              <a:t>¿CUÁLES SON LAS AUTORIZACIONES U OPINIONES TÉCNICAS QUE SE INTEGRAN A LA CERTIFICACIÓN AMBIENTAL GLOBAL?</a:t>
            </a:r>
            <a:endParaRPr lang="es-PE" sz="2400" b="1" dirty="0"/>
          </a:p>
        </p:txBody>
      </p:sp>
      <p:sp>
        <p:nvSpPr>
          <p:cNvPr id="3" name="2 Marcador de contenido"/>
          <p:cNvSpPr>
            <a:spLocks noGrp="1"/>
          </p:cNvSpPr>
          <p:nvPr>
            <p:ph idx="4294967295"/>
          </p:nvPr>
        </p:nvSpPr>
        <p:spPr>
          <a:xfrm>
            <a:off x="1181101" y="2078038"/>
            <a:ext cx="10985499" cy="1470025"/>
          </a:xfrm>
          <a:prstGeom prst="rect">
            <a:avLst/>
          </a:prstGeom>
        </p:spPr>
        <p:txBody>
          <a:bodyPr/>
          <a:lstStyle/>
          <a:p>
            <a:r>
              <a:rPr lang="es-MX" sz="2800" dirty="0"/>
              <a:t>El titular de un proyecto de inversión podrá integrar las siguientes autorizaciones y opiniones técnicas relacionadas:</a:t>
            </a:r>
          </a:p>
          <a:p>
            <a:pPr marL="0" indent="0">
              <a:buNone/>
            </a:pPr>
            <a:endParaRPr lang="es-PE" sz="2800" dirty="0"/>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646" t="33405" r="21767" b="17457"/>
          <a:stretch/>
        </p:blipFill>
        <p:spPr bwMode="auto">
          <a:xfrm>
            <a:off x="2622375" y="3838465"/>
            <a:ext cx="8008329" cy="3909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8038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0799" t="29310" r="21403" b="19612"/>
          <a:stretch/>
        </p:blipFill>
        <p:spPr bwMode="auto">
          <a:xfrm>
            <a:off x="1933713" y="1468361"/>
            <a:ext cx="8046354" cy="52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1404" t="53233" r="21041" b="34267"/>
          <a:stretch/>
        </p:blipFill>
        <p:spPr bwMode="auto">
          <a:xfrm>
            <a:off x="2039731" y="6749811"/>
            <a:ext cx="8046354" cy="1053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ángulo: esquinas redondeadas 6">
            <a:extLst>
              <a:ext uri="{FF2B5EF4-FFF2-40B4-BE49-F238E27FC236}">
                <a16:creationId xmlns:a16="http://schemas.microsoft.com/office/drawing/2014/main" id="{029FCF6E-9456-498B-A8D1-9AD3F0C4DA44}"/>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
        <p:nvSpPr>
          <p:cNvPr id="10" name="1 Título">
            <a:extLst>
              <a:ext uri="{FF2B5EF4-FFF2-40B4-BE49-F238E27FC236}">
                <a16:creationId xmlns:a16="http://schemas.microsoft.com/office/drawing/2014/main" id="{52020AAE-DCA4-4FE3-8F76-E625E152225C}"/>
              </a:ext>
            </a:extLst>
          </p:cNvPr>
          <p:cNvSpPr>
            <a:spLocks noGrp="1"/>
          </p:cNvSpPr>
          <p:nvPr>
            <p:ph type="title" idx="4294967295"/>
          </p:nvPr>
        </p:nvSpPr>
        <p:spPr>
          <a:xfrm>
            <a:off x="825500" y="527050"/>
            <a:ext cx="10299700" cy="1284288"/>
          </a:xfrm>
          <a:prstGeom prst="rect">
            <a:avLst/>
          </a:prstGeom>
        </p:spPr>
        <p:txBody>
          <a:bodyPr/>
          <a:lstStyle/>
          <a:p>
            <a:r>
              <a:rPr lang="es-MX" sz="2400" b="1" dirty="0"/>
              <a:t>¿CUÁLES SON LAS AUTORIZACIONES U OPINIONES TÉCNICAS QUE SE INTEGRAN A LA CERTIFICACIÓN AMBIENTAL GLOBAL?</a:t>
            </a:r>
            <a:endParaRPr lang="es-PE" sz="2400" b="1" dirty="0"/>
          </a:p>
        </p:txBody>
      </p:sp>
    </p:spTree>
    <p:extLst>
      <p:ext uri="{BB962C8B-B14F-4D97-AF65-F5344CB8AC3E}">
        <p14:creationId xmlns:p14="http://schemas.microsoft.com/office/powerpoint/2010/main" val="25088629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736600" y="2031206"/>
            <a:ext cx="4722813" cy="1284287"/>
          </a:xfrm>
          <a:prstGeom prst="rect">
            <a:avLst/>
          </a:prstGeom>
        </p:spPr>
        <p:txBody>
          <a:bodyPr/>
          <a:lstStyle/>
          <a:p>
            <a:r>
              <a:rPr lang="es-MX" sz="2400" b="1" dirty="0"/>
              <a:t>¿ANTE QUIÉN SE SOLICITA LA CERTIFICACIÓN AMBIENTAL GLOBAL?</a:t>
            </a:r>
            <a:endParaRPr lang="es-PE" sz="2400" b="1" dirty="0"/>
          </a:p>
        </p:txBody>
      </p:sp>
      <p:sp>
        <p:nvSpPr>
          <p:cNvPr id="3" name="2 Marcador de contenido"/>
          <p:cNvSpPr>
            <a:spLocks noGrp="1"/>
          </p:cNvSpPr>
          <p:nvPr>
            <p:ph idx="4294967295"/>
          </p:nvPr>
        </p:nvSpPr>
        <p:spPr>
          <a:xfrm>
            <a:off x="5915025" y="1539875"/>
            <a:ext cx="7407275" cy="5848350"/>
          </a:xfrm>
          <a:prstGeom prst="rect">
            <a:avLst/>
          </a:prstGeom>
        </p:spPr>
        <p:txBody>
          <a:bodyPr/>
          <a:lstStyle/>
          <a:p>
            <a:r>
              <a:rPr lang="es-MX" sz="2000" dirty="0"/>
              <a:t>La Certificación Ambiental Global se solicita al </a:t>
            </a:r>
            <a:r>
              <a:rPr lang="es-MX" sz="2000" dirty="0" err="1"/>
              <a:t>Senace</a:t>
            </a:r>
            <a:r>
              <a:rPr lang="es-MX" sz="2000" dirty="0"/>
              <a:t> a través de las plataformas informáticas de la Ventanilla Única de Certificación Ambiental. </a:t>
            </a:r>
          </a:p>
          <a:p>
            <a:pPr marL="0" indent="0">
              <a:buNone/>
            </a:pPr>
            <a:endParaRPr lang="es-MX" sz="2000" dirty="0"/>
          </a:p>
          <a:p>
            <a:r>
              <a:rPr lang="es-MX" sz="2000" dirty="0"/>
              <a:t>El </a:t>
            </a:r>
            <a:r>
              <a:rPr lang="es-MX" sz="2000" dirty="0" err="1"/>
              <a:t>Senace</a:t>
            </a:r>
            <a:r>
              <a:rPr lang="es-MX" sz="2000" dirty="0"/>
              <a:t> coordinará con la Autoridad Nacional del Agua (ANA), el Servicio Nacional Forestal y de Fauna Silvestre (SERFOR), la Dirección General de Salud Ambiental e Inocuidad Alimentaria (DIGESA) y la Dirección General de Capitanías y Guardacostas (DICAPI), según corresponda, para que se emitan estas autorizaciones u opiniones técnicas en el marco del procedimiento de Certificación Ambiental Global dentro del plazo legalmente establecido. Este modelo asegura un único puerto de entrada y de salida para los inversionistas.</a:t>
            </a:r>
            <a:endParaRPr lang="es-PE" sz="2000" dirty="0"/>
          </a:p>
        </p:txBody>
      </p:sp>
      <p:pic>
        <p:nvPicPr>
          <p:cNvPr id="5" name="Picture 10" descr="Senace Perú | Facebook">
            <a:extLst>
              <a:ext uri="{FF2B5EF4-FFF2-40B4-BE49-F238E27FC236}">
                <a16:creationId xmlns:a16="http://schemas.microsoft.com/office/drawing/2014/main" id="{E5659F08-C0D4-4657-B020-EB1611A789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974" y="4303726"/>
            <a:ext cx="2471326" cy="240187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7606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300" t="38684" r="23054" b="24292"/>
          <a:stretch/>
        </p:blipFill>
        <p:spPr bwMode="auto">
          <a:xfrm>
            <a:off x="526376" y="1305652"/>
            <a:ext cx="11957724" cy="612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ángulo: esquinas redondeadas 5">
            <a:extLst>
              <a:ext uri="{FF2B5EF4-FFF2-40B4-BE49-F238E27FC236}">
                <a16:creationId xmlns:a16="http://schemas.microsoft.com/office/drawing/2014/main" id="{551E8019-3A52-4710-AB5C-0C427581E611}"/>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9093444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762000" y="1007202"/>
            <a:ext cx="4721225" cy="1284288"/>
          </a:xfrm>
          <a:prstGeom prst="rect">
            <a:avLst/>
          </a:prstGeom>
        </p:spPr>
        <p:txBody>
          <a:bodyPr/>
          <a:lstStyle/>
          <a:p>
            <a:r>
              <a:rPr lang="es-MX" sz="2800" b="1" dirty="0"/>
              <a:t>¿UN INVERSIONISTA PUEDE SOLICITAR LA CERTIFICACIÓN AMBIENTAL GLOBAL PARA CUALQUIER TIPO DE PROYECTO?</a:t>
            </a:r>
            <a:endParaRPr lang="es-PE" sz="2800" b="1" dirty="0"/>
          </a:p>
        </p:txBody>
      </p:sp>
      <p:sp>
        <p:nvSpPr>
          <p:cNvPr id="3" name="2 Marcador de contenido"/>
          <p:cNvSpPr>
            <a:spLocks noGrp="1"/>
          </p:cNvSpPr>
          <p:nvPr>
            <p:ph idx="4294967295"/>
          </p:nvPr>
        </p:nvSpPr>
        <p:spPr>
          <a:xfrm>
            <a:off x="5915025" y="1184275"/>
            <a:ext cx="7407275" cy="5848350"/>
          </a:xfrm>
          <a:prstGeom prst="rect">
            <a:avLst/>
          </a:prstGeom>
        </p:spPr>
        <p:txBody>
          <a:bodyPr/>
          <a:lstStyle/>
          <a:p>
            <a:r>
              <a:rPr lang="es-MX" sz="2400" dirty="0"/>
              <a:t>No. Actualmente, solo los titulares de proyectos de inversión clasificados como categoría III (es decir, que requieren un EIA-d) y cuyo subsector haya sido transferido al </a:t>
            </a:r>
            <a:r>
              <a:rPr lang="es-MX" sz="2400" dirty="0" err="1"/>
              <a:t>Senace</a:t>
            </a:r>
            <a:r>
              <a:rPr lang="es-MX" sz="2400" dirty="0"/>
              <a:t> pueden solicitar la Certificación Ambiental Global. A marzo de 2016, el </a:t>
            </a:r>
            <a:r>
              <a:rPr lang="es-MX" sz="2400" dirty="0" err="1"/>
              <a:t>Senace</a:t>
            </a:r>
            <a:r>
              <a:rPr lang="es-MX" sz="2400" dirty="0"/>
              <a:t> es competente para los siguientes subsectores: </a:t>
            </a:r>
            <a:endParaRPr lang="es-PE" sz="2400" dirty="0"/>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0307" t="47845" r="26008" b="28448"/>
          <a:stretch/>
        </p:blipFill>
        <p:spPr bwMode="auto">
          <a:xfrm>
            <a:off x="7031421" y="3990251"/>
            <a:ext cx="5538279" cy="2191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4 Rectángulo"/>
          <p:cNvSpPr/>
          <p:nvPr/>
        </p:nvSpPr>
        <p:spPr>
          <a:xfrm>
            <a:off x="1409700" y="6439166"/>
            <a:ext cx="9182100" cy="1200329"/>
          </a:xfrm>
          <a:prstGeom prst="rect">
            <a:avLst/>
          </a:prstGeom>
        </p:spPr>
        <p:txBody>
          <a:bodyPr wrap="square">
            <a:spAutoFit/>
          </a:bodyPr>
          <a:lstStyle/>
          <a:p>
            <a:r>
              <a:rPr lang="es-MX" sz="2400" dirty="0"/>
              <a:t>Posteriormente, otros sectores irán siendo transferidos al </a:t>
            </a:r>
            <a:r>
              <a:rPr lang="es-MX" sz="2400" dirty="0" err="1"/>
              <a:t>Senace</a:t>
            </a:r>
            <a:r>
              <a:rPr lang="es-MX" sz="2400" dirty="0"/>
              <a:t> de acuerdo al Cronograma de Transferencias aprobado por el Decreto Supremo N° 006-2015-MINAM. </a:t>
            </a:r>
            <a:endParaRPr lang="es-PE" sz="2400" dirty="0"/>
          </a:p>
        </p:txBody>
      </p:sp>
      <p:sp>
        <p:nvSpPr>
          <p:cNvPr id="6" name="Rectángulo: esquinas redondeadas 5">
            <a:extLst>
              <a:ext uri="{FF2B5EF4-FFF2-40B4-BE49-F238E27FC236}">
                <a16:creationId xmlns:a16="http://schemas.microsoft.com/office/drawing/2014/main" id="{54D74FF9-20BA-4B84-9A24-4E5A207620DA}"/>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1269404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850900" y="1911351"/>
            <a:ext cx="4722813" cy="1284287"/>
          </a:xfrm>
          <a:prstGeom prst="rect">
            <a:avLst/>
          </a:prstGeom>
        </p:spPr>
        <p:txBody>
          <a:bodyPr/>
          <a:lstStyle/>
          <a:p>
            <a:r>
              <a:rPr lang="es-MX" sz="2800" b="1" dirty="0"/>
              <a:t>¿CUÁL ES EL PLAZO DEL SENACE PARA APROBAR LA CERTIFICACIÓN AMBIENTAL GLOBAL?</a:t>
            </a:r>
            <a:endParaRPr lang="es-PE" sz="2800" b="1" dirty="0"/>
          </a:p>
        </p:txBody>
      </p:sp>
      <p:sp>
        <p:nvSpPr>
          <p:cNvPr id="3" name="2 Marcador de contenido"/>
          <p:cNvSpPr>
            <a:spLocks noGrp="1"/>
          </p:cNvSpPr>
          <p:nvPr>
            <p:ph idx="4294967295"/>
          </p:nvPr>
        </p:nvSpPr>
        <p:spPr>
          <a:xfrm>
            <a:off x="6335713" y="1911351"/>
            <a:ext cx="7405687" cy="1792288"/>
          </a:xfrm>
          <a:prstGeom prst="rect">
            <a:avLst/>
          </a:prstGeom>
        </p:spPr>
        <p:txBody>
          <a:bodyPr/>
          <a:lstStyle/>
          <a:p>
            <a:r>
              <a:rPr lang="es-MX" sz="2400" dirty="0"/>
              <a:t>El plazo legal para emitir la Certificación Ambiental Global es de 150 días hábiles solo prorrogables por 30 días hábiles en casos complejos.</a:t>
            </a:r>
            <a:endParaRPr lang="es-PE" sz="2400" dirty="0"/>
          </a:p>
        </p:txBody>
      </p:sp>
      <p:sp>
        <p:nvSpPr>
          <p:cNvPr id="4" name="Rectángulo: esquinas redondeadas 3">
            <a:extLst>
              <a:ext uri="{FF2B5EF4-FFF2-40B4-BE49-F238E27FC236}">
                <a16:creationId xmlns:a16="http://schemas.microsoft.com/office/drawing/2014/main" id="{3BD43656-F68E-46A8-9AF3-B8BA9D7E0486}"/>
              </a:ext>
            </a:extLst>
          </p:cNvPr>
          <p:cNvSpPr/>
          <p:nvPr/>
        </p:nvSpPr>
        <p:spPr>
          <a:xfrm>
            <a:off x="2115239" y="165253"/>
            <a:ext cx="3051672" cy="848299"/>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solidFill>
                <a:schemeClr val="bg1"/>
              </a:solidFill>
            </a:endParaRPr>
          </a:p>
        </p:txBody>
      </p:sp>
    </p:spTree>
    <p:extLst>
      <p:ext uri="{BB962C8B-B14F-4D97-AF65-F5344CB8AC3E}">
        <p14:creationId xmlns:p14="http://schemas.microsoft.com/office/powerpoint/2010/main" val="6365702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850900" y="793750"/>
            <a:ext cx="9029700" cy="1284288"/>
          </a:xfrm>
          <a:prstGeom prst="rect">
            <a:avLst/>
          </a:prstGeom>
        </p:spPr>
        <p:txBody>
          <a:bodyPr/>
          <a:lstStyle/>
          <a:p>
            <a:r>
              <a:rPr lang="es-MX" sz="3200" b="1" dirty="0"/>
              <a:t>¿QUÉ GARANTIZA QUE LAS DEMÁS ENTIDADES VINCULADAS AL EIA-D COLABOREN CON EL SENACE?</a:t>
            </a:r>
            <a:endParaRPr lang="es-PE" sz="3200" b="1" dirty="0"/>
          </a:p>
        </p:txBody>
      </p:sp>
      <p:sp>
        <p:nvSpPr>
          <p:cNvPr id="3" name="2 Marcador de contenido"/>
          <p:cNvSpPr>
            <a:spLocks noGrp="1"/>
          </p:cNvSpPr>
          <p:nvPr>
            <p:ph idx="4294967295"/>
          </p:nvPr>
        </p:nvSpPr>
        <p:spPr>
          <a:xfrm>
            <a:off x="860425" y="2774950"/>
            <a:ext cx="9413875" cy="4933950"/>
          </a:xfrm>
          <a:prstGeom prst="rect">
            <a:avLst/>
          </a:prstGeom>
        </p:spPr>
        <p:txBody>
          <a:bodyPr/>
          <a:lstStyle/>
          <a:p>
            <a:r>
              <a:rPr lang="es-MX" sz="2400" dirty="0"/>
              <a:t>Todas las entidades del Estado tienen la obligación legal de cooperar entre sí para brindar mejores servicios a los ciudadanos.</a:t>
            </a:r>
          </a:p>
          <a:p>
            <a:pPr marL="0" indent="0">
              <a:buNone/>
            </a:pPr>
            <a:endParaRPr lang="es-MX" sz="2400" dirty="0"/>
          </a:p>
          <a:p>
            <a:r>
              <a:rPr lang="es-MX" sz="2400" dirty="0"/>
              <a:t> En particular, el </a:t>
            </a:r>
            <a:r>
              <a:rPr lang="es-MX" sz="2400" dirty="0" err="1"/>
              <a:t>Senace</a:t>
            </a:r>
            <a:r>
              <a:rPr lang="es-MX" sz="2400" dirty="0"/>
              <a:t> tiene la facultad legal para comprometer la participación efectiva de otras entidades vinculadas a la Certificación Ambiental Global. Más importante aún, el </a:t>
            </a:r>
            <a:r>
              <a:rPr lang="es-MX" sz="2400" dirty="0" err="1"/>
              <a:t>Senace</a:t>
            </a:r>
            <a:r>
              <a:rPr lang="es-MX" sz="2400" dirty="0"/>
              <a:t> y las otras entidades públicas involucradas han venido realizando acciones conjuntas de coordinación como reuniones, talleres, interoperabilidad de sistemas informáticos y ensayos, preparándose para las demandas de la Certificación Ambiental Global.</a:t>
            </a:r>
            <a:endParaRPr lang="es-PE" sz="2400" dirty="0"/>
          </a:p>
        </p:txBody>
      </p:sp>
    </p:spTree>
    <p:extLst>
      <p:ext uri="{BB962C8B-B14F-4D97-AF65-F5344CB8AC3E}">
        <p14:creationId xmlns:p14="http://schemas.microsoft.com/office/powerpoint/2010/main" val="26249926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1168400" y="542131"/>
            <a:ext cx="10972800" cy="1284288"/>
          </a:xfrm>
          <a:prstGeom prst="rect">
            <a:avLst/>
          </a:prstGeom>
        </p:spPr>
        <p:txBody>
          <a:bodyPr/>
          <a:lstStyle/>
          <a:p>
            <a:r>
              <a:rPr lang="es-MX" sz="3600" b="1" dirty="0"/>
              <a:t>¿EL SENACE COORDINA TAMBIÉN CON GOBIERNOS REGIONALES O MUNICIPALES?</a:t>
            </a:r>
            <a:endParaRPr lang="es-PE" sz="3600" b="1" dirty="0"/>
          </a:p>
        </p:txBody>
      </p:sp>
      <p:sp>
        <p:nvSpPr>
          <p:cNvPr id="3" name="2 Marcador de contenido"/>
          <p:cNvSpPr>
            <a:spLocks noGrp="1"/>
          </p:cNvSpPr>
          <p:nvPr>
            <p:ph idx="4294967295"/>
          </p:nvPr>
        </p:nvSpPr>
        <p:spPr>
          <a:xfrm>
            <a:off x="1393825" y="2035175"/>
            <a:ext cx="9350375" cy="5848350"/>
          </a:xfrm>
          <a:prstGeom prst="rect">
            <a:avLst/>
          </a:prstGeom>
        </p:spPr>
        <p:txBody>
          <a:bodyPr/>
          <a:lstStyle/>
          <a:p>
            <a:r>
              <a:rPr lang="es-MX" sz="2400" dirty="0"/>
              <a:t>Sí. A pesar de que los gobiernos regionales no emiten opiniones o autorizaciones en el marco de la Certificación Ambiental Global, el </a:t>
            </a:r>
            <a:r>
              <a:rPr lang="es-MX" sz="2400" dirty="0" err="1"/>
              <a:t>Senace</a:t>
            </a:r>
            <a:r>
              <a:rPr lang="es-MX" sz="2400" dirty="0"/>
              <a:t> los considera como aliados estratégicos. Por ello, durante el 2015 el </a:t>
            </a:r>
            <a:r>
              <a:rPr lang="es-MX" sz="2400" dirty="0" err="1"/>
              <a:t>Senace</a:t>
            </a:r>
            <a:r>
              <a:rPr lang="es-MX" sz="2400" dirty="0"/>
              <a:t> implementó un plan de trabajo con 17 gobiernos regionales, sosteniendo reuniones de trabajo para dar a conocer sus funciones, absolver dudas y recoger opiniones. Para el 2016, el </a:t>
            </a:r>
            <a:r>
              <a:rPr lang="es-MX" sz="2400" dirty="0" err="1"/>
              <a:t>Senace</a:t>
            </a:r>
            <a:r>
              <a:rPr lang="es-MX" sz="2400" dirty="0"/>
              <a:t> continuará acercándose a los gobiernos regionales y también municipalidades a través de un plan más focalizado en aquellas donde existan iniciativas o proyectos que próximamente necesitarán de la Certificación Ambiental Global.</a:t>
            </a:r>
            <a:endParaRPr lang="es-PE" sz="2400" dirty="0"/>
          </a:p>
        </p:txBody>
      </p:sp>
    </p:spTree>
    <p:extLst>
      <p:ext uri="{BB962C8B-B14F-4D97-AF65-F5344CB8AC3E}">
        <p14:creationId xmlns:p14="http://schemas.microsoft.com/office/powerpoint/2010/main" val="2453650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1003300" y="542131"/>
            <a:ext cx="10604500" cy="1284287"/>
          </a:xfrm>
          <a:prstGeom prst="rect">
            <a:avLst/>
          </a:prstGeom>
        </p:spPr>
        <p:txBody>
          <a:bodyPr/>
          <a:lstStyle/>
          <a:p>
            <a:r>
              <a:rPr lang="es-MX" sz="3200" b="1" dirty="0"/>
              <a:t>¿EL INVERSIONISTA PODRÁ COMENZAR LA CONSTRUCCIÓN U OPERACIÓN INMEDIATAMENTE DESPUÉS DE EMITIDA LA CERTIFICACIÓN AMBIENTAL GLOBAL?</a:t>
            </a:r>
            <a:endParaRPr lang="es-PE" sz="3200" b="1" dirty="0"/>
          </a:p>
        </p:txBody>
      </p:sp>
      <p:sp>
        <p:nvSpPr>
          <p:cNvPr id="3" name="2 Marcador de contenido"/>
          <p:cNvSpPr>
            <a:spLocks noGrp="1"/>
          </p:cNvSpPr>
          <p:nvPr>
            <p:ph idx="4294967295"/>
          </p:nvPr>
        </p:nvSpPr>
        <p:spPr>
          <a:xfrm>
            <a:off x="1003300" y="2898775"/>
            <a:ext cx="9258300" cy="3908425"/>
          </a:xfrm>
          <a:prstGeom prst="rect">
            <a:avLst/>
          </a:prstGeom>
        </p:spPr>
        <p:txBody>
          <a:bodyPr/>
          <a:lstStyle/>
          <a:p>
            <a:r>
              <a:rPr lang="es-MX" sz="2400" dirty="0"/>
              <a:t>No. El inicio de la fase de construcción u operación dependerá de los permisos y autorizaciones que se requieran para cada proyecto de inversión. La Certificación Ambiental Global integra varios de ellos, facilitando y acortando el tiempo que toma el inicio de la fase de construcción y operación de los proyectos de inversión, pero no incluye todos los permisos. El inversionista deberá obtener aquellos permisos, autorizaciones y licencias ambientales o de otro tipo no integrados en la Certificación Ambiental Global.</a:t>
            </a:r>
            <a:endParaRPr lang="es-PE" sz="2400" dirty="0"/>
          </a:p>
        </p:txBody>
      </p:sp>
    </p:spTree>
    <p:extLst>
      <p:ext uri="{BB962C8B-B14F-4D97-AF65-F5344CB8AC3E}">
        <p14:creationId xmlns:p14="http://schemas.microsoft.com/office/powerpoint/2010/main" val="1370659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6586928" y="3139332"/>
            <a:ext cx="9731844" cy="973184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D1F28"/>
            </a:solidFill>
          </p:spPr>
        </p:sp>
        <p:sp>
          <p:nvSpPr>
            <p:cNvPr id="4" name="TextBox 4"/>
            <p:cNvSpPr txBox="1"/>
            <p:nvPr/>
          </p:nvSpPr>
          <p:spPr>
            <a:xfrm>
              <a:off x="76200" y="76200"/>
              <a:ext cx="660400" cy="660400"/>
            </a:xfrm>
            <a:prstGeom prst="rect">
              <a:avLst/>
            </a:prstGeom>
          </p:spPr>
          <p:txBody>
            <a:bodyPr lIns="40640" tIns="40640" rIns="40640" bIns="40640" rtlCol="0" anchor="ctr"/>
            <a:lstStyle/>
            <a:p>
              <a:pPr algn="ctr">
                <a:lnSpc>
                  <a:spcPts val="1726"/>
                </a:lnSpc>
              </a:pPr>
              <a:endParaRPr sz="1440"/>
            </a:p>
          </p:txBody>
        </p:sp>
      </p:grpSp>
      <p:grpSp>
        <p:nvGrpSpPr>
          <p:cNvPr id="5" name="Group 5"/>
          <p:cNvGrpSpPr>
            <a:grpSpLocks noChangeAspect="1"/>
          </p:cNvGrpSpPr>
          <p:nvPr/>
        </p:nvGrpSpPr>
        <p:grpSpPr>
          <a:xfrm>
            <a:off x="10601812" y="822960"/>
            <a:ext cx="3205628" cy="6342886"/>
            <a:chOff x="0" y="0"/>
            <a:chExt cx="2620010" cy="5184140"/>
          </a:xfrm>
        </p:grpSpPr>
        <p:sp>
          <p:nvSpPr>
            <p:cNvPr id="6" name="Freeform 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7" name="Freeform 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2"/>
              <a:stretch>
                <a:fillRect l="-112628" r="-112628"/>
              </a:stretch>
            </a:blipFill>
          </p:spPr>
        </p:sp>
        <p:sp>
          <p:nvSpPr>
            <p:cNvPr id="8" name="Freeform 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9" name="Freeform 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10" name="Freeform 1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11" name="Freeform 1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12" name="Freeform 1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13" name="Freeform 1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14" name="Freeform 1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grpSp>
        <p:nvGrpSpPr>
          <p:cNvPr id="15" name="Group 15"/>
          <p:cNvGrpSpPr>
            <a:grpSpLocks noChangeAspect="1"/>
          </p:cNvGrpSpPr>
          <p:nvPr/>
        </p:nvGrpSpPr>
        <p:grpSpPr>
          <a:xfrm>
            <a:off x="7094822" y="2952540"/>
            <a:ext cx="3207801" cy="6347185"/>
            <a:chOff x="0" y="0"/>
            <a:chExt cx="2620010" cy="5184140"/>
          </a:xfrm>
        </p:grpSpPr>
        <p:sp>
          <p:nvSpPr>
            <p:cNvPr id="16" name="Freeform 16"/>
            <p:cNvSpPr/>
            <p:nvPr/>
          </p:nvSpPr>
          <p:spPr>
            <a:xfrm>
              <a:off x="53340" y="25400"/>
              <a:ext cx="2513330" cy="5132070"/>
            </a:xfrm>
            <a:custGeom>
              <a:avLst/>
              <a:gdLst/>
              <a:ahLst/>
              <a:cxnLst/>
              <a:rect l="l" t="t" r="r" b="b"/>
              <a:pathLst>
                <a:path w="2513330" h="513207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id="17" name="Freeform 17"/>
            <p:cNvSpPr/>
            <p:nvPr/>
          </p:nvSpPr>
          <p:spPr>
            <a:xfrm>
              <a:off x="185420" y="156210"/>
              <a:ext cx="2251710" cy="4876800"/>
            </a:xfrm>
            <a:custGeom>
              <a:avLst/>
              <a:gdLst/>
              <a:ahLst/>
              <a:cxnLst/>
              <a:rect l="l" t="t" r="r" b="b"/>
              <a:pathLst>
                <a:path w="2251710" h="487680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3"/>
              <a:stretch>
                <a:fillRect l="-112324" r="-112324"/>
              </a:stretch>
            </a:blipFill>
          </p:spPr>
        </p:sp>
        <p:sp>
          <p:nvSpPr>
            <p:cNvPr id="18" name="Freeform 18"/>
            <p:cNvSpPr/>
            <p:nvPr/>
          </p:nvSpPr>
          <p:spPr>
            <a:xfrm>
              <a:off x="1121410" y="198120"/>
              <a:ext cx="347980" cy="43180"/>
            </a:xfrm>
            <a:custGeom>
              <a:avLst/>
              <a:gdLst/>
              <a:ahLst/>
              <a:cxnLst/>
              <a:rect l="l" t="t" r="r" b="b"/>
              <a:pathLst>
                <a:path w="347980" h="431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id="19" name="Freeform 19"/>
            <p:cNvSpPr/>
            <p:nvPr/>
          </p:nvSpPr>
          <p:spPr>
            <a:xfrm>
              <a:off x="1578312" y="187909"/>
              <a:ext cx="66636" cy="63602"/>
            </a:xfrm>
            <a:custGeom>
              <a:avLst/>
              <a:gdLst/>
              <a:ahLst/>
              <a:cxnLst/>
              <a:rect l="l" t="t" r="r" b="b"/>
              <a:pathLst>
                <a:path w="66636" h="63602">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555555"/>
            </a:solidFill>
          </p:spPr>
        </p:sp>
        <p:sp>
          <p:nvSpPr>
            <p:cNvPr id="20" name="Freeform 20"/>
            <p:cNvSpPr/>
            <p:nvPr/>
          </p:nvSpPr>
          <p:spPr>
            <a:xfrm>
              <a:off x="0" y="685800"/>
              <a:ext cx="27940" cy="213360"/>
            </a:xfrm>
            <a:custGeom>
              <a:avLst/>
              <a:gdLst/>
              <a:ahLst/>
              <a:cxnLst/>
              <a:rect l="l" t="t" r="r" b="b"/>
              <a:pathLst>
                <a:path w="27940" h="21336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id="21" name="Freeform 21"/>
            <p:cNvSpPr/>
            <p:nvPr/>
          </p:nvSpPr>
          <p:spPr>
            <a:xfrm>
              <a:off x="0" y="1057910"/>
              <a:ext cx="27940" cy="384810"/>
            </a:xfrm>
            <a:custGeom>
              <a:avLst/>
              <a:gdLst/>
              <a:ahLst/>
              <a:cxnLst/>
              <a:rect l="l" t="t" r="r" b="b"/>
              <a:pathLst>
                <a:path w="27940" h="38481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id="22" name="Freeform 22"/>
            <p:cNvSpPr/>
            <p:nvPr/>
          </p:nvSpPr>
          <p:spPr>
            <a:xfrm>
              <a:off x="0" y="1526540"/>
              <a:ext cx="27940" cy="386080"/>
            </a:xfrm>
            <a:custGeom>
              <a:avLst/>
              <a:gdLst/>
              <a:ahLst/>
              <a:cxnLst/>
              <a:rect l="l" t="t" r="r" b="b"/>
              <a:pathLst>
                <a:path w="27940" h="38608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id="23" name="Freeform 23"/>
            <p:cNvSpPr/>
            <p:nvPr/>
          </p:nvSpPr>
          <p:spPr>
            <a:xfrm>
              <a:off x="2592070" y="1184910"/>
              <a:ext cx="27940" cy="618490"/>
            </a:xfrm>
            <a:custGeom>
              <a:avLst/>
              <a:gdLst/>
              <a:ahLst/>
              <a:cxnLst/>
              <a:rect l="l" t="t" r="r" b="b"/>
              <a:pathLst>
                <a:path w="27940" h="61849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id="24" name="Freeform 24"/>
            <p:cNvSpPr/>
            <p:nvPr/>
          </p:nvSpPr>
          <p:spPr>
            <a:xfrm>
              <a:off x="27940" y="0"/>
              <a:ext cx="2564130" cy="5182870"/>
            </a:xfrm>
            <a:custGeom>
              <a:avLst/>
              <a:gdLst/>
              <a:ahLst/>
              <a:cxnLst/>
              <a:rect l="l" t="t" r="r" b="b"/>
              <a:pathLst>
                <a:path w="2564130" h="518287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555555"/>
            </a:solidFill>
          </p:spPr>
        </p:sp>
      </p:grpSp>
      <p:sp>
        <p:nvSpPr>
          <p:cNvPr id="25" name="Freeform 25"/>
          <p:cNvSpPr/>
          <p:nvPr/>
        </p:nvSpPr>
        <p:spPr>
          <a:xfrm flipV="1">
            <a:off x="-2954307" y="6746910"/>
            <a:ext cx="10049129" cy="2110317"/>
          </a:xfrm>
          <a:custGeom>
            <a:avLst/>
            <a:gdLst/>
            <a:ahLst/>
            <a:cxnLst/>
            <a:rect l="l" t="t" r="r" b="b"/>
            <a:pathLst>
              <a:path w="12561411" h="2637896">
                <a:moveTo>
                  <a:pt x="0" y="2637896"/>
                </a:moveTo>
                <a:lnTo>
                  <a:pt x="12561411" y="2637896"/>
                </a:lnTo>
                <a:lnTo>
                  <a:pt x="12561411" y="0"/>
                </a:lnTo>
                <a:lnTo>
                  <a:pt x="0" y="0"/>
                </a:lnTo>
                <a:lnTo>
                  <a:pt x="0" y="2637896"/>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 y="-18895"/>
            <a:ext cx="2724951" cy="1683710"/>
          </a:xfrm>
          <a:custGeom>
            <a:avLst/>
            <a:gdLst/>
            <a:ahLst/>
            <a:cxnLst/>
            <a:rect l="l" t="t" r="r" b="b"/>
            <a:pathLst>
              <a:path w="3406189" h="2104637">
                <a:moveTo>
                  <a:pt x="0" y="0"/>
                </a:moveTo>
                <a:lnTo>
                  <a:pt x="3406189" y="0"/>
                </a:lnTo>
                <a:lnTo>
                  <a:pt x="3406189" y="2104638"/>
                </a:lnTo>
                <a:lnTo>
                  <a:pt x="0" y="2104638"/>
                </a:lnTo>
                <a:lnTo>
                  <a:pt x="0" y="0"/>
                </a:lnTo>
                <a:close/>
              </a:path>
            </a:pathLst>
          </a:custGeom>
          <a:blipFill>
            <a:blip r:embed="rId6"/>
            <a:stretch>
              <a:fillRect/>
            </a:stretch>
          </a:blipFill>
        </p:spPr>
      </p:sp>
      <p:sp>
        <p:nvSpPr>
          <p:cNvPr id="27" name="TextBox 27"/>
          <p:cNvSpPr txBox="1"/>
          <p:nvPr/>
        </p:nvSpPr>
        <p:spPr>
          <a:xfrm>
            <a:off x="873826" y="1938528"/>
            <a:ext cx="5298374" cy="4873129"/>
          </a:xfrm>
          <a:prstGeom prst="rect">
            <a:avLst/>
          </a:prstGeom>
        </p:spPr>
        <p:txBody>
          <a:bodyPr wrap="square" lIns="0" tIns="0" rIns="0" bIns="0" rtlCol="0" anchor="t">
            <a:spAutoFit/>
          </a:bodyPr>
          <a:lstStyle/>
          <a:p>
            <a:pPr algn="ctr">
              <a:lnSpc>
                <a:spcPts val="3840"/>
              </a:lnSpc>
            </a:pPr>
            <a:r>
              <a:rPr lang="en-US" sz="3840" b="1" dirty="0">
                <a:solidFill>
                  <a:srgbClr val="303030"/>
                </a:solidFill>
                <a:latin typeface="Futura Std Book" panose="020B0802020204020204" pitchFamily="34" charset="0"/>
                <a:ea typeface="Futura Ultra-Bold"/>
                <a:cs typeface="Futura Ultra-Bold"/>
                <a:sym typeface="Futura Ultra-Bold"/>
              </a:rPr>
              <a:t>TEMA 4:</a:t>
            </a:r>
          </a:p>
          <a:p>
            <a:pPr algn="ctr">
              <a:lnSpc>
                <a:spcPts val="3840"/>
              </a:lnSpc>
            </a:pPr>
            <a:endParaRPr lang="en-US" sz="3840" b="1" dirty="0">
              <a:solidFill>
                <a:srgbClr val="303030"/>
              </a:solidFill>
              <a:latin typeface="Futura Std Book" panose="020B0802020204020204" pitchFamily="34" charset="0"/>
              <a:ea typeface="Futura Ultra-Bold"/>
              <a:cs typeface="Futura Ultra-Bold"/>
              <a:sym typeface="Futura Ultra-Bold"/>
            </a:endParaRPr>
          </a:p>
          <a:p>
            <a:pPr algn="ctr">
              <a:lnSpc>
                <a:spcPts val="3840"/>
              </a:lnSpc>
            </a:pPr>
            <a:r>
              <a:rPr lang="es-ES" sz="3840" b="1" dirty="0">
                <a:solidFill>
                  <a:srgbClr val="303030"/>
                </a:solidFill>
                <a:latin typeface="Futura Std Book" panose="020B0802020204020204" pitchFamily="34" charset="0"/>
                <a:ea typeface="Futura Ultra-Bold"/>
                <a:cs typeface="Futura Ultra-Bold"/>
                <a:sym typeface="Futura Ultra-Bold"/>
              </a:rPr>
              <a:t>TRATADOS INTERNACIONALES Y ROLES DE LAS ENTIDADES GUBERNAMENTALES COMO ORGANISMOS REGULADORES </a:t>
            </a:r>
          </a:p>
        </p:txBody>
      </p:sp>
    </p:spTree>
    <p:extLst>
      <p:ext uri="{BB962C8B-B14F-4D97-AF65-F5344CB8AC3E}">
        <p14:creationId xmlns:p14="http://schemas.microsoft.com/office/powerpoint/2010/main" val="3476520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225398" y="1368903"/>
            <a:ext cx="4652979" cy="781496"/>
          </a:xfrm>
          <a:prstGeom prst="rect">
            <a:avLst/>
          </a:prstGeom>
        </p:spPr>
        <p:txBody>
          <a:bodyPr lIns="0" tIns="0" rIns="0" bIns="0" rtlCol="0" anchor="t">
            <a:spAutoFit/>
          </a:bodyPr>
          <a:lstStyle/>
          <a:p>
            <a:pPr>
              <a:lnSpc>
                <a:spcPts val="6699"/>
              </a:lnSpc>
            </a:pPr>
            <a:r>
              <a:rPr lang="en-US" sz="4400" spc="-167" dirty="0">
                <a:latin typeface="Futura Std Book" panose="020B0802020204020204" pitchFamily="34" charset="0"/>
                <a:ea typeface="Anton"/>
                <a:cs typeface="Anton"/>
                <a:sym typeface="Anton"/>
              </a:rPr>
              <a:t>INTRODUCCIÓN </a:t>
            </a:r>
          </a:p>
        </p:txBody>
      </p:sp>
      <p:sp>
        <p:nvSpPr>
          <p:cNvPr id="3" name="2 CuadroTexto"/>
          <p:cNvSpPr txBox="1"/>
          <p:nvPr/>
        </p:nvSpPr>
        <p:spPr>
          <a:xfrm>
            <a:off x="1232147" y="2934642"/>
            <a:ext cx="11150353" cy="3724096"/>
          </a:xfrm>
          <a:prstGeom prst="rect">
            <a:avLst/>
          </a:prstGeom>
          <a:noFill/>
        </p:spPr>
        <p:txBody>
          <a:bodyPr wrap="square" rtlCol="0">
            <a:spAutoFit/>
          </a:bodyPr>
          <a:lstStyle/>
          <a:p>
            <a:r>
              <a:rPr lang="es-MX" sz="2000" b="1" dirty="0"/>
              <a:t>La minería es el sector dominante de la economía peruana. Representa el 8.5% del PIB, mientras que las exportaciones de minerales representan el 63.9% de las exportaciones totales del país. En los últimos 20 años ha habido importantes inversiones en el sector. Como resultado, ha habido un aumento en las actividades de exploración y desarrollo. Perú se encuentra entre los principales productores de productos minerales del mundo. El cobre y el oro son las exportaciones minerales más importantes por valor.</a:t>
            </a:r>
            <a:br>
              <a:rPr lang="es-MX" sz="2000" b="1" dirty="0"/>
            </a:br>
            <a:endParaRPr lang="es-MX" sz="2000" b="1" dirty="0"/>
          </a:p>
          <a:p>
            <a:r>
              <a:rPr lang="es-MX" sz="2000" b="1" dirty="0"/>
              <a:t>La tradición minera se remonta a la época preincaica, y continúa durante los períodos incaico, colonial y republicano. En cada una de esas etapas, la minería ha sido una de las principales actividades del desarrollo del país.</a:t>
            </a:r>
          </a:p>
          <a:p>
            <a:pPr algn="just" fontAlgn="ctr"/>
            <a:endParaRPr lang="es-MX" dirty="0">
              <a:latin typeface="Inter" panose="02000503000000020004" pitchFamily="50" charset="0"/>
            </a:endParaRPr>
          </a:p>
          <a:p>
            <a:endParaRPr lang="es-PE" dirty="0"/>
          </a:p>
        </p:txBody>
      </p:sp>
    </p:spTree>
    <p:extLst>
      <p:ext uri="{BB962C8B-B14F-4D97-AF65-F5344CB8AC3E}">
        <p14:creationId xmlns:p14="http://schemas.microsoft.com/office/powerpoint/2010/main" val="29705381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CuadroTexto">
            <a:extLst>
              <a:ext uri="{FF2B5EF4-FFF2-40B4-BE49-F238E27FC236}">
                <a16:creationId xmlns:a16="http://schemas.microsoft.com/office/drawing/2014/main" id="{23BF7F95-0680-4AA0-99E2-44D71ABF4B19}"/>
              </a:ext>
            </a:extLst>
          </p:cNvPr>
          <p:cNvSpPr txBox="1"/>
          <p:nvPr/>
        </p:nvSpPr>
        <p:spPr>
          <a:xfrm>
            <a:off x="733431" y="2086965"/>
            <a:ext cx="10252070" cy="5016758"/>
          </a:xfrm>
          <a:prstGeom prst="rect">
            <a:avLst/>
          </a:prstGeom>
          <a:noFill/>
        </p:spPr>
        <p:txBody>
          <a:bodyPr wrap="square" rtlCol="0">
            <a:spAutoFit/>
          </a:bodyPr>
          <a:lstStyle/>
          <a:p>
            <a:endParaRPr lang="es-MX" sz="2000" b="1" dirty="0"/>
          </a:p>
          <a:p>
            <a:r>
              <a:rPr lang="es-MX" sz="2000" dirty="0"/>
              <a:t>El Perú es uno de los países más mineralizados del mundo. Actualmente alberga algunas de las principales empresas mineras del mundo, incluidas </a:t>
            </a:r>
            <a:r>
              <a:rPr lang="es-MX" sz="2000" dirty="0" err="1"/>
              <a:t>Glencore</a:t>
            </a:r>
            <a:r>
              <a:rPr lang="es-MX" sz="2000" dirty="0"/>
              <a:t>, Freeport-</a:t>
            </a:r>
            <a:r>
              <a:rPr lang="es-MX" sz="2000" dirty="0" err="1"/>
              <a:t>McMoRan</a:t>
            </a:r>
            <a:r>
              <a:rPr lang="es-MX" sz="2000" dirty="0"/>
              <a:t>, Rio Tinto, Anglo American, MMG, </a:t>
            </a:r>
            <a:r>
              <a:rPr lang="es-MX" sz="2000" dirty="0" err="1"/>
              <a:t>Teck</a:t>
            </a:r>
            <a:r>
              <a:rPr lang="es-MX" sz="2000" dirty="0"/>
              <a:t>, </a:t>
            </a:r>
            <a:r>
              <a:rPr lang="es-MX" sz="2000" dirty="0" err="1"/>
              <a:t>Chinalco</a:t>
            </a:r>
            <a:r>
              <a:rPr lang="es-MX" sz="2000" dirty="0"/>
              <a:t> y </a:t>
            </a:r>
            <a:r>
              <a:rPr lang="es-MX" sz="2000" dirty="0" err="1"/>
              <a:t>Barrick</a:t>
            </a:r>
            <a:r>
              <a:rPr lang="es-MX" sz="2000" dirty="0"/>
              <a:t>.</a:t>
            </a:r>
          </a:p>
          <a:p>
            <a:endParaRPr lang="es-MX" sz="2000" dirty="0"/>
          </a:p>
          <a:p>
            <a:r>
              <a:rPr lang="es-MX" sz="2000" dirty="0"/>
              <a:t>Desde la liberalización de la industria en la década de 1990, se han desplegado inversiones locales y extranjeras para desarrollar importantes minas modernas.</a:t>
            </a:r>
          </a:p>
          <a:p>
            <a:r>
              <a:rPr lang="es-MX" sz="2000" dirty="0"/>
              <a:t>Nuestro país cuenta con una reconocida riqueza mineral. Se considera uno de los diez países más ricos en minerales del mundo. Es uno de los mayores productores de metales básicos y preciosos del mundo. Actualmente es el segundo productor mundial de cobre y también es un importante productor de oro, plata, zinc, entre otros minerales. </a:t>
            </a:r>
          </a:p>
          <a:p>
            <a:endParaRPr lang="es-MX" sz="2000" dirty="0"/>
          </a:p>
          <a:p>
            <a:r>
              <a:rPr lang="es-MX" sz="2000" dirty="0"/>
              <a:t>Perú tiene el 9,1% de las reservas mundiales de cobre, el 5.6% de su oro, el 17.8% de su plata, el 8.0% de zinc, el 6.2% de plomo y el 2.8% de estaño, según los últimos datos publicados por el Servicio Geológico de Estados Unidos.</a:t>
            </a:r>
          </a:p>
        </p:txBody>
      </p:sp>
      <p:sp>
        <p:nvSpPr>
          <p:cNvPr id="5" name="CuadroTexto 4">
            <a:extLst>
              <a:ext uri="{FF2B5EF4-FFF2-40B4-BE49-F238E27FC236}">
                <a16:creationId xmlns:a16="http://schemas.microsoft.com/office/drawing/2014/main" id="{DE48FA58-F173-4BB3-8488-B0E2423175FC}"/>
              </a:ext>
            </a:extLst>
          </p:cNvPr>
          <p:cNvSpPr txBox="1"/>
          <p:nvPr/>
        </p:nvSpPr>
        <p:spPr>
          <a:xfrm>
            <a:off x="1186069" y="1180251"/>
            <a:ext cx="7315200" cy="400110"/>
          </a:xfrm>
          <a:prstGeom prst="rect">
            <a:avLst/>
          </a:prstGeom>
          <a:noFill/>
        </p:spPr>
        <p:txBody>
          <a:bodyPr wrap="square">
            <a:spAutoFit/>
          </a:bodyPr>
          <a:lstStyle/>
          <a:p>
            <a:r>
              <a:rPr lang="es-MX" sz="2000" b="1" dirty="0"/>
              <a:t>IMPORTANCIA DEL SECTOR MINERO EN EL PERÚ</a:t>
            </a:r>
            <a:endParaRPr lang="es-MX" sz="2000" dirty="0"/>
          </a:p>
        </p:txBody>
      </p:sp>
    </p:spTree>
    <p:extLst>
      <p:ext uri="{BB962C8B-B14F-4D97-AF65-F5344CB8AC3E}">
        <p14:creationId xmlns:p14="http://schemas.microsoft.com/office/powerpoint/2010/main" val="41976474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391807" y="1369895"/>
            <a:ext cx="7315200" cy="5355312"/>
          </a:xfrm>
          <a:prstGeom prst="rect">
            <a:avLst/>
          </a:prstGeom>
        </p:spPr>
        <p:txBody>
          <a:bodyPr>
            <a:spAutoFit/>
          </a:bodyPr>
          <a:lstStyle/>
          <a:p>
            <a:r>
              <a:rPr lang="es-MX" dirty="0"/>
              <a:t>Las exportaciones generan divisas, generan empleo...mas importante aún, los países exportan según sus ventajas comparativas, generan una mayor movilidad de los factores de producción, crean y desarrollar ventajas competitivas, incrementan y mejoran la calidad y cantidad de bienes, difunden e innovan tecnológica, entre otros.</a:t>
            </a:r>
          </a:p>
          <a:p>
            <a:r>
              <a:rPr lang="es-MX" dirty="0"/>
              <a:t>En concordancia con el incremento de las exportaciones, en los últimos tiempos escuchamos sobre los Acuerdos Comerciales que viene negociando Perú. Sin embargo, poco se conoce sobre el contenido de los mismos. Primero que nada debemos advertir sobre la tendencia generalizada de sobredimensionar las expectativas; los Tratados Comerciales no son sino instrumentos de la estrategia comercial para promover el desarrollo y la modernización de la economía.</a:t>
            </a:r>
          </a:p>
          <a:p>
            <a:r>
              <a:rPr lang="es-MX" dirty="0"/>
              <a:t>Para que los resultados de la apertura comercial sean perceptibles en la economía real debemos focalizarnos en el conjunto de medidas que se requiere para implementarlos y, desde el sector privado, en cómo maximizar sus beneficios.</a:t>
            </a:r>
          </a:p>
          <a:p>
            <a:endParaRPr lang="es-MX"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439" y="1865654"/>
            <a:ext cx="4302243" cy="35215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uadroTexto 6">
            <a:extLst>
              <a:ext uri="{FF2B5EF4-FFF2-40B4-BE49-F238E27FC236}">
                <a16:creationId xmlns:a16="http://schemas.microsoft.com/office/drawing/2014/main" id="{BE9018C3-546B-45C5-B0F9-BC3712B3AF71}"/>
              </a:ext>
            </a:extLst>
          </p:cNvPr>
          <p:cNvSpPr txBox="1"/>
          <p:nvPr/>
        </p:nvSpPr>
        <p:spPr>
          <a:xfrm>
            <a:off x="1850743" y="669230"/>
            <a:ext cx="7315200" cy="400110"/>
          </a:xfrm>
          <a:prstGeom prst="rect">
            <a:avLst/>
          </a:prstGeom>
          <a:noFill/>
        </p:spPr>
        <p:txBody>
          <a:bodyPr wrap="square">
            <a:spAutoFit/>
          </a:bodyPr>
          <a:lstStyle/>
          <a:p>
            <a:r>
              <a:rPr lang="es-MX" sz="2000" b="1" dirty="0"/>
              <a:t>IMPORTANCIA DEL SECTOR MINERO EN EL PERÚ</a:t>
            </a:r>
            <a:endParaRPr lang="es-MX" sz="2000" dirty="0"/>
          </a:p>
        </p:txBody>
      </p:sp>
    </p:spTree>
    <p:extLst>
      <p:ext uri="{BB962C8B-B14F-4D97-AF65-F5344CB8AC3E}">
        <p14:creationId xmlns:p14="http://schemas.microsoft.com/office/powerpoint/2010/main" val="21757274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837731" y="820281"/>
            <a:ext cx="7315200" cy="6740307"/>
          </a:xfrm>
          <a:prstGeom prst="rect">
            <a:avLst/>
          </a:prstGeom>
        </p:spPr>
        <p:txBody>
          <a:bodyPr>
            <a:spAutoFit/>
          </a:bodyPr>
          <a:lstStyle/>
          <a:p>
            <a:r>
              <a:rPr lang="es-MX" dirty="0"/>
              <a:t>Entonces, la tarea del sector privado, en este caso las empresas mineras, se centrará en articular con los negociadores de acuerdos comerciales a fin de incorporar en el debate sus prioridades y, sobre todo, en entender que el proceso de apertura sólo llegará a buen puerto si se aprovecha la oportunidad para consolidar el acceso comercial a los mercados más importantes del mundo.</a:t>
            </a:r>
          </a:p>
          <a:p>
            <a:r>
              <a:rPr lang="es-MX" dirty="0"/>
              <a:t>Muchos son los temas comerciales que deben interesar al sector minero, sin embargo hemos identificados algunos contenidos medulares que no podemos dejar de mencionar:</a:t>
            </a:r>
          </a:p>
          <a:p>
            <a:endParaRPr lang="es-MX" dirty="0"/>
          </a:p>
          <a:p>
            <a:r>
              <a:rPr lang="es-MX" b="1" dirty="0"/>
              <a:t>• Aranceles:</a:t>
            </a:r>
            <a:br>
              <a:rPr lang="es-MX" dirty="0"/>
            </a:br>
            <a:r>
              <a:rPr lang="es-MX" dirty="0"/>
              <a:t>El punto de partida y el corazón de todo acuerdo comercial es la desgravación arancelaria. Pero, considerando que la mayoría de los productos mineros son </a:t>
            </a:r>
            <a:r>
              <a:rPr lang="es-MX" dirty="0" err="1"/>
              <a:t>commodities</a:t>
            </a:r>
            <a:r>
              <a:rPr lang="es-MX" dirty="0"/>
              <a:t> y la demanda de estos productos no depende del impacto en el precio de los aranceles.</a:t>
            </a:r>
          </a:p>
          <a:p>
            <a:endParaRPr lang="es-MX" dirty="0"/>
          </a:p>
          <a:p>
            <a:r>
              <a:rPr lang="es-MX" b="1" dirty="0"/>
              <a:t>¿cómo se beneficia la minería con la desgravación?</a:t>
            </a:r>
          </a:p>
          <a:p>
            <a:r>
              <a:rPr lang="es-MX" dirty="0"/>
              <a:t>Los acuerdos comerciales implicarán no sólo una mejora en la competitividad de precios al rebajarse los aranceles en el mercado de destino, sino que contiene mejor acceso a insumos y bienes de capital, es decir, permiten acceso a la adquisición de maquinarias, equipos y materiales importados sin el pago de los aranceles de importación</a:t>
            </a:r>
            <a:endParaRPr lang="es-PE"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01989" y="2484609"/>
            <a:ext cx="4647411" cy="332399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14243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633939" y="786037"/>
            <a:ext cx="8156091" cy="5909310"/>
          </a:xfrm>
          <a:prstGeom prst="rect">
            <a:avLst/>
          </a:prstGeom>
        </p:spPr>
        <p:txBody>
          <a:bodyPr wrap="square">
            <a:spAutoFit/>
          </a:bodyPr>
          <a:lstStyle/>
          <a:p>
            <a:r>
              <a:rPr lang="es-MX" dirty="0"/>
              <a:t>• </a:t>
            </a:r>
            <a:r>
              <a:rPr lang="es-MX" b="1" dirty="0"/>
              <a:t>SEGURIDAD JURÍDICA:</a:t>
            </a:r>
          </a:p>
          <a:p>
            <a:br>
              <a:rPr lang="es-MX" dirty="0"/>
            </a:br>
            <a:r>
              <a:rPr lang="es-MX" dirty="0"/>
              <a:t>Los Tratados comerciales contribuyen a mejorar el marco promotor de inversiones, asegurando un trato no discriminatorio y acceso a las oportunidades de negocio que el país ofrece. La certidumbre jurídica y un marco jurídico creíble se manifiestan básicamente en la disminución de costos de transacción para los inversionistas extranjeros.</a:t>
            </a:r>
          </a:p>
          <a:p>
            <a:endParaRPr lang="es-MX" dirty="0"/>
          </a:p>
          <a:p>
            <a:r>
              <a:rPr lang="es-MX" dirty="0"/>
              <a:t>Otro tema vinculado a la estabilidad jurídica y certidumbre para la toma de decisiones de inversión es la Resolución de conflictos, específicamente la solución de controversias Inversionista - Estado. De persistir un problema, la empresa inversionista podrá llevar ante tribunales internacionales el caso materia de litigio. Esta posibilidad de acudir a los tribunales internacionales favorece el establecimiento de un clima adecuado para la atracción de la inversión privada.</a:t>
            </a:r>
          </a:p>
          <a:p>
            <a:endParaRPr lang="es-MX" dirty="0"/>
          </a:p>
          <a:p>
            <a:r>
              <a:rPr lang="es-MX" dirty="0"/>
              <a:t>Asimismo, la mayoría de tratados de libre comercio eliminan las distorsiones como cuotas de importación y otras barreras que impiden o dificultan el ingreso de productos peruanos a los mercados de destino.</a:t>
            </a:r>
            <a:br>
              <a:rPr lang="es-MX" dirty="0"/>
            </a:br>
            <a:br>
              <a:rPr lang="es-MX" dirty="0"/>
            </a:br>
            <a:endParaRPr lang="es-MX"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7117" y="1862788"/>
            <a:ext cx="3489724" cy="305167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262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085805" y="1597053"/>
            <a:ext cx="7315200" cy="5632311"/>
          </a:xfrm>
          <a:prstGeom prst="rect">
            <a:avLst/>
          </a:prstGeom>
        </p:spPr>
        <p:txBody>
          <a:bodyPr>
            <a:spAutoFit/>
          </a:bodyPr>
          <a:lstStyle/>
          <a:p>
            <a:r>
              <a:rPr lang="es-MX" dirty="0"/>
              <a:t>• </a:t>
            </a:r>
            <a:r>
              <a:rPr lang="es-MX" b="1" dirty="0"/>
              <a:t>FACILITACIÓN DE COMERCIO:</a:t>
            </a:r>
          </a:p>
          <a:p>
            <a:br>
              <a:rPr lang="es-MX" dirty="0"/>
            </a:br>
            <a:r>
              <a:rPr lang="es-MX" dirty="0"/>
              <a:t>Las medidas para mejorar los procedimientos aduaneros repercutirán directamente en la reducción de costos, tanto en las importaciones como en las exportaciones, mejorando la competitividad de nuestro comercio.</a:t>
            </a:r>
          </a:p>
          <a:p>
            <a:r>
              <a:rPr lang="es-MX" dirty="0"/>
              <a:t>Los capítulos de asuntos aduaneros de los tratados comerciales incluyen reducción de plazos en los despachos al consumo y establecen plazos máximos para la atención de las resoluciones anticipadas (documento que otorga una aduana al solicitante de una preferencia arancelaria).</a:t>
            </a:r>
          </a:p>
          <a:p>
            <a:endParaRPr lang="es-MX" dirty="0"/>
          </a:p>
          <a:p>
            <a:r>
              <a:rPr lang="es-MX" dirty="0"/>
              <a:t>• </a:t>
            </a:r>
            <a:r>
              <a:rPr lang="es-MX" b="1" dirty="0"/>
              <a:t>TEMAS AMBIENTAL</a:t>
            </a:r>
          </a:p>
          <a:p>
            <a:br>
              <a:rPr lang="es-MX" dirty="0"/>
            </a:br>
            <a:r>
              <a:rPr lang="es-MX" dirty="0"/>
              <a:t>Se asumen compromisos importantes, dependiendo del alcance de cada acuerdo. Se proveen plazos que permiten la adecuación de la industria minera a las nuevas exigencias ambientales internacionales.</a:t>
            </a:r>
          </a:p>
          <a:p>
            <a:br>
              <a:rPr lang="es-MX" dirty="0"/>
            </a:br>
            <a:endParaRPr lang="es-MX" dirty="0"/>
          </a:p>
        </p:txBody>
      </p:sp>
      <p:pic>
        <p:nvPicPr>
          <p:cNvPr id="5" name="Imagen 4">
            <a:extLst>
              <a:ext uri="{FF2B5EF4-FFF2-40B4-BE49-F238E27FC236}">
                <a16:creationId xmlns:a16="http://schemas.microsoft.com/office/drawing/2014/main" id="{13DB55F7-C29D-4593-A0D0-76871E053151}"/>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67871" y="2126255"/>
            <a:ext cx="3822728" cy="35447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2779222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934607" y="622933"/>
            <a:ext cx="8263600" cy="5909310"/>
          </a:xfrm>
          <a:prstGeom prst="rect">
            <a:avLst/>
          </a:prstGeom>
        </p:spPr>
        <p:txBody>
          <a:bodyPr wrap="square">
            <a:spAutoFit/>
          </a:bodyPr>
          <a:lstStyle/>
          <a:p>
            <a:r>
              <a:rPr lang="es-MX" dirty="0"/>
              <a:t>• </a:t>
            </a:r>
            <a:r>
              <a:rPr lang="es-MX" b="1" dirty="0"/>
              <a:t>TEMAS DE SERVICIOS</a:t>
            </a:r>
          </a:p>
          <a:p>
            <a:endParaRPr lang="es-MX" b="1" dirty="0"/>
          </a:p>
          <a:p>
            <a:br>
              <a:rPr lang="es-MX" dirty="0"/>
            </a:br>
            <a:r>
              <a:rPr lang="es-MX" dirty="0"/>
              <a:t>Los tratados también incluyen temas vinculados a los servicios de relevancia para el sector minero, entre los que encontramos: Independencia de los entes reguladores, flujo libre de profesionales (cupos y costos), reconocimiento de títulos universitarios y técnicos, entre otros.</a:t>
            </a:r>
          </a:p>
          <a:p>
            <a:endParaRPr lang="es-MX" dirty="0"/>
          </a:p>
          <a:p>
            <a:r>
              <a:rPr lang="es-MX" dirty="0"/>
              <a:t>Por último, se deben considerar otros beneficios de los acuerdos comerciales como el reforzamiento de la estabilidad macroeconómica e institucional del país lo que repercutirá en temas como la mejora de la clasificación de riesgo país lo que incidirá en la reducción del costo financiero, y beneficiará al consumidor final e intermedio.</a:t>
            </a:r>
          </a:p>
          <a:p>
            <a:endParaRPr lang="es-MX" dirty="0"/>
          </a:p>
          <a:p>
            <a:r>
              <a:rPr lang="es-MX" dirty="0"/>
              <a:t>El gran reto se encuentra en que tengamos la capacidad de detectar las limitaciones y desventajas para superarlas en el corto plazo; un mayor y mejor aprovechamiento de nuestras ventajas competitivas y transformarlas en ventajas comparativas y así aprovechar plenamente las oportunidades que se presentan con este boom firmas de tratados comerciales en nuestro país.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306" y="2203373"/>
            <a:ext cx="4089938" cy="30076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43683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860846" y="2110709"/>
            <a:ext cx="10888568" cy="4247317"/>
          </a:xfrm>
          <a:prstGeom prst="rect">
            <a:avLst/>
          </a:prstGeom>
        </p:spPr>
        <p:txBody>
          <a:bodyPr wrap="square">
            <a:spAutoFit/>
          </a:bodyPr>
          <a:lstStyle/>
          <a:p>
            <a:pPr fontAlgn="ctr"/>
            <a:r>
              <a:rPr lang="es-MX" dirty="0"/>
              <a:t>Es un tratado internacional que cubre la diversidad biológica, la biotecnología y los recursos genéticos. </a:t>
            </a:r>
          </a:p>
          <a:p>
            <a:pPr fontAlgn="ctr"/>
            <a:endParaRPr lang="es-MX" dirty="0"/>
          </a:p>
          <a:p>
            <a:pPr fontAlgn="ctr"/>
            <a:r>
              <a:rPr lang="es-MX" dirty="0"/>
              <a:t>Convenio sobre la Diversidad Biológica (CDB)</a:t>
            </a:r>
          </a:p>
          <a:p>
            <a:pPr fontAlgn="ctr"/>
            <a:r>
              <a:rPr lang="es-MX" dirty="0"/>
              <a:t>Es un tratado internacional jurídicamente vinculante. </a:t>
            </a:r>
          </a:p>
          <a:p>
            <a:r>
              <a:rPr lang="es-MX" dirty="0"/>
              <a:t>Tiene tres objetivos principales:</a:t>
            </a:r>
          </a:p>
          <a:p>
            <a:endParaRPr lang="es-MX" dirty="0"/>
          </a:p>
          <a:p>
            <a:pPr marL="742950" lvl="1" indent="-285750" fontAlgn="ctr">
              <a:buFont typeface="Wingdings" panose="05000000000000000000" pitchFamily="2" charset="2"/>
              <a:buChar char="Ø"/>
            </a:pPr>
            <a:r>
              <a:rPr lang="es-MX" dirty="0"/>
              <a:t>Conservar la diversidad biológica </a:t>
            </a:r>
          </a:p>
          <a:p>
            <a:pPr marL="742950" lvl="1" indent="-285750" fontAlgn="ctr">
              <a:buFont typeface="Wingdings" panose="05000000000000000000" pitchFamily="2" charset="2"/>
              <a:buChar char="Ø"/>
            </a:pPr>
            <a:r>
              <a:rPr lang="es-MX" dirty="0"/>
              <a:t>Usar los componentes de la diversidad biológica de manera sostenible </a:t>
            </a:r>
          </a:p>
          <a:p>
            <a:pPr marL="742950" lvl="1" indent="-285750" fontAlgn="ctr">
              <a:buFont typeface="Wingdings" panose="05000000000000000000" pitchFamily="2" charset="2"/>
              <a:buChar char="Ø"/>
            </a:pPr>
            <a:r>
              <a:rPr lang="es-MX" dirty="0"/>
              <a:t>Repartir de manera justa y equitativa los beneficios de la utilización de los recursos genéticos </a:t>
            </a:r>
          </a:p>
          <a:p>
            <a:pPr lvl="1" fontAlgn="ctr"/>
            <a:endParaRPr lang="es-MX" dirty="0"/>
          </a:p>
          <a:p>
            <a:pPr fontAlgn="ctr"/>
            <a:r>
              <a:rPr lang="es-MX" dirty="0"/>
              <a:t>El CDB cubre la diversidad biológica a todos los niveles, como los ecosistemas, las especies y los recursos genéticos .</a:t>
            </a:r>
          </a:p>
          <a:p>
            <a:pPr fontAlgn="ctr"/>
            <a:endParaRPr lang="es-MX" dirty="0"/>
          </a:p>
        </p:txBody>
      </p:sp>
      <p:sp>
        <p:nvSpPr>
          <p:cNvPr id="6" name="CuadroTexto 5">
            <a:extLst>
              <a:ext uri="{FF2B5EF4-FFF2-40B4-BE49-F238E27FC236}">
                <a16:creationId xmlns:a16="http://schemas.microsoft.com/office/drawing/2014/main" id="{0E68D7D9-B0E7-4F14-B575-24F88CC1FC3D}"/>
              </a:ext>
            </a:extLst>
          </p:cNvPr>
          <p:cNvSpPr txBox="1"/>
          <p:nvPr/>
        </p:nvSpPr>
        <p:spPr>
          <a:xfrm>
            <a:off x="1140824" y="864406"/>
            <a:ext cx="7315200" cy="400110"/>
          </a:xfrm>
          <a:prstGeom prst="rect">
            <a:avLst/>
          </a:prstGeom>
          <a:noFill/>
        </p:spPr>
        <p:txBody>
          <a:bodyPr wrap="square">
            <a:spAutoFit/>
          </a:bodyPr>
          <a:lstStyle/>
          <a:p>
            <a:pPr algn="just" fontAlgn="ctr"/>
            <a:r>
              <a:rPr lang="es-MX" sz="2000" b="1" dirty="0"/>
              <a:t>EL CONVENIO SOBRE LA DIVERSIDAD BIOLÓGICA (CDB) </a:t>
            </a:r>
          </a:p>
        </p:txBody>
      </p:sp>
    </p:spTree>
    <p:extLst>
      <p:ext uri="{BB962C8B-B14F-4D97-AF65-F5344CB8AC3E}">
        <p14:creationId xmlns:p14="http://schemas.microsoft.com/office/powerpoint/2010/main" val="32930808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032866" y="1648860"/>
            <a:ext cx="10589098" cy="2246769"/>
          </a:xfrm>
          <a:prstGeom prst="rect">
            <a:avLst/>
          </a:prstGeom>
        </p:spPr>
        <p:txBody>
          <a:bodyPr wrap="square">
            <a:spAutoFit/>
          </a:bodyPr>
          <a:lstStyle/>
          <a:p>
            <a:pPr fontAlgn="ctr"/>
            <a:r>
              <a:rPr lang="es-MX" sz="2000" dirty="0"/>
              <a:t>La biodiversidad en el Perú se debe a su ubicación tropical, sus corrientes marinas y su orografía. </a:t>
            </a:r>
          </a:p>
          <a:p>
            <a:pPr fontAlgn="ctr"/>
            <a:r>
              <a:rPr lang="es-MX" sz="2000" dirty="0"/>
              <a:t>Entre 2015 y 2022, la superficie de ecosistemas degradados en el Perú creció un 14,4%. </a:t>
            </a:r>
          </a:p>
          <a:p>
            <a:r>
              <a:rPr lang="es-MX" sz="2000" dirty="0"/>
              <a:t>El Ministerio del Ambiente y Recursos Naturales (</a:t>
            </a:r>
            <a:r>
              <a:rPr lang="es-MX" sz="2000" dirty="0" err="1"/>
              <a:t>Minam</a:t>
            </a:r>
            <a:r>
              <a:rPr lang="es-MX" sz="2000" dirty="0"/>
              <a:t>) desarrolla acciones para conservar la biodiversidad, como el Sistema Nacional de Áreas Protegidas y los sitios </a:t>
            </a:r>
            <a:r>
              <a:rPr lang="es-MX" sz="2000" dirty="0" err="1"/>
              <a:t>Ramsar</a:t>
            </a:r>
            <a:r>
              <a:rPr lang="es-MX" sz="2000" dirty="0"/>
              <a:t>.</a:t>
            </a:r>
            <a:endParaRPr lang="es-PE" sz="2000" dirty="0"/>
          </a:p>
        </p:txBody>
      </p:sp>
      <p:sp>
        <p:nvSpPr>
          <p:cNvPr id="6" name="CuadroTexto 5">
            <a:extLst>
              <a:ext uri="{FF2B5EF4-FFF2-40B4-BE49-F238E27FC236}">
                <a16:creationId xmlns:a16="http://schemas.microsoft.com/office/drawing/2014/main" id="{3846D547-DDB8-47FD-950F-5C1ABB26EB57}"/>
              </a:ext>
            </a:extLst>
          </p:cNvPr>
          <p:cNvSpPr txBox="1"/>
          <p:nvPr/>
        </p:nvSpPr>
        <p:spPr>
          <a:xfrm>
            <a:off x="3922643" y="1019698"/>
            <a:ext cx="7315200" cy="430887"/>
          </a:xfrm>
          <a:prstGeom prst="rect">
            <a:avLst/>
          </a:prstGeom>
          <a:noFill/>
        </p:spPr>
        <p:txBody>
          <a:bodyPr wrap="square">
            <a:spAutoFit/>
          </a:bodyPr>
          <a:lstStyle/>
          <a:p>
            <a:pPr algn="just"/>
            <a:r>
              <a:rPr lang="es-MX" sz="2200" b="1" dirty="0"/>
              <a:t>BIODIVERSIDAD EN EL PERÚ</a:t>
            </a:r>
          </a:p>
        </p:txBody>
      </p:sp>
      <p:pic>
        <p:nvPicPr>
          <p:cNvPr id="10242" name="Picture 2" descr="Qué es la biodiversidad? | Biodiversidad Mexicana">
            <a:extLst>
              <a:ext uri="{FF2B5EF4-FFF2-40B4-BE49-F238E27FC236}">
                <a16:creationId xmlns:a16="http://schemas.microsoft.com/office/drawing/2014/main" id="{A35E8627-8465-4353-AC5A-241523A4E5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2866" y="4168365"/>
            <a:ext cx="10753581" cy="30861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78899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655379" y="994479"/>
            <a:ext cx="7315200" cy="6186309"/>
          </a:xfrm>
          <a:prstGeom prst="rect">
            <a:avLst/>
          </a:prstGeom>
        </p:spPr>
        <p:txBody>
          <a:bodyPr>
            <a:spAutoFit/>
          </a:bodyPr>
          <a:lstStyle/>
          <a:p>
            <a:pPr fontAlgn="ctr"/>
            <a:r>
              <a:rPr lang="es-MX" dirty="0"/>
              <a:t>La minería en el Perú es un problema para la biodiversidad porque degrada los ecosistemas, contamina el agua, el aire y el suelo, y deforesta. </a:t>
            </a:r>
          </a:p>
          <a:p>
            <a:pPr fontAlgn="ctr"/>
            <a:endParaRPr lang="es-MX" dirty="0"/>
          </a:p>
          <a:p>
            <a:r>
              <a:rPr lang="es-MX" b="1" dirty="0"/>
              <a:t>Impactos de la minería en la biodiversidad</a:t>
            </a:r>
          </a:p>
          <a:p>
            <a:pPr marL="285750" indent="-285750" fontAlgn="ctr">
              <a:buFont typeface="Arial" pitchFamily="34" charset="0"/>
              <a:buChar char="•"/>
            </a:pPr>
            <a:r>
              <a:rPr lang="es-MX" dirty="0"/>
              <a:t>La minería ilegal y la minería informal afectan a los ecosistemas. </a:t>
            </a:r>
          </a:p>
          <a:p>
            <a:pPr marL="285750" indent="-285750" fontAlgn="ctr">
              <a:buFont typeface="Arial" pitchFamily="34" charset="0"/>
              <a:buChar char="•"/>
            </a:pPr>
            <a:r>
              <a:rPr lang="es-MX" dirty="0"/>
              <a:t>La minería de oro en la Amazonía es una de las principales amenazas para la biodiversidad. </a:t>
            </a:r>
          </a:p>
          <a:p>
            <a:pPr marL="285750" indent="-285750" fontAlgn="ctr">
              <a:buFont typeface="Arial" pitchFamily="34" charset="0"/>
              <a:buChar char="•"/>
            </a:pPr>
            <a:r>
              <a:rPr lang="es-MX" dirty="0"/>
              <a:t>La minería destruye tierras de cultivo y áreas de pastoreo. </a:t>
            </a:r>
          </a:p>
          <a:p>
            <a:pPr marL="285750" indent="-285750" fontAlgn="ctr">
              <a:buFont typeface="Arial" pitchFamily="34" charset="0"/>
              <a:buChar char="•"/>
            </a:pPr>
            <a:r>
              <a:rPr lang="es-MX" dirty="0"/>
              <a:t>La minería afecta la salud de los animales. </a:t>
            </a:r>
          </a:p>
          <a:p>
            <a:pPr marL="285750" indent="-285750" fontAlgn="ctr">
              <a:buFont typeface="Arial" pitchFamily="34" charset="0"/>
              <a:buChar char="•"/>
            </a:pPr>
            <a:r>
              <a:rPr lang="es-MX" dirty="0"/>
              <a:t>La minería modifica el relieve, la dinámica de los procesos de ladera y el nivel freático. </a:t>
            </a:r>
          </a:p>
          <a:p>
            <a:pPr marL="285750" indent="-285750" fontAlgn="ctr">
              <a:buFont typeface="Arial" pitchFamily="34" charset="0"/>
              <a:buChar char="•"/>
            </a:pPr>
            <a:r>
              <a:rPr lang="es-MX" dirty="0"/>
              <a:t>La minería genera conflictos sociales por la inseguridad alimentaria y la pobreza. </a:t>
            </a:r>
          </a:p>
          <a:p>
            <a:pPr fontAlgn="ctr"/>
            <a:endParaRPr lang="es-MX" dirty="0"/>
          </a:p>
          <a:p>
            <a:pPr fontAlgn="ctr"/>
            <a:r>
              <a:rPr lang="es-MX" b="1" dirty="0"/>
              <a:t>Impactos de la minería en las áreas protegidas </a:t>
            </a:r>
          </a:p>
          <a:p>
            <a:r>
              <a:rPr lang="es-MX" dirty="0"/>
              <a:t>Las concesiones mineras se superponen con áreas protegidas y reservas indígenas.</a:t>
            </a:r>
          </a:p>
          <a:p>
            <a:r>
              <a:rPr lang="es-MX" dirty="0"/>
              <a:t>Las concesiones mineras otorgadas antes de la creación de áreas protegidas generan un vacío legal.</a:t>
            </a:r>
          </a:p>
          <a:p>
            <a:r>
              <a:rPr lang="es-MX" dirty="0"/>
              <a:t>La minería ilegal invade áreas naturales protegidas.</a:t>
            </a:r>
          </a:p>
        </p:txBody>
      </p:sp>
    </p:spTree>
    <p:extLst>
      <p:ext uri="{BB962C8B-B14F-4D97-AF65-F5344CB8AC3E}">
        <p14:creationId xmlns:p14="http://schemas.microsoft.com/office/powerpoint/2010/main" val="5587264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873580" y="1425431"/>
            <a:ext cx="7315200" cy="4801314"/>
          </a:xfrm>
          <a:prstGeom prst="rect">
            <a:avLst/>
          </a:prstGeom>
        </p:spPr>
        <p:txBody>
          <a:bodyPr>
            <a:spAutoFit/>
          </a:bodyPr>
          <a:lstStyle/>
          <a:p>
            <a:pPr fontAlgn="ctr"/>
            <a:r>
              <a:rPr lang="es-MX" dirty="0"/>
              <a:t>El Perú ratificó el </a:t>
            </a:r>
            <a:r>
              <a:rPr lang="es-MX" b="1" dirty="0"/>
              <a:t>Protocolo de Kioto </a:t>
            </a:r>
            <a:r>
              <a:rPr lang="es-MX" dirty="0"/>
              <a:t>el 16 de febrero de 2005. Este protocolo fue creado para reducir las emisiones de gases de efecto invernadero (GEI) que causan el calentamiento global. </a:t>
            </a:r>
          </a:p>
          <a:p>
            <a:pPr fontAlgn="ctr"/>
            <a:endParaRPr lang="es-MX" dirty="0"/>
          </a:p>
          <a:p>
            <a:pPr fontAlgn="ctr"/>
            <a:r>
              <a:rPr lang="es-MX" dirty="0"/>
              <a:t>El Protocolo de Kioto establece mecanismos de mercado para que los países cumplan sus objetivos de reducción de emisiones. Entre estos mecanismos se encuentran: Comercio internacional de emisiones, Mecanismo de Desarrollo Limpio (MDL), Aplicación conjunta. </a:t>
            </a:r>
          </a:p>
          <a:p>
            <a:pPr fontAlgn="ctr"/>
            <a:endParaRPr lang="es-MX" dirty="0"/>
          </a:p>
          <a:p>
            <a:pPr fontAlgn="ctr"/>
            <a:r>
              <a:rPr lang="es-MX" dirty="0"/>
              <a:t>El Perú ha tomado acciones para reducir sus emisiones de GEI, como: </a:t>
            </a:r>
          </a:p>
          <a:p>
            <a:r>
              <a:rPr lang="es-MX" dirty="0"/>
              <a:t>Reducir en 31% sus emisiones de GEI en el 2030</a:t>
            </a:r>
          </a:p>
          <a:p>
            <a:r>
              <a:rPr lang="es-MX" dirty="0"/>
              <a:t>Reducir en 25% la población vulnerable al calentamiento global en el 2030</a:t>
            </a:r>
          </a:p>
          <a:p>
            <a:r>
              <a:rPr lang="es-MX" dirty="0"/>
              <a:t>Implementar acciones en los sectores de transporte, energía, forestal y residuos sólidos</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917" y="4336400"/>
            <a:ext cx="284797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55993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043208" y="1537075"/>
            <a:ext cx="7315200" cy="3139321"/>
          </a:xfrm>
          <a:prstGeom prst="rect">
            <a:avLst/>
          </a:prstGeom>
        </p:spPr>
        <p:txBody>
          <a:bodyPr>
            <a:spAutoFit/>
          </a:bodyPr>
          <a:lstStyle/>
          <a:p>
            <a:r>
              <a:rPr lang="es-MX" dirty="0"/>
              <a:t>El 16 de febrero de 2005 entró en vigencia el Protocolo de Kioto (en adelante también PK), que regula las disposiciones de carácter general contenidas en la Convención de las Naciones Unidades sobre Cambio Climático (en adelante, CNUCC), aplicándose desde el año 2008. El PK entró en vigencia con la adhesión de 141 Estados luego de que en noviembre de 2004 Rusia decidió ratificarlo. Tiene como objetivo reducir en 5% las emisiones de gases del efecto invernadero en relación con las emisiones del año 1990. Actualmente, la mayor parte de los Estados se han adherido a este tratado internacional, siendo China y los Estados Unidos los grandes ausentes. </a:t>
            </a:r>
            <a:endParaRPr lang="es-PE"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8408" y="5147818"/>
            <a:ext cx="2847975"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3005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093203" y="3329283"/>
            <a:ext cx="7315200" cy="1477328"/>
          </a:xfrm>
          <a:prstGeom prst="rect">
            <a:avLst/>
          </a:prstGeom>
        </p:spPr>
        <p:txBody>
          <a:bodyPr>
            <a:spAutoFit/>
          </a:bodyPr>
          <a:lstStyle/>
          <a:p>
            <a:pPr fontAlgn="ctr"/>
            <a:r>
              <a:rPr lang="es-MX" dirty="0"/>
              <a:t>El </a:t>
            </a:r>
            <a:r>
              <a:rPr lang="es-MX" b="1" dirty="0"/>
              <a:t>Acuerdo de París </a:t>
            </a:r>
            <a:r>
              <a:rPr lang="es-MX" dirty="0"/>
              <a:t>es un tratado internacional que busca reducir las emisiones de gases de efecto invernadero y adaptarse a los impactos del cambio climático. Perú se comprometió a reducir sus emisiones de gases de efecto invernadero y a fortalecer sus políticas de adaptación. </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019" y="5455198"/>
            <a:ext cx="263842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56125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512825" y="1178115"/>
            <a:ext cx="7315200" cy="5632311"/>
          </a:xfrm>
          <a:prstGeom prst="rect">
            <a:avLst/>
          </a:prstGeom>
        </p:spPr>
        <p:txBody>
          <a:bodyPr>
            <a:spAutoFit/>
          </a:bodyPr>
          <a:lstStyle/>
          <a:p>
            <a:r>
              <a:rPr lang="es-MX" b="1" dirty="0"/>
              <a:t>¿Qué dice el Acuerdo de París?</a:t>
            </a:r>
          </a:p>
          <a:p>
            <a:endParaRPr lang="es-MX" dirty="0"/>
          </a:p>
          <a:p>
            <a:pPr fontAlgn="ctr"/>
            <a:r>
              <a:rPr lang="es-MX" dirty="0"/>
              <a:t>Establece un marco tecnológico para mejorar la </a:t>
            </a:r>
            <a:r>
              <a:rPr lang="es-MX" dirty="0" err="1"/>
              <a:t>resiliencia</a:t>
            </a:r>
            <a:r>
              <a:rPr lang="es-MX" dirty="0"/>
              <a:t> al cambio climático </a:t>
            </a:r>
          </a:p>
          <a:p>
            <a:pPr fontAlgn="ctr"/>
            <a:r>
              <a:rPr lang="es-MX" dirty="0"/>
              <a:t>Se basa en un sistema de transparencia y contabilidad para evaluar el progreso hacia los objetivos del acuerdo </a:t>
            </a:r>
          </a:p>
          <a:p>
            <a:pPr fontAlgn="ctr"/>
            <a:r>
              <a:rPr lang="es-MX" dirty="0"/>
              <a:t>Incluye un mecanismo para facilitar la aplicación y el cumplimiento del acuerdo </a:t>
            </a:r>
          </a:p>
          <a:p>
            <a:pPr fontAlgn="ctr"/>
            <a:endParaRPr lang="es-MX" dirty="0"/>
          </a:p>
          <a:p>
            <a:r>
              <a:rPr lang="es-MX" b="1" dirty="0"/>
              <a:t>¿Qué compromisos asumió Perú?</a:t>
            </a:r>
          </a:p>
          <a:p>
            <a:pPr fontAlgn="ctr"/>
            <a:r>
              <a:rPr lang="es-MX" dirty="0"/>
              <a:t>Se comprometió a reducir en 30% sus emisiones de gases de efecto invernadero hasta el año 2030 </a:t>
            </a:r>
          </a:p>
          <a:p>
            <a:pPr fontAlgn="ctr"/>
            <a:r>
              <a:rPr lang="es-MX" dirty="0"/>
              <a:t>Propuso reducir en 25% la población vulnerable frente al calentamiento global en el 2030 </a:t>
            </a:r>
          </a:p>
          <a:p>
            <a:pPr fontAlgn="ctr"/>
            <a:r>
              <a:rPr lang="es-MX" dirty="0"/>
              <a:t>Sus acciones están orientadas en las áreas de transporte, energía, forestal y residuos sólidos </a:t>
            </a:r>
          </a:p>
          <a:p>
            <a:pPr fontAlgn="ctr"/>
            <a:endParaRPr lang="es-MX" b="1" dirty="0"/>
          </a:p>
          <a:p>
            <a:pPr fontAlgn="ctr"/>
            <a:r>
              <a:rPr lang="es-MX" b="1" dirty="0"/>
              <a:t>¿Cuándo ratificó Perú el Acuerdo de París ?</a:t>
            </a:r>
          </a:p>
          <a:p>
            <a:r>
              <a:rPr lang="es-MX" dirty="0"/>
              <a:t>Perú ratificó el Acuerdo de París el 22 de julio de 2016, siendo el primer país de Hispanoamérica en hacerlo</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923" y="5376370"/>
            <a:ext cx="263842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76257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120341" y="1062789"/>
            <a:ext cx="7315200" cy="5909310"/>
          </a:xfrm>
          <a:prstGeom prst="rect">
            <a:avLst/>
          </a:prstGeom>
        </p:spPr>
        <p:txBody>
          <a:bodyPr>
            <a:spAutoFit/>
          </a:bodyPr>
          <a:lstStyle/>
          <a:p>
            <a:pPr fontAlgn="ctr"/>
            <a:r>
              <a:rPr lang="es-MX" dirty="0"/>
              <a:t>El </a:t>
            </a:r>
            <a:r>
              <a:rPr lang="es-MX" b="1" dirty="0"/>
              <a:t>Tratado de Libre Comercio (TLC) </a:t>
            </a:r>
            <a:r>
              <a:rPr lang="es-MX" dirty="0"/>
              <a:t>entre Perú y los Estados de la Asociación Europea de Libre Comercio (AELC) incluye el comercio de minerales de cobre. </a:t>
            </a:r>
          </a:p>
          <a:p>
            <a:pPr fontAlgn="ctr"/>
            <a:endParaRPr lang="es-MX" dirty="0"/>
          </a:p>
          <a:p>
            <a:pPr fontAlgn="ctr"/>
            <a:r>
              <a:rPr lang="es-MX" dirty="0"/>
              <a:t>Explicación </a:t>
            </a:r>
          </a:p>
          <a:p>
            <a:r>
              <a:rPr lang="es-MX" dirty="0"/>
              <a:t>El TLC Perú-AELC se firmó en 2010 y entró en vigencia en 2011 y 2012.</a:t>
            </a:r>
          </a:p>
          <a:p>
            <a:r>
              <a:rPr lang="es-MX" dirty="0"/>
              <a:t>El TLC cubre el comercio electrónico, los productos agrícolas, la pesca, las reglas de origen, los asuntos aduaneros, la inversión, entre otros.</a:t>
            </a:r>
          </a:p>
          <a:p>
            <a:r>
              <a:rPr lang="es-MX" dirty="0"/>
              <a:t>Los principales productos de exportación de Perú a los estados de la AELC son los minerales de cobre, el oro, el aceite de pescado, los productos pesqueros y agropecuarios, entre otros.</a:t>
            </a:r>
          </a:p>
          <a:p>
            <a:endParaRPr lang="es-MX" dirty="0"/>
          </a:p>
          <a:p>
            <a:pPr fontAlgn="ctr"/>
            <a:r>
              <a:rPr lang="es-MX" dirty="0"/>
              <a:t>El Perú también tiene otros acuerdos comerciales, como: </a:t>
            </a:r>
          </a:p>
          <a:p>
            <a:r>
              <a:rPr lang="es-MX" dirty="0"/>
              <a:t>El Tratado de Libre Comercio Perú-Singapur</a:t>
            </a:r>
          </a:p>
          <a:p>
            <a:r>
              <a:rPr lang="es-MX" dirty="0"/>
              <a:t>El Acuerdo Comercial Perú-Unión Europea</a:t>
            </a:r>
          </a:p>
          <a:p>
            <a:r>
              <a:rPr lang="es-MX" dirty="0"/>
              <a:t>El Acuerdo de Promoción Comercial (APC) Perú – EE. UU.</a:t>
            </a:r>
          </a:p>
          <a:p>
            <a:r>
              <a:rPr lang="es-MX" dirty="0"/>
              <a:t>El Acuerdo Comercial Perú-Australia</a:t>
            </a:r>
          </a:p>
          <a:p>
            <a:r>
              <a:rPr lang="es-MX" dirty="0"/>
              <a:t>El Tratado Integral y Progresista de Asociación Transpacífico</a:t>
            </a:r>
          </a:p>
          <a:p>
            <a:r>
              <a:rPr lang="es-MX" dirty="0"/>
              <a:t>El ACE 58</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75" y="5197982"/>
            <a:ext cx="263842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16273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737234" y="1879594"/>
            <a:ext cx="10286365" cy="5243038"/>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s-ES" sz="2000" dirty="0"/>
              <a:t>Congreso de la República del Perú. </a:t>
            </a:r>
            <a:r>
              <a:rPr lang="es-ES" sz="2000" i="1" dirty="0"/>
              <a:t>Ley Orgánica para el Aprovechamiento Sostenible de los Recursos Naturales – Ley N.º 26821</a:t>
            </a:r>
            <a:r>
              <a:rPr lang="es-ES" sz="2000" dirty="0"/>
              <a:t>.</a:t>
            </a:r>
          </a:p>
          <a:p>
            <a:pPr marL="342900" indent="-342900">
              <a:buFont typeface="Arial" panose="020B0604020202020204" pitchFamily="34" charset="0"/>
              <a:buChar char="•"/>
            </a:pPr>
            <a:r>
              <a:rPr lang="es-ES" sz="2000" dirty="0"/>
              <a:t>Congreso de la República del Perú. </a:t>
            </a:r>
            <a:r>
              <a:rPr lang="es-ES" sz="2000" i="1" dirty="0"/>
              <a:t>Ley General del Ambiente – Ley N.º 28611</a:t>
            </a:r>
            <a:r>
              <a:rPr lang="es-ES" sz="2000" dirty="0"/>
              <a:t>.</a:t>
            </a:r>
          </a:p>
          <a:p>
            <a:pPr marL="342900" indent="-342900">
              <a:buFont typeface="Arial" panose="020B0604020202020204" pitchFamily="34" charset="0"/>
              <a:buChar char="•"/>
            </a:pPr>
            <a:r>
              <a:rPr lang="es-ES" sz="2000" dirty="0"/>
              <a:t>Congreso de la República del Perú. </a:t>
            </a:r>
            <a:r>
              <a:rPr lang="es-ES" sz="2000" i="1" dirty="0"/>
              <a:t>Ley General de Hidrocarburos – Ley N.º 26221</a:t>
            </a:r>
            <a:r>
              <a:rPr lang="es-ES" sz="2000" dirty="0"/>
              <a:t>.</a:t>
            </a:r>
          </a:p>
          <a:p>
            <a:pPr marL="342900" indent="-342900">
              <a:buFont typeface="Arial" panose="020B0604020202020204" pitchFamily="34" charset="0"/>
              <a:buChar char="•"/>
            </a:pPr>
            <a:r>
              <a:rPr lang="es-ES" sz="2000" dirty="0"/>
              <a:t>Congreso de la República del Perú. </a:t>
            </a:r>
            <a:r>
              <a:rPr lang="es-ES" sz="2000" i="1" dirty="0"/>
              <a:t>Ley General de Minería – Ley N.º 28651</a:t>
            </a:r>
            <a:r>
              <a:rPr lang="es-ES" sz="2000" dirty="0"/>
              <a:t>.</a:t>
            </a:r>
          </a:p>
          <a:p>
            <a:pPr marL="342900" indent="-342900">
              <a:buFont typeface="Arial" panose="020B0604020202020204" pitchFamily="34" charset="0"/>
              <a:buChar char="•"/>
            </a:pPr>
            <a:r>
              <a:rPr lang="es-ES" sz="2000" dirty="0"/>
              <a:t>Congreso de la República del Perú. </a:t>
            </a:r>
            <a:r>
              <a:rPr lang="es-ES" sz="2000" i="1" dirty="0"/>
              <a:t>Ley de Concesiones Eléctricas – Ley N.º 25844</a:t>
            </a:r>
            <a:r>
              <a:rPr lang="es-ES" sz="2000" dirty="0"/>
              <a:t>.</a:t>
            </a:r>
          </a:p>
          <a:p>
            <a:pPr marL="342900" indent="-342900">
              <a:buFont typeface="Arial" panose="020B0604020202020204" pitchFamily="34" charset="0"/>
              <a:buChar char="•"/>
            </a:pPr>
            <a:r>
              <a:rPr lang="es-ES" sz="2000" dirty="0"/>
              <a:t>Ministerio del Ambiente (</a:t>
            </a:r>
            <a:r>
              <a:rPr lang="es-ES" sz="2000" dirty="0" err="1"/>
              <a:t>MINAM</a:t>
            </a:r>
            <a:r>
              <a:rPr lang="es-ES" sz="2000" dirty="0"/>
              <a:t>). </a:t>
            </a:r>
            <a:r>
              <a:rPr lang="es-ES" sz="2000" i="1" dirty="0"/>
              <a:t>Sistema Nacional de Evaluación de Impacto Ambiental (</a:t>
            </a:r>
            <a:r>
              <a:rPr lang="es-ES" sz="2000" i="1" dirty="0" err="1"/>
              <a:t>SEIA</a:t>
            </a:r>
            <a:r>
              <a:rPr lang="es-ES" sz="2000" i="1" dirty="0"/>
              <a:t>)</a:t>
            </a:r>
            <a:r>
              <a:rPr lang="es-ES" sz="2000" dirty="0"/>
              <a:t>.</a:t>
            </a:r>
          </a:p>
          <a:p>
            <a:pPr marL="342900" indent="-342900">
              <a:buFont typeface="Arial" panose="020B0604020202020204" pitchFamily="34" charset="0"/>
              <a:buChar char="•"/>
            </a:pPr>
            <a:r>
              <a:rPr lang="es-ES" sz="2000" dirty="0" err="1"/>
              <a:t>SENACE</a:t>
            </a:r>
            <a:r>
              <a:rPr lang="es-ES" sz="2000" dirty="0"/>
              <a:t>. (2023). </a:t>
            </a:r>
            <a:r>
              <a:rPr lang="es-ES" sz="2000" i="1" dirty="0"/>
              <a:t>Guía para la Certificación Ambiental Global</a:t>
            </a:r>
            <a:r>
              <a:rPr lang="es-ES" sz="2000" dirty="0"/>
              <a:t>.</a:t>
            </a:r>
          </a:p>
          <a:p>
            <a:pPr marL="342900" indent="-342900">
              <a:buFont typeface="Arial" panose="020B0604020202020204" pitchFamily="34" charset="0"/>
              <a:buChar char="•"/>
            </a:pPr>
            <a:r>
              <a:rPr lang="es-ES" sz="2000" dirty="0"/>
              <a:t>Organismo de Evaluación y Fiscalización Ambiental (</a:t>
            </a:r>
            <a:r>
              <a:rPr lang="es-ES" sz="2000" dirty="0" err="1"/>
              <a:t>OEFA</a:t>
            </a:r>
            <a:r>
              <a:rPr lang="es-ES" sz="2000" dirty="0"/>
              <a:t>). </a:t>
            </a:r>
            <a:r>
              <a:rPr lang="es-ES" sz="2000" i="1" dirty="0"/>
              <a:t>Funciones y competencias del </a:t>
            </a:r>
            <a:r>
              <a:rPr lang="es-ES" sz="2000" i="1" dirty="0" err="1"/>
              <a:t>OEFA</a:t>
            </a:r>
            <a:r>
              <a:rPr lang="es-ES" sz="2000" i="1" dirty="0"/>
              <a:t> en fiscalización ambiental</a:t>
            </a:r>
            <a:r>
              <a:rPr lang="es-ES" sz="2000" dirty="0"/>
              <a:t>.</a:t>
            </a:r>
          </a:p>
          <a:p>
            <a:pPr marL="342900" indent="-342900">
              <a:buFont typeface="Arial" panose="020B0604020202020204" pitchFamily="34" charset="0"/>
              <a:buChar char="•"/>
            </a:pPr>
            <a:r>
              <a:rPr lang="es-ES" sz="2000" dirty="0"/>
              <a:t>Convenio sobre la Diversidad Biológica (</a:t>
            </a:r>
            <a:r>
              <a:rPr lang="es-ES" sz="2000" dirty="0" err="1"/>
              <a:t>CDB</a:t>
            </a:r>
            <a:r>
              <a:rPr lang="es-ES" sz="2000" dirty="0"/>
              <a:t>). Naciones Unidas.</a:t>
            </a:r>
          </a:p>
          <a:p>
            <a:pPr marL="342900" indent="-342900">
              <a:buFont typeface="Arial" panose="020B0604020202020204" pitchFamily="34" charset="0"/>
              <a:buChar char="•"/>
            </a:pPr>
            <a:r>
              <a:rPr lang="es-ES" sz="2000" dirty="0"/>
              <a:t>Acuerdo de París sobre Cambio Climático. Naciones Unidas.</a:t>
            </a:r>
          </a:p>
          <a:p>
            <a:pPr marL="342900" indent="-342900">
              <a:buFont typeface="Arial" panose="020B0604020202020204" pitchFamily="34" charset="0"/>
              <a:buChar char="•"/>
            </a:pPr>
            <a:r>
              <a:rPr lang="es-ES" sz="2000" dirty="0"/>
              <a:t>Ministerio de Comercio Exterior y Turismo (MINCETUR). </a:t>
            </a:r>
            <a:r>
              <a:rPr lang="es-ES" sz="2000" i="1" dirty="0"/>
              <a:t>Tratados de Libre Comercio del Perú</a:t>
            </a:r>
            <a:r>
              <a:rPr lang="es-ES" sz="2000" dirty="0"/>
              <a:t>.</a:t>
            </a:r>
          </a:p>
          <a:p>
            <a:pPr marL="342900" indent="-342900">
              <a:lnSpc>
                <a:spcPts val="2687"/>
              </a:lnSpc>
              <a:buFont typeface="Arial" panose="020B0604020202020204" pitchFamily="34" charset="0"/>
              <a:buChar char="•"/>
            </a:pPr>
            <a:endParaRPr lang="en-US" sz="1920" dirty="0">
              <a:solidFill>
                <a:srgbClr val="000000"/>
              </a:solidFill>
              <a:latin typeface="Inter"/>
              <a:ea typeface="Inter"/>
              <a:cs typeface="Inter"/>
              <a:sym typeface="Inter"/>
            </a:endParaRPr>
          </a:p>
        </p:txBody>
      </p:sp>
      <p:sp>
        <p:nvSpPr>
          <p:cNvPr id="7" name="TextBox 7"/>
          <p:cNvSpPr txBox="1"/>
          <p:nvPr/>
        </p:nvSpPr>
        <p:spPr>
          <a:xfrm>
            <a:off x="737235" y="1113969"/>
            <a:ext cx="12195542" cy="484363"/>
          </a:xfrm>
          <a:prstGeom prst="rect">
            <a:avLst/>
          </a:prstGeom>
        </p:spPr>
        <p:txBody>
          <a:bodyPr lIns="0" tIns="0" rIns="0" bIns="0" rtlCol="0" anchor="t">
            <a:spAutoFit/>
          </a:bodyPr>
          <a:lstStyle/>
          <a:p>
            <a:pPr>
              <a:lnSpc>
                <a:spcPts val="4031"/>
              </a:lnSpc>
            </a:pPr>
            <a:r>
              <a:rPr lang="en-US" sz="3199" b="1" dirty="0" err="1">
                <a:solidFill>
                  <a:srgbClr val="A42F0F"/>
                </a:solidFill>
                <a:latin typeface="Futura Std Book" panose="020B0802020204020204" pitchFamily="34" charset="0"/>
                <a:ea typeface="Futura Ultra-Bold"/>
                <a:cs typeface="Futura Ultra-Bold"/>
                <a:sym typeface="Futura Ultra-Bold"/>
              </a:rPr>
              <a:t>BIBLIOGRAFÍA</a:t>
            </a:r>
            <a:endParaRPr lang="en-US" sz="3199" b="1" dirty="0">
              <a:solidFill>
                <a:srgbClr val="A42F0F"/>
              </a:solidFill>
              <a:latin typeface="Futura Std Book" panose="020B0802020204020204" pitchFamily="34" charset="0"/>
              <a:ea typeface="Futura Ultra-Bold"/>
              <a:cs typeface="Futura Ultra-Bold"/>
              <a:sym typeface="Futura Ultra-Bold"/>
            </a:endParaRPr>
          </a:p>
        </p:txBody>
      </p:sp>
      <p:sp>
        <p:nvSpPr>
          <p:cNvPr id="8" name="Freeform 8"/>
          <p:cNvSpPr/>
          <p:nvPr/>
        </p:nvSpPr>
        <p:spPr>
          <a:xfrm flipH="1">
            <a:off x="7683187" y="2611042"/>
            <a:ext cx="6947213" cy="5618558"/>
          </a:xfrm>
          <a:custGeom>
            <a:avLst/>
            <a:gdLst/>
            <a:ahLst/>
            <a:cxnLst/>
            <a:rect l="l" t="t" r="r" b="b"/>
            <a:pathLst>
              <a:path w="8684016" h="7023198">
                <a:moveTo>
                  <a:pt x="8684016" y="0"/>
                </a:moveTo>
                <a:lnTo>
                  <a:pt x="0" y="0"/>
                </a:lnTo>
                <a:lnTo>
                  <a:pt x="0" y="7023198"/>
                </a:lnTo>
                <a:lnTo>
                  <a:pt x="8684016" y="7023198"/>
                </a:lnTo>
                <a:lnTo>
                  <a:pt x="8684016"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áfico 5">
            <a:extLst>
              <a:ext uri="{FF2B5EF4-FFF2-40B4-BE49-F238E27FC236}">
                <a16:creationId xmlns:a16="http://schemas.microsoft.com/office/drawing/2014/main" id="{D9AC9918-8167-527C-7E2B-A2067F535F7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4630400" cy="8229600"/>
          </a:xfrm>
          <a:prstGeom prst="rect">
            <a:avLst/>
          </a:prstGeom>
        </p:spPr>
      </p:pic>
    </p:spTree>
    <p:extLst>
      <p:ext uri="{BB962C8B-B14F-4D97-AF65-F5344CB8AC3E}">
        <p14:creationId xmlns:p14="http://schemas.microsoft.com/office/powerpoint/2010/main" val="4015587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alizado 16">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3623</TotalTime>
  <Words>6545</Words>
  <Application>Microsoft Office PowerPoint</Application>
  <PresentationFormat>Personalizado</PresentationFormat>
  <Paragraphs>377</Paragraphs>
  <Slides>57</Slides>
  <Notes>2</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57</vt:i4>
      </vt:variant>
    </vt:vector>
  </HeadingPairs>
  <TitlesOfParts>
    <vt:vector size="67" baseType="lpstr">
      <vt:lpstr>Montserrat Bold</vt:lpstr>
      <vt:lpstr>Anton</vt:lpstr>
      <vt:lpstr>Futura Std Book</vt:lpstr>
      <vt:lpstr>OTIJQP+AGaramondPro-Semibold</vt:lpstr>
      <vt:lpstr>Wingdings</vt:lpstr>
      <vt:lpstr>Inter</vt:lpstr>
      <vt:lpstr>Inter Bold</vt:lpstr>
      <vt:lpstr>Arial</vt:lpstr>
      <vt:lpstr>Montserrat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VENTAJAS TIENE LA CERTIFICACIÓN AMBIENTAL GLOBAL?</vt:lpstr>
      <vt:lpstr>¿QUÉ NORMAS RIGEN LA CERTIFICACIÓN AMBIENTAL GLOBAL?</vt:lpstr>
      <vt:lpstr>¿QUIÉN IMPLEMENTA LA CERTIFICACIÓN AMBIENTAL GLOBAL?</vt:lpstr>
      <vt:lpstr>Presentación de PowerPoint</vt:lpstr>
      <vt:lpstr>¿CUÁLES SON LAS AUTORIZACIONES U OPINIONES TÉCNICAS QUE SE INTEGRAN A LA CERTIFICACIÓN AMBIENTAL GLOBAL?</vt:lpstr>
      <vt:lpstr>¿CUÁLES SON LAS AUTORIZACIONES U OPINIONES TÉCNICAS QUE SE INTEGRAN A LA CERTIFICACIÓN AMBIENTAL GLOBAL?</vt:lpstr>
      <vt:lpstr>¿ANTE QUIÉN SE SOLICITA LA CERTIFICACIÓN AMBIENTAL GLOBAL?</vt:lpstr>
      <vt:lpstr>Presentación de PowerPoint</vt:lpstr>
      <vt:lpstr>¿UN INVERSIONISTA PUEDE SOLICITAR LA CERTIFICACIÓN AMBIENTAL GLOBAL PARA CUALQUIER TIPO DE PROYECTO?</vt:lpstr>
      <vt:lpstr>¿CUÁL ES EL PLAZO DEL SENACE PARA APROBAR LA CERTIFICACIÓN AMBIENTAL GLOBAL?</vt:lpstr>
      <vt:lpstr>¿QUÉ GARANTIZA QUE LAS DEMÁS ENTIDADES VINCULADAS AL EIA-D COLABOREN CON EL SENACE?</vt:lpstr>
      <vt:lpstr>¿EL SENACE COORDINA TAMBIÉN CON GOBIERNOS REGIONALES O MUNICIPALES?</vt:lpstr>
      <vt:lpstr>¿EL INVERSIONISTA PODRÁ COMENZAR LA CONSTRUCCIÓN U OPERACIÓN INMEDIATAMENTE DESPUÉS DE EMITIDA LA CERTIFICACIÓN AMBIENTAL GLOBAL?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Video Conferencias</cp:lastModifiedBy>
  <cp:revision>60</cp:revision>
  <dcterms:created xsi:type="dcterms:W3CDTF">2025-01-14T21:02:49Z</dcterms:created>
  <dcterms:modified xsi:type="dcterms:W3CDTF">2025-10-23T22:03:29Z</dcterms:modified>
</cp:coreProperties>
</file>