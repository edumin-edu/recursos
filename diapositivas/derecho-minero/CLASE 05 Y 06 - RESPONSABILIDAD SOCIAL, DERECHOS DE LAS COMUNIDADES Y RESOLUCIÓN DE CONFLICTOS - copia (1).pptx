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40" r:id="rId83"/>
    <p:sldId id="341" r:id="rId84"/>
    <p:sldId id="339" r:id="rId85"/>
  </p:sldIdLst>
  <p:sldSz cx="18288000" cy="10287000"/>
  <p:notesSz cx="6858000" cy="9144000"/>
  <p:embeddedFontLst>
    <p:embeddedFont>
      <p:font typeface="Futura Ultra-Bold" panose="020B0604020202020204" charset="0"/>
      <p:regular r:id="rId86"/>
    </p:embeddedFont>
    <p:embeddedFont>
      <p:font typeface="Impact" panose="020B0806030902050204" pitchFamily="34" charset="0"/>
      <p:regular r:id="rId87"/>
    </p:embeddedFont>
    <p:embeddedFont>
      <p:font typeface="Inter" panose="02000503000000020004" pitchFamily="50" charset="0"/>
      <p:regular r:id="rId88"/>
      <p:bold r:id="rId89"/>
      <p:italic r:id="rId90"/>
      <p:boldItalic r:id="rId91"/>
    </p:embeddedFont>
    <p:embeddedFont>
      <p:font typeface="Inter Bold" panose="020B0604020202020204" charset="0"/>
      <p:regular r:id="rId92"/>
    </p:embeddedFont>
    <p:embeddedFont>
      <p:font typeface="Inter Italics" panose="020B0604020202020204" charset="0"/>
      <p:regular r:id="rId93"/>
    </p:embeddedFont>
    <p:embeddedFont>
      <p:font typeface="Montserrat" pitchFamily="2" charset="0"/>
      <p:regular r:id="rId94"/>
      <p:bold r:id="rId95"/>
      <p:italic r:id="rId96"/>
    </p:embeddedFont>
    <p:embeddedFont>
      <p:font typeface="Montserrat Bold" pitchFamily="2" charset="0"/>
      <p:regular r:id="rId97"/>
      <p:bold r:id="rId9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8" d="100"/>
          <a:sy n="38" d="100"/>
        </p:scale>
        <p:origin x="948"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4.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font" Target="fonts/font5.fntdata"/><Relationship Id="rId95" Type="http://schemas.openxmlformats.org/officeDocument/2006/relationships/font" Target="fonts/font10.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3.fntdata"/><Relationship Id="rId91" Type="http://schemas.openxmlformats.org/officeDocument/2006/relationships/font" Target="fonts/font6.fntdata"/><Relationship Id="rId96"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1.fntdata"/><Relationship Id="rId94" Type="http://schemas.openxmlformats.org/officeDocument/2006/relationships/font" Target="fonts/font9.fntdata"/><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7.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2.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8.fntdata"/><Relationship Id="rId98" Type="http://schemas.openxmlformats.org/officeDocument/2006/relationships/font" Target="fonts/font13.fntdata"/><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sv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svg"/><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4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svg"/><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5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5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5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5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6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6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7.png"/></Relationships>
</file>

<file path=ppt/slides/_rels/slide6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6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6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6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6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6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6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6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svg"/><Relationship Id="rId4" Type="http://schemas.openxmlformats.org/officeDocument/2006/relationships/image" Target="../media/image1.png"/></Relationships>
</file>

<file path=ppt/slides/_rels/slide7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7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7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7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7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7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7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7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7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7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8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8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8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9.png"/><Relationship Id="rId4" Type="http://schemas.openxmlformats.org/officeDocument/2006/relationships/image" Target="../media/image8.jpeg"/></Relationships>
</file>

<file path=ppt/slides/_rels/slide8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9.png"/><Relationship Id="rId4" Type="http://schemas.openxmlformats.org/officeDocument/2006/relationships/image" Target="../media/image8.jpeg"/></Relationships>
</file>

<file path=ppt/slides/_rels/slide8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814948" y="8081549"/>
            <a:ext cx="12561411" cy="2637896"/>
          </a:xfrm>
          <a:custGeom>
            <a:avLst/>
            <a:gdLst/>
            <a:ahLst/>
            <a:cxnLst/>
            <a:rect l="l" t="t" r="r" b="b"/>
            <a:pathLst>
              <a:path w="12561411" h="2637896">
                <a:moveTo>
                  <a:pt x="0" y="2637896"/>
                </a:moveTo>
                <a:lnTo>
                  <a:pt x="12561411" y="2637896"/>
                </a:lnTo>
                <a:lnTo>
                  <a:pt x="12561411" y="0"/>
                </a:lnTo>
                <a:lnTo>
                  <a:pt x="0" y="0"/>
                </a:lnTo>
                <a:lnTo>
                  <a:pt x="0" y="263789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4006833" y="0"/>
            <a:ext cx="4281167" cy="4518382"/>
          </a:xfrm>
          <a:custGeom>
            <a:avLst/>
            <a:gdLst/>
            <a:ahLst/>
            <a:cxnLst/>
            <a:rect l="l" t="t" r="r" b="b"/>
            <a:pathLst>
              <a:path w="4281167" h="4518382">
                <a:moveTo>
                  <a:pt x="4281167" y="4518382"/>
                </a:moveTo>
                <a:lnTo>
                  <a:pt x="0" y="4518382"/>
                </a:lnTo>
                <a:lnTo>
                  <a:pt x="0" y="0"/>
                </a:lnTo>
                <a:lnTo>
                  <a:pt x="4281167" y="0"/>
                </a:lnTo>
                <a:lnTo>
                  <a:pt x="4281167" y="4518382"/>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4" name="AutoShape 4"/>
          <p:cNvSpPr/>
          <p:nvPr/>
        </p:nvSpPr>
        <p:spPr>
          <a:xfrm>
            <a:off x="4928825" y="4654532"/>
            <a:ext cx="8430351" cy="0"/>
          </a:xfrm>
          <a:prstGeom prst="line">
            <a:avLst/>
          </a:prstGeom>
          <a:ln w="57150" cap="flat">
            <a:solidFill>
              <a:srgbClr val="E38C26"/>
            </a:solidFill>
            <a:prstDash val="solid"/>
            <a:headEnd type="none" w="sm" len="sm"/>
            <a:tailEnd type="none" w="sm" len="sm"/>
          </a:ln>
        </p:spPr>
      </p:sp>
      <p:sp>
        <p:nvSpPr>
          <p:cNvPr id="5" name="Freeform 5"/>
          <p:cNvSpPr/>
          <p:nvPr/>
        </p:nvSpPr>
        <p:spPr>
          <a:xfrm>
            <a:off x="-538785" y="-761660"/>
            <a:ext cx="3580720" cy="3580720"/>
          </a:xfrm>
          <a:custGeom>
            <a:avLst/>
            <a:gdLst/>
            <a:ahLst/>
            <a:cxnLst/>
            <a:rect l="l" t="t" r="r" b="b"/>
            <a:pathLst>
              <a:path w="3580720" h="3580720">
                <a:moveTo>
                  <a:pt x="0" y="0"/>
                </a:moveTo>
                <a:lnTo>
                  <a:pt x="3580720" y="0"/>
                </a:lnTo>
                <a:lnTo>
                  <a:pt x="3580720" y="3580720"/>
                </a:lnTo>
                <a:lnTo>
                  <a:pt x="0" y="3580720"/>
                </a:lnTo>
                <a:lnTo>
                  <a:pt x="0" y="0"/>
                </a:lnTo>
                <a:close/>
              </a:path>
            </a:pathLst>
          </a:custGeom>
          <a:blipFill>
            <a:blip r:embed="rId6"/>
            <a:stretch>
              <a:fillRect/>
            </a:stretch>
          </a:blipFill>
        </p:spPr>
      </p:sp>
      <p:sp>
        <p:nvSpPr>
          <p:cNvPr id="6" name="TextBox 6"/>
          <p:cNvSpPr txBox="1"/>
          <p:nvPr/>
        </p:nvSpPr>
        <p:spPr>
          <a:xfrm>
            <a:off x="1620679" y="2920243"/>
            <a:ext cx="15046641" cy="1489031"/>
          </a:xfrm>
          <a:prstGeom prst="rect">
            <a:avLst/>
          </a:prstGeom>
        </p:spPr>
        <p:txBody>
          <a:bodyPr lIns="0" tIns="0" rIns="0" bIns="0" rtlCol="0" anchor="t">
            <a:spAutoFit/>
          </a:bodyPr>
          <a:lstStyle/>
          <a:p>
            <a:pPr algn="ctr">
              <a:lnSpc>
                <a:spcPts val="5900"/>
              </a:lnSpc>
            </a:pPr>
            <a:r>
              <a:rPr lang="en-US" sz="5000" b="1">
                <a:solidFill>
                  <a:srgbClr val="222023"/>
                </a:solidFill>
                <a:latin typeface="Montserrat Bold"/>
                <a:ea typeface="Montserrat Bold"/>
                <a:cs typeface="Montserrat Bold"/>
                <a:sym typeface="Montserrat Bold"/>
              </a:rPr>
              <a:t>DIPLOMADO DE ALTA ESPECIALIZACIÓN EN</a:t>
            </a:r>
          </a:p>
          <a:p>
            <a:pPr algn="ctr">
              <a:lnSpc>
                <a:spcPts val="5900"/>
              </a:lnSpc>
            </a:pPr>
            <a:r>
              <a:rPr lang="en-US" sz="5000" b="1">
                <a:solidFill>
                  <a:srgbClr val="222023"/>
                </a:solidFill>
                <a:latin typeface="Montserrat Bold"/>
                <a:ea typeface="Montserrat Bold"/>
                <a:cs typeface="Montserrat Bold"/>
                <a:sym typeface="Montserrat Bold"/>
              </a:rPr>
              <a:t>DERECHO MINERO</a:t>
            </a:r>
          </a:p>
        </p:txBody>
      </p:sp>
      <p:sp>
        <p:nvSpPr>
          <p:cNvPr id="7" name="TextBox 7"/>
          <p:cNvSpPr txBox="1"/>
          <p:nvPr/>
        </p:nvSpPr>
        <p:spPr>
          <a:xfrm>
            <a:off x="2451348" y="5823066"/>
            <a:ext cx="13385304" cy="1124243"/>
          </a:xfrm>
          <a:prstGeom prst="rect">
            <a:avLst/>
          </a:prstGeom>
        </p:spPr>
        <p:txBody>
          <a:bodyPr lIns="0" tIns="0" rIns="0" bIns="0" rtlCol="0" anchor="t">
            <a:spAutoFit/>
          </a:bodyPr>
          <a:lstStyle/>
          <a:p>
            <a:pPr algn="ctr">
              <a:lnSpc>
                <a:spcPts val="4256"/>
              </a:lnSpc>
            </a:pPr>
            <a:r>
              <a:rPr lang="en-US" sz="3299" b="1">
                <a:solidFill>
                  <a:srgbClr val="A42F0F"/>
                </a:solidFill>
                <a:latin typeface="Futura Ultra-Bold"/>
                <a:ea typeface="Futura Ultra-Bold"/>
                <a:cs typeface="Futura Ultra-Bold"/>
                <a:sym typeface="Futura Ultra-Bold"/>
              </a:rPr>
              <a:t>CLASE 05 Y 06: RESPONSABILIDAD SOCIAL, DERECHOS DE LAS COMUNIDADES Y RESOLUCIÓN DE CONFLICTOS</a:t>
            </a:r>
          </a:p>
        </p:txBody>
      </p:sp>
      <p:sp>
        <p:nvSpPr>
          <p:cNvPr id="8" name="TextBox 8"/>
          <p:cNvSpPr txBox="1"/>
          <p:nvPr/>
        </p:nvSpPr>
        <p:spPr>
          <a:xfrm>
            <a:off x="3945371" y="4768832"/>
            <a:ext cx="10397259" cy="405807"/>
          </a:xfrm>
          <a:prstGeom prst="rect">
            <a:avLst/>
          </a:prstGeom>
        </p:spPr>
        <p:txBody>
          <a:bodyPr lIns="0" tIns="0" rIns="0" bIns="0" rtlCol="0" anchor="t">
            <a:spAutoFit/>
          </a:bodyPr>
          <a:lstStyle/>
          <a:p>
            <a:pPr algn="ctr">
              <a:lnSpc>
                <a:spcPts val="3360"/>
              </a:lnSpc>
            </a:pPr>
            <a:r>
              <a:rPr lang="en-US" sz="2400" b="1">
                <a:solidFill>
                  <a:srgbClr val="222023"/>
                </a:solidFill>
                <a:latin typeface="Inter Bold"/>
                <a:ea typeface="Inter Bold"/>
                <a:cs typeface="Inter Bold"/>
                <a:sym typeface="Inter Bold"/>
              </a:rPr>
              <a:t>MÓDULO I: LEGISLACIÓN MINERA Y MARCO LEGAL DEL SECTOR</a:t>
            </a:r>
          </a:p>
        </p:txBody>
      </p:sp>
      <p:sp>
        <p:nvSpPr>
          <p:cNvPr id="9" name="TextBox 9"/>
          <p:cNvSpPr txBox="1"/>
          <p:nvPr/>
        </p:nvSpPr>
        <p:spPr>
          <a:xfrm>
            <a:off x="12244210" y="9210675"/>
            <a:ext cx="5638330" cy="860337"/>
          </a:xfrm>
          <a:prstGeom prst="rect">
            <a:avLst/>
          </a:prstGeom>
        </p:spPr>
        <p:txBody>
          <a:bodyPr lIns="0" tIns="0" rIns="0" bIns="0" rtlCol="0" anchor="t">
            <a:spAutoFit/>
          </a:bodyPr>
          <a:lstStyle/>
          <a:p>
            <a:pPr algn="l">
              <a:lnSpc>
                <a:spcPts val="3500"/>
              </a:lnSpc>
            </a:pPr>
            <a:r>
              <a:rPr lang="en-US" sz="2500" dirty="0" err="1">
                <a:solidFill>
                  <a:srgbClr val="000000"/>
                </a:solidFill>
                <a:latin typeface="Montserrat"/>
                <a:ea typeface="Montserrat"/>
                <a:cs typeface="Montserrat"/>
                <a:sym typeface="Montserrat"/>
              </a:rPr>
              <a:t>PRESENTADO</a:t>
            </a:r>
            <a:r>
              <a:rPr lang="en-US" sz="2500" dirty="0">
                <a:solidFill>
                  <a:srgbClr val="000000"/>
                </a:solidFill>
                <a:latin typeface="Montserrat"/>
                <a:ea typeface="Montserrat"/>
                <a:cs typeface="Montserrat"/>
                <a:sym typeface="Montserrat"/>
              </a:rPr>
              <a:t> POR: </a:t>
            </a:r>
          </a:p>
          <a:p>
            <a:pPr algn="l">
              <a:lnSpc>
                <a:spcPts val="3500"/>
              </a:lnSpc>
            </a:pPr>
            <a:r>
              <a:rPr lang="en-US" sz="2500" dirty="0">
                <a:solidFill>
                  <a:srgbClr val="000000"/>
                </a:solidFill>
                <a:latin typeface="Montserrat"/>
                <a:ea typeface="Montserrat"/>
                <a:cs typeface="Montserrat"/>
                <a:sym typeface="Montserrat"/>
              </a:rPr>
              <a:t>DOC. </a:t>
            </a:r>
            <a:r>
              <a:rPr lang="en-US" sz="2500" dirty="0" err="1">
                <a:solidFill>
                  <a:srgbClr val="000000"/>
                </a:solidFill>
                <a:latin typeface="Montserrat"/>
                <a:ea typeface="Montserrat"/>
                <a:cs typeface="Montserrat"/>
                <a:sym typeface="Montserrat"/>
              </a:rPr>
              <a:t>REGINALDO</a:t>
            </a:r>
            <a:r>
              <a:rPr lang="en-US" sz="2500" dirty="0">
                <a:solidFill>
                  <a:srgbClr val="000000"/>
                </a:solidFill>
                <a:latin typeface="Montserrat"/>
                <a:ea typeface="Montserrat"/>
                <a:cs typeface="Montserrat"/>
                <a:sym typeface="Montserrat"/>
              </a:rPr>
              <a:t> </a:t>
            </a:r>
            <a:r>
              <a:rPr lang="en-US" sz="2500" dirty="0" err="1">
                <a:solidFill>
                  <a:srgbClr val="000000"/>
                </a:solidFill>
                <a:latin typeface="Montserrat"/>
                <a:ea typeface="Montserrat"/>
                <a:cs typeface="Montserrat"/>
                <a:sym typeface="Montserrat"/>
              </a:rPr>
              <a:t>ANDIA</a:t>
            </a:r>
            <a:endParaRPr lang="en-US" sz="2500" dirty="0">
              <a:solidFill>
                <a:srgbClr val="000000"/>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2"/>
            <a:stretch>
              <a:fillRect l="-48045" t="-197476"/>
            </a:stretch>
          </a:blipFill>
        </p:spPr>
      </p:sp>
      <p:sp>
        <p:nvSpPr>
          <p:cNvPr id="3" name="Freeform 3"/>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3"/>
            <a:stretch>
              <a:fillRect/>
            </a:stretch>
          </a:blipFill>
        </p:spPr>
      </p:sp>
      <p:grpSp>
        <p:nvGrpSpPr>
          <p:cNvPr id="4" name="Group 4"/>
          <p:cNvGrpSpPr/>
          <p:nvPr/>
        </p:nvGrpSpPr>
        <p:grpSpPr>
          <a:xfrm>
            <a:off x="4673915" y="-27387"/>
            <a:ext cx="10116046" cy="2253857"/>
            <a:chOff x="0" y="0"/>
            <a:chExt cx="1438895" cy="320586"/>
          </a:xfrm>
        </p:grpSpPr>
        <p:sp>
          <p:nvSpPr>
            <p:cNvPr id="5" name="Freeform 5"/>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4"/>
              <a:stretch>
                <a:fillRect t="-99797" b="-99797"/>
              </a:stretch>
            </a:blipFill>
          </p:spPr>
        </p:sp>
      </p:grpSp>
      <p:sp>
        <p:nvSpPr>
          <p:cNvPr id="6" name="TextBox 6"/>
          <p:cNvSpPr txBox="1"/>
          <p:nvPr/>
        </p:nvSpPr>
        <p:spPr>
          <a:xfrm>
            <a:off x="921543" y="4115764"/>
            <a:ext cx="12560564" cy="4570610"/>
          </a:xfrm>
          <a:prstGeom prst="rect">
            <a:avLst/>
          </a:prstGeom>
        </p:spPr>
        <p:txBody>
          <a:bodyPr lIns="0" tIns="0" rIns="0" bIns="0" rtlCol="0" anchor="t">
            <a:spAutoFit/>
          </a:bodyPr>
          <a:lstStyle/>
          <a:p>
            <a:pPr marL="690882" lvl="1" indent="-345441" algn="l">
              <a:lnSpc>
                <a:spcPts val="4480"/>
              </a:lnSpc>
              <a:buAutoNum type="arabicPeriod"/>
            </a:pPr>
            <a:r>
              <a:rPr lang="en-US" sz="3200" dirty="0" err="1">
                <a:solidFill>
                  <a:srgbClr val="000000"/>
                </a:solidFill>
                <a:latin typeface="Inter"/>
                <a:ea typeface="Inter"/>
                <a:cs typeface="Inter"/>
                <a:sym typeface="Inter"/>
              </a:rPr>
              <a:t>Responsabilidad</a:t>
            </a:r>
            <a:r>
              <a:rPr lang="en-US" sz="3200" dirty="0">
                <a:solidFill>
                  <a:srgbClr val="000000"/>
                </a:solidFill>
                <a:latin typeface="Inter"/>
                <a:ea typeface="Inter"/>
                <a:cs typeface="Inter"/>
                <a:sym typeface="Inter"/>
              </a:rPr>
              <a:t> social de las </a:t>
            </a:r>
            <a:r>
              <a:rPr lang="en-US" sz="3200" dirty="0" err="1">
                <a:solidFill>
                  <a:srgbClr val="000000"/>
                </a:solidFill>
                <a:latin typeface="Inter"/>
                <a:ea typeface="Inter"/>
                <a:cs typeface="Inter"/>
                <a:sym typeface="Inter"/>
              </a:rPr>
              <a:t>empresas</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mineras</a:t>
            </a:r>
            <a:r>
              <a:rPr lang="en-US" sz="3200" dirty="0">
                <a:solidFill>
                  <a:srgbClr val="000000"/>
                </a:solidFill>
                <a:latin typeface="Inter"/>
                <a:ea typeface="Inter"/>
                <a:cs typeface="Inter"/>
                <a:sym typeface="Inter"/>
              </a:rPr>
              <a:t> e </a:t>
            </a:r>
            <a:r>
              <a:rPr lang="en-US" sz="3200" dirty="0" err="1">
                <a:solidFill>
                  <a:srgbClr val="000000"/>
                </a:solidFill>
                <a:latin typeface="Inter"/>
                <a:ea typeface="Inter"/>
                <a:cs typeface="Inter"/>
                <a:sym typeface="Inter"/>
              </a:rPr>
              <a:t>iniciativas</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sociales</a:t>
            </a:r>
            <a:r>
              <a:rPr lang="en-US" sz="3200" dirty="0">
                <a:solidFill>
                  <a:srgbClr val="000000"/>
                </a:solidFill>
                <a:latin typeface="Inter"/>
                <a:ea typeface="Inter"/>
                <a:cs typeface="Inter"/>
                <a:sym typeface="Inter"/>
              </a:rPr>
              <a:t> con la ISO 26000</a:t>
            </a:r>
          </a:p>
          <a:p>
            <a:pPr marL="690882" lvl="1" indent="-345441" algn="l">
              <a:lnSpc>
                <a:spcPts val="4480"/>
              </a:lnSpc>
              <a:buAutoNum type="arabicPeriod"/>
            </a:pPr>
            <a:r>
              <a:rPr lang="en-US" sz="3200" dirty="0">
                <a:solidFill>
                  <a:srgbClr val="000000"/>
                </a:solidFill>
                <a:latin typeface="Inter"/>
                <a:ea typeface="Inter"/>
                <a:cs typeface="Inter"/>
                <a:sym typeface="Inter"/>
              </a:rPr>
              <a:t>Derechos de las </a:t>
            </a:r>
            <a:r>
              <a:rPr lang="en-US" sz="3200" dirty="0" err="1">
                <a:solidFill>
                  <a:srgbClr val="000000"/>
                </a:solidFill>
                <a:latin typeface="Inter"/>
                <a:ea typeface="Inter"/>
                <a:cs typeface="Inter"/>
                <a:sym typeface="Inter"/>
              </a:rPr>
              <a:t>comunidades</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obligaciones</a:t>
            </a:r>
            <a:r>
              <a:rPr lang="en-US" sz="3200" dirty="0">
                <a:solidFill>
                  <a:srgbClr val="000000"/>
                </a:solidFill>
                <a:latin typeface="Inter"/>
                <a:ea typeface="Inter"/>
                <a:cs typeface="Inter"/>
                <a:sym typeface="Inter"/>
              </a:rPr>
              <a:t> de las </a:t>
            </a:r>
            <a:r>
              <a:rPr lang="en-US" sz="3200" dirty="0" err="1">
                <a:solidFill>
                  <a:srgbClr val="000000"/>
                </a:solidFill>
                <a:latin typeface="Inter"/>
                <a:ea typeface="Inter"/>
                <a:cs typeface="Inter"/>
                <a:sym typeface="Inter"/>
              </a:rPr>
              <a:t>empresas</a:t>
            </a:r>
            <a:r>
              <a:rPr lang="en-US" sz="3200" dirty="0">
                <a:solidFill>
                  <a:srgbClr val="000000"/>
                </a:solidFill>
                <a:latin typeface="Inter"/>
                <a:ea typeface="Inter"/>
                <a:cs typeface="Inter"/>
                <a:sym typeface="Inter"/>
              </a:rPr>
              <a:t> e </a:t>
            </a:r>
            <a:r>
              <a:rPr lang="en-US" sz="3200" dirty="0" err="1">
                <a:solidFill>
                  <a:srgbClr val="000000"/>
                </a:solidFill>
                <a:latin typeface="Inter"/>
                <a:ea typeface="Inter"/>
                <a:cs typeface="Inter"/>
                <a:sym typeface="Inter"/>
              </a:rPr>
              <a:t>implementación</a:t>
            </a:r>
            <a:r>
              <a:rPr lang="en-US" sz="3200" dirty="0">
                <a:solidFill>
                  <a:srgbClr val="000000"/>
                </a:solidFill>
                <a:latin typeface="Inter"/>
                <a:ea typeface="Inter"/>
                <a:cs typeface="Inter"/>
                <a:sym typeface="Inter"/>
              </a:rPr>
              <a:t> de </a:t>
            </a:r>
            <a:r>
              <a:rPr lang="en-US" sz="3200" dirty="0" err="1">
                <a:solidFill>
                  <a:srgbClr val="000000"/>
                </a:solidFill>
                <a:latin typeface="Inter"/>
                <a:ea typeface="Inter"/>
                <a:cs typeface="Inter"/>
                <a:sym typeface="Inter"/>
              </a:rPr>
              <a:t>estrategias</a:t>
            </a:r>
            <a:r>
              <a:rPr lang="en-US" sz="3200" dirty="0">
                <a:solidFill>
                  <a:srgbClr val="000000"/>
                </a:solidFill>
                <a:latin typeface="Inter"/>
                <a:ea typeface="Inter"/>
                <a:cs typeface="Inter"/>
                <a:sym typeface="Inter"/>
              </a:rPr>
              <a:t> de </a:t>
            </a:r>
            <a:r>
              <a:rPr lang="en-US" sz="3200" dirty="0" err="1">
                <a:solidFill>
                  <a:srgbClr val="000000"/>
                </a:solidFill>
                <a:latin typeface="Inter"/>
                <a:ea typeface="Inter"/>
                <a:cs typeface="Inter"/>
                <a:sym typeface="Inter"/>
              </a:rPr>
              <a:t>RSE</a:t>
            </a:r>
            <a:endParaRPr lang="en-US" sz="3200" dirty="0">
              <a:solidFill>
                <a:srgbClr val="000000"/>
              </a:solidFill>
              <a:latin typeface="Inter"/>
              <a:ea typeface="Inter"/>
              <a:cs typeface="Inter"/>
              <a:sym typeface="Inter"/>
            </a:endParaRPr>
          </a:p>
          <a:p>
            <a:pPr marL="690882" lvl="1" indent="-345441" algn="l">
              <a:lnSpc>
                <a:spcPts val="4480"/>
              </a:lnSpc>
              <a:buAutoNum type="arabicPeriod"/>
            </a:pPr>
            <a:r>
              <a:rPr lang="en-US" sz="3200" dirty="0" err="1">
                <a:solidFill>
                  <a:srgbClr val="000000"/>
                </a:solidFill>
                <a:latin typeface="Inter"/>
                <a:ea typeface="Inter"/>
                <a:cs typeface="Inter"/>
                <a:sym typeface="Inter"/>
              </a:rPr>
              <a:t>Políticas</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públicas</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leyes</a:t>
            </a:r>
            <a:r>
              <a:rPr lang="en-US" sz="3200" dirty="0">
                <a:solidFill>
                  <a:srgbClr val="000000"/>
                </a:solidFill>
                <a:latin typeface="Inter"/>
                <a:ea typeface="Inter"/>
                <a:cs typeface="Inter"/>
                <a:sym typeface="Inter"/>
              </a:rPr>
              <a:t> y </a:t>
            </a:r>
            <a:r>
              <a:rPr lang="en-US" sz="3200" dirty="0" err="1">
                <a:solidFill>
                  <a:srgbClr val="000000"/>
                </a:solidFill>
                <a:latin typeface="Inter"/>
                <a:ea typeface="Inter"/>
                <a:cs typeface="Inter"/>
                <a:sym typeface="Inter"/>
              </a:rPr>
              <a:t>regulaciones</a:t>
            </a:r>
            <a:r>
              <a:rPr lang="en-US" sz="3200" dirty="0">
                <a:solidFill>
                  <a:srgbClr val="000000"/>
                </a:solidFill>
                <a:latin typeface="Inter"/>
                <a:ea typeface="Inter"/>
                <a:cs typeface="Inter"/>
                <a:sym typeface="Inter"/>
              </a:rPr>
              <a:t>) para </a:t>
            </a:r>
            <a:r>
              <a:rPr lang="en-US" sz="3200" dirty="0" err="1">
                <a:solidFill>
                  <a:srgbClr val="000000"/>
                </a:solidFill>
                <a:latin typeface="Inter"/>
                <a:ea typeface="Inter"/>
                <a:cs typeface="Inter"/>
                <a:sym typeface="Inter"/>
              </a:rPr>
              <a:t>prevenir</a:t>
            </a:r>
            <a:r>
              <a:rPr lang="en-US" sz="3200" dirty="0">
                <a:solidFill>
                  <a:srgbClr val="000000"/>
                </a:solidFill>
                <a:latin typeface="Inter"/>
                <a:ea typeface="Inter"/>
                <a:cs typeface="Inter"/>
                <a:sym typeface="Inter"/>
              </a:rPr>
              <a:t> y resolver </a:t>
            </a:r>
            <a:r>
              <a:rPr lang="en-US" sz="3200" dirty="0" err="1">
                <a:solidFill>
                  <a:srgbClr val="000000"/>
                </a:solidFill>
                <a:latin typeface="Inter"/>
                <a:ea typeface="Inter"/>
                <a:cs typeface="Inter"/>
                <a:sym typeface="Inter"/>
              </a:rPr>
              <a:t>conflictos</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en</a:t>
            </a:r>
            <a:r>
              <a:rPr lang="en-US" sz="3200" dirty="0">
                <a:solidFill>
                  <a:srgbClr val="000000"/>
                </a:solidFill>
                <a:latin typeface="Inter"/>
                <a:ea typeface="Inter"/>
                <a:cs typeface="Inter"/>
                <a:sym typeface="Inter"/>
              </a:rPr>
              <a:t> las </a:t>
            </a:r>
            <a:r>
              <a:rPr lang="en-US" sz="3200" dirty="0" err="1">
                <a:solidFill>
                  <a:srgbClr val="000000"/>
                </a:solidFill>
                <a:latin typeface="Inter"/>
                <a:ea typeface="Inter"/>
                <a:cs typeface="Inter"/>
                <a:sym typeface="Inter"/>
              </a:rPr>
              <a:t>comunidades</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mineras</a:t>
            </a:r>
            <a:endParaRPr lang="en-US" sz="3200" dirty="0">
              <a:solidFill>
                <a:srgbClr val="000000"/>
              </a:solidFill>
              <a:latin typeface="Inter"/>
              <a:ea typeface="Inter"/>
              <a:cs typeface="Inter"/>
              <a:sym typeface="Inter"/>
            </a:endParaRPr>
          </a:p>
          <a:p>
            <a:pPr marL="690882" lvl="1" indent="-345441" algn="l">
              <a:lnSpc>
                <a:spcPts val="4480"/>
              </a:lnSpc>
              <a:buAutoNum type="arabicPeriod"/>
            </a:pPr>
            <a:r>
              <a:rPr lang="en-US" sz="3200" dirty="0" err="1">
                <a:solidFill>
                  <a:srgbClr val="000000"/>
                </a:solidFill>
                <a:latin typeface="Inter"/>
                <a:ea typeface="Inter"/>
                <a:cs typeface="Inter"/>
                <a:sym typeface="Inter"/>
              </a:rPr>
              <a:t>Técnicas</a:t>
            </a:r>
            <a:r>
              <a:rPr lang="en-US" sz="3200" dirty="0">
                <a:solidFill>
                  <a:srgbClr val="000000"/>
                </a:solidFill>
                <a:latin typeface="Inter"/>
                <a:ea typeface="Inter"/>
                <a:cs typeface="Inter"/>
                <a:sym typeface="Inter"/>
              </a:rPr>
              <a:t> y </a:t>
            </a:r>
            <a:r>
              <a:rPr lang="en-US" sz="3200" dirty="0" err="1">
                <a:solidFill>
                  <a:srgbClr val="000000"/>
                </a:solidFill>
                <a:latin typeface="Inter"/>
                <a:ea typeface="Inter"/>
                <a:cs typeface="Inter"/>
                <a:sym typeface="Inter"/>
              </a:rPr>
              <a:t>estrategias</a:t>
            </a:r>
            <a:r>
              <a:rPr lang="en-US" sz="3200" dirty="0">
                <a:solidFill>
                  <a:srgbClr val="000000"/>
                </a:solidFill>
                <a:latin typeface="Inter"/>
                <a:ea typeface="Inter"/>
                <a:cs typeface="Inter"/>
                <a:sym typeface="Inter"/>
              </a:rPr>
              <a:t> de </a:t>
            </a:r>
            <a:r>
              <a:rPr lang="en-US" sz="3200" dirty="0" err="1">
                <a:solidFill>
                  <a:srgbClr val="000000"/>
                </a:solidFill>
                <a:latin typeface="Inter"/>
                <a:ea typeface="Inter"/>
                <a:cs typeface="Inter"/>
                <a:sym typeface="Inter"/>
              </a:rPr>
              <a:t>mediación</a:t>
            </a:r>
            <a:r>
              <a:rPr lang="en-US" sz="3200" dirty="0">
                <a:solidFill>
                  <a:srgbClr val="000000"/>
                </a:solidFill>
                <a:latin typeface="Inter"/>
                <a:ea typeface="Inter"/>
                <a:cs typeface="Inter"/>
                <a:sym typeface="Inter"/>
              </a:rPr>
              <a:t> para </a:t>
            </a:r>
            <a:r>
              <a:rPr lang="en-US" sz="3200" dirty="0" err="1">
                <a:solidFill>
                  <a:srgbClr val="000000"/>
                </a:solidFill>
                <a:latin typeface="Inter"/>
                <a:ea typeface="Inter"/>
                <a:cs typeface="Inter"/>
                <a:sym typeface="Inter"/>
              </a:rPr>
              <a:t>facilitar</a:t>
            </a:r>
            <a:r>
              <a:rPr lang="en-US" sz="3200" dirty="0">
                <a:solidFill>
                  <a:srgbClr val="000000"/>
                </a:solidFill>
                <a:latin typeface="Inter"/>
                <a:ea typeface="Inter"/>
                <a:cs typeface="Inter"/>
                <a:sym typeface="Inter"/>
              </a:rPr>
              <a:t> la </a:t>
            </a:r>
            <a:r>
              <a:rPr lang="en-US" sz="3200" dirty="0" err="1">
                <a:solidFill>
                  <a:srgbClr val="000000"/>
                </a:solidFill>
                <a:latin typeface="Inter"/>
                <a:ea typeface="Inter"/>
                <a:cs typeface="Inter"/>
                <a:sym typeface="Inter"/>
              </a:rPr>
              <a:t>comunicación</a:t>
            </a:r>
            <a:r>
              <a:rPr lang="en-US" sz="3200" dirty="0">
                <a:solidFill>
                  <a:srgbClr val="000000"/>
                </a:solidFill>
                <a:latin typeface="Inter"/>
                <a:ea typeface="Inter"/>
                <a:cs typeface="Inter"/>
                <a:sym typeface="Inter"/>
              </a:rPr>
              <a:t> y resolver </a:t>
            </a:r>
            <a:r>
              <a:rPr lang="en-US" sz="3200" dirty="0" err="1">
                <a:solidFill>
                  <a:srgbClr val="000000"/>
                </a:solidFill>
                <a:latin typeface="Inter"/>
                <a:ea typeface="Inter"/>
                <a:cs typeface="Inter"/>
                <a:sym typeface="Inter"/>
              </a:rPr>
              <a:t>conflictos</a:t>
            </a:r>
            <a:endParaRPr lang="en-US" sz="3200" dirty="0">
              <a:solidFill>
                <a:srgbClr val="000000"/>
              </a:solidFill>
              <a:latin typeface="Inter"/>
              <a:ea typeface="Inter"/>
              <a:cs typeface="Inter"/>
              <a:sym typeface="Inter"/>
            </a:endParaRPr>
          </a:p>
        </p:txBody>
      </p:sp>
      <p:sp>
        <p:nvSpPr>
          <p:cNvPr id="7" name="TextBox 7"/>
          <p:cNvSpPr txBox="1"/>
          <p:nvPr/>
        </p:nvSpPr>
        <p:spPr>
          <a:xfrm>
            <a:off x="921543" y="3168257"/>
            <a:ext cx="15244428"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CONTENIDO</a:t>
            </a:r>
          </a:p>
        </p:txBody>
      </p:sp>
      <p:sp>
        <p:nvSpPr>
          <p:cNvPr id="8" name="Freeform 8"/>
          <p:cNvSpPr/>
          <p:nvPr/>
        </p:nvSpPr>
        <p:spPr>
          <a:xfrm flipH="1">
            <a:off x="9603984" y="3263802"/>
            <a:ext cx="8684016" cy="7023198"/>
          </a:xfrm>
          <a:custGeom>
            <a:avLst/>
            <a:gdLst/>
            <a:ahLst/>
            <a:cxnLst/>
            <a:rect l="l" t="t" r="r" b="b"/>
            <a:pathLst>
              <a:path w="8684016" h="7023198">
                <a:moveTo>
                  <a:pt x="8684016" y="0"/>
                </a:moveTo>
                <a:lnTo>
                  <a:pt x="0" y="0"/>
                </a:lnTo>
                <a:lnTo>
                  <a:pt x="0" y="7023198"/>
                </a:lnTo>
                <a:lnTo>
                  <a:pt x="8684016" y="7023198"/>
                </a:lnTo>
                <a:lnTo>
                  <a:pt x="8684016"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2"/>
            <a:stretch>
              <a:fillRect l="-48045" t="-197476"/>
            </a:stretch>
          </a:blipFill>
        </p:spPr>
      </p:sp>
      <p:sp>
        <p:nvSpPr>
          <p:cNvPr id="3" name="Freeform 3"/>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3"/>
            <a:stretch>
              <a:fillRect/>
            </a:stretch>
          </a:blipFill>
        </p:spPr>
      </p:sp>
      <p:grpSp>
        <p:nvGrpSpPr>
          <p:cNvPr id="4" name="Group 4"/>
          <p:cNvGrpSpPr/>
          <p:nvPr/>
        </p:nvGrpSpPr>
        <p:grpSpPr>
          <a:xfrm>
            <a:off x="4673915" y="-27387"/>
            <a:ext cx="10116046" cy="2253857"/>
            <a:chOff x="0" y="0"/>
            <a:chExt cx="1438895" cy="320586"/>
          </a:xfrm>
        </p:grpSpPr>
        <p:sp>
          <p:nvSpPr>
            <p:cNvPr id="5" name="Freeform 5"/>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4"/>
              <a:stretch>
                <a:fillRect t="-99797" b="-99797"/>
              </a:stretch>
            </a:blipFill>
          </p:spPr>
        </p:sp>
      </p:grpSp>
      <p:sp>
        <p:nvSpPr>
          <p:cNvPr id="6" name="TextBox 6"/>
          <p:cNvSpPr txBox="1"/>
          <p:nvPr/>
        </p:nvSpPr>
        <p:spPr>
          <a:xfrm>
            <a:off x="921543" y="4125289"/>
            <a:ext cx="14184144" cy="3016788"/>
          </a:xfrm>
          <a:prstGeom prst="rect">
            <a:avLst/>
          </a:prstGeom>
        </p:spPr>
        <p:txBody>
          <a:bodyPr lIns="0" tIns="0" rIns="0" bIns="0" rtlCol="0" anchor="t">
            <a:spAutoFit/>
          </a:bodyPr>
          <a:lstStyle/>
          <a:p>
            <a:pPr algn="l">
              <a:lnSpc>
                <a:spcPts val="3360"/>
              </a:lnSpc>
            </a:pPr>
            <a:r>
              <a:rPr lang="es-ES" sz="2400" b="0" i="0" dirty="0">
                <a:solidFill>
                  <a:srgbClr val="000000"/>
                </a:solidFill>
                <a:effectLst/>
                <a:latin typeface="Inter" panose="02000503000000020004" pitchFamily="50" charset="0"/>
                <a:ea typeface="Inter" panose="02000503000000020004" pitchFamily="50" charset="0"/>
                <a:cs typeface="Inter" panose="02000503000000020004" pitchFamily="50" charset="0"/>
              </a:rPr>
              <a:t>A partir de los años noventa, diversos gobiernos latinoamericanos con una amplia riqueza en recursos naturales comenzaron a revisar y a adaptar sus legislaciones mineras con el fin de atraer inversiones extranjeras hacia la gran minería. Países como Colombia, México y Perú lograron sus objetivos, gracias a una mayor apertura y a cambios en la normatividad minera, que permitieron otorgar mayores concesiones a las empresas extranjeras, logrando orientar sus inversiones hacia nuevos proyectos mineros o ampliaciones. Estas nuevas inversiones incrementaron los ingresos de las compañías mineras, así como de los Gobiernos. </a:t>
            </a:r>
            <a:endPar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endParaRPr>
          </a:p>
        </p:txBody>
      </p:sp>
      <p:sp>
        <p:nvSpPr>
          <p:cNvPr id="7" name="TextBox 7"/>
          <p:cNvSpPr txBox="1"/>
          <p:nvPr/>
        </p:nvSpPr>
        <p:spPr>
          <a:xfrm>
            <a:off x="921543" y="3168257"/>
            <a:ext cx="15244428"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INTRODUCCIÓN</a:t>
            </a:r>
          </a:p>
        </p:txBody>
      </p:sp>
      <p:sp>
        <p:nvSpPr>
          <p:cNvPr id="8" name="Freeform 8"/>
          <p:cNvSpPr/>
          <p:nvPr/>
        </p:nvSpPr>
        <p:spPr>
          <a:xfrm flipH="1">
            <a:off x="9603984" y="3263802"/>
            <a:ext cx="8684016" cy="7023198"/>
          </a:xfrm>
          <a:custGeom>
            <a:avLst/>
            <a:gdLst/>
            <a:ahLst/>
            <a:cxnLst/>
            <a:rect l="l" t="t" r="r" b="b"/>
            <a:pathLst>
              <a:path w="8684016" h="7023198">
                <a:moveTo>
                  <a:pt x="8684016" y="0"/>
                </a:moveTo>
                <a:lnTo>
                  <a:pt x="0" y="0"/>
                </a:lnTo>
                <a:lnTo>
                  <a:pt x="0" y="7023198"/>
                </a:lnTo>
                <a:lnTo>
                  <a:pt x="8684016" y="7023198"/>
                </a:lnTo>
                <a:lnTo>
                  <a:pt x="8684016"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2"/>
            <a:stretch>
              <a:fillRect l="-48045" t="-197476"/>
            </a:stretch>
          </a:blipFill>
        </p:spPr>
      </p:sp>
      <p:sp>
        <p:nvSpPr>
          <p:cNvPr id="3" name="Freeform 3"/>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3"/>
            <a:stretch>
              <a:fillRect/>
            </a:stretch>
          </a:blipFill>
        </p:spPr>
      </p:sp>
      <p:grpSp>
        <p:nvGrpSpPr>
          <p:cNvPr id="4" name="Group 4"/>
          <p:cNvGrpSpPr/>
          <p:nvPr/>
        </p:nvGrpSpPr>
        <p:grpSpPr>
          <a:xfrm>
            <a:off x="4673915" y="-27387"/>
            <a:ext cx="10116046" cy="2253857"/>
            <a:chOff x="0" y="0"/>
            <a:chExt cx="1438895" cy="320586"/>
          </a:xfrm>
        </p:grpSpPr>
        <p:sp>
          <p:nvSpPr>
            <p:cNvPr id="5" name="Freeform 5"/>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4"/>
              <a:stretch>
                <a:fillRect t="-99797" b="-99797"/>
              </a:stretch>
            </a:blipFill>
          </p:spPr>
        </p:sp>
      </p:grpSp>
      <p:sp>
        <p:nvSpPr>
          <p:cNvPr id="6" name="TextBox 6"/>
          <p:cNvSpPr txBox="1"/>
          <p:nvPr/>
        </p:nvSpPr>
        <p:spPr>
          <a:xfrm>
            <a:off x="921543" y="4125289"/>
            <a:ext cx="14184144" cy="2920673"/>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Sin embargo, a raíz de los riesgos socioambientales que en los últimos años se han acrecentado y acentuado, culminando muchos de ellos en conflictos, las ganancias para ambas partes se han visto comprometidas. Las actividades extractivas tales como la minería son especialmente vulnerables a los riesgos socioambientales, al producir habitualmente impactos socioambientales que afectan en particular (pero no solo) a las comunidades que habitan las áreas a explotar o afectadas por dichas actividades directa o indirectamente.</a:t>
            </a:r>
          </a:p>
          <a:p>
            <a:pPr algn="l">
              <a:lnSpc>
                <a:spcPts val="3360"/>
              </a:lnSpc>
            </a:pPr>
            <a:endParaRPr lang="en-US" sz="2400">
              <a:solidFill>
                <a:srgbClr val="000000"/>
              </a:solidFill>
              <a:latin typeface="Inter"/>
              <a:ea typeface="Inter"/>
              <a:cs typeface="Inter"/>
              <a:sym typeface="Inter"/>
            </a:endParaRPr>
          </a:p>
        </p:txBody>
      </p:sp>
      <p:sp>
        <p:nvSpPr>
          <p:cNvPr id="7" name="TextBox 7"/>
          <p:cNvSpPr txBox="1"/>
          <p:nvPr/>
        </p:nvSpPr>
        <p:spPr>
          <a:xfrm>
            <a:off x="921543" y="3168257"/>
            <a:ext cx="15244428"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INTRODUCCIÓN</a:t>
            </a:r>
          </a:p>
        </p:txBody>
      </p:sp>
      <p:sp>
        <p:nvSpPr>
          <p:cNvPr id="8" name="Freeform 8"/>
          <p:cNvSpPr/>
          <p:nvPr/>
        </p:nvSpPr>
        <p:spPr>
          <a:xfrm flipH="1">
            <a:off x="9603984" y="3263802"/>
            <a:ext cx="8684016" cy="7023198"/>
          </a:xfrm>
          <a:custGeom>
            <a:avLst/>
            <a:gdLst/>
            <a:ahLst/>
            <a:cxnLst/>
            <a:rect l="l" t="t" r="r" b="b"/>
            <a:pathLst>
              <a:path w="8684016" h="7023198">
                <a:moveTo>
                  <a:pt x="8684016" y="0"/>
                </a:moveTo>
                <a:lnTo>
                  <a:pt x="0" y="0"/>
                </a:lnTo>
                <a:lnTo>
                  <a:pt x="0" y="7023198"/>
                </a:lnTo>
                <a:lnTo>
                  <a:pt x="8684016" y="7023198"/>
                </a:lnTo>
                <a:lnTo>
                  <a:pt x="8684016"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2"/>
            <a:stretch>
              <a:fillRect l="-48045" t="-197476"/>
            </a:stretch>
          </a:blipFill>
        </p:spPr>
      </p:sp>
      <p:sp>
        <p:nvSpPr>
          <p:cNvPr id="3" name="Freeform 3"/>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3"/>
            <a:stretch>
              <a:fillRect/>
            </a:stretch>
          </a:blipFill>
        </p:spPr>
      </p:sp>
      <p:grpSp>
        <p:nvGrpSpPr>
          <p:cNvPr id="4" name="Group 4"/>
          <p:cNvGrpSpPr/>
          <p:nvPr/>
        </p:nvGrpSpPr>
        <p:grpSpPr>
          <a:xfrm>
            <a:off x="4673915" y="-27387"/>
            <a:ext cx="10116046" cy="2253857"/>
            <a:chOff x="0" y="0"/>
            <a:chExt cx="1438895" cy="320586"/>
          </a:xfrm>
        </p:grpSpPr>
        <p:sp>
          <p:nvSpPr>
            <p:cNvPr id="5" name="Freeform 5"/>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4"/>
              <a:stretch>
                <a:fillRect t="-99797" b="-99797"/>
              </a:stretch>
            </a:blipFill>
          </p:spPr>
        </p:sp>
      </p:grpSp>
      <p:sp>
        <p:nvSpPr>
          <p:cNvPr id="6" name="TextBox 6"/>
          <p:cNvSpPr txBox="1"/>
          <p:nvPr/>
        </p:nvSpPr>
        <p:spPr>
          <a:xfrm>
            <a:off x="921543" y="4125289"/>
            <a:ext cx="14184144" cy="2920673"/>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Estos conflictos pueden generarse por el uso o la contaminación de los recursos (agua, tierras, aire, etc.) así como por el desplazamiento de poblaciones o el uso de lugares con significado especial para los habitantes originarios de las localidades en cuestión. De igual forma, dado que en muchos países de la región estas actividades han contemplado su ubicación en lugares habitados por pueblos originarios o de alto valor arqueológico, el cambio de su utilización ha desencadenado algunos conflictos. Asimismo, muchos de los conflictos han surgido vinculados a la distribución de rentas.</a:t>
            </a:r>
          </a:p>
        </p:txBody>
      </p:sp>
      <p:sp>
        <p:nvSpPr>
          <p:cNvPr id="7" name="TextBox 7"/>
          <p:cNvSpPr txBox="1"/>
          <p:nvPr/>
        </p:nvSpPr>
        <p:spPr>
          <a:xfrm>
            <a:off x="921543" y="3168257"/>
            <a:ext cx="15244428"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INTRODUCCIÓN</a:t>
            </a:r>
          </a:p>
        </p:txBody>
      </p:sp>
      <p:sp>
        <p:nvSpPr>
          <p:cNvPr id="8" name="Freeform 8"/>
          <p:cNvSpPr/>
          <p:nvPr/>
        </p:nvSpPr>
        <p:spPr>
          <a:xfrm flipH="1">
            <a:off x="9603984" y="3263802"/>
            <a:ext cx="8684016" cy="7023198"/>
          </a:xfrm>
          <a:custGeom>
            <a:avLst/>
            <a:gdLst/>
            <a:ahLst/>
            <a:cxnLst/>
            <a:rect l="l" t="t" r="r" b="b"/>
            <a:pathLst>
              <a:path w="8684016" h="7023198">
                <a:moveTo>
                  <a:pt x="8684016" y="0"/>
                </a:moveTo>
                <a:lnTo>
                  <a:pt x="0" y="0"/>
                </a:lnTo>
                <a:lnTo>
                  <a:pt x="0" y="7023198"/>
                </a:lnTo>
                <a:lnTo>
                  <a:pt x="8684016" y="7023198"/>
                </a:lnTo>
                <a:lnTo>
                  <a:pt x="8684016"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2"/>
            <a:stretch>
              <a:fillRect l="-48045" t="-197476"/>
            </a:stretch>
          </a:blipFill>
        </p:spPr>
      </p:sp>
      <p:sp>
        <p:nvSpPr>
          <p:cNvPr id="3" name="Freeform 3"/>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3"/>
            <a:stretch>
              <a:fillRect/>
            </a:stretch>
          </a:blipFill>
        </p:spPr>
      </p:sp>
      <p:grpSp>
        <p:nvGrpSpPr>
          <p:cNvPr id="4" name="Group 4"/>
          <p:cNvGrpSpPr/>
          <p:nvPr/>
        </p:nvGrpSpPr>
        <p:grpSpPr>
          <a:xfrm>
            <a:off x="4673915" y="-27387"/>
            <a:ext cx="10116046" cy="2253857"/>
            <a:chOff x="0" y="0"/>
            <a:chExt cx="1438895" cy="320586"/>
          </a:xfrm>
        </p:grpSpPr>
        <p:sp>
          <p:nvSpPr>
            <p:cNvPr id="5" name="Freeform 5"/>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4"/>
              <a:stretch>
                <a:fillRect t="-99797" b="-99797"/>
              </a:stretch>
            </a:blipFill>
          </p:spPr>
        </p:sp>
      </p:grpSp>
      <p:sp>
        <p:nvSpPr>
          <p:cNvPr id="6" name="TextBox 6"/>
          <p:cNvSpPr txBox="1"/>
          <p:nvPr/>
        </p:nvSpPr>
        <p:spPr>
          <a:xfrm>
            <a:off x="921543" y="4125289"/>
            <a:ext cx="14184144" cy="3339817"/>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Por otro lado, como una forma de proteger el desarrollo de los proyectos mineros durante todas sus fases, las compañías mineras han tratado de adoptar de manera voluntaria políticas de Responsabilidad Social Corporativa (RSC). A través de estas políticas, las compañías mineras han buscado que las comunidades afectadas vean la minería como una manera de mejorar su calidad de vida y sus necesidades básicas como: viviendas, sistemas de salud, mayores empleos, caminos, educación, electricidad, agua potable, drenaje, etc. Sin embargo, de acuerdo a las comunidades afectadas, en algunos casos estas políticas no han sido del todo satisfactorias. </a:t>
            </a:r>
          </a:p>
          <a:p>
            <a:pPr algn="l">
              <a:lnSpc>
                <a:spcPts val="3360"/>
              </a:lnSpc>
            </a:pPr>
            <a:endParaRPr lang="en-US" sz="2400">
              <a:solidFill>
                <a:srgbClr val="000000"/>
              </a:solidFill>
              <a:latin typeface="Inter"/>
              <a:ea typeface="Inter"/>
              <a:cs typeface="Inter"/>
              <a:sym typeface="Inter"/>
            </a:endParaRPr>
          </a:p>
        </p:txBody>
      </p:sp>
      <p:sp>
        <p:nvSpPr>
          <p:cNvPr id="7" name="TextBox 7"/>
          <p:cNvSpPr txBox="1"/>
          <p:nvPr/>
        </p:nvSpPr>
        <p:spPr>
          <a:xfrm>
            <a:off x="921543" y="3168257"/>
            <a:ext cx="15244428"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INTRODUCCIÓN</a:t>
            </a:r>
          </a:p>
        </p:txBody>
      </p:sp>
      <p:sp>
        <p:nvSpPr>
          <p:cNvPr id="8" name="Freeform 8"/>
          <p:cNvSpPr/>
          <p:nvPr/>
        </p:nvSpPr>
        <p:spPr>
          <a:xfrm flipH="1">
            <a:off x="9603984" y="3263802"/>
            <a:ext cx="8684016" cy="7023198"/>
          </a:xfrm>
          <a:custGeom>
            <a:avLst/>
            <a:gdLst/>
            <a:ahLst/>
            <a:cxnLst/>
            <a:rect l="l" t="t" r="r" b="b"/>
            <a:pathLst>
              <a:path w="8684016" h="7023198">
                <a:moveTo>
                  <a:pt x="8684016" y="0"/>
                </a:moveTo>
                <a:lnTo>
                  <a:pt x="0" y="0"/>
                </a:lnTo>
                <a:lnTo>
                  <a:pt x="0" y="7023198"/>
                </a:lnTo>
                <a:lnTo>
                  <a:pt x="8684016" y="7023198"/>
                </a:lnTo>
                <a:lnTo>
                  <a:pt x="8684016"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2"/>
            <a:stretch>
              <a:fillRect l="-48045" t="-197476"/>
            </a:stretch>
          </a:blipFill>
        </p:spPr>
      </p:sp>
      <p:sp>
        <p:nvSpPr>
          <p:cNvPr id="3" name="Freeform 3"/>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3"/>
            <a:stretch>
              <a:fillRect/>
            </a:stretch>
          </a:blipFill>
        </p:spPr>
      </p:sp>
      <p:grpSp>
        <p:nvGrpSpPr>
          <p:cNvPr id="4" name="Group 4"/>
          <p:cNvGrpSpPr/>
          <p:nvPr/>
        </p:nvGrpSpPr>
        <p:grpSpPr>
          <a:xfrm>
            <a:off x="4673915" y="-27387"/>
            <a:ext cx="10116046" cy="2253857"/>
            <a:chOff x="0" y="0"/>
            <a:chExt cx="1438895" cy="320586"/>
          </a:xfrm>
        </p:grpSpPr>
        <p:sp>
          <p:nvSpPr>
            <p:cNvPr id="5" name="Freeform 5"/>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4"/>
              <a:stretch>
                <a:fillRect t="-99797" b="-99797"/>
              </a:stretch>
            </a:blipFill>
          </p:spPr>
        </p:sp>
      </p:grpSp>
      <p:sp>
        <p:nvSpPr>
          <p:cNvPr id="6" name="TextBox 6"/>
          <p:cNvSpPr txBox="1"/>
          <p:nvPr/>
        </p:nvSpPr>
        <p:spPr>
          <a:xfrm>
            <a:off x="921543" y="4125289"/>
            <a:ext cx="14184144" cy="2920673"/>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A su vez, estas políticas han provocado confusiones en el rol que deben jugar los Gobiernos en el desarrollo económico de los respectivos países. En muchos casos, las comunidades afectadas han generado excesivas expectativas de parte de las compañías mineras, mientras que por el otro lado, los Gobiernos, en particular los locales, han mostrado algunos vacíos en la gestión política de los recursos obtenidos por la minería. Muchos proyectos mineros actualmente se están desarrollando con altos niveles de conflictividad, como resultado de los impactos socioambientales que han originado.</a:t>
            </a:r>
          </a:p>
        </p:txBody>
      </p:sp>
      <p:sp>
        <p:nvSpPr>
          <p:cNvPr id="7" name="TextBox 7"/>
          <p:cNvSpPr txBox="1"/>
          <p:nvPr/>
        </p:nvSpPr>
        <p:spPr>
          <a:xfrm>
            <a:off x="921543" y="3168257"/>
            <a:ext cx="15244428"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INTRODUCCIÓN</a:t>
            </a:r>
          </a:p>
        </p:txBody>
      </p:sp>
      <p:sp>
        <p:nvSpPr>
          <p:cNvPr id="8" name="Freeform 8"/>
          <p:cNvSpPr/>
          <p:nvPr/>
        </p:nvSpPr>
        <p:spPr>
          <a:xfrm flipH="1">
            <a:off x="9603984" y="3263802"/>
            <a:ext cx="8684016" cy="7023198"/>
          </a:xfrm>
          <a:custGeom>
            <a:avLst/>
            <a:gdLst/>
            <a:ahLst/>
            <a:cxnLst/>
            <a:rect l="l" t="t" r="r" b="b"/>
            <a:pathLst>
              <a:path w="8684016" h="7023198">
                <a:moveTo>
                  <a:pt x="8684016" y="0"/>
                </a:moveTo>
                <a:lnTo>
                  <a:pt x="0" y="0"/>
                </a:lnTo>
                <a:lnTo>
                  <a:pt x="0" y="7023198"/>
                </a:lnTo>
                <a:lnTo>
                  <a:pt x="8684016" y="7023198"/>
                </a:lnTo>
                <a:lnTo>
                  <a:pt x="8684016"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33660" y="3924164"/>
            <a:ext cx="12164805" cy="1216480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1F28"/>
            </a:solidFill>
          </p:spPr>
        </p:sp>
        <p:sp>
          <p:nvSpPr>
            <p:cNvPr id="4" name="TextBox 4"/>
            <p:cNvSpPr txBox="1"/>
            <p:nvPr/>
          </p:nvSpPr>
          <p:spPr>
            <a:xfrm>
              <a:off x="76200" y="76200"/>
              <a:ext cx="660400" cy="660400"/>
            </a:xfrm>
            <a:prstGeom prst="rect">
              <a:avLst/>
            </a:prstGeom>
          </p:spPr>
          <p:txBody>
            <a:bodyPr lIns="50800" tIns="50800" rIns="50800" bIns="50800" rtlCol="0" anchor="ctr"/>
            <a:lstStyle/>
            <a:p>
              <a:pPr algn="ctr">
                <a:lnSpc>
                  <a:spcPts val="2157"/>
                </a:lnSpc>
              </a:pPr>
              <a:endParaRPr/>
            </a:p>
          </p:txBody>
        </p:sp>
      </p:grpSp>
      <p:grpSp>
        <p:nvGrpSpPr>
          <p:cNvPr id="5" name="Group 5"/>
          <p:cNvGrpSpPr>
            <a:grpSpLocks noChangeAspect="1"/>
          </p:cNvGrpSpPr>
          <p:nvPr/>
        </p:nvGrpSpPr>
        <p:grpSpPr>
          <a:xfrm>
            <a:off x="13252265" y="1028700"/>
            <a:ext cx="4007035" cy="7928607"/>
            <a:chOff x="0" y="0"/>
            <a:chExt cx="2620010" cy="5184140"/>
          </a:xfrm>
        </p:grpSpPr>
        <p:sp>
          <p:nvSpPr>
            <p:cNvPr id="6" name="Freeform 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7" name="Freeform 7"/>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112628" r="-112628"/>
              </a:stretch>
            </a:blipFill>
          </p:spPr>
        </p:sp>
        <p:sp>
          <p:nvSpPr>
            <p:cNvPr id="8" name="Freeform 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9" name="Freeform 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10" name="Freeform 1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11" name="Freeform 1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12" name="Freeform 1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13" name="Freeform 1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14" name="Freeform 1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grpSp>
        <p:nvGrpSpPr>
          <p:cNvPr id="15" name="Group 15"/>
          <p:cNvGrpSpPr>
            <a:grpSpLocks noChangeAspect="1"/>
          </p:cNvGrpSpPr>
          <p:nvPr/>
        </p:nvGrpSpPr>
        <p:grpSpPr>
          <a:xfrm>
            <a:off x="8868527" y="3690675"/>
            <a:ext cx="4009751" cy="7933981"/>
            <a:chOff x="0" y="0"/>
            <a:chExt cx="2620010" cy="5184140"/>
          </a:xfrm>
        </p:grpSpPr>
        <p:sp>
          <p:nvSpPr>
            <p:cNvPr id="16" name="Freeform 1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17" name="Freeform 17"/>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112324" r="-112324"/>
              </a:stretch>
            </a:blipFill>
          </p:spPr>
        </p:sp>
        <p:sp>
          <p:nvSpPr>
            <p:cNvPr id="18" name="Freeform 1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19" name="Freeform 1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20" name="Freeform 2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21" name="Freeform 2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22" name="Freeform 2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23" name="Freeform 2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24" name="Freeform 2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id="25" name="Freeform 25"/>
          <p:cNvSpPr/>
          <p:nvPr/>
        </p:nvSpPr>
        <p:spPr>
          <a:xfrm flipV="1">
            <a:off x="-3692884" y="8433637"/>
            <a:ext cx="12561411" cy="2637896"/>
          </a:xfrm>
          <a:custGeom>
            <a:avLst/>
            <a:gdLst/>
            <a:ahLst/>
            <a:cxnLst/>
            <a:rect l="l" t="t" r="r" b="b"/>
            <a:pathLst>
              <a:path w="12561411" h="2637896">
                <a:moveTo>
                  <a:pt x="0" y="2637896"/>
                </a:moveTo>
                <a:lnTo>
                  <a:pt x="12561411" y="2637896"/>
                </a:lnTo>
                <a:lnTo>
                  <a:pt x="12561411" y="0"/>
                </a:lnTo>
                <a:lnTo>
                  <a:pt x="0" y="0"/>
                </a:lnTo>
                <a:lnTo>
                  <a:pt x="0" y="2637896"/>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6" name="Freeform 26"/>
          <p:cNvSpPr/>
          <p:nvPr/>
        </p:nvSpPr>
        <p:spPr>
          <a:xfrm>
            <a:off x="0" y="-23619"/>
            <a:ext cx="3406189" cy="2104637"/>
          </a:xfrm>
          <a:custGeom>
            <a:avLst/>
            <a:gdLst/>
            <a:ahLst/>
            <a:cxnLst/>
            <a:rect l="l" t="t" r="r" b="b"/>
            <a:pathLst>
              <a:path w="3406189" h="2104637">
                <a:moveTo>
                  <a:pt x="0" y="0"/>
                </a:moveTo>
                <a:lnTo>
                  <a:pt x="3406189" y="0"/>
                </a:lnTo>
                <a:lnTo>
                  <a:pt x="3406189" y="2104638"/>
                </a:lnTo>
                <a:lnTo>
                  <a:pt x="0" y="2104638"/>
                </a:lnTo>
                <a:lnTo>
                  <a:pt x="0" y="0"/>
                </a:lnTo>
                <a:close/>
              </a:path>
            </a:pathLst>
          </a:custGeom>
          <a:blipFill>
            <a:blip r:embed="rId6"/>
            <a:stretch>
              <a:fillRect/>
            </a:stretch>
          </a:blipFill>
        </p:spPr>
      </p:sp>
      <p:sp>
        <p:nvSpPr>
          <p:cNvPr id="27" name="TextBox 27"/>
          <p:cNvSpPr txBox="1"/>
          <p:nvPr/>
        </p:nvSpPr>
        <p:spPr>
          <a:xfrm>
            <a:off x="945347" y="2423159"/>
            <a:ext cx="6916838" cy="5008598"/>
          </a:xfrm>
          <a:prstGeom prst="rect">
            <a:avLst/>
          </a:prstGeom>
        </p:spPr>
        <p:txBody>
          <a:bodyPr lIns="0" tIns="0" rIns="0" bIns="0" rtlCol="0" anchor="t">
            <a:spAutoFit/>
          </a:bodyPr>
          <a:lstStyle/>
          <a:p>
            <a:pPr algn="ctr">
              <a:lnSpc>
                <a:spcPts val="4800"/>
              </a:lnSpc>
            </a:pPr>
            <a:r>
              <a:rPr lang="en-US" sz="4800" b="1">
                <a:solidFill>
                  <a:srgbClr val="303030"/>
                </a:solidFill>
                <a:latin typeface="Futura Ultra-Bold"/>
                <a:ea typeface="Futura Ultra-Bold"/>
                <a:cs typeface="Futura Ultra-Bold"/>
                <a:sym typeface="Futura Ultra-Bold"/>
              </a:rPr>
              <a:t>TEMA 1:</a:t>
            </a:r>
          </a:p>
          <a:p>
            <a:pPr algn="ctr">
              <a:lnSpc>
                <a:spcPts val="4800"/>
              </a:lnSpc>
            </a:pPr>
            <a:endParaRPr lang="en-US" sz="4800" b="1">
              <a:solidFill>
                <a:srgbClr val="303030"/>
              </a:solidFill>
              <a:latin typeface="Futura Ultra-Bold"/>
              <a:ea typeface="Futura Ultra-Bold"/>
              <a:cs typeface="Futura Ultra-Bold"/>
              <a:sym typeface="Futura Ultra-Bold"/>
            </a:endParaRPr>
          </a:p>
          <a:p>
            <a:pPr algn="ctr">
              <a:lnSpc>
                <a:spcPts val="4800"/>
              </a:lnSpc>
            </a:pPr>
            <a:r>
              <a:rPr lang="en-US" sz="4800" b="1">
                <a:solidFill>
                  <a:srgbClr val="303030"/>
                </a:solidFill>
                <a:latin typeface="Futura Ultra-Bold"/>
                <a:ea typeface="Futura Ultra-Bold"/>
                <a:cs typeface="Futura Ultra-Bold"/>
                <a:sym typeface="Futura Ultra-Bold"/>
              </a:rPr>
              <a:t>RESPONSABILIDAD SOCIAL DE LAS EMPRESAS MINERAS E INICIATIVAS SOCIALES CON LA ISO 26000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3888821"/>
          </a:xfrm>
          <a:prstGeom prst="rect">
            <a:avLst/>
          </a:prstGeom>
        </p:spPr>
        <p:txBody>
          <a:bodyPr lIns="0" tIns="0" rIns="0" bIns="0" rtlCol="0" anchor="t">
            <a:spAutoFit/>
          </a:bodyPr>
          <a:lstStyle/>
          <a:p>
            <a:pPr algn="l">
              <a:lnSpc>
                <a:spcPts val="3360"/>
              </a:lnSpc>
            </a:pPr>
            <a:r>
              <a:rPr lang="es-ES" sz="2400" b="0" i="0" dirty="0">
                <a:solidFill>
                  <a:srgbClr val="000000"/>
                </a:solidFill>
                <a:effectLst/>
                <a:latin typeface="Inter" panose="02000503000000020004" pitchFamily="50" charset="0"/>
                <a:ea typeface="Inter" panose="02000503000000020004" pitchFamily="50" charset="0"/>
                <a:cs typeface="Inter" panose="02000503000000020004" pitchFamily="50" charset="0"/>
              </a:rPr>
              <a:t>La denominada responsabilidad social empresarial (</a:t>
            </a:r>
            <a:r>
              <a:rPr lang="es-ES" sz="2400" b="0" i="0" dirty="0" err="1">
                <a:solidFill>
                  <a:srgbClr val="000000"/>
                </a:solidFill>
                <a:effectLst/>
                <a:latin typeface="Inter" panose="02000503000000020004" pitchFamily="50" charset="0"/>
                <a:ea typeface="Inter" panose="02000503000000020004" pitchFamily="50" charset="0"/>
                <a:cs typeface="Inter" panose="02000503000000020004" pitchFamily="50" charset="0"/>
              </a:rPr>
              <a:t>RSE</a:t>
            </a:r>
            <a:r>
              <a:rPr lang="es-ES" sz="2400" b="0" i="0" dirty="0">
                <a:solidFill>
                  <a:srgbClr val="000000"/>
                </a:solidFill>
                <a:effectLst/>
                <a:latin typeface="Inter" panose="02000503000000020004" pitchFamily="50" charset="0"/>
                <a:ea typeface="Inter" panose="02000503000000020004" pitchFamily="50" charset="0"/>
                <a:cs typeface="Inter" panose="02000503000000020004" pitchFamily="50" charset="0"/>
              </a:rPr>
              <a:t>) —o responsabilidad social corporativa (</a:t>
            </a:r>
            <a:r>
              <a:rPr lang="es-ES" sz="2400" b="0" i="0" dirty="0" err="1">
                <a:solidFill>
                  <a:srgbClr val="000000"/>
                </a:solidFill>
                <a:effectLst/>
                <a:latin typeface="Inter" panose="02000503000000020004" pitchFamily="50" charset="0"/>
                <a:ea typeface="Inter" panose="02000503000000020004" pitchFamily="50" charset="0"/>
                <a:cs typeface="Inter" panose="02000503000000020004" pitchFamily="50" charset="0"/>
              </a:rPr>
              <a:t>RSC</a:t>
            </a:r>
            <a:r>
              <a:rPr lang="es-ES" sz="2400" b="0" i="0" dirty="0">
                <a:solidFill>
                  <a:srgbClr val="000000"/>
                </a:solidFill>
                <a:effectLst/>
                <a:latin typeface="Inter" panose="02000503000000020004" pitchFamily="50" charset="0"/>
                <a:ea typeface="Inter" panose="02000503000000020004" pitchFamily="50" charset="0"/>
                <a:cs typeface="Inter" panose="02000503000000020004" pitchFamily="50" charset="0"/>
              </a:rPr>
              <a:t>)— no es un concepto nuevo. Sus inicios datan de principios del siglo XX y su estudio moderno tuvo como pionero al economista Howard R. Bowen quien, en 1953, propuso que las empresas deberían tomar en cuenta las consecuencias sociales de sus decisiones. La </a:t>
            </a:r>
            <a:r>
              <a:rPr lang="es-ES" sz="2400" b="0" i="0" dirty="0" err="1">
                <a:solidFill>
                  <a:srgbClr val="000000"/>
                </a:solidFill>
                <a:effectLst/>
                <a:latin typeface="Inter" panose="02000503000000020004" pitchFamily="50" charset="0"/>
                <a:ea typeface="Inter" panose="02000503000000020004" pitchFamily="50" charset="0"/>
                <a:cs typeface="Inter" panose="02000503000000020004" pitchFamily="50" charset="0"/>
              </a:rPr>
              <a:t>RSE</a:t>
            </a:r>
            <a:r>
              <a:rPr lang="es-ES" sz="2400" b="0" i="0" dirty="0">
                <a:solidFill>
                  <a:srgbClr val="000000"/>
                </a:solidFill>
                <a:effectLst/>
                <a:latin typeface="Inter" panose="02000503000000020004" pitchFamily="50" charset="0"/>
                <a:ea typeface="Inter" panose="02000503000000020004" pitchFamily="50" charset="0"/>
                <a:cs typeface="Inter" panose="02000503000000020004" pitchFamily="50" charset="0"/>
              </a:rPr>
              <a:t> incorporada a la gestión empresarial, acompaña a los nuevos modelos socioeconómicos que demandan de las empresas en general, objetivos más amplios que la exclusiva maximización de los beneficios económicos. El concepto sobre lo que es y lo que abarca la responsabilidad empresarial ha evolucionado en los últimos 50 años, pero su principal sustento está en la idea de la empresa como una organización que responde a criterios éticos de comportamiento.</a:t>
            </a:r>
            <a:endPar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endParaRPr>
          </a:p>
        </p:txBody>
      </p:sp>
      <p:sp>
        <p:nvSpPr>
          <p:cNvPr id="8" name="TextBox 8"/>
          <p:cNvSpPr txBox="1"/>
          <p:nvPr/>
        </p:nvSpPr>
        <p:spPr>
          <a:xfrm>
            <a:off x="921543" y="3168257"/>
            <a:ext cx="12595573"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RESPONSABILIDAD SOCIAL EMPRESARIAL (RSE)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3894784"/>
          </a:xfrm>
          <a:prstGeom prst="rect">
            <a:avLst/>
          </a:prstGeom>
        </p:spPr>
        <p:txBody>
          <a:bodyPr lIns="0" tIns="0" rIns="0" bIns="0" rtlCol="0" anchor="t">
            <a:spAutoFit/>
          </a:bodyPr>
          <a:lstStyle/>
          <a:p>
            <a:pPr algn="l">
              <a:lnSpc>
                <a:spcPts val="3360"/>
              </a:lnSpc>
            </a:pPr>
            <a:r>
              <a:rPr lang="es-ES" sz="2400" b="0" i="0" dirty="0">
                <a:solidFill>
                  <a:srgbClr val="000000"/>
                </a:solidFill>
                <a:effectLst/>
                <a:latin typeface="Inter" panose="02000503000000020004" pitchFamily="50" charset="0"/>
                <a:ea typeface="Inter" panose="02000503000000020004" pitchFamily="50" charset="0"/>
                <a:cs typeface="Inter" panose="02000503000000020004" pitchFamily="50" charset="0"/>
              </a:rPr>
              <a:t>Antes de desarrollar el contenido de la </a:t>
            </a:r>
            <a:r>
              <a:rPr lang="es-ES" sz="2400" b="0" i="0" dirty="0" err="1">
                <a:solidFill>
                  <a:srgbClr val="000000"/>
                </a:solidFill>
                <a:effectLst/>
                <a:latin typeface="Inter" panose="02000503000000020004" pitchFamily="50" charset="0"/>
                <a:ea typeface="Inter" panose="02000503000000020004" pitchFamily="50" charset="0"/>
                <a:cs typeface="Inter" panose="02000503000000020004" pitchFamily="50" charset="0"/>
              </a:rPr>
              <a:t>RSE</a:t>
            </a:r>
            <a:r>
              <a:rPr lang="es-ES" sz="2400" b="0" i="0" dirty="0">
                <a:solidFill>
                  <a:srgbClr val="000000"/>
                </a:solidFill>
                <a:effectLst/>
                <a:latin typeface="Inter" panose="02000503000000020004" pitchFamily="50" charset="0"/>
                <a:ea typeface="Inter" panose="02000503000000020004" pitchFamily="50" charset="0"/>
                <a:cs typeface="Inter" panose="02000503000000020004" pitchFamily="50" charset="0"/>
              </a:rPr>
              <a:t> cabe recordar conceptos como Desarrollo Sostenible y Responsabilidad Social. </a:t>
            </a:r>
          </a:p>
          <a:p>
            <a:pPr algn="l">
              <a:lnSpc>
                <a:spcPts val="3360"/>
              </a:lnSpc>
            </a:pPr>
            <a:endPar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endParaRPr>
          </a:p>
          <a:p>
            <a:pPr algn="l">
              <a:lnSpc>
                <a:spcPts val="3360"/>
              </a:lnSpc>
            </a:pPr>
            <a:r>
              <a:rPr lang="es-ES" sz="2400" b="0" i="0" dirty="0">
                <a:solidFill>
                  <a:srgbClr val="000000"/>
                </a:solidFill>
                <a:effectLst/>
                <a:latin typeface="Inter" panose="02000503000000020004" pitchFamily="50" charset="0"/>
                <a:ea typeface="Inter" panose="02000503000000020004" pitchFamily="50" charset="0"/>
                <a:cs typeface="Inter" panose="02000503000000020004" pitchFamily="50" charset="0"/>
              </a:rPr>
              <a:t>El Desarrollo Sostenible fue definido en el Informe Brundtland como “el desarrollo que satisface las necesidades del presente sin poner en peligro la capacidad de las futuras generaciones para satisfacer sus propias necesidades”. Hay que tener en cuenta que el concepto de desarrollo sostenible no se restringe únicamente al crecimiento económico, sino que involucra un vector ambiental, uno económico y uno social. Es un proceso de mejora progresiva en la calidad de vida del ser humano, que lo coloca como centro y sujeto primordial del desarrollo.</a:t>
            </a:r>
            <a:endPar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endParaRPr>
          </a:p>
        </p:txBody>
      </p:sp>
      <p:sp>
        <p:nvSpPr>
          <p:cNvPr id="8" name="TextBox 8"/>
          <p:cNvSpPr txBox="1"/>
          <p:nvPr/>
        </p:nvSpPr>
        <p:spPr>
          <a:xfrm>
            <a:off x="921543" y="3168257"/>
            <a:ext cx="12595573"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RESPONSABILIDAD SOCIAL EMPRESARIAL (RSE)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5196872"/>
          </a:xfrm>
          <a:prstGeom prst="rect">
            <a:avLst/>
          </a:prstGeom>
        </p:spPr>
        <p:txBody>
          <a:bodyPr lIns="0" tIns="0" rIns="0" bIns="0" rtlCol="0" anchor="t">
            <a:spAutoFit/>
          </a:bodyPr>
          <a:lstStyle/>
          <a:p>
            <a:pPr algn="l">
              <a:lnSpc>
                <a:spcPts val="3360"/>
              </a:lnSpc>
            </a:pPr>
            <a:r>
              <a:rPr lang="es-ES" sz="2400" b="0" i="0" dirty="0">
                <a:solidFill>
                  <a:srgbClr val="000000"/>
                </a:solidFill>
                <a:effectLst/>
                <a:latin typeface="Inter" panose="02000503000000020004" pitchFamily="50" charset="0"/>
                <a:ea typeface="Inter" panose="02000503000000020004" pitchFamily="50" charset="0"/>
                <a:cs typeface="Inter" panose="02000503000000020004" pitchFamily="50" charset="0"/>
              </a:rPr>
              <a:t>La Responsabilidad Social, que engloba a la </a:t>
            </a:r>
            <a:r>
              <a:rPr lang="es-ES" sz="2400" b="0" i="0" dirty="0" err="1">
                <a:solidFill>
                  <a:srgbClr val="000000"/>
                </a:solidFill>
                <a:effectLst/>
                <a:latin typeface="Inter" panose="02000503000000020004" pitchFamily="50" charset="0"/>
                <a:ea typeface="Inter" panose="02000503000000020004" pitchFamily="50" charset="0"/>
                <a:cs typeface="Inter" panose="02000503000000020004" pitchFamily="50" charset="0"/>
              </a:rPr>
              <a:t>RSE</a:t>
            </a:r>
            <a:r>
              <a:rPr lang="es-ES" sz="2400" b="0" i="0" dirty="0">
                <a:solidFill>
                  <a:srgbClr val="000000"/>
                </a:solidFill>
                <a:effectLst/>
                <a:latin typeface="Inter" panose="02000503000000020004" pitchFamily="50" charset="0"/>
                <a:ea typeface="Inter" panose="02000503000000020004" pitchFamily="50" charset="0"/>
                <a:cs typeface="Inter" panose="02000503000000020004" pitchFamily="50" charset="0"/>
              </a:rPr>
              <a:t>, se entiende como el deber que tenemos todos los ciudadanos, incluyendo a las instituciones —públicas y privadas— y las organizaciones de la sociedad civil, para contribuir al incremento del bienestar de la sociedad local y global. La </a:t>
            </a:r>
            <a:r>
              <a:rPr lang="es-ES" sz="2400" b="0" i="0" dirty="0" err="1">
                <a:solidFill>
                  <a:srgbClr val="000000"/>
                </a:solidFill>
                <a:effectLst/>
                <a:latin typeface="Inter" panose="02000503000000020004" pitchFamily="50" charset="0"/>
                <a:ea typeface="Inter" panose="02000503000000020004" pitchFamily="50" charset="0"/>
                <a:cs typeface="Inter" panose="02000503000000020004" pitchFamily="50" charset="0"/>
              </a:rPr>
              <a:t>RSE</a:t>
            </a:r>
            <a:r>
              <a:rPr lang="es-ES" sz="2400" b="0" i="0" dirty="0">
                <a:solidFill>
                  <a:srgbClr val="000000"/>
                </a:solidFill>
                <a:effectLst/>
                <a:latin typeface="Inter" panose="02000503000000020004" pitchFamily="50" charset="0"/>
                <a:ea typeface="Inter" panose="02000503000000020004" pitchFamily="50" charset="0"/>
                <a:cs typeface="Inter" panose="02000503000000020004" pitchFamily="50" charset="0"/>
              </a:rPr>
              <a:t> alude a esta responsabilidad social, pero circunscrita de manera específica al accionar de las 4 empresas y es la forma de expresar el compromiso de este sector con el desarrollo sostenible. El concepto de Responsabilidad Social en sus inicios se refería prioritariamente a actividades de corte caritativo, hoy involucra una noción más amplia, que está vinculada a una forma de hacer negocios considerando los impactos sociales, ambientales y económicos de la actividad empresarial e integrando en su accionar el respeto a principios éticos, la salud y seguridad ocupacional, las buenas prácticas laborales, el respeto a los derechos de las personas y el cuidado del medio ambiente. </a:t>
            </a:r>
            <a:endPar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endParaRPr>
          </a:p>
          <a:p>
            <a:pPr algn="l">
              <a:lnSpc>
                <a:spcPts val="3360"/>
              </a:lnSpc>
            </a:pPr>
            <a:endPar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endParaRPr>
          </a:p>
        </p:txBody>
      </p:sp>
      <p:sp>
        <p:nvSpPr>
          <p:cNvPr id="8" name="TextBox 8"/>
          <p:cNvSpPr txBox="1"/>
          <p:nvPr/>
        </p:nvSpPr>
        <p:spPr>
          <a:xfrm>
            <a:off x="921543" y="3168257"/>
            <a:ext cx="12595573"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RESPONSABILIDAD SOCIAL EMPRESARIAL (RSE)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5632889"/>
          </a:xfrm>
          <a:prstGeom prst="rect">
            <a:avLst/>
          </a:prstGeom>
        </p:spPr>
        <p:txBody>
          <a:bodyPr lIns="0" tIns="0" rIns="0" bIns="0" rtlCol="0" anchor="t">
            <a:spAutoFit/>
          </a:bodyPr>
          <a:lstStyle/>
          <a:p>
            <a:pPr algn="l">
              <a:lnSpc>
                <a:spcPts val="3360"/>
              </a:lnSpc>
            </a:pPr>
            <a:r>
              <a:rPr lang="es-ES" sz="2400" b="0" i="0" dirty="0">
                <a:solidFill>
                  <a:srgbClr val="000000"/>
                </a:solidFill>
                <a:effectLst/>
                <a:latin typeface="Inter" panose="02000503000000020004" pitchFamily="50" charset="0"/>
                <a:ea typeface="Inter" panose="02000503000000020004" pitchFamily="50" charset="0"/>
                <a:cs typeface="Inter" panose="02000503000000020004" pitchFamily="50" charset="0"/>
              </a:rPr>
              <a:t>La empresa se introduce en la sociedad no solo como sujeto económico activo, sino también como un agente social, y es a través de la </a:t>
            </a:r>
            <a:r>
              <a:rPr lang="es-ES" sz="2400" b="0" i="0" dirty="0" err="1">
                <a:solidFill>
                  <a:srgbClr val="000000"/>
                </a:solidFill>
                <a:effectLst/>
                <a:latin typeface="Inter" panose="02000503000000020004" pitchFamily="50" charset="0"/>
                <a:ea typeface="Inter" panose="02000503000000020004" pitchFamily="50" charset="0"/>
                <a:cs typeface="Inter" panose="02000503000000020004" pitchFamily="50" charset="0"/>
              </a:rPr>
              <a:t>RSE</a:t>
            </a:r>
            <a:r>
              <a:rPr lang="es-ES" sz="2400" b="0" i="0" dirty="0">
                <a:solidFill>
                  <a:srgbClr val="000000"/>
                </a:solidFill>
                <a:effectLst/>
                <a:latin typeface="Inter" panose="02000503000000020004" pitchFamily="50" charset="0"/>
                <a:ea typeface="Inter" panose="02000503000000020004" pitchFamily="50" charset="0"/>
                <a:cs typeface="Inter" panose="02000503000000020004" pitchFamily="50" charset="0"/>
              </a:rPr>
              <a:t> que los empresarios pueden comprometerse a participar activamente en el desarrollo sostenible. Este cambio de status de la empresa en la sociedad moderna es fundamental en la </a:t>
            </a:r>
            <a:r>
              <a:rPr lang="es-ES" sz="2400" b="0" i="0" dirty="0" err="1">
                <a:solidFill>
                  <a:srgbClr val="000000"/>
                </a:solidFill>
                <a:effectLst/>
                <a:latin typeface="Inter" panose="02000503000000020004" pitchFamily="50" charset="0"/>
                <a:ea typeface="Inter" panose="02000503000000020004" pitchFamily="50" charset="0"/>
                <a:cs typeface="Inter" panose="02000503000000020004" pitchFamily="50" charset="0"/>
              </a:rPr>
              <a:t>RSE</a:t>
            </a:r>
            <a:r>
              <a:rPr lang="es-ES" sz="2400" b="0" i="0" dirty="0">
                <a:solidFill>
                  <a:srgbClr val="000000"/>
                </a:solidFill>
                <a:effectLst/>
                <a:latin typeface="Inter" panose="02000503000000020004" pitchFamily="50" charset="0"/>
                <a:ea typeface="Inter" panose="02000503000000020004" pitchFamily="50" charset="0"/>
                <a:cs typeface="Inter" panose="02000503000000020004" pitchFamily="50" charset="0"/>
              </a:rPr>
              <a:t>.</a:t>
            </a:r>
          </a:p>
          <a:p>
            <a:pPr algn="l">
              <a:lnSpc>
                <a:spcPts val="3360"/>
              </a:lnSpc>
            </a:pPr>
            <a:endPar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endParaRPr>
          </a:p>
          <a:p>
            <a:pPr algn="l">
              <a:lnSpc>
                <a:spcPts val="3360"/>
              </a:lnSpc>
            </a:pP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Para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el</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Centro Interamericano de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Investigación</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y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Documentación</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de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Formación</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Profesional</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organismo</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auspiciado</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por</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la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Organización</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Internacional del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Trabajo</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(OIT) la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definición</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de la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responsabilidad</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social de la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empresa</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admite</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varias</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acepciones</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pero</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todas</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coinciden</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en</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que se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trata</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de un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enfoque</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que se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basa</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en</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un conjunto integral de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políticas</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prácticas</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y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programas</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centrados</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en</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el</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respeto</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por</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la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ética</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las personas, las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comunidades</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y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el</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medio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ambiente</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La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RSE</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se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emplea</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para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describir</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una</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amplia</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variedad</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de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iniciativas</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de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orden</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económico</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social y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medioambiental</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tomadas</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por</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empresas</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que no se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fundan</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exclusivamente</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en</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b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b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requisitos</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jurídicos</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y que son,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en</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su</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mayoría</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de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naturaleza</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r>
              <a:rPr lang="en-US" sz="2400" dirty="0" err="1">
                <a:solidFill>
                  <a:srgbClr val="000000"/>
                </a:solidFill>
                <a:latin typeface="Inter" panose="02000503000000020004" pitchFamily="50" charset="0"/>
                <a:ea typeface="Inter" panose="02000503000000020004" pitchFamily="50" charset="0"/>
                <a:cs typeface="Inter" panose="02000503000000020004" pitchFamily="50" charset="0"/>
                <a:sym typeface="Inter"/>
              </a:rPr>
              <a:t>voluntaria</a:t>
            </a:r>
            <a:r>
              <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rPr>
              <a:t>. </a:t>
            </a:r>
          </a:p>
        </p:txBody>
      </p:sp>
      <p:sp>
        <p:nvSpPr>
          <p:cNvPr id="8" name="TextBox 8"/>
          <p:cNvSpPr txBox="1"/>
          <p:nvPr/>
        </p:nvSpPr>
        <p:spPr>
          <a:xfrm>
            <a:off x="921543" y="3168257"/>
            <a:ext cx="12595573"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RESPONSABILIDAD SOCIAL EMPRESARIAL (RSE)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5435538"/>
          </a:xfrm>
          <a:prstGeom prst="rect">
            <a:avLst/>
          </a:prstGeom>
        </p:spPr>
        <p:txBody>
          <a:bodyPr lIns="0" tIns="0" rIns="0" bIns="0" rtlCol="0" anchor="t">
            <a:spAutoFit/>
          </a:bodyPr>
          <a:lstStyle/>
          <a:p>
            <a:pPr algn="l">
              <a:lnSpc>
                <a:spcPts val="3360"/>
              </a:lnSpc>
            </a:pPr>
            <a:r>
              <a:rPr lang="en-US" sz="2400" dirty="0">
                <a:solidFill>
                  <a:srgbClr val="000000"/>
                </a:solidFill>
                <a:latin typeface="Inter"/>
                <a:ea typeface="Inter"/>
                <a:cs typeface="Inter"/>
                <a:sym typeface="Inter"/>
              </a:rPr>
              <a:t>El Banco Mundial define la </a:t>
            </a:r>
            <a:r>
              <a:rPr lang="en-US" sz="2400" dirty="0" err="1">
                <a:solidFill>
                  <a:srgbClr val="000000"/>
                </a:solidFill>
                <a:latin typeface="Inter"/>
                <a:ea typeface="Inter"/>
                <a:cs typeface="Inter"/>
                <a:sym typeface="Inter"/>
              </a:rPr>
              <a:t>RSE</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como</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el</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compromiso</a:t>
            </a:r>
            <a:r>
              <a:rPr lang="en-US" sz="2400" dirty="0">
                <a:solidFill>
                  <a:srgbClr val="000000"/>
                </a:solidFill>
                <a:latin typeface="Inter"/>
                <a:ea typeface="Inter"/>
                <a:cs typeface="Inter"/>
                <a:sym typeface="Inter"/>
              </a:rPr>
              <a:t> de las </a:t>
            </a:r>
            <a:r>
              <a:rPr lang="en-US" sz="2400" dirty="0" err="1">
                <a:solidFill>
                  <a:srgbClr val="000000"/>
                </a:solidFill>
                <a:latin typeface="Inter"/>
                <a:ea typeface="Inter"/>
                <a:cs typeface="Inter"/>
                <a:sym typeface="Inter"/>
              </a:rPr>
              <a:t>empresas</a:t>
            </a:r>
            <a:r>
              <a:rPr lang="en-US" sz="2400" dirty="0">
                <a:solidFill>
                  <a:srgbClr val="000000"/>
                </a:solidFill>
                <a:latin typeface="Inter"/>
                <a:ea typeface="Inter"/>
                <a:cs typeface="Inter"/>
                <a:sym typeface="Inter"/>
              </a:rPr>
              <a:t> para </a:t>
            </a:r>
            <a:r>
              <a:rPr lang="en-US" sz="2400" dirty="0" err="1">
                <a:solidFill>
                  <a:srgbClr val="000000"/>
                </a:solidFill>
                <a:latin typeface="Inter"/>
                <a:ea typeface="Inter"/>
                <a:cs typeface="Inter"/>
                <a:sym typeface="Inter"/>
              </a:rPr>
              <a:t>comportarse</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éticamente</a:t>
            </a:r>
            <a:r>
              <a:rPr lang="en-US" sz="2400" dirty="0">
                <a:solidFill>
                  <a:srgbClr val="000000"/>
                </a:solidFill>
                <a:latin typeface="Inter"/>
                <a:ea typeface="Inter"/>
                <a:cs typeface="Inter"/>
                <a:sym typeface="Inter"/>
              </a:rPr>
              <a:t> y para </a:t>
            </a:r>
            <a:r>
              <a:rPr lang="en-US" sz="2400" dirty="0" err="1">
                <a:solidFill>
                  <a:srgbClr val="000000"/>
                </a:solidFill>
                <a:latin typeface="Inter"/>
                <a:ea typeface="Inter"/>
                <a:cs typeface="Inter"/>
                <a:sym typeface="Inter"/>
              </a:rPr>
              <a:t>contribuir</a:t>
            </a:r>
            <a:r>
              <a:rPr lang="en-US" sz="2400" dirty="0">
                <a:solidFill>
                  <a:srgbClr val="000000"/>
                </a:solidFill>
                <a:latin typeface="Inter"/>
                <a:ea typeface="Inter"/>
                <a:cs typeface="Inter"/>
                <a:sym typeface="Inter"/>
              </a:rPr>
              <a:t> al </a:t>
            </a:r>
            <a:r>
              <a:rPr lang="en-US" sz="2400" dirty="0" err="1">
                <a:solidFill>
                  <a:srgbClr val="000000"/>
                </a:solidFill>
                <a:latin typeface="Inter"/>
                <a:ea typeface="Inter"/>
                <a:cs typeface="Inter"/>
                <a:sym typeface="Inter"/>
              </a:rPr>
              <a:t>desarrollo</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económico</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sustentable</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trabajando</a:t>
            </a:r>
            <a:r>
              <a:rPr lang="en-US" sz="2400" dirty="0">
                <a:solidFill>
                  <a:srgbClr val="000000"/>
                </a:solidFill>
                <a:latin typeface="Inter"/>
                <a:ea typeface="Inter"/>
                <a:cs typeface="Inter"/>
                <a:sym typeface="Inter"/>
              </a:rPr>
              <a:t> con </a:t>
            </a:r>
            <a:r>
              <a:rPr lang="en-US" sz="2400" dirty="0" err="1">
                <a:solidFill>
                  <a:srgbClr val="000000"/>
                </a:solidFill>
                <a:latin typeface="Inter"/>
                <a:ea typeface="Inter"/>
                <a:cs typeface="Inter"/>
                <a:sym typeface="Inter"/>
              </a:rPr>
              <a:t>todos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los</a:t>
            </a:r>
            <a:r>
              <a:rPr lang="en-US" sz="2400" dirty="0">
                <a:solidFill>
                  <a:srgbClr val="000000"/>
                </a:solidFill>
                <a:latin typeface="Inter"/>
                <a:ea typeface="Inter"/>
                <a:cs typeface="Inter"/>
                <a:sym typeface="Inter"/>
              </a:rPr>
              <a:t> stakeholders </a:t>
            </a:r>
            <a:r>
              <a:rPr lang="en-US" sz="2400" dirty="0" err="1">
                <a:solidFill>
                  <a:srgbClr val="000000"/>
                </a:solidFill>
                <a:latin typeface="Inter"/>
                <a:ea typeface="Inter"/>
                <a:cs typeface="Inter"/>
                <a:sym typeface="Inter"/>
              </a:rPr>
              <a:t>relevantes</a:t>
            </a:r>
            <a:r>
              <a:rPr lang="en-US" sz="2400" dirty="0">
                <a:solidFill>
                  <a:srgbClr val="000000"/>
                </a:solidFill>
                <a:latin typeface="Inter"/>
                <a:ea typeface="Inter"/>
                <a:cs typeface="Inter"/>
                <a:sym typeface="Inter"/>
              </a:rPr>
              <a:t> para </a:t>
            </a:r>
            <a:r>
              <a:rPr lang="en-US" sz="2400" dirty="0" err="1">
                <a:solidFill>
                  <a:srgbClr val="000000"/>
                </a:solidFill>
                <a:latin typeface="Inter"/>
                <a:ea typeface="Inter"/>
                <a:cs typeface="Inter"/>
                <a:sym typeface="Inter"/>
              </a:rPr>
              <a:t>mejorar</a:t>
            </a:r>
            <a:r>
              <a:rPr lang="en-US" sz="2400" dirty="0">
                <a:solidFill>
                  <a:srgbClr val="000000"/>
                </a:solidFill>
                <a:latin typeface="Inter"/>
                <a:ea typeface="Inter"/>
                <a:cs typeface="Inter"/>
                <a:sym typeface="Inter"/>
              </a:rPr>
              <a:t> sus </a:t>
            </a:r>
            <a:r>
              <a:rPr lang="en-US" sz="2400" dirty="0" err="1">
                <a:solidFill>
                  <a:srgbClr val="000000"/>
                </a:solidFill>
                <a:latin typeface="Inter"/>
                <a:ea typeface="Inter"/>
                <a:cs typeface="Inter"/>
                <a:sym typeface="Inter"/>
              </a:rPr>
              <a:t>vidas</a:t>
            </a:r>
            <a:r>
              <a:rPr lang="en-US" sz="2400" dirty="0">
                <a:solidFill>
                  <a:srgbClr val="000000"/>
                </a:solidFill>
                <a:latin typeface="Inter"/>
                <a:ea typeface="Inter"/>
                <a:cs typeface="Inter"/>
                <a:sym typeface="Inter"/>
              </a:rPr>
              <a:t> de </a:t>
            </a:r>
            <a:r>
              <a:rPr lang="en-US" sz="2400" dirty="0" err="1">
                <a:solidFill>
                  <a:srgbClr val="000000"/>
                </a:solidFill>
                <a:latin typeface="Inter"/>
                <a:ea typeface="Inter"/>
                <a:cs typeface="Inter"/>
                <a:sym typeface="Inter"/>
              </a:rPr>
              <a:t>maneras</a:t>
            </a:r>
            <a:r>
              <a:rPr lang="en-US" sz="2400" dirty="0">
                <a:solidFill>
                  <a:srgbClr val="000000"/>
                </a:solidFill>
                <a:latin typeface="Inter"/>
                <a:ea typeface="Inter"/>
                <a:cs typeface="Inter"/>
                <a:sym typeface="Inter"/>
              </a:rPr>
              <a:t> que </a:t>
            </a:r>
            <a:r>
              <a:rPr lang="en-US" sz="2400" dirty="0" err="1">
                <a:solidFill>
                  <a:srgbClr val="000000"/>
                </a:solidFill>
                <a:latin typeface="Inter"/>
                <a:ea typeface="Inter"/>
                <a:cs typeface="Inter"/>
                <a:sym typeface="Inter"/>
              </a:rPr>
              <a:t>sean</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buenas</a:t>
            </a:r>
            <a:r>
              <a:rPr lang="en-US" sz="2400" dirty="0">
                <a:solidFill>
                  <a:srgbClr val="000000"/>
                </a:solidFill>
                <a:latin typeface="Inter"/>
                <a:ea typeface="Inter"/>
                <a:cs typeface="Inter"/>
                <a:sym typeface="Inter"/>
              </a:rPr>
              <a:t> para la </a:t>
            </a:r>
            <a:r>
              <a:rPr lang="en-US" sz="2400" dirty="0" err="1">
                <a:solidFill>
                  <a:srgbClr val="000000"/>
                </a:solidFill>
                <a:latin typeface="Inter"/>
                <a:ea typeface="Inter"/>
                <a:cs typeface="Inter"/>
                <a:sym typeface="Inter"/>
              </a:rPr>
              <a:t>empresa</a:t>
            </a:r>
            <a:r>
              <a:rPr lang="en-US" sz="2400" dirty="0">
                <a:solidFill>
                  <a:srgbClr val="000000"/>
                </a:solidFill>
                <a:latin typeface="Inter"/>
                <a:ea typeface="Inter"/>
                <a:cs typeface="Inter"/>
                <a:sym typeface="Inter"/>
              </a:rPr>
              <a:t>, la agenda del </a:t>
            </a:r>
            <a:r>
              <a:rPr lang="en-US" sz="2400" dirty="0" err="1">
                <a:solidFill>
                  <a:srgbClr val="000000"/>
                </a:solidFill>
                <a:latin typeface="Inter"/>
                <a:ea typeface="Inter"/>
                <a:cs typeface="Inter"/>
                <a:sym typeface="Inter"/>
              </a:rPr>
              <a:t>desarrollo</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sustentable</a:t>
            </a:r>
            <a:r>
              <a:rPr lang="en-US" sz="2400" dirty="0">
                <a:solidFill>
                  <a:srgbClr val="000000"/>
                </a:solidFill>
                <a:latin typeface="Inter"/>
                <a:ea typeface="Inter"/>
                <a:cs typeface="Inter"/>
                <a:sym typeface="Inter"/>
              </a:rPr>
              <a:t> y la </a:t>
            </a:r>
            <a:r>
              <a:rPr lang="en-US" sz="2400" dirty="0" err="1">
                <a:solidFill>
                  <a:srgbClr val="000000"/>
                </a:solidFill>
                <a:latin typeface="Inter"/>
                <a:ea typeface="Inter"/>
                <a:cs typeface="Inter"/>
                <a:sym typeface="Inter"/>
              </a:rPr>
              <a:t>sociedad</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en</a:t>
            </a:r>
            <a:r>
              <a:rPr lang="en-US" sz="2400" dirty="0">
                <a:solidFill>
                  <a:srgbClr val="000000"/>
                </a:solidFill>
                <a:latin typeface="Inter"/>
                <a:ea typeface="Inter"/>
                <a:cs typeface="Inter"/>
                <a:sym typeface="Inter"/>
              </a:rPr>
              <a:t> general”. Para </a:t>
            </a:r>
            <a:r>
              <a:rPr lang="en-US" sz="2400" dirty="0" err="1">
                <a:solidFill>
                  <a:srgbClr val="000000"/>
                </a:solidFill>
                <a:latin typeface="Inter"/>
                <a:ea typeface="Inter"/>
                <a:cs typeface="Inter"/>
                <a:sym typeface="Inter"/>
              </a:rPr>
              <a:t>el</a:t>
            </a:r>
            <a:r>
              <a:rPr lang="en-US" sz="2400" dirty="0">
                <a:solidFill>
                  <a:srgbClr val="000000"/>
                </a:solidFill>
                <a:latin typeface="Inter"/>
                <a:ea typeface="Inter"/>
                <a:cs typeface="Inter"/>
                <a:sym typeface="Inter"/>
              </a:rPr>
              <a:t> Banco Interamericano de Desarrollo (BID), la </a:t>
            </a:r>
            <a:r>
              <a:rPr lang="en-US" sz="2400" dirty="0" err="1">
                <a:solidFill>
                  <a:srgbClr val="000000"/>
                </a:solidFill>
                <a:latin typeface="Inter"/>
                <a:ea typeface="Inter"/>
                <a:cs typeface="Inter"/>
                <a:sym typeface="Inter"/>
              </a:rPr>
              <a:t>RSE</a:t>
            </a:r>
            <a:r>
              <a:rPr lang="en-US" sz="2400" dirty="0">
                <a:solidFill>
                  <a:srgbClr val="000000"/>
                </a:solidFill>
                <a:latin typeface="Inter"/>
                <a:ea typeface="Inter"/>
                <a:cs typeface="Inter"/>
                <a:sym typeface="Inter"/>
              </a:rPr>
              <a:t> “es </a:t>
            </a:r>
            <a:r>
              <a:rPr lang="en-US" sz="2400" dirty="0" err="1">
                <a:solidFill>
                  <a:srgbClr val="000000"/>
                </a:solidFill>
                <a:latin typeface="Inter"/>
                <a:ea typeface="Inter"/>
                <a:cs typeface="Inter"/>
                <a:sym typeface="Inter"/>
              </a:rPr>
              <a:t>una</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visión</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sobre</a:t>
            </a:r>
            <a:r>
              <a:rPr lang="en-US" sz="2400" dirty="0">
                <a:solidFill>
                  <a:srgbClr val="000000"/>
                </a:solidFill>
                <a:latin typeface="Inter"/>
                <a:ea typeface="Inter"/>
                <a:cs typeface="Inter"/>
                <a:sym typeface="Inter"/>
              </a:rPr>
              <a:t> la </a:t>
            </a:r>
            <a:r>
              <a:rPr lang="en-US" sz="2400" dirty="0" err="1">
                <a:solidFill>
                  <a:srgbClr val="000000"/>
                </a:solidFill>
                <a:latin typeface="Inter"/>
                <a:ea typeface="Inter"/>
                <a:cs typeface="Inter"/>
                <a:sym typeface="Inter"/>
              </a:rPr>
              <a:t>empresa</a:t>
            </a:r>
            <a:r>
              <a:rPr lang="en-US" sz="2400" dirty="0">
                <a:solidFill>
                  <a:srgbClr val="000000"/>
                </a:solidFill>
                <a:latin typeface="Inter"/>
                <a:ea typeface="Inter"/>
                <a:cs typeface="Inter"/>
                <a:sym typeface="Inter"/>
              </a:rPr>
              <a:t> que </a:t>
            </a:r>
            <a:r>
              <a:rPr lang="en-US" sz="2400" dirty="0" err="1">
                <a:solidFill>
                  <a:srgbClr val="000000"/>
                </a:solidFill>
                <a:latin typeface="Inter"/>
                <a:ea typeface="Inter"/>
                <a:cs typeface="Inter"/>
                <a:sym typeface="Inter"/>
              </a:rPr>
              <a:t>concibe</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el</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respeto</a:t>
            </a:r>
            <a:r>
              <a:rPr lang="en-US" sz="2400" dirty="0">
                <a:solidFill>
                  <a:srgbClr val="000000"/>
                </a:solidFill>
                <a:latin typeface="Inter"/>
                <a:ea typeface="Inter"/>
                <a:cs typeface="Inter"/>
                <a:sym typeface="Inter"/>
              </a:rPr>
              <a:t> a </a:t>
            </a:r>
            <a:r>
              <a:rPr lang="en-US" sz="2400" dirty="0" err="1">
                <a:solidFill>
                  <a:srgbClr val="000000"/>
                </a:solidFill>
                <a:latin typeface="Inter"/>
                <a:ea typeface="Inter"/>
                <a:cs typeface="Inter"/>
                <a:sym typeface="Inter"/>
              </a:rPr>
              <a:t>los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valores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éticos</a:t>
            </a:r>
            <a:r>
              <a:rPr lang="en-US" sz="2400" dirty="0">
                <a:solidFill>
                  <a:srgbClr val="000000"/>
                </a:solidFill>
                <a:latin typeface="Inter"/>
                <a:ea typeface="Inter"/>
                <a:cs typeface="Inter"/>
                <a:sym typeface="Inter"/>
              </a:rPr>
              <a:t>, a las personas, a las </a:t>
            </a:r>
            <a:r>
              <a:rPr lang="en-US" sz="2400" dirty="0" err="1">
                <a:solidFill>
                  <a:srgbClr val="000000"/>
                </a:solidFill>
                <a:latin typeface="Inter"/>
                <a:ea typeface="Inter"/>
                <a:cs typeface="Inter"/>
                <a:sym typeface="Inter"/>
              </a:rPr>
              <a:t>comunidades</a:t>
            </a:r>
            <a:r>
              <a:rPr lang="en-US" sz="2400" dirty="0">
                <a:solidFill>
                  <a:srgbClr val="000000"/>
                </a:solidFill>
                <a:latin typeface="Inter"/>
                <a:ea typeface="Inter"/>
                <a:cs typeface="Inter"/>
                <a:sym typeface="Inter"/>
              </a:rPr>
              <a:t> y al medio </a:t>
            </a:r>
            <a:r>
              <a:rPr lang="en-US" sz="2400" dirty="0" err="1">
                <a:solidFill>
                  <a:srgbClr val="000000"/>
                </a:solidFill>
                <a:latin typeface="Inter"/>
                <a:ea typeface="Inter"/>
                <a:cs typeface="Inter"/>
                <a:sym typeface="Inter"/>
              </a:rPr>
              <a:t>ambiente</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como</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una</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estrategia</a:t>
            </a:r>
            <a:r>
              <a:rPr lang="en-US" sz="2400" dirty="0">
                <a:solidFill>
                  <a:srgbClr val="000000"/>
                </a:solidFill>
                <a:latin typeface="Inter"/>
                <a:ea typeface="Inter"/>
                <a:cs typeface="Inter"/>
                <a:sym typeface="Inter"/>
              </a:rPr>
              <a:t> integral que </a:t>
            </a:r>
            <a:r>
              <a:rPr lang="en-US" sz="2400" dirty="0" err="1">
                <a:solidFill>
                  <a:srgbClr val="000000"/>
                </a:solidFill>
                <a:latin typeface="Inter"/>
                <a:ea typeface="Inter"/>
                <a:cs typeface="Inter"/>
                <a:sym typeface="Inter"/>
              </a:rPr>
              <a:t>incrementa</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el</a:t>
            </a:r>
            <a:r>
              <a:rPr lang="en-US" sz="2400" dirty="0">
                <a:solidFill>
                  <a:srgbClr val="000000"/>
                </a:solidFill>
                <a:latin typeface="Inter"/>
                <a:ea typeface="Inter"/>
                <a:cs typeface="Inter"/>
                <a:sym typeface="Inter"/>
              </a:rPr>
              <a:t> valor </a:t>
            </a:r>
            <a:r>
              <a:rPr lang="en-US" sz="2400" dirty="0" err="1">
                <a:solidFill>
                  <a:srgbClr val="000000"/>
                </a:solidFill>
                <a:latin typeface="Inter"/>
                <a:ea typeface="Inter"/>
                <a:cs typeface="Inter"/>
                <a:sym typeface="Inter"/>
              </a:rPr>
              <a:t>añadido</a:t>
            </a:r>
            <a:r>
              <a:rPr lang="en-US" sz="2400" dirty="0">
                <a:solidFill>
                  <a:srgbClr val="000000"/>
                </a:solidFill>
                <a:latin typeface="Inter"/>
                <a:ea typeface="Inter"/>
                <a:cs typeface="Inter"/>
                <a:sym typeface="Inter"/>
              </a:rPr>
              <a:t> y, </a:t>
            </a:r>
            <a:r>
              <a:rPr lang="en-US" sz="2400" dirty="0" err="1">
                <a:solidFill>
                  <a:srgbClr val="000000"/>
                </a:solidFill>
                <a:latin typeface="Inter"/>
                <a:ea typeface="Inter"/>
                <a:cs typeface="Inter"/>
                <a:sym typeface="Inter"/>
              </a:rPr>
              <a:t>por</a:t>
            </a:r>
            <a:r>
              <a:rPr lang="en-US" sz="2400" dirty="0">
                <a:solidFill>
                  <a:srgbClr val="000000"/>
                </a:solidFill>
                <a:latin typeface="Inter"/>
                <a:ea typeface="Inter"/>
                <a:cs typeface="Inter"/>
                <a:sym typeface="Inter"/>
              </a:rPr>
              <a:t> lo tanto, </a:t>
            </a:r>
            <a:r>
              <a:rPr lang="en-US" sz="2400" dirty="0" err="1">
                <a:solidFill>
                  <a:srgbClr val="000000"/>
                </a:solidFill>
                <a:latin typeface="Inter"/>
                <a:ea typeface="Inter"/>
                <a:cs typeface="Inter"/>
                <a:sym typeface="Inter"/>
              </a:rPr>
              <a:t>mejora</a:t>
            </a:r>
            <a:r>
              <a:rPr lang="en-US" sz="2400" dirty="0">
                <a:solidFill>
                  <a:srgbClr val="000000"/>
                </a:solidFill>
                <a:latin typeface="Inter"/>
                <a:ea typeface="Inter"/>
                <a:cs typeface="Inter"/>
                <a:sym typeface="Inter"/>
              </a:rPr>
              <a:t> 7 la </a:t>
            </a:r>
            <a:r>
              <a:rPr lang="en-US" sz="2400" dirty="0" err="1">
                <a:solidFill>
                  <a:srgbClr val="000000"/>
                </a:solidFill>
                <a:latin typeface="Inter"/>
                <a:ea typeface="Inter"/>
                <a:cs typeface="Inter"/>
                <a:sym typeface="Inter"/>
              </a:rPr>
              <a:t>situación</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competitiva</a:t>
            </a:r>
            <a:r>
              <a:rPr lang="en-US" sz="2400" dirty="0">
                <a:solidFill>
                  <a:srgbClr val="000000"/>
                </a:solidFill>
                <a:latin typeface="Inter"/>
                <a:ea typeface="Inter"/>
                <a:cs typeface="Inter"/>
                <a:sym typeface="Inter"/>
              </a:rPr>
              <a:t> de la </a:t>
            </a:r>
            <a:r>
              <a:rPr lang="en-US" sz="2400" dirty="0" err="1">
                <a:solidFill>
                  <a:srgbClr val="000000"/>
                </a:solidFill>
                <a:latin typeface="Inter"/>
                <a:ea typeface="Inter"/>
                <a:cs typeface="Inter"/>
                <a:sym typeface="Inter"/>
              </a:rPr>
              <a:t>empresa</a:t>
            </a:r>
            <a:r>
              <a:rPr lang="en-US" sz="2400" dirty="0">
                <a:solidFill>
                  <a:srgbClr val="000000"/>
                </a:solidFill>
                <a:latin typeface="Inter"/>
                <a:ea typeface="Inter"/>
                <a:cs typeface="Inter"/>
                <a:sym typeface="Inter"/>
              </a:rPr>
              <a:t>”. Para </a:t>
            </a:r>
            <a:r>
              <a:rPr lang="en-US" sz="2400" dirty="0" err="1">
                <a:solidFill>
                  <a:srgbClr val="000000"/>
                </a:solidFill>
                <a:latin typeface="Inter"/>
                <a:ea typeface="Inter"/>
                <a:cs typeface="Inter"/>
                <a:sym typeface="Inter"/>
              </a:rPr>
              <a:t>el</a:t>
            </a:r>
            <a:r>
              <a:rPr lang="en-US" sz="2400" dirty="0">
                <a:solidFill>
                  <a:srgbClr val="000000"/>
                </a:solidFill>
                <a:latin typeface="Inter"/>
                <a:ea typeface="Inter"/>
                <a:cs typeface="Inter"/>
                <a:sym typeface="Inter"/>
              </a:rPr>
              <a:t> sector </a:t>
            </a:r>
            <a:r>
              <a:rPr lang="en-US" sz="2400" dirty="0" err="1">
                <a:solidFill>
                  <a:srgbClr val="000000"/>
                </a:solidFill>
                <a:latin typeface="Inter"/>
                <a:ea typeface="Inter"/>
                <a:cs typeface="Inter"/>
                <a:sym typeface="Inter"/>
              </a:rPr>
              <a:t>empresarial</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minero</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peruano</a:t>
            </a:r>
            <a:r>
              <a:rPr lang="en-US" sz="2400" dirty="0">
                <a:solidFill>
                  <a:srgbClr val="000000"/>
                </a:solidFill>
                <a:latin typeface="Inter"/>
                <a:ea typeface="Inter"/>
                <a:cs typeface="Inter"/>
                <a:sym typeface="Inter"/>
              </a:rPr>
              <a:t>, la </a:t>
            </a:r>
            <a:r>
              <a:rPr lang="en-US" sz="2400" dirty="0" err="1">
                <a:solidFill>
                  <a:srgbClr val="000000"/>
                </a:solidFill>
                <a:latin typeface="Inter"/>
                <a:ea typeface="Inter"/>
                <a:cs typeface="Inter"/>
                <a:sym typeface="Inter"/>
              </a:rPr>
              <a:t>RSE</a:t>
            </a:r>
            <a:r>
              <a:rPr lang="en-US" sz="2400" dirty="0">
                <a:solidFill>
                  <a:srgbClr val="000000"/>
                </a:solidFill>
                <a:latin typeface="Inter"/>
                <a:ea typeface="Inter"/>
                <a:cs typeface="Inter"/>
                <a:sym typeface="Inter"/>
              </a:rPr>
              <a:t> es “</a:t>
            </a:r>
            <a:r>
              <a:rPr lang="en-US" sz="2400" dirty="0" err="1">
                <a:solidFill>
                  <a:srgbClr val="000000"/>
                </a:solidFill>
                <a:latin typeface="Inter"/>
                <a:ea typeface="Inter"/>
                <a:cs typeface="Inter"/>
                <a:sym typeface="Inter"/>
              </a:rPr>
              <a:t>una</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filosofía</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empresarial</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adoptada</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por</a:t>
            </a:r>
            <a:r>
              <a:rPr lang="en-US" sz="2400" dirty="0">
                <a:solidFill>
                  <a:srgbClr val="000000"/>
                </a:solidFill>
                <a:latin typeface="Inter"/>
                <a:ea typeface="Inter"/>
                <a:cs typeface="Inter"/>
                <a:sym typeface="Inter"/>
              </a:rPr>
              <a:t> la </a:t>
            </a:r>
            <a:r>
              <a:rPr lang="en-US" sz="2400" dirty="0" err="1">
                <a:solidFill>
                  <a:srgbClr val="000000"/>
                </a:solidFill>
                <a:latin typeface="Inter"/>
                <a:ea typeface="Inter"/>
                <a:cs typeface="Inter"/>
                <a:sym typeface="Inter"/>
              </a:rPr>
              <a:t>alta</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dirección</a:t>
            </a:r>
            <a:r>
              <a:rPr lang="en-US" sz="2400" dirty="0">
                <a:solidFill>
                  <a:srgbClr val="000000"/>
                </a:solidFill>
                <a:latin typeface="Inter"/>
                <a:ea typeface="Inter"/>
                <a:cs typeface="Inter"/>
                <a:sym typeface="Inter"/>
              </a:rPr>
              <a:t> de la </a:t>
            </a:r>
            <a:r>
              <a:rPr lang="en-US" sz="2400" dirty="0" err="1">
                <a:solidFill>
                  <a:srgbClr val="000000"/>
                </a:solidFill>
                <a:latin typeface="Inter"/>
                <a:ea typeface="Inter"/>
                <a:cs typeface="Inter"/>
                <a:sym typeface="Inter"/>
              </a:rPr>
              <a:t>empresa</a:t>
            </a:r>
            <a:r>
              <a:rPr lang="en-US" sz="2400" dirty="0">
                <a:solidFill>
                  <a:srgbClr val="000000"/>
                </a:solidFill>
                <a:latin typeface="Inter"/>
                <a:ea typeface="Inter"/>
                <a:cs typeface="Inter"/>
                <a:sym typeface="Inter"/>
              </a:rPr>
              <a:t>, para </a:t>
            </a:r>
            <a:r>
              <a:rPr lang="en-US" sz="2400" dirty="0" err="1">
                <a:solidFill>
                  <a:srgbClr val="000000"/>
                </a:solidFill>
                <a:latin typeface="Inter"/>
                <a:ea typeface="Inter"/>
                <a:cs typeface="Inter"/>
                <a:sym typeface="Inter"/>
              </a:rPr>
              <a:t>actuar</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en</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beneficio</a:t>
            </a:r>
            <a:r>
              <a:rPr lang="en-US" sz="2400" dirty="0">
                <a:solidFill>
                  <a:srgbClr val="000000"/>
                </a:solidFill>
                <a:latin typeface="Inter"/>
                <a:ea typeface="Inter"/>
                <a:cs typeface="Inter"/>
                <a:sym typeface="Inter"/>
              </a:rPr>
              <a:t> de sus </a:t>
            </a:r>
            <a:r>
              <a:rPr lang="en-US" sz="2400" dirty="0" err="1">
                <a:solidFill>
                  <a:srgbClr val="000000"/>
                </a:solidFill>
                <a:latin typeface="Inter"/>
                <a:ea typeface="Inter"/>
                <a:cs typeface="Inter"/>
                <a:sym typeface="Inter"/>
              </a:rPr>
              <a:t>propios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trabajadores</a:t>
            </a:r>
            <a:r>
              <a:rPr lang="en-US" sz="2400" dirty="0">
                <a:solidFill>
                  <a:srgbClr val="000000"/>
                </a:solidFill>
                <a:latin typeface="Inter"/>
                <a:ea typeface="Inter"/>
                <a:cs typeface="Inter"/>
                <a:sym typeface="Inter"/>
              </a:rPr>
              <a:t>, de sus </a:t>
            </a:r>
            <a:r>
              <a:rPr lang="en-US" sz="2400" dirty="0" err="1">
                <a:solidFill>
                  <a:srgbClr val="000000"/>
                </a:solidFill>
                <a:latin typeface="Inter"/>
                <a:ea typeface="Inter"/>
                <a:cs typeface="Inter"/>
                <a:sym typeface="Inter"/>
              </a:rPr>
              <a:t>familias</a:t>
            </a:r>
            <a:r>
              <a:rPr lang="en-US" sz="2400" dirty="0">
                <a:solidFill>
                  <a:srgbClr val="000000"/>
                </a:solidFill>
                <a:latin typeface="Inter"/>
                <a:ea typeface="Inter"/>
                <a:cs typeface="Inter"/>
                <a:sym typeface="Inter"/>
              </a:rPr>
              <a:t> y del </a:t>
            </a:r>
            <a:r>
              <a:rPr lang="en-US" sz="2400" dirty="0" err="1">
                <a:solidFill>
                  <a:srgbClr val="000000"/>
                </a:solidFill>
                <a:latin typeface="Inter"/>
                <a:ea typeface="Inter"/>
                <a:cs typeface="Inter"/>
                <a:sym typeface="Inter"/>
              </a:rPr>
              <a:t>entorno</a:t>
            </a:r>
            <a:r>
              <a:rPr lang="en-US" sz="2400" dirty="0">
                <a:solidFill>
                  <a:srgbClr val="000000"/>
                </a:solidFill>
                <a:latin typeface="Inter"/>
                <a:ea typeface="Inter"/>
                <a:cs typeface="Inter"/>
                <a:sym typeface="Inter"/>
              </a:rPr>
              <a:t> social </a:t>
            </a:r>
            <a:r>
              <a:rPr lang="en-US" sz="2400" dirty="0" err="1">
                <a:solidFill>
                  <a:srgbClr val="000000"/>
                </a:solidFill>
                <a:latin typeface="Inter"/>
                <a:ea typeface="Inter"/>
                <a:cs typeface="Inter"/>
                <a:sym typeface="Inter"/>
              </a:rPr>
              <a:t>en</a:t>
            </a:r>
            <a:r>
              <a:rPr lang="en-US" sz="2400" dirty="0">
                <a:solidFill>
                  <a:srgbClr val="000000"/>
                </a:solidFill>
                <a:latin typeface="Inter"/>
                <a:ea typeface="Inter"/>
                <a:cs typeface="Inter"/>
                <a:sym typeface="Inter"/>
              </a:rPr>
              <a:t> las zonas de </a:t>
            </a:r>
            <a:r>
              <a:rPr lang="en-US" sz="2400" dirty="0" err="1">
                <a:solidFill>
                  <a:srgbClr val="000000"/>
                </a:solidFill>
                <a:latin typeface="Inter"/>
                <a:ea typeface="Inter"/>
                <a:cs typeface="Inter"/>
                <a:sym typeface="Inter"/>
              </a:rPr>
              <a:t>influencia</a:t>
            </a:r>
            <a:r>
              <a:rPr lang="en-US" sz="2400" dirty="0">
                <a:solidFill>
                  <a:srgbClr val="000000"/>
                </a:solidFill>
                <a:latin typeface="Inter"/>
                <a:ea typeface="Inter"/>
                <a:cs typeface="Inter"/>
                <a:sym typeface="Inter"/>
              </a:rPr>
              <a:t> de la </a:t>
            </a:r>
            <a:r>
              <a:rPr lang="en-US" sz="2400" dirty="0" err="1">
                <a:solidFill>
                  <a:srgbClr val="000000"/>
                </a:solidFill>
                <a:latin typeface="Inter"/>
                <a:ea typeface="Inter"/>
                <a:cs typeface="Inter"/>
                <a:sym typeface="Inter"/>
              </a:rPr>
              <a:t>empresa</a:t>
            </a:r>
            <a:r>
              <a:rPr lang="en-US" sz="2400" dirty="0">
                <a:solidFill>
                  <a:srgbClr val="000000"/>
                </a:solidFill>
                <a:latin typeface="Inter"/>
                <a:ea typeface="Inter"/>
                <a:cs typeface="Inter"/>
                <a:sym typeface="Inter"/>
              </a:rPr>
              <a:t>. En </a:t>
            </a:r>
            <a:r>
              <a:rPr lang="en-US" sz="2400" dirty="0" err="1">
                <a:solidFill>
                  <a:srgbClr val="000000"/>
                </a:solidFill>
                <a:latin typeface="Inter"/>
                <a:ea typeface="Inter"/>
                <a:cs typeface="Inter"/>
                <a:sym typeface="Inter"/>
              </a:rPr>
              <a:t>otras</a:t>
            </a:r>
            <a:r>
              <a:rPr lang="en-US" sz="2400" dirty="0">
                <a:solidFill>
                  <a:srgbClr val="000000"/>
                </a:solidFill>
                <a:latin typeface="Inter"/>
                <a:ea typeface="Inter"/>
                <a:cs typeface="Inter"/>
                <a:sym typeface="Inter"/>
              </a:rPr>
              <a:t> palabras, es </a:t>
            </a:r>
            <a:r>
              <a:rPr lang="en-US" sz="2400" dirty="0" err="1">
                <a:solidFill>
                  <a:srgbClr val="000000"/>
                </a:solidFill>
                <a:latin typeface="Inter"/>
                <a:ea typeface="Inter"/>
                <a:cs typeface="Inter"/>
                <a:sym typeface="Inter"/>
              </a:rPr>
              <a:t>una</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perspectiva</a:t>
            </a:r>
            <a:r>
              <a:rPr lang="en-US" sz="2400" dirty="0">
                <a:solidFill>
                  <a:srgbClr val="000000"/>
                </a:solidFill>
                <a:latin typeface="Inter"/>
                <a:ea typeface="Inter"/>
                <a:cs typeface="Inter"/>
                <a:sym typeface="Inter"/>
              </a:rPr>
              <a:t>, que no se </a:t>
            </a:r>
            <a:r>
              <a:rPr lang="en-US" sz="2400" dirty="0" err="1">
                <a:solidFill>
                  <a:srgbClr val="000000"/>
                </a:solidFill>
                <a:latin typeface="Inter"/>
                <a:ea typeface="Inter"/>
                <a:cs typeface="Inter"/>
                <a:sym typeface="Inter"/>
              </a:rPr>
              <a:t>limita</a:t>
            </a:r>
            <a:r>
              <a:rPr lang="en-US" sz="2400" dirty="0">
                <a:solidFill>
                  <a:srgbClr val="000000"/>
                </a:solidFill>
                <a:latin typeface="Inter"/>
                <a:ea typeface="Inter"/>
                <a:cs typeface="Inter"/>
                <a:sym typeface="Inter"/>
              </a:rPr>
              <a:t> a </a:t>
            </a:r>
            <a:r>
              <a:rPr lang="en-US" sz="2400" dirty="0" err="1">
                <a:solidFill>
                  <a:srgbClr val="000000"/>
                </a:solidFill>
                <a:latin typeface="Inter"/>
                <a:ea typeface="Inter"/>
                <a:cs typeface="Inter"/>
                <a:sym typeface="Inter"/>
              </a:rPr>
              <a:t>satisfacer</a:t>
            </a:r>
            <a:r>
              <a:rPr lang="en-US" sz="2400" dirty="0">
                <a:solidFill>
                  <a:srgbClr val="000000"/>
                </a:solidFill>
                <a:latin typeface="Inter"/>
                <a:ea typeface="Inter"/>
                <a:cs typeface="Inter"/>
                <a:sym typeface="Inter"/>
              </a:rPr>
              <a:t> al </a:t>
            </a:r>
            <a:r>
              <a:rPr lang="en-US" sz="2400" dirty="0" err="1">
                <a:solidFill>
                  <a:srgbClr val="000000"/>
                </a:solidFill>
                <a:latin typeface="Inter"/>
                <a:ea typeface="Inter"/>
                <a:cs typeface="Inter"/>
                <a:sym typeface="Inter"/>
              </a:rPr>
              <a:t>consumidor</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sino</a:t>
            </a:r>
            <a:r>
              <a:rPr lang="en-US" sz="2400" dirty="0">
                <a:solidFill>
                  <a:srgbClr val="000000"/>
                </a:solidFill>
                <a:latin typeface="Inter"/>
                <a:ea typeface="Inter"/>
                <a:cs typeface="Inter"/>
                <a:sym typeface="Inter"/>
              </a:rPr>
              <a:t> que </a:t>
            </a:r>
            <a:r>
              <a:rPr lang="en-US" sz="2400" dirty="0" err="1">
                <a:solidFill>
                  <a:srgbClr val="000000"/>
                </a:solidFill>
                <a:latin typeface="Inter"/>
                <a:ea typeface="Inter"/>
                <a:cs typeface="Inter"/>
                <a:sym typeface="Inter"/>
              </a:rPr>
              <a:t>requiere</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asumir</a:t>
            </a:r>
            <a:r>
              <a:rPr lang="en-US" sz="2400" dirty="0">
                <a:solidFill>
                  <a:srgbClr val="000000"/>
                </a:solidFill>
                <a:latin typeface="Inter"/>
                <a:ea typeface="Inter"/>
                <a:cs typeface="Inter"/>
                <a:sym typeface="Inter"/>
              </a:rPr>
              <a:t> un </a:t>
            </a:r>
            <a:r>
              <a:rPr lang="en-US" sz="2400" dirty="0" err="1">
                <a:solidFill>
                  <a:srgbClr val="000000"/>
                </a:solidFill>
                <a:latin typeface="Inter"/>
                <a:ea typeface="Inter"/>
                <a:cs typeface="Inter"/>
                <a:sym typeface="Inter"/>
              </a:rPr>
              <a:t>compromiso</a:t>
            </a:r>
            <a:r>
              <a:rPr lang="en-US" sz="2400" dirty="0">
                <a:solidFill>
                  <a:srgbClr val="000000"/>
                </a:solidFill>
                <a:latin typeface="Inter"/>
                <a:ea typeface="Inter"/>
                <a:cs typeface="Inter"/>
                <a:sym typeface="Inter"/>
              </a:rPr>
              <a:t> con </a:t>
            </a:r>
            <a:r>
              <a:rPr lang="en-US" sz="2400" dirty="0" err="1">
                <a:solidFill>
                  <a:srgbClr val="000000"/>
                </a:solidFill>
                <a:latin typeface="Inter"/>
                <a:ea typeface="Inter"/>
                <a:cs typeface="Inter"/>
                <a:sym typeface="Inter"/>
              </a:rPr>
              <a:t>el</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desarrollo</a:t>
            </a:r>
            <a:r>
              <a:rPr lang="en-US" sz="2400" dirty="0">
                <a:solidFill>
                  <a:srgbClr val="000000"/>
                </a:solidFill>
                <a:latin typeface="Inter"/>
                <a:ea typeface="Inter"/>
                <a:cs typeface="Inter"/>
                <a:sym typeface="Inter"/>
              </a:rPr>
              <a:t> de la </a:t>
            </a:r>
            <a:r>
              <a:rPr lang="en-US" sz="2400" dirty="0" err="1">
                <a:solidFill>
                  <a:srgbClr val="000000"/>
                </a:solidFill>
                <a:latin typeface="Inter"/>
                <a:ea typeface="Inter"/>
                <a:cs typeface="Inter"/>
                <a:sym typeface="Inter"/>
              </a:rPr>
              <a:t>comunidad</a:t>
            </a:r>
            <a:r>
              <a:rPr lang="en-US" sz="2400" dirty="0">
                <a:solidFill>
                  <a:srgbClr val="000000"/>
                </a:solidFill>
                <a:latin typeface="Inter"/>
                <a:ea typeface="Inter"/>
                <a:cs typeface="Inter"/>
                <a:sym typeface="Inter"/>
              </a:rPr>
              <a:t> con la que se </a:t>
            </a:r>
            <a:r>
              <a:rPr lang="en-US" sz="2400" dirty="0" err="1">
                <a:solidFill>
                  <a:srgbClr val="000000"/>
                </a:solidFill>
                <a:latin typeface="Inter"/>
                <a:ea typeface="Inter"/>
                <a:cs typeface="Inter"/>
                <a:sym typeface="Inter"/>
              </a:rPr>
              <a:t>involucra</a:t>
            </a:r>
            <a:r>
              <a:rPr lang="en-US" sz="2400" dirty="0">
                <a:solidFill>
                  <a:srgbClr val="000000"/>
                </a:solidFill>
                <a:latin typeface="Inter"/>
                <a:ea typeface="Inter"/>
                <a:cs typeface="Inter"/>
                <a:sym typeface="Inter"/>
              </a:rPr>
              <a:t>”.</a:t>
            </a:r>
          </a:p>
          <a:p>
            <a:pPr algn="l">
              <a:lnSpc>
                <a:spcPts val="3360"/>
              </a:lnSpc>
            </a:pPr>
            <a:endParaRPr lang="en-US" sz="2400" dirty="0">
              <a:solidFill>
                <a:srgbClr val="000000"/>
              </a:solidFill>
              <a:latin typeface="Inter"/>
              <a:ea typeface="Inter"/>
              <a:cs typeface="Inter"/>
              <a:sym typeface="Inter"/>
            </a:endParaRPr>
          </a:p>
        </p:txBody>
      </p:sp>
      <p:sp>
        <p:nvSpPr>
          <p:cNvPr id="8" name="TextBox 8"/>
          <p:cNvSpPr txBox="1"/>
          <p:nvPr/>
        </p:nvSpPr>
        <p:spPr>
          <a:xfrm>
            <a:off x="921543" y="3168257"/>
            <a:ext cx="12595573"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RESPONSABILIDAD SOCIAL EMPRESARIAL (RSE)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2501529"/>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Las acciones sociales en el Perú se rigen por los compromisos voluntariamente asumidos por las empresas. Sin embargo, existe cierta regulación sobre la RSE para el sector minero, que si bien no es profusa en relación con el avance normativo internacional, constituye un paso inicial en el esfuerzo por promover las buenas prácticas sociales. Los actores involucrados coinciden en señalar que es necesario perfeccionar ciertos mecanismos, como por ejemplo la participación ciudadana en los estudios ambientales y los procesos de fiscalización en general.</a:t>
            </a:r>
          </a:p>
        </p:txBody>
      </p:sp>
      <p:sp>
        <p:nvSpPr>
          <p:cNvPr id="8" name="TextBox 8"/>
          <p:cNvSpPr txBox="1"/>
          <p:nvPr/>
        </p:nvSpPr>
        <p:spPr>
          <a:xfrm>
            <a:off x="921543" y="3168257"/>
            <a:ext cx="12595573"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RESPONSABILIDAD SOCIAL EMPRESARIAL (RSE)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5016394"/>
          </a:xfrm>
          <a:prstGeom prst="rect">
            <a:avLst/>
          </a:prstGeom>
        </p:spPr>
        <p:txBody>
          <a:bodyPr lIns="0" tIns="0" rIns="0" bIns="0" rtlCol="0" anchor="t">
            <a:spAutoFit/>
          </a:bodyPr>
          <a:lstStyle/>
          <a:p>
            <a:pPr algn="l">
              <a:lnSpc>
                <a:spcPts val="3360"/>
              </a:lnSpc>
            </a:pPr>
            <a:r>
              <a:rPr lang="en-US" sz="2400" b="1">
                <a:solidFill>
                  <a:srgbClr val="000000"/>
                </a:solidFill>
                <a:latin typeface="Inter Bold"/>
                <a:ea typeface="Inter Bold"/>
                <a:cs typeface="Inter Bold"/>
                <a:sym typeface="Inter Bold"/>
              </a:rPr>
              <a:t>ESTABLECE COMPROMISO SOCIAL PREVIO</a:t>
            </a:r>
          </a:p>
          <a:p>
            <a:pPr algn="l">
              <a:lnSpc>
                <a:spcPts val="3360"/>
              </a:lnSpc>
            </a:pPr>
            <a:r>
              <a:rPr lang="en-US" sz="2400">
                <a:solidFill>
                  <a:srgbClr val="000000"/>
                </a:solidFill>
                <a:latin typeface="Inter"/>
                <a:ea typeface="Inter"/>
                <a:cs typeface="Inter"/>
                <a:sym typeface="Inter"/>
              </a:rPr>
              <a:t>Es la única norma nacional que alude específicamente a la RSE, en ella se reconoce la necesidad de administrar responsablemente el impacto social para el beneficio común de las poblaciones del área de influencia de las actividades mineras, las empresas y el Estado. Propone para ello el requisito de un compromiso previo a través de una Declaración Jurada donde las empresas se comprometen a: </a:t>
            </a:r>
          </a:p>
          <a:p>
            <a:pPr marL="518166" lvl="1" indent="-259083" algn="l">
              <a:lnSpc>
                <a:spcPts val="3360"/>
              </a:lnSpc>
              <a:buFont typeface="Arial"/>
              <a:buChar char="•"/>
            </a:pPr>
            <a:r>
              <a:rPr lang="en-US" sz="2400">
                <a:solidFill>
                  <a:srgbClr val="000000"/>
                </a:solidFill>
                <a:latin typeface="Inter"/>
                <a:ea typeface="Inter"/>
                <a:cs typeface="Inter"/>
                <a:sym typeface="Inter"/>
              </a:rPr>
              <a:t>Realizar sus actividades productivas en el marco de una política que busca la excelencia ambiental. </a:t>
            </a:r>
          </a:p>
          <a:p>
            <a:pPr marL="518166" lvl="1" indent="-259083" algn="l">
              <a:lnSpc>
                <a:spcPts val="3360"/>
              </a:lnSpc>
              <a:buFont typeface="Arial"/>
              <a:buChar char="•"/>
            </a:pPr>
            <a:r>
              <a:rPr lang="en-US" sz="2400">
                <a:solidFill>
                  <a:srgbClr val="000000"/>
                </a:solidFill>
                <a:latin typeface="Inter"/>
                <a:ea typeface="Inter"/>
                <a:cs typeface="Inter"/>
                <a:sym typeface="Inter"/>
              </a:rPr>
              <a:t>Actuar con respeto frente a las instituciones, autoridades, cultura y costumbres locales, manteniendo una relación propicia con la población del área de influencia de la operación minera. </a:t>
            </a:r>
          </a:p>
          <a:p>
            <a:pPr algn="l">
              <a:lnSpc>
                <a:spcPts val="3360"/>
              </a:lnSpc>
            </a:pPr>
            <a:endParaRPr lang="en-US" sz="2400">
              <a:solidFill>
                <a:srgbClr val="000000"/>
              </a:solidFill>
              <a:latin typeface="Inter"/>
              <a:ea typeface="Inter"/>
              <a:cs typeface="Inter"/>
              <a:sym typeface="Inter"/>
            </a:endParaRPr>
          </a:p>
        </p:txBody>
      </p:sp>
      <p:sp>
        <p:nvSpPr>
          <p:cNvPr id="8" name="TextBox 8"/>
          <p:cNvSpPr txBox="1"/>
          <p:nvPr/>
        </p:nvSpPr>
        <p:spPr>
          <a:xfrm>
            <a:off x="921543" y="3168257"/>
            <a:ext cx="10889317"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DECRETO SUPREMO Nº 042-2003-EM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2920673"/>
          </a:xfrm>
          <a:prstGeom prst="rect">
            <a:avLst/>
          </a:prstGeom>
        </p:spPr>
        <p:txBody>
          <a:bodyPr lIns="0" tIns="0" rIns="0" bIns="0" rtlCol="0" anchor="t">
            <a:spAutoFit/>
          </a:bodyPr>
          <a:lstStyle/>
          <a:p>
            <a:pPr marL="518166" lvl="1" indent="-259083" algn="l">
              <a:lnSpc>
                <a:spcPts val="3360"/>
              </a:lnSpc>
              <a:buFont typeface="Arial"/>
              <a:buChar char="•"/>
            </a:pPr>
            <a:r>
              <a:rPr lang="en-US" sz="2400">
                <a:solidFill>
                  <a:srgbClr val="000000"/>
                </a:solidFill>
                <a:latin typeface="Inter"/>
                <a:ea typeface="Inter"/>
                <a:cs typeface="Inter"/>
                <a:sym typeface="Inter"/>
              </a:rPr>
              <a:t>Mantener un diálogo continuo y oportuno con las autoridades regionales y locales, la población del área de influencia de la operación minera y sus organismos representativos, alcanzándoles información sobre sus actividades mineras. </a:t>
            </a:r>
          </a:p>
          <a:p>
            <a:pPr marL="518166" lvl="1" indent="-259083" algn="l">
              <a:lnSpc>
                <a:spcPts val="3360"/>
              </a:lnSpc>
              <a:buFont typeface="Arial"/>
              <a:buChar char="•"/>
            </a:pPr>
            <a:r>
              <a:rPr lang="en-US" sz="2400">
                <a:solidFill>
                  <a:srgbClr val="000000"/>
                </a:solidFill>
                <a:latin typeface="Inter"/>
                <a:ea typeface="Inter"/>
                <a:cs typeface="Inter"/>
                <a:sym typeface="Inter"/>
              </a:rPr>
              <a:t>Lograr con las poblaciones del área de influencia de la operación minera una institucionalidad para el desarrollo local en caso se inicie la explotación del recurso, elaborando estudios y colaborando en la creación de oportunidades de desarrollo más allá de la vida de la actividad minera. </a:t>
            </a:r>
          </a:p>
        </p:txBody>
      </p:sp>
      <p:sp>
        <p:nvSpPr>
          <p:cNvPr id="8" name="TextBox 8"/>
          <p:cNvSpPr txBox="1"/>
          <p:nvPr/>
        </p:nvSpPr>
        <p:spPr>
          <a:xfrm>
            <a:off x="921543" y="3168257"/>
            <a:ext cx="10889317"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DECRETO SUPREMO Nº 042-2003-EM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3339817"/>
          </a:xfrm>
          <a:prstGeom prst="rect">
            <a:avLst/>
          </a:prstGeom>
        </p:spPr>
        <p:txBody>
          <a:bodyPr lIns="0" tIns="0" rIns="0" bIns="0" rtlCol="0" anchor="t">
            <a:spAutoFit/>
          </a:bodyPr>
          <a:lstStyle/>
          <a:p>
            <a:pPr marL="518166" lvl="1" indent="-259083" algn="l">
              <a:lnSpc>
                <a:spcPts val="3360"/>
              </a:lnSpc>
              <a:buFont typeface="Arial"/>
              <a:buChar char="•"/>
            </a:pPr>
            <a:r>
              <a:rPr lang="en-US" sz="2400">
                <a:solidFill>
                  <a:srgbClr val="000000"/>
                </a:solidFill>
                <a:latin typeface="Inter"/>
                <a:ea typeface="Inter"/>
                <a:cs typeface="Inter"/>
                <a:sym typeface="Inter"/>
              </a:rPr>
              <a:t>Fomentar preferentemente el empleo local, brindando las oportunidades de capacitación requeridas.</a:t>
            </a:r>
          </a:p>
          <a:p>
            <a:pPr marL="518166" lvl="1" indent="-259083" algn="l">
              <a:lnSpc>
                <a:spcPts val="3360"/>
              </a:lnSpc>
              <a:buFont typeface="Arial"/>
              <a:buChar char="•"/>
            </a:pPr>
            <a:r>
              <a:rPr lang="en-US" sz="2400">
                <a:solidFill>
                  <a:srgbClr val="000000"/>
                </a:solidFill>
                <a:latin typeface="Inter"/>
                <a:ea typeface="Inter"/>
                <a:cs typeface="Inter"/>
                <a:sym typeface="Inter"/>
              </a:rPr>
              <a:t>Adquirir preferentemente los bienes y servicios locales para el desarrollo de las actividades mineras y la atención del personal, en condiciones razonables de calidad, oportunidad y precio, creando mecanismos de concertación apropiados. </a:t>
            </a:r>
          </a:p>
          <a:p>
            <a:pPr algn="l">
              <a:lnSpc>
                <a:spcPts val="3360"/>
              </a:lnSpc>
            </a:pPr>
            <a:endParaRPr lang="en-US" sz="2400">
              <a:solidFill>
                <a:srgbClr val="000000"/>
              </a:solidFill>
              <a:latin typeface="Inter"/>
              <a:ea typeface="Inter"/>
              <a:cs typeface="Inter"/>
              <a:sym typeface="Inter"/>
            </a:endParaRPr>
          </a:p>
          <a:p>
            <a:pPr algn="l">
              <a:lnSpc>
                <a:spcPts val="3360"/>
              </a:lnSpc>
            </a:pPr>
            <a:r>
              <a:rPr lang="en-US" sz="2400">
                <a:solidFill>
                  <a:srgbClr val="000000"/>
                </a:solidFill>
                <a:latin typeface="Inter"/>
                <a:ea typeface="Inter"/>
                <a:cs typeface="Inter"/>
                <a:sym typeface="Inter"/>
              </a:rPr>
              <a:t>Las empresas también están obligadas por esta norma a presentar un reporte anual especificando las acciones de desarrollo sostenible, realizadas en cumplimiento de este dispositivo legal.</a:t>
            </a:r>
          </a:p>
        </p:txBody>
      </p:sp>
      <p:sp>
        <p:nvSpPr>
          <p:cNvPr id="8" name="TextBox 8"/>
          <p:cNvSpPr txBox="1"/>
          <p:nvPr/>
        </p:nvSpPr>
        <p:spPr>
          <a:xfrm>
            <a:off x="921543" y="3168257"/>
            <a:ext cx="10889317"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DECRETO SUPREMO Nº 042-2003-EM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4178105"/>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La Guía de Relaciones comunitarias elaborada por el Ministerio de Energía y Minas brinda sugerencias para la elaboración de Estudios de Impacto Social como parte del Estudio de Impacto Ambiental, planes de relaciones comunitarias, códigos de conducta, aspectos vinculados a la consulta a la población y políticas de responsabilidad social. La guía es un documento técnico de carácter voluntario.</a:t>
            </a:r>
          </a:p>
          <a:p>
            <a:pPr algn="l">
              <a:lnSpc>
                <a:spcPts val="3360"/>
              </a:lnSpc>
            </a:pPr>
            <a:endParaRPr lang="en-US" sz="2400">
              <a:solidFill>
                <a:srgbClr val="000000"/>
              </a:solidFill>
              <a:latin typeface="Inter"/>
              <a:ea typeface="Inter"/>
              <a:cs typeface="Inter"/>
              <a:sym typeface="Inter"/>
            </a:endParaRPr>
          </a:p>
          <a:p>
            <a:pPr algn="l">
              <a:lnSpc>
                <a:spcPts val="3360"/>
              </a:lnSpc>
            </a:pPr>
            <a:r>
              <a:rPr lang="en-US" sz="2400">
                <a:solidFill>
                  <a:srgbClr val="000000"/>
                </a:solidFill>
                <a:latin typeface="Inter"/>
                <a:ea typeface="Inter"/>
                <a:cs typeface="Inter"/>
                <a:sym typeface="Inter"/>
              </a:rPr>
              <a:t>Resolución Ministerial N.º 596-2002-EM/DM- Reglamento de Consulta y Participación Ciudadana en el procedimiento de aprobación de los estudios ambientales en el sector Energía y Minas La citada norma regula aspectos de la consulta previa y la participación ciudadana en las evaluaciones ambientales previas. </a:t>
            </a:r>
          </a:p>
        </p:txBody>
      </p:sp>
      <p:sp>
        <p:nvSpPr>
          <p:cNvPr id="8" name="TextBox 8"/>
          <p:cNvSpPr txBox="1"/>
          <p:nvPr/>
        </p:nvSpPr>
        <p:spPr>
          <a:xfrm>
            <a:off x="921543" y="3168257"/>
            <a:ext cx="10889317"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GUÍA DE RELACIONES COMUNITARIAS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5016394"/>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La consulta comprende talleres previos convocados por el propio Ministerio, en el lugar donde se pretende desarrollar un proyecto minero; también comprende la difusión, durante la elaboración del EIA por el proponente del proyecto, de la información sobre el mismo y los avances en su elaboración, recogiendo los aportes e interrogantes de la ciudadanía. Del mismo modo establece que para la presentación a la ciudadanía de los Estudios de Impacto Ambiental —EIA— o EIA semi detallados se deben realizar una o más audiencias públicas en la localidad más cercana al proyecto y en otras localidades de ser necesario. La participación ciudadana tiene por objeto anticipar las reacciones, comportamientos, e inquietudes de la población para considerarlas en el diseño del proyecto así como en las políticas sociales, lo que tiene por objeto consolidar la viabilidad social del mismo. </a:t>
            </a:r>
          </a:p>
          <a:p>
            <a:pPr algn="l">
              <a:lnSpc>
                <a:spcPts val="3360"/>
              </a:lnSpc>
            </a:pPr>
            <a:endParaRPr lang="en-US" sz="2400">
              <a:solidFill>
                <a:srgbClr val="000000"/>
              </a:solidFill>
              <a:latin typeface="Inter"/>
              <a:ea typeface="Inter"/>
              <a:cs typeface="Inter"/>
              <a:sym typeface="Inter"/>
            </a:endParaRPr>
          </a:p>
          <a:p>
            <a:pPr algn="l">
              <a:lnSpc>
                <a:spcPts val="3360"/>
              </a:lnSpc>
            </a:pPr>
            <a:endParaRPr lang="en-US" sz="2400">
              <a:solidFill>
                <a:srgbClr val="000000"/>
              </a:solidFill>
              <a:latin typeface="Inter"/>
              <a:ea typeface="Inter"/>
              <a:cs typeface="Inter"/>
              <a:sym typeface="Inter"/>
            </a:endParaRPr>
          </a:p>
        </p:txBody>
      </p:sp>
      <p:sp>
        <p:nvSpPr>
          <p:cNvPr id="8" name="TextBox 8"/>
          <p:cNvSpPr txBox="1"/>
          <p:nvPr/>
        </p:nvSpPr>
        <p:spPr>
          <a:xfrm>
            <a:off x="921543" y="3168257"/>
            <a:ext cx="10889317"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GUÍA DE RELACIONES COMUNITARIAS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3758961"/>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Sin embargo, en la práctica advertimos que esta norma tiene serias carencias y no cumple cabalmente con su objetivo. Resulta urgente encontrar propuestas conjuntas que ayuden a perfeccionarla y mejorar su aplicación, para prevenir situaciones de conflicto como las que se generan alrededor de algunos proyectos mineros en el país. En este sentido, el Ministerio de Energía y Minas ha presentado en su página web (y está en proceso de consulta con diferentes actores e instituciones) un nuevo proyecto de Reglamento de Consulta y Participación Ciudadana en el subsector minero, que modifica y amplía el alcance del reglamento vigente, incluyendo disposiciones para la participación ciudadana luego de otorgada la concesión minera y durante las etapas de exploración, aprobación del EIA, explotación y cierre.</a:t>
            </a:r>
          </a:p>
        </p:txBody>
      </p:sp>
      <p:sp>
        <p:nvSpPr>
          <p:cNvPr id="8" name="TextBox 8"/>
          <p:cNvSpPr txBox="1"/>
          <p:nvPr/>
        </p:nvSpPr>
        <p:spPr>
          <a:xfrm>
            <a:off x="921543" y="3168257"/>
            <a:ext cx="10889317"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GUÍA DE RELACIONES COMUNITARIAS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3016788"/>
          </a:xfrm>
          <a:prstGeom prst="rect">
            <a:avLst/>
          </a:prstGeom>
        </p:spPr>
        <p:txBody>
          <a:bodyPr lIns="0" tIns="0" rIns="0" bIns="0" rtlCol="0" anchor="t">
            <a:spAutoFit/>
          </a:bodyPr>
          <a:lstStyle/>
          <a:p>
            <a:pPr algn="l">
              <a:lnSpc>
                <a:spcPts val="3360"/>
              </a:lnSpc>
            </a:pPr>
            <a:r>
              <a:rPr lang="es-ES" sz="2400" b="0" i="0" dirty="0">
                <a:solidFill>
                  <a:srgbClr val="000000"/>
                </a:solidFill>
                <a:effectLst/>
                <a:latin typeface="Inter" panose="02000503000000020004" pitchFamily="50" charset="0"/>
                <a:ea typeface="Inter" panose="02000503000000020004" pitchFamily="50" charset="0"/>
                <a:cs typeface="Inter" panose="02000503000000020004" pitchFamily="50" charset="0"/>
              </a:rPr>
              <a:t>Las iniciativas voluntarias de autorregulación de las empresas han cobrado mayor vigencia en los últimos años. Gracias a estas iniciativas, las empresas elaboran y aplican códigos de conducta privados que se comprometen a respetar y que constituyen guías claras de comportamiento. Los códigos de conducta reflejan el compromiso que una organización ha tomado con respecto a determinados valores considerados importantes por la empresa y la sociedad en su conjunto. Tiene como objetivo complementar las normas, las políticas y las leyes aplicables a cada actividad, sin ser un substituto de ellas. </a:t>
            </a:r>
            <a:endParaRPr lang="en-US" sz="2400" dirty="0">
              <a:solidFill>
                <a:srgbClr val="000000"/>
              </a:solidFill>
              <a:latin typeface="Inter" panose="02000503000000020004" pitchFamily="50" charset="0"/>
              <a:ea typeface="Inter" panose="02000503000000020004" pitchFamily="50" charset="0"/>
              <a:cs typeface="Inter" panose="02000503000000020004" pitchFamily="50" charset="0"/>
              <a:sym typeface="Inter"/>
            </a:endParaRPr>
          </a:p>
        </p:txBody>
      </p:sp>
      <p:sp>
        <p:nvSpPr>
          <p:cNvPr id="8" name="TextBox 8"/>
          <p:cNvSpPr txBox="1"/>
          <p:nvPr/>
        </p:nvSpPr>
        <p:spPr>
          <a:xfrm>
            <a:off x="921543" y="3168257"/>
            <a:ext cx="10889317"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PROTOCOLOS EMPRESARIALES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2920673"/>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Los códigos de conducta, típicamente, establecen pautas en asuntos que incluyen desde el trabajo infantil, trabajo forzado, salarios, beneficios, horas de trabajo, libertad de asociación, hasta la salud y la seguridad, pasando por prácticas ambientales e inversiones comunitarias. Un aspecto importante a considerar es el monitoreo y verificación de la implementación de los códigos de conducta, así como los procedimientos que involucren medidas correctivas ante el incumplimiento de los mismos. El monitoreo y la revisión externa ayuda a las empresas a demostrar que su compromiso con la responsabilidad empresarial es real.</a:t>
            </a:r>
          </a:p>
        </p:txBody>
      </p:sp>
      <p:sp>
        <p:nvSpPr>
          <p:cNvPr id="8" name="TextBox 8"/>
          <p:cNvSpPr txBox="1"/>
          <p:nvPr/>
        </p:nvSpPr>
        <p:spPr>
          <a:xfrm>
            <a:off x="921543" y="3168257"/>
            <a:ext cx="10889317"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PROTOCOLOS EMPRESARIALES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2501529"/>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Según la ISO 26000 la Responsabilidad Social (RS) son “Acciones de una organización para tomar las responsabilidades por el impacto de sus actividades sobre la sociedad y el medioambiente, donde estas acciones: son consistentes con los intereses de la sociedad y el desarrollo sustentable; están basadas en el comportamiento ético, el cumplimiento de las leyes y diversos instrumentos intergubernamentales; y deben estar integradas en las actividades corrientes de la organización."</a:t>
            </a:r>
          </a:p>
        </p:txBody>
      </p:sp>
      <p:sp>
        <p:nvSpPr>
          <p:cNvPr id="8" name="TextBox 8"/>
          <p:cNvSpPr txBox="1"/>
          <p:nvPr/>
        </p:nvSpPr>
        <p:spPr>
          <a:xfrm>
            <a:off x="921543" y="3168257"/>
            <a:ext cx="12752728"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RESPONSABILIDAD SOCIAL EMPRESARIAL (RSE)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3758961"/>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Sobre la base de lo mencionado, podemos hacer algunas afirmaciones: </a:t>
            </a:r>
          </a:p>
          <a:p>
            <a:pPr marL="518166" lvl="1" indent="-259083" algn="l">
              <a:lnSpc>
                <a:spcPts val="3360"/>
              </a:lnSpc>
              <a:buFont typeface="Arial"/>
              <a:buChar char="•"/>
            </a:pPr>
            <a:r>
              <a:rPr lang="en-US" sz="2400">
                <a:solidFill>
                  <a:srgbClr val="000000"/>
                </a:solidFill>
                <a:latin typeface="Inter"/>
                <a:ea typeface="Inter"/>
                <a:cs typeface="Inter"/>
                <a:sym typeface="Inter"/>
              </a:rPr>
              <a:t>La Responsabilidad Social (RS) es ahora parte del desarrollo de políticas y gestión estratégica de recursos, tan to para el sector público como el privado. </a:t>
            </a:r>
          </a:p>
          <a:p>
            <a:pPr marL="518166" lvl="1" indent="-259083" algn="l">
              <a:lnSpc>
                <a:spcPts val="3360"/>
              </a:lnSpc>
              <a:buFont typeface="Arial"/>
              <a:buChar char="•"/>
            </a:pPr>
            <a:r>
              <a:rPr lang="en-US" sz="2400">
                <a:solidFill>
                  <a:srgbClr val="000000"/>
                </a:solidFill>
                <a:latin typeface="Inter"/>
                <a:ea typeface="Inter"/>
                <a:cs typeface="Inter"/>
                <a:sym typeface="Inter"/>
              </a:rPr>
              <a:t>La RS requiere que las entidades que implementan estas políticas cumplan, básicamente, con sus obligaciones establecidas en la normatividad nacional, sin que es to sea obstáculo para su desarrollo en normas internas.</a:t>
            </a:r>
          </a:p>
          <a:p>
            <a:pPr marL="518166" lvl="1" indent="-259083" algn="l">
              <a:lnSpc>
                <a:spcPts val="3360"/>
              </a:lnSpc>
              <a:buFont typeface="Arial"/>
              <a:buChar char="•"/>
            </a:pPr>
            <a:r>
              <a:rPr lang="en-US" sz="2400">
                <a:solidFill>
                  <a:srgbClr val="000000"/>
                </a:solidFill>
                <a:latin typeface="Inter"/>
                <a:ea typeface="Inter"/>
                <a:cs typeface="Inter"/>
                <a:sym typeface="Inter"/>
              </a:rPr>
              <a:t>Las instituciones que desarrollan acciones de RS privilegian su inversión en el desarrollo de capacidades y competencias, tanto de sus integrantes como del entorno en el que desarrollan su actividad.</a:t>
            </a:r>
          </a:p>
        </p:txBody>
      </p:sp>
      <p:sp>
        <p:nvSpPr>
          <p:cNvPr id="8" name="TextBox 8"/>
          <p:cNvSpPr txBox="1"/>
          <p:nvPr/>
        </p:nvSpPr>
        <p:spPr>
          <a:xfrm>
            <a:off x="921543" y="3168257"/>
            <a:ext cx="12752728"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RESPONSABILIDAD SOCIAL EMPRESARIAL (RSE)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3339817"/>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Sobre la base de lo mencionado, podemos hacer algunas afirmaciones: </a:t>
            </a:r>
          </a:p>
          <a:p>
            <a:pPr marL="518166" lvl="1" indent="-259083" algn="l">
              <a:lnSpc>
                <a:spcPts val="3360"/>
              </a:lnSpc>
              <a:buFont typeface="Arial"/>
              <a:buChar char="•"/>
            </a:pPr>
            <a:r>
              <a:rPr lang="en-US" sz="2400">
                <a:solidFill>
                  <a:srgbClr val="000000"/>
                </a:solidFill>
                <a:latin typeface="Inter"/>
                <a:ea typeface="Inter"/>
                <a:cs typeface="Inter"/>
                <a:sym typeface="Inter"/>
              </a:rPr>
              <a:t>La RS implica actividades que significan un desarrollo mayor de las obligaciones básicas de seguridad laboral y social para las poblaciones y trabajadores de cada empresa y del en torno antrópico y natural. </a:t>
            </a:r>
          </a:p>
          <a:p>
            <a:pPr marL="518166" lvl="1" indent="-259083" algn="l">
              <a:lnSpc>
                <a:spcPts val="3360"/>
              </a:lnSpc>
              <a:buFont typeface="Arial"/>
              <a:buChar char="•"/>
            </a:pPr>
            <a:r>
              <a:rPr lang="en-US" sz="2400">
                <a:solidFill>
                  <a:srgbClr val="000000"/>
                </a:solidFill>
                <a:latin typeface="Inter"/>
                <a:ea typeface="Inter"/>
                <a:cs typeface="Inter"/>
                <a:sym typeface="Inter"/>
              </a:rPr>
              <a:t>La disciplina del derecho ha venido desarrollando normativa referida a RS de manera dispersa y no explicita. En la actualidad, los esfuerzos por desarrollar un corpus normativo especializado están aún en proceso, pero ya contamos con normativa que, específicamente, regula la RS como una práctica regular y reconocida de las instituciones públicas y privadas.</a:t>
            </a:r>
          </a:p>
        </p:txBody>
      </p:sp>
      <p:sp>
        <p:nvSpPr>
          <p:cNvPr id="8" name="TextBox 8"/>
          <p:cNvSpPr txBox="1"/>
          <p:nvPr/>
        </p:nvSpPr>
        <p:spPr>
          <a:xfrm>
            <a:off x="921543" y="3168257"/>
            <a:ext cx="12752728"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RESPONSABILIDAD SOCIAL EMPRESARIAL (RSE)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2501529"/>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Como parte de su responsabilidad social, el Estado tiene que asumir una actitud más proactiva, en relación con el rol que le compete. De este modo, podrá promover la mejora de calidad de vida de la población y generar las condiciones para propiciar el comportamiento responsable de las empresas privadas. De acuerdo con ISO 26000, el Estado puede contribuir eficazmente con la responsabilidad social, asumiendo cabalmente los siguientes roles:</a:t>
            </a:r>
          </a:p>
          <a:p>
            <a:pPr algn="l">
              <a:lnSpc>
                <a:spcPts val="3360"/>
              </a:lnSpc>
            </a:pPr>
            <a:endParaRPr lang="en-US" sz="2400">
              <a:solidFill>
                <a:srgbClr val="000000"/>
              </a:solidFill>
              <a:latin typeface="Inter"/>
              <a:ea typeface="Inter"/>
              <a:cs typeface="Inter"/>
              <a:sym typeface="Inter"/>
            </a:endParaRPr>
          </a:p>
        </p:txBody>
      </p:sp>
      <p:sp>
        <p:nvSpPr>
          <p:cNvPr id="8" name="TextBox 8"/>
          <p:cNvSpPr txBox="1"/>
          <p:nvPr/>
        </p:nvSpPr>
        <p:spPr>
          <a:xfrm>
            <a:off x="921543" y="2530060"/>
            <a:ext cx="9350206" cy="1360214"/>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RESPONSABILIDAD SOCIAL EN RELACIÓN CON EL ESTADO</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5016394"/>
          </a:xfrm>
          <a:prstGeom prst="rect">
            <a:avLst/>
          </a:prstGeom>
        </p:spPr>
        <p:txBody>
          <a:bodyPr lIns="0" tIns="0" rIns="0" bIns="0" rtlCol="0" anchor="t">
            <a:spAutoFit/>
          </a:bodyPr>
          <a:lstStyle/>
          <a:p>
            <a:pPr algn="l">
              <a:lnSpc>
                <a:spcPts val="3360"/>
              </a:lnSpc>
            </a:pPr>
            <a:r>
              <a:rPr lang="en-US" sz="2400" b="1">
                <a:solidFill>
                  <a:srgbClr val="000000"/>
                </a:solidFill>
                <a:latin typeface="Inter Bold"/>
                <a:ea typeface="Inter Bold"/>
                <a:cs typeface="Inter Bold"/>
                <a:sym typeface="Inter Bold"/>
              </a:rPr>
              <a:t>Como regulador, deberá definir con claridad las normas para alcanzar los siguientes puntos:</a:t>
            </a:r>
          </a:p>
          <a:p>
            <a:pPr marL="518166" lvl="1" indent="-259083" algn="l">
              <a:lnSpc>
                <a:spcPts val="3360"/>
              </a:lnSpc>
              <a:buFont typeface="Arial"/>
              <a:buChar char="•"/>
            </a:pPr>
            <a:r>
              <a:rPr lang="en-US" sz="2400">
                <a:solidFill>
                  <a:srgbClr val="000000"/>
                </a:solidFill>
                <a:latin typeface="Inter"/>
                <a:ea typeface="Inter"/>
                <a:cs typeface="Inter"/>
                <a:sym typeface="Inter"/>
              </a:rPr>
              <a:t>El desarrollo de actividades cuidadosas con el medio ambiente que sean compatibles con los estándares internacionales</a:t>
            </a:r>
          </a:p>
          <a:p>
            <a:pPr marL="518166" lvl="1" indent="-259083" algn="l">
              <a:lnSpc>
                <a:spcPts val="3360"/>
              </a:lnSpc>
              <a:buFont typeface="Arial"/>
              <a:buChar char="•"/>
            </a:pPr>
            <a:r>
              <a:rPr lang="en-US" sz="2400">
                <a:solidFill>
                  <a:srgbClr val="000000"/>
                </a:solidFill>
                <a:latin typeface="Inter"/>
                <a:ea typeface="Inter"/>
                <a:cs typeface="Inter"/>
                <a:sym typeface="Inter"/>
              </a:rPr>
              <a:t>Garantizar la asunción de la responsabilidad de la empresa frente a los impactos ambientales que pueda causar su actividad</a:t>
            </a:r>
          </a:p>
          <a:p>
            <a:pPr marL="518166" lvl="1" indent="-259083" algn="l">
              <a:lnSpc>
                <a:spcPts val="3360"/>
              </a:lnSpc>
              <a:buFont typeface="Arial"/>
              <a:buChar char="•"/>
            </a:pPr>
            <a:r>
              <a:rPr lang="en-US" sz="2400">
                <a:solidFill>
                  <a:srgbClr val="000000"/>
                </a:solidFill>
                <a:latin typeface="Inter"/>
                <a:ea typeface="Inter"/>
                <a:cs typeface="Inter"/>
                <a:sym typeface="Inter"/>
              </a:rPr>
              <a:t>El desarrollo de condiciones laborales respetuosas de los derechos de los trabajadores y que permitan su desarrollo integral</a:t>
            </a:r>
          </a:p>
          <a:p>
            <a:pPr marL="518166" lvl="1" indent="-259083" algn="l">
              <a:lnSpc>
                <a:spcPts val="3360"/>
              </a:lnSpc>
              <a:buFont typeface="Arial"/>
              <a:buChar char="•"/>
            </a:pPr>
            <a:r>
              <a:rPr lang="en-US" sz="2400">
                <a:solidFill>
                  <a:srgbClr val="000000"/>
                </a:solidFill>
                <a:latin typeface="Inter"/>
                <a:ea typeface="Inter"/>
                <a:cs typeface="Inter"/>
                <a:sym typeface="Inter"/>
              </a:rPr>
              <a:t>Garantizar el cumplimiento del nivel de calidad de los productos y servicios ofrecidos por las empresas</a:t>
            </a:r>
          </a:p>
          <a:p>
            <a:pPr marL="518166" lvl="1" indent="-259083" algn="l">
              <a:lnSpc>
                <a:spcPts val="3360"/>
              </a:lnSpc>
              <a:buFont typeface="Arial"/>
              <a:buChar char="•"/>
            </a:pPr>
            <a:r>
              <a:rPr lang="en-US" sz="2400">
                <a:solidFill>
                  <a:srgbClr val="000000"/>
                </a:solidFill>
                <a:latin typeface="Inter"/>
                <a:ea typeface="Inter"/>
                <a:cs typeface="Inter"/>
                <a:sym typeface="Inter"/>
              </a:rPr>
              <a:t>La transparencia y difusión de información pertinente</a:t>
            </a:r>
          </a:p>
          <a:p>
            <a:pPr marL="518166" lvl="1" indent="-259083" algn="l">
              <a:lnSpc>
                <a:spcPts val="3360"/>
              </a:lnSpc>
              <a:buFont typeface="Arial"/>
              <a:buChar char="•"/>
            </a:pPr>
            <a:r>
              <a:rPr lang="en-US" sz="2400">
                <a:solidFill>
                  <a:srgbClr val="000000"/>
                </a:solidFill>
                <a:latin typeface="Inter"/>
                <a:ea typeface="Inter"/>
                <a:cs typeface="Inter"/>
                <a:sym typeface="Inter"/>
              </a:rPr>
              <a:t>Desarrollar acciones de supervisión, monitoreo, fiscalización y sanción necesarias para el cumplimiento de los estándares establecidos</a:t>
            </a:r>
          </a:p>
        </p:txBody>
      </p:sp>
      <p:sp>
        <p:nvSpPr>
          <p:cNvPr id="8" name="TextBox 8"/>
          <p:cNvSpPr txBox="1"/>
          <p:nvPr/>
        </p:nvSpPr>
        <p:spPr>
          <a:xfrm>
            <a:off x="921543" y="2530060"/>
            <a:ext cx="9350206" cy="1360214"/>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RESPONSABILIDAD SOCIAL EN RELACIÓN CON EL ESTADO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5016394"/>
          </a:xfrm>
          <a:prstGeom prst="rect">
            <a:avLst/>
          </a:prstGeom>
        </p:spPr>
        <p:txBody>
          <a:bodyPr lIns="0" tIns="0" rIns="0" bIns="0" rtlCol="0" anchor="t">
            <a:spAutoFit/>
          </a:bodyPr>
          <a:lstStyle/>
          <a:p>
            <a:pPr algn="l">
              <a:lnSpc>
                <a:spcPts val="3360"/>
              </a:lnSpc>
            </a:pPr>
            <a:r>
              <a:rPr lang="en-US" sz="2400" b="1">
                <a:solidFill>
                  <a:srgbClr val="000000"/>
                </a:solidFill>
                <a:latin typeface="Inter Bold"/>
                <a:ea typeface="Inter Bold"/>
                <a:cs typeface="Inter Bold"/>
                <a:sym typeface="Inter Bold"/>
              </a:rPr>
              <a:t>Como regulador, deberá definir con claridad las normas para alcanzar los siguientes puntos:</a:t>
            </a:r>
          </a:p>
          <a:p>
            <a:pPr marL="518166" lvl="1" indent="-259083" algn="l">
              <a:lnSpc>
                <a:spcPts val="3360"/>
              </a:lnSpc>
              <a:buFont typeface="Arial"/>
              <a:buChar char="•"/>
            </a:pPr>
            <a:r>
              <a:rPr lang="en-US" sz="2400">
                <a:solidFill>
                  <a:srgbClr val="000000"/>
                </a:solidFill>
                <a:latin typeface="Inter"/>
                <a:ea typeface="Inter"/>
                <a:cs typeface="Inter"/>
                <a:sym typeface="Inter"/>
              </a:rPr>
              <a:t>El desarrollo de actividades cuidadosas con el medio ambiente que sean compatibles con los estándares internacionales</a:t>
            </a:r>
          </a:p>
          <a:p>
            <a:pPr marL="518166" lvl="1" indent="-259083" algn="l">
              <a:lnSpc>
                <a:spcPts val="3360"/>
              </a:lnSpc>
              <a:buFont typeface="Arial"/>
              <a:buChar char="•"/>
            </a:pPr>
            <a:r>
              <a:rPr lang="en-US" sz="2400">
                <a:solidFill>
                  <a:srgbClr val="000000"/>
                </a:solidFill>
                <a:latin typeface="Inter"/>
                <a:ea typeface="Inter"/>
                <a:cs typeface="Inter"/>
                <a:sym typeface="Inter"/>
              </a:rPr>
              <a:t>Garantizar la asunción de la responsabilidad de la empresa frente a los impactos ambientales que pueda causar su actividad</a:t>
            </a:r>
          </a:p>
          <a:p>
            <a:pPr marL="518166" lvl="1" indent="-259083" algn="l">
              <a:lnSpc>
                <a:spcPts val="3360"/>
              </a:lnSpc>
              <a:buFont typeface="Arial"/>
              <a:buChar char="•"/>
            </a:pPr>
            <a:r>
              <a:rPr lang="en-US" sz="2400">
                <a:solidFill>
                  <a:srgbClr val="000000"/>
                </a:solidFill>
                <a:latin typeface="Inter"/>
                <a:ea typeface="Inter"/>
                <a:cs typeface="Inter"/>
                <a:sym typeface="Inter"/>
              </a:rPr>
              <a:t>El desarrollo de condiciones laborales respetuosas de los derechos de los trabajadores y que permitan su desarrollo integral</a:t>
            </a:r>
          </a:p>
          <a:p>
            <a:pPr marL="518166" lvl="1" indent="-259083" algn="l">
              <a:lnSpc>
                <a:spcPts val="3360"/>
              </a:lnSpc>
              <a:buFont typeface="Arial"/>
              <a:buChar char="•"/>
            </a:pPr>
            <a:r>
              <a:rPr lang="en-US" sz="2400">
                <a:solidFill>
                  <a:srgbClr val="000000"/>
                </a:solidFill>
                <a:latin typeface="Inter"/>
                <a:ea typeface="Inter"/>
                <a:cs typeface="Inter"/>
                <a:sym typeface="Inter"/>
              </a:rPr>
              <a:t>Garantizar el cumplimiento del nivel de calidad de los productos y servicios ofrecidos por las empresas</a:t>
            </a:r>
          </a:p>
          <a:p>
            <a:pPr marL="518166" lvl="1" indent="-259083" algn="l">
              <a:lnSpc>
                <a:spcPts val="3360"/>
              </a:lnSpc>
              <a:buFont typeface="Arial"/>
              <a:buChar char="•"/>
            </a:pPr>
            <a:r>
              <a:rPr lang="en-US" sz="2400">
                <a:solidFill>
                  <a:srgbClr val="000000"/>
                </a:solidFill>
                <a:latin typeface="Inter"/>
                <a:ea typeface="Inter"/>
                <a:cs typeface="Inter"/>
                <a:sym typeface="Inter"/>
              </a:rPr>
              <a:t>La transparencia y difusión de información pertinente</a:t>
            </a:r>
          </a:p>
          <a:p>
            <a:pPr marL="518166" lvl="1" indent="-259083" algn="l">
              <a:lnSpc>
                <a:spcPts val="3360"/>
              </a:lnSpc>
              <a:buFont typeface="Arial"/>
              <a:buChar char="•"/>
            </a:pPr>
            <a:r>
              <a:rPr lang="en-US" sz="2400">
                <a:solidFill>
                  <a:srgbClr val="000000"/>
                </a:solidFill>
                <a:latin typeface="Inter"/>
                <a:ea typeface="Inter"/>
                <a:cs typeface="Inter"/>
                <a:sym typeface="Inter"/>
              </a:rPr>
              <a:t>Desarrollar acciones de supervisión, monitoreo, fiscalización y sanción necesarias para el cumplimiento de los estándares establecidos</a:t>
            </a:r>
          </a:p>
        </p:txBody>
      </p:sp>
      <p:sp>
        <p:nvSpPr>
          <p:cNvPr id="8" name="TextBox 8"/>
          <p:cNvSpPr txBox="1"/>
          <p:nvPr/>
        </p:nvSpPr>
        <p:spPr>
          <a:xfrm>
            <a:off x="921543" y="2530060"/>
            <a:ext cx="9350206" cy="1360214"/>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RESPONSABILIDAD SOCIAL EN RELACIÓN CON EL ESTADO</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2920673"/>
          </a:xfrm>
          <a:prstGeom prst="rect">
            <a:avLst/>
          </a:prstGeom>
        </p:spPr>
        <p:txBody>
          <a:bodyPr lIns="0" tIns="0" rIns="0" bIns="0" rtlCol="0" anchor="t">
            <a:spAutoFit/>
          </a:bodyPr>
          <a:lstStyle/>
          <a:p>
            <a:pPr algn="l">
              <a:lnSpc>
                <a:spcPts val="3360"/>
              </a:lnSpc>
            </a:pPr>
            <a:r>
              <a:rPr lang="en-US" sz="2400" b="1">
                <a:solidFill>
                  <a:srgbClr val="000000"/>
                </a:solidFill>
                <a:latin typeface="Inter Bold"/>
                <a:ea typeface="Inter Bold"/>
                <a:cs typeface="Inter Bold"/>
                <a:sym typeface="Inter Bold"/>
              </a:rPr>
              <a:t>Como ejecutor de obras o inversiones, deberá ejecutar lo siguiente:</a:t>
            </a:r>
          </a:p>
          <a:p>
            <a:pPr marL="518166" lvl="1" indent="-259083" algn="l">
              <a:lnSpc>
                <a:spcPts val="3360"/>
              </a:lnSpc>
              <a:buFont typeface="Arial"/>
              <a:buChar char="•"/>
            </a:pPr>
            <a:r>
              <a:rPr lang="en-US" sz="2400">
                <a:solidFill>
                  <a:srgbClr val="000000"/>
                </a:solidFill>
                <a:latin typeface="Inter"/>
                <a:ea typeface="Inter"/>
                <a:cs typeface="Inter"/>
                <a:sym typeface="Inter"/>
              </a:rPr>
              <a:t>Respetar y cumplir las mismas normas que la empresa privada</a:t>
            </a:r>
          </a:p>
          <a:p>
            <a:pPr marL="518166" lvl="1" indent="-259083" algn="l">
              <a:lnSpc>
                <a:spcPts val="3360"/>
              </a:lnSpc>
              <a:buFont typeface="Arial"/>
              <a:buChar char="•"/>
            </a:pPr>
            <a:r>
              <a:rPr lang="en-US" sz="2400">
                <a:solidFill>
                  <a:srgbClr val="000000"/>
                </a:solidFill>
                <a:latin typeface="Inter"/>
                <a:ea typeface="Inter"/>
                <a:cs typeface="Inter"/>
                <a:sym typeface="Inter"/>
              </a:rPr>
              <a:t>Desarrollar acciones que no solo no dañen al medio ambiente, sino que promuevan su protección y recuperación</a:t>
            </a:r>
          </a:p>
          <a:p>
            <a:pPr marL="518166" lvl="1" indent="-259083" algn="l">
              <a:lnSpc>
                <a:spcPts val="3360"/>
              </a:lnSpc>
              <a:buFont typeface="Arial"/>
              <a:buChar char="•"/>
            </a:pPr>
            <a:r>
              <a:rPr lang="en-US" sz="2400">
                <a:solidFill>
                  <a:srgbClr val="000000"/>
                </a:solidFill>
                <a:latin typeface="Inter"/>
                <a:ea typeface="Inter"/>
                <a:cs typeface="Inter"/>
                <a:sym typeface="Inter"/>
              </a:rPr>
              <a:t>Desarrollar condiciones laborales respetuosas de los derechos de los trabajadores y que permitan su desarrollo integral</a:t>
            </a:r>
          </a:p>
          <a:p>
            <a:pPr marL="518166" lvl="1" indent="-259083" algn="l">
              <a:lnSpc>
                <a:spcPts val="3360"/>
              </a:lnSpc>
              <a:buFont typeface="Arial"/>
              <a:buChar char="•"/>
            </a:pPr>
            <a:r>
              <a:rPr lang="en-US" sz="2400">
                <a:solidFill>
                  <a:srgbClr val="000000"/>
                </a:solidFill>
                <a:latin typeface="Inter"/>
                <a:ea typeface="Inter"/>
                <a:cs typeface="Inter"/>
                <a:sym typeface="Inter"/>
              </a:rPr>
              <a:t>Promover la inclusión, la equidad de género, la igualdad de acceso a oportunidades</a:t>
            </a:r>
          </a:p>
        </p:txBody>
      </p:sp>
      <p:sp>
        <p:nvSpPr>
          <p:cNvPr id="8" name="TextBox 8"/>
          <p:cNvSpPr txBox="1"/>
          <p:nvPr/>
        </p:nvSpPr>
        <p:spPr>
          <a:xfrm>
            <a:off x="921543" y="2530060"/>
            <a:ext cx="9350206" cy="1360214"/>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RESPONSABILIDAD SOCIAL EN RELACIÓN CON EL ESTADO</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2501529"/>
          </a:xfrm>
          <a:prstGeom prst="rect">
            <a:avLst/>
          </a:prstGeom>
        </p:spPr>
        <p:txBody>
          <a:bodyPr lIns="0" tIns="0" rIns="0" bIns="0" rtlCol="0" anchor="t">
            <a:spAutoFit/>
          </a:bodyPr>
          <a:lstStyle/>
          <a:p>
            <a:pPr algn="l">
              <a:lnSpc>
                <a:spcPts val="3360"/>
              </a:lnSpc>
            </a:pPr>
            <a:r>
              <a:rPr lang="en-US" sz="2400" b="1">
                <a:solidFill>
                  <a:srgbClr val="000000"/>
                </a:solidFill>
                <a:latin typeface="Inter Bold"/>
                <a:ea typeface="Inter Bold"/>
                <a:cs typeface="Inter Bold"/>
                <a:sym typeface="Inter Bold"/>
              </a:rPr>
              <a:t>Como consumidor de bienes y servicios, deberá realizar lo siguiente:</a:t>
            </a:r>
          </a:p>
          <a:p>
            <a:pPr marL="518166" lvl="1" indent="-259083" algn="l">
              <a:lnSpc>
                <a:spcPts val="3360"/>
              </a:lnSpc>
              <a:buFont typeface="Arial"/>
              <a:buChar char="•"/>
            </a:pPr>
            <a:r>
              <a:rPr lang="en-US" sz="2400">
                <a:solidFill>
                  <a:srgbClr val="000000"/>
                </a:solidFill>
                <a:latin typeface="Inter"/>
                <a:ea typeface="Inter"/>
                <a:cs typeface="Inter"/>
                <a:sym typeface="Inter"/>
              </a:rPr>
              <a:t>Promover la compra de productos y servicios locales</a:t>
            </a:r>
          </a:p>
          <a:p>
            <a:pPr marL="518166" lvl="1" indent="-259083" algn="l">
              <a:lnSpc>
                <a:spcPts val="3360"/>
              </a:lnSpc>
              <a:buFont typeface="Arial"/>
              <a:buChar char="•"/>
            </a:pPr>
            <a:r>
              <a:rPr lang="en-US" sz="2400">
                <a:solidFill>
                  <a:srgbClr val="000000"/>
                </a:solidFill>
                <a:latin typeface="Inter"/>
                <a:ea typeface="Inter"/>
                <a:cs typeface="Inter"/>
                <a:sym typeface="Inter"/>
              </a:rPr>
              <a:t>Darle preferencia a aquellos proveedores que hayan cumplido las regulaciones sociales y ambientales establecidas en las normas</a:t>
            </a:r>
          </a:p>
          <a:p>
            <a:pPr marL="518166" lvl="1" indent="-259083" algn="l">
              <a:lnSpc>
                <a:spcPts val="3360"/>
              </a:lnSpc>
              <a:buFont typeface="Arial"/>
              <a:buChar char="•"/>
            </a:pPr>
            <a:r>
              <a:rPr lang="en-US" sz="2400">
                <a:solidFill>
                  <a:srgbClr val="000000"/>
                </a:solidFill>
                <a:latin typeface="Inter"/>
                <a:ea typeface="Inter"/>
                <a:cs typeface="Inter"/>
                <a:sym typeface="Inter"/>
              </a:rPr>
              <a:t>Promover un comportamiento racional de consumo, de prácticas de reutilización y ahorro en la sociedad en general</a:t>
            </a:r>
          </a:p>
        </p:txBody>
      </p:sp>
      <p:sp>
        <p:nvSpPr>
          <p:cNvPr id="8" name="TextBox 8"/>
          <p:cNvSpPr txBox="1"/>
          <p:nvPr/>
        </p:nvSpPr>
        <p:spPr>
          <a:xfrm>
            <a:off x="921543" y="2530060"/>
            <a:ext cx="9350206" cy="1360214"/>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RESPONSABILIDAD SOCIAL EN RELACIÓN CON EL ESTADO</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3339817"/>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Resumiendo, la responsabilidad social del Estado se plasma en un cabal desempeño de sus funciones para "regular", "promover", "sensibilizar", "acompañar", "vigilar" y "dar el ejemplo". Asimismo, se debe implementar una gestión transparente en todos los aspectos que le compete. El Estado es la única entidad con poder para promulgar y hacer cumplir las leyes. La publicación de la NTP-ISO-26000 es una oportunidad para que el Estado la use, como referencia, en la formulación y justificación de políticas que permitan apoyar y promover la adopción de la responsabilidad social por parte de las organizaciones públicas y privadas, y de la sociedad civil organizada.</a:t>
            </a:r>
          </a:p>
        </p:txBody>
      </p:sp>
      <p:sp>
        <p:nvSpPr>
          <p:cNvPr id="8" name="TextBox 8"/>
          <p:cNvSpPr txBox="1"/>
          <p:nvPr/>
        </p:nvSpPr>
        <p:spPr>
          <a:xfrm>
            <a:off x="921543" y="2530060"/>
            <a:ext cx="9350206" cy="1360214"/>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RESPONSABILIDAD SOCIAL EN RELACIÓN CON EL ESTADO</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4178105"/>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Las Normas ISO son un conjunto de normas orientadas a ordenar la gestión de una empresa en sus distintos ámbitos. Son establecidas por el Organismo Internacional de Estandarización (International Organization for Standardization), entidad conformada por más de 160 países.</a:t>
            </a:r>
          </a:p>
          <a:p>
            <a:pPr algn="l">
              <a:lnSpc>
                <a:spcPts val="3360"/>
              </a:lnSpc>
            </a:pPr>
            <a:endParaRPr lang="en-US" sz="2400">
              <a:solidFill>
                <a:srgbClr val="000000"/>
              </a:solidFill>
              <a:latin typeface="Inter"/>
              <a:ea typeface="Inter"/>
              <a:cs typeface="Inter"/>
              <a:sym typeface="Inter"/>
            </a:endParaRPr>
          </a:p>
          <a:p>
            <a:pPr algn="l">
              <a:lnSpc>
                <a:spcPts val="3360"/>
              </a:lnSpc>
            </a:pPr>
            <a:r>
              <a:rPr lang="en-US" sz="2400">
                <a:solidFill>
                  <a:srgbClr val="000000"/>
                </a:solidFill>
                <a:latin typeface="Inter"/>
                <a:ea typeface="Inter"/>
                <a:cs typeface="Inter"/>
                <a:sym typeface="Inter"/>
              </a:rPr>
              <a:t>En 2010, este organismo desarrolló las normas ISO 26000, las cuales fomentan la Responsabilidad Social Empresarial (RSE) por medio de prácticas operativas responsables que permitan generar valor social, medioambiental y económico tanto en los colaboradores como en el entorno. Pero, al igual que otras normas, esta se rige bajo algunos principios básicos que te presentamos a continuación: </a:t>
            </a:r>
          </a:p>
          <a:p>
            <a:pPr algn="l">
              <a:lnSpc>
                <a:spcPts val="3360"/>
              </a:lnSpc>
            </a:pPr>
            <a:endParaRPr lang="en-US" sz="2400">
              <a:solidFill>
                <a:srgbClr val="000000"/>
              </a:solidFill>
              <a:latin typeface="Inter"/>
              <a:ea typeface="Inter"/>
              <a:cs typeface="Inter"/>
              <a:sym typeface="Inter"/>
            </a:endParaRPr>
          </a:p>
        </p:txBody>
      </p:sp>
      <p:sp>
        <p:nvSpPr>
          <p:cNvPr id="8" name="TextBox 8"/>
          <p:cNvSpPr txBox="1"/>
          <p:nvPr/>
        </p:nvSpPr>
        <p:spPr>
          <a:xfrm>
            <a:off x="921543" y="3168257"/>
            <a:ext cx="9350206"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ISO 26000 Y PRINCIPIOS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4597249"/>
          </a:xfrm>
          <a:prstGeom prst="rect">
            <a:avLst/>
          </a:prstGeom>
        </p:spPr>
        <p:txBody>
          <a:bodyPr lIns="0" tIns="0" rIns="0" bIns="0" rtlCol="0" anchor="t">
            <a:spAutoFit/>
          </a:bodyPr>
          <a:lstStyle/>
          <a:p>
            <a:pPr algn="l">
              <a:lnSpc>
                <a:spcPts val="3360"/>
              </a:lnSpc>
            </a:pPr>
            <a:r>
              <a:rPr lang="en-US" sz="2400" b="1">
                <a:solidFill>
                  <a:srgbClr val="000000"/>
                </a:solidFill>
                <a:latin typeface="Inter Bold"/>
                <a:ea typeface="Inter Bold"/>
                <a:cs typeface="Inter Bold"/>
                <a:sym typeface="Inter Bold"/>
              </a:rPr>
              <a:t>Rendición de cuentas </a:t>
            </a:r>
          </a:p>
          <a:p>
            <a:pPr algn="l">
              <a:lnSpc>
                <a:spcPts val="3360"/>
              </a:lnSpc>
            </a:pPr>
            <a:r>
              <a:rPr lang="en-US" sz="2400">
                <a:solidFill>
                  <a:srgbClr val="000000"/>
                </a:solidFill>
                <a:latin typeface="Inter"/>
                <a:ea typeface="Inter"/>
                <a:cs typeface="Inter"/>
                <a:sym typeface="Inter"/>
              </a:rPr>
              <a:t>Toda organización tiene la responsabilidad de informar abiertamente el impacto de sus proyectos en la economía, la sociedad y el medioambiente. Asimismo, tiene el deber de rendir cuentas sobre aquellas decisiones que tuvieron consecuencias negativas en estos ámbitos y asumir el compromiso de tomar las medidas necesarias para repararlos, para evitar que se repitan.</a:t>
            </a:r>
          </a:p>
          <a:p>
            <a:pPr algn="l">
              <a:lnSpc>
                <a:spcPts val="3360"/>
              </a:lnSpc>
            </a:pPr>
            <a:endParaRPr lang="en-US" sz="2400">
              <a:solidFill>
                <a:srgbClr val="000000"/>
              </a:solidFill>
              <a:latin typeface="Inter"/>
              <a:ea typeface="Inter"/>
              <a:cs typeface="Inter"/>
              <a:sym typeface="Inter"/>
            </a:endParaRPr>
          </a:p>
          <a:p>
            <a:pPr algn="l">
              <a:lnSpc>
                <a:spcPts val="3360"/>
              </a:lnSpc>
            </a:pPr>
            <a:r>
              <a:rPr lang="en-US" sz="2400" b="1">
                <a:solidFill>
                  <a:srgbClr val="000000"/>
                </a:solidFill>
                <a:latin typeface="Inter Bold"/>
                <a:ea typeface="Inter Bold"/>
                <a:cs typeface="Inter Bold"/>
                <a:sym typeface="Inter Bold"/>
              </a:rPr>
              <a:t>Transparencia </a:t>
            </a:r>
          </a:p>
          <a:p>
            <a:pPr algn="l">
              <a:lnSpc>
                <a:spcPts val="3360"/>
              </a:lnSpc>
            </a:pPr>
            <a:r>
              <a:rPr lang="en-US" sz="2400">
                <a:solidFill>
                  <a:srgbClr val="000000"/>
                </a:solidFill>
                <a:latin typeface="Inter"/>
                <a:ea typeface="Inter"/>
                <a:cs typeface="Inter"/>
                <a:sym typeface="Inter"/>
              </a:rPr>
              <a:t>Las organizaciones tienen el deber de brindar toda la información que requieran las partes interesadas sobre aquellas acciones que puedan afectar a la sociedad y el medioambiente. Para ello, es necesario que las empresas publiquen esta información de manera clara y con un formato accesible. </a:t>
            </a:r>
          </a:p>
        </p:txBody>
      </p:sp>
      <p:sp>
        <p:nvSpPr>
          <p:cNvPr id="8" name="TextBox 8"/>
          <p:cNvSpPr txBox="1"/>
          <p:nvPr/>
        </p:nvSpPr>
        <p:spPr>
          <a:xfrm>
            <a:off x="921543" y="3168257"/>
            <a:ext cx="9350206"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ISO 26000 Y PRINCIPIOS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3758961"/>
          </a:xfrm>
          <a:prstGeom prst="rect">
            <a:avLst/>
          </a:prstGeom>
        </p:spPr>
        <p:txBody>
          <a:bodyPr lIns="0" tIns="0" rIns="0" bIns="0" rtlCol="0" anchor="t">
            <a:spAutoFit/>
          </a:bodyPr>
          <a:lstStyle/>
          <a:p>
            <a:pPr algn="l">
              <a:lnSpc>
                <a:spcPts val="3360"/>
              </a:lnSpc>
            </a:pPr>
            <a:r>
              <a:rPr lang="en-US" sz="2400" b="1">
                <a:solidFill>
                  <a:srgbClr val="000000"/>
                </a:solidFill>
                <a:latin typeface="Inter Bold"/>
                <a:ea typeface="Inter Bold"/>
                <a:cs typeface="Inter Bold"/>
                <a:sym typeface="Inter Bold"/>
              </a:rPr>
              <a:t>Comportamiento ético </a:t>
            </a:r>
          </a:p>
          <a:p>
            <a:pPr algn="l">
              <a:lnSpc>
                <a:spcPts val="3360"/>
              </a:lnSpc>
            </a:pPr>
            <a:r>
              <a:rPr lang="en-US" sz="2400">
                <a:solidFill>
                  <a:srgbClr val="000000"/>
                </a:solidFill>
                <a:latin typeface="Inter"/>
                <a:ea typeface="Inter"/>
                <a:cs typeface="Inter"/>
                <a:sym typeface="Inter"/>
              </a:rPr>
              <a:t>La honestidad, la equidad y la integridad son criterios clave para toda organización con responsabilidad social. Asimismo, es importante que el objetivo económico no sea el único motor de sus actividades, sino que pueda generar un impacto positivo en la sociedad. </a:t>
            </a:r>
          </a:p>
          <a:p>
            <a:pPr algn="l">
              <a:lnSpc>
                <a:spcPts val="3360"/>
              </a:lnSpc>
            </a:pPr>
            <a:endParaRPr lang="en-US" sz="2400">
              <a:solidFill>
                <a:srgbClr val="000000"/>
              </a:solidFill>
              <a:latin typeface="Inter"/>
              <a:ea typeface="Inter"/>
              <a:cs typeface="Inter"/>
              <a:sym typeface="Inter"/>
            </a:endParaRPr>
          </a:p>
          <a:p>
            <a:pPr algn="l">
              <a:lnSpc>
                <a:spcPts val="3360"/>
              </a:lnSpc>
            </a:pPr>
            <a:r>
              <a:rPr lang="en-US" sz="2400" b="1">
                <a:solidFill>
                  <a:srgbClr val="000000"/>
                </a:solidFill>
                <a:latin typeface="Inter Bold"/>
                <a:ea typeface="Inter Bold"/>
                <a:cs typeface="Inter Bold"/>
                <a:sym typeface="Inter Bold"/>
              </a:rPr>
              <a:t>Respeto a los intereses de las partes interesadas </a:t>
            </a:r>
          </a:p>
          <a:p>
            <a:pPr algn="l">
              <a:lnSpc>
                <a:spcPts val="3360"/>
              </a:lnSpc>
            </a:pPr>
            <a:r>
              <a:rPr lang="en-US" sz="2400">
                <a:solidFill>
                  <a:srgbClr val="000000"/>
                </a:solidFill>
                <a:latin typeface="Inter"/>
                <a:ea typeface="Inter"/>
                <a:cs typeface="Inter"/>
                <a:sym typeface="Inter"/>
              </a:rPr>
              <a:t>La organización tiene el deber de tomar en cuenta la opinión de las partes interesadas en la toma de decisiones. Para ello, es necesario que establezca un diálogo basado en el respeto y que se muestre abierta a diferentes perspectivas. </a:t>
            </a:r>
          </a:p>
        </p:txBody>
      </p:sp>
      <p:sp>
        <p:nvSpPr>
          <p:cNvPr id="8" name="TextBox 8"/>
          <p:cNvSpPr txBox="1"/>
          <p:nvPr/>
        </p:nvSpPr>
        <p:spPr>
          <a:xfrm>
            <a:off x="921543" y="3168257"/>
            <a:ext cx="9350206"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ISO 26000 Y PRINCIPIOS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4178105"/>
          </a:xfrm>
          <a:prstGeom prst="rect">
            <a:avLst/>
          </a:prstGeom>
        </p:spPr>
        <p:txBody>
          <a:bodyPr lIns="0" tIns="0" rIns="0" bIns="0" rtlCol="0" anchor="t">
            <a:spAutoFit/>
          </a:bodyPr>
          <a:lstStyle/>
          <a:p>
            <a:pPr algn="l">
              <a:lnSpc>
                <a:spcPts val="3360"/>
              </a:lnSpc>
            </a:pPr>
            <a:r>
              <a:rPr lang="en-US" sz="2400" b="1">
                <a:solidFill>
                  <a:srgbClr val="000000"/>
                </a:solidFill>
                <a:latin typeface="Inter Bold"/>
                <a:ea typeface="Inter Bold"/>
                <a:cs typeface="Inter Bold"/>
                <a:sym typeface="Inter Bold"/>
              </a:rPr>
              <a:t>Respeto al principio de legalidad </a:t>
            </a:r>
          </a:p>
          <a:p>
            <a:pPr algn="l">
              <a:lnSpc>
                <a:spcPts val="3360"/>
              </a:lnSpc>
            </a:pPr>
            <a:r>
              <a:rPr lang="en-US" sz="2400">
                <a:solidFill>
                  <a:srgbClr val="000000"/>
                </a:solidFill>
                <a:latin typeface="Inter"/>
                <a:ea typeface="Inter"/>
                <a:cs typeface="Inter"/>
                <a:sym typeface="Inter"/>
              </a:rPr>
              <a:t>Este principio no representa una guía, sino una normativa de carácter obligatorio. Toda organización debe conocer las leyes y regulaciones aplicadas a su área de trabajo para actuar dentro de los marcos que establece el orden jurídico.</a:t>
            </a:r>
          </a:p>
          <a:p>
            <a:pPr algn="l">
              <a:lnSpc>
                <a:spcPts val="3360"/>
              </a:lnSpc>
            </a:pPr>
            <a:endParaRPr lang="en-US" sz="2400">
              <a:solidFill>
                <a:srgbClr val="000000"/>
              </a:solidFill>
              <a:latin typeface="Inter"/>
              <a:ea typeface="Inter"/>
              <a:cs typeface="Inter"/>
              <a:sym typeface="Inter"/>
            </a:endParaRPr>
          </a:p>
          <a:p>
            <a:pPr algn="l">
              <a:lnSpc>
                <a:spcPts val="3360"/>
              </a:lnSpc>
            </a:pPr>
            <a:r>
              <a:rPr lang="en-US" sz="2400" b="1">
                <a:solidFill>
                  <a:srgbClr val="000000"/>
                </a:solidFill>
                <a:latin typeface="Inter Bold"/>
                <a:ea typeface="Inter Bold"/>
                <a:cs typeface="Inter Bold"/>
                <a:sym typeface="Inter Bold"/>
              </a:rPr>
              <a:t>Respeto a la normatividad internacional de comportamiento </a:t>
            </a:r>
          </a:p>
          <a:p>
            <a:pPr algn="l">
              <a:lnSpc>
                <a:spcPts val="3360"/>
              </a:lnSpc>
            </a:pPr>
            <a:r>
              <a:rPr lang="en-US" sz="2400">
                <a:solidFill>
                  <a:srgbClr val="000000"/>
                </a:solidFill>
                <a:latin typeface="Inter"/>
                <a:ea typeface="Inter"/>
                <a:cs typeface="Inter"/>
                <a:sym typeface="Inter"/>
              </a:rPr>
              <a:t>Así como la empresa debe tener conocimiento sobre la legislación nacional, también es importante que conozca la normativa internacional en materia de la Responsabilidad Social. Es posible que estas normas difieran en algunos aspectos, pero es necesario que las organizaciones puedan respetarlas en el mayor grado posible. </a:t>
            </a:r>
          </a:p>
        </p:txBody>
      </p:sp>
      <p:sp>
        <p:nvSpPr>
          <p:cNvPr id="8" name="TextBox 8"/>
          <p:cNvSpPr txBox="1"/>
          <p:nvPr/>
        </p:nvSpPr>
        <p:spPr>
          <a:xfrm>
            <a:off x="921543" y="3168257"/>
            <a:ext cx="9350206"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ISO 26000 Y PRINCIPIOS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2082385"/>
          </a:xfrm>
          <a:prstGeom prst="rect">
            <a:avLst/>
          </a:prstGeom>
        </p:spPr>
        <p:txBody>
          <a:bodyPr lIns="0" tIns="0" rIns="0" bIns="0" rtlCol="0" anchor="t">
            <a:spAutoFit/>
          </a:bodyPr>
          <a:lstStyle/>
          <a:p>
            <a:pPr algn="l">
              <a:lnSpc>
                <a:spcPts val="3360"/>
              </a:lnSpc>
            </a:pPr>
            <a:r>
              <a:rPr lang="en-US" sz="2400" b="1">
                <a:solidFill>
                  <a:srgbClr val="000000"/>
                </a:solidFill>
                <a:latin typeface="Inter Bold"/>
                <a:ea typeface="Inter Bold"/>
                <a:cs typeface="Inter Bold"/>
                <a:sym typeface="Inter Bold"/>
              </a:rPr>
              <a:t>Respeto a los derechos humanos </a:t>
            </a:r>
          </a:p>
          <a:p>
            <a:pPr algn="l">
              <a:lnSpc>
                <a:spcPts val="3360"/>
              </a:lnSpc>
            </a:pPr>
            <a:r>
              <a:rPr lang="en-US" sz="2400">
                <a:solidFill>
                  <a:srgbClr val="000000"/>
                </a:solidFill>
                <a:latin typeface="Inter"/>
                <a:ea typeface="Inter"/>
                <a:cs typeface="Inter"/>
                <a:sym typeface="Inter"/>
              </a:rPr>
              <a:t>Esto es fundamental para toda organización. El respeto por los Derechos Humanos es clave para fomentar una cultura de responsabilidad social, y las organizaciones cumplen un papel significativo para conseguir este propósito. Por ello, es importante que todas las empresas conozcan y defiendan lo establecido en la Carta Universal de los Derechos Humanos.</a:t>
            </a:r>
          </a:p>
        </p:txBody>
      </p:sp>
      <p:sp>
        <p:nvSpPr>
          <p:cNvPr id="8" name="TextBox 8"/>
          <p:cNvSpPr txBox="1"/>
          <p:nvPr/>
        </p:nvSpPr>
        <p:spPr>
          <a:xfrm>
            <a:off x="921543" y="3168257"/>
            <a:ext cx="9350206"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ISO 26000 Y PRINCIPIOS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3339817"/>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Las ventajas que las empresas pueden tener al desarrollar estrategias orientadas al cumplimiento de las normas ISO 26000 son las siguientes: </a:t>
            </a:r>
          </a:p>
          <a:p>
            <a:pPr marL="518166" lvl="1" indent="-259083" algn="l">
              <a:lnSpc>
                <a:spcPts val="3360"/>
              </a:lnSpc>
              <a:buFont typeface="Arial"/>
              <a:buChar char="•"/>
            </a:pPr>
            <a:r>
              <a:rPr lang="en-US" sz="2400">
                <a:solidFill>
                  <a:srgbClr val="000000"/>
                </a:solidFill>
                <a:latin typeface="Inter"/>
                <a:ea typeface="Inter"/>
                <a:cs typeface="Inter"/>
                <a:sym typeface="Inter"/>
              </a:rPr>
              <a:t>Ofrece una ventaja sobre la competencia. </a:t>
            </a:r>
          </a:p>
          <a:p>
            <a:pPr marL="518166" lvl="1" indent="-259083" algn="l">
              <a:lnSpc>
                <a:spcPts val="3360"/>
              </a:lnSpc>
              <a:buFont typeface="Arial"/>
              <a:buChar char="•"/>
            </a:pPr>
            <a:r>
              <a:rPr lang="en-US" sz="2400">
                <a:solidFill>
                  <a:srgbClr val="000000"/>
                </a:solidFill>
                <a:latin typeface="Inter"/>
                <a:ea typeface="Inter"/>
                <a:cs typeface="Inter"/>
                <a:sym typeface="Inter"/>
              </a:rPr>
              <a:t>Establece una mejor reputación en el mercado. </a:t>
            </a:r>
          </a:p>
          <a:p>
            <a:pPr marL="518166" lvl="1" indent="-259083" algn="l">
              <a:lnSpc>
                <a:spcPts val="3360"/>
              </a:lnSpc>
              <a:buFont typeface="Arial"/>
              <a:buChar char="•"/>
            </a:pPr>
            <a:r>
              <a:rPr lang="en-US" sz="2400">
                <a:solidFill>
                  <a:srgbClr val="000000"/>
                </a:solidFill>
                <a:latin typeface="Inter"/>
                <a:ea typeface="Inter"/>
                <a:cs typeface="Inter"/>
                <a:sym typeface="Inter"/>
              </a:rPr>
              <a:t>Desarrolla la capacidad para atraer y retener a los trabajadores y clientes. </a:t>
            </a:r>
          </a:p>
          <a:p>
            <a:pPr marL="518166" lvl="1" indent="-259083" algn="l">
              <a:lnSpc>
                <a:spcPts val="3360"/>
              </a:lnSpc>
              <a:buFont typeface="Arial"/>
              <a:buChar char="•"/>
            </a:pPr>
            <a:r>
              <a:rPr lang="en-US" sz="2400">
                <a:solidFill>
                  <a:srgbClr val="000000"/>
                </a:solidFill>
                <a:latin typeface="Inter"/>
                <a:ea typeface="Inter"/>
                <a:cs typeface="Inter"/>
                <a:sym typeface="Inter"/>
              </a:rPr>
              <a:t>Mantiene la motivación, el compromiso y la productividad de los empleados. </a:t>
            </a:r>
          </a:p>
          <a:p>
            <a:pPr marL="518166" lvl="1" indent="-259083" algn="l">
              <a:lnSpc>
                <a:spcPts val="3360"/>
              </a:lnSpc>
              <a:buFont typeface="Arial"/>
              <a:buChar char="•"/>
            </a:pPr>
            <a:r>
              <a:rPr lang="en-US" sz="2400">
                <a:solidFill>
                  <a:srgbClr val="000000"/>
                </a:solidFill>
                <a:latin typeface="Inter"/>
                <a:ea typeface="Inter"/>
                <a:cs typeface="Inter"/>
                <a:sym typeface="Inter"/>
              </a:rPr>
              <a:t>Mejora la relación entre empresas, gobiernos, medios de comunicación y otros. </a:t>
            </a:r>
          </a:p>
          <a:p>
            <a:pPr marL="518166" lvl="1" indent="-259083" algn="l">
              <a:lnSpc>
                <a:spcPts val="3360"/>
              </a:lnSpc>
              <a:buFont typeface="Arial"/>
              <a:buChar char="•"/>
            </a:pPr>
            <a:r>
              <a:rPr lang="en-US" sz="2400">
                <a:solidFill>
                  <a:srgbClr val="000000"/>
                </a:solidFill>
                <a:latin typeface="Inter"/>
                <a:ea typeface="Inter"/>
                <a:cs typeface="Inter"/>
                <a:sym typeface="Inter"/>
              </a:rPr>
              <a:t>Capta la atención y promueve la confianza de los inversionistas y patrocinadores</a:t>
            </a:r>
          </a:p>
        </p:txBody>
      </p:sp>
      <p:sp>
        <p:nvSpPr>
          <p:cNvPr id="8" name="TextBox 8"/>
          <p:cNvSpPr txBox="1"/>
          <p:nvPr/>
        </p:nvSpPr>
        <p:spPr>
          <a:xfrm>
            <a:off x="921543" y="3168257"/>
            <a:ext cx="11617731"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VENTAJAS DE LA NORMA ISO 26000</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33660" y="3924164"/>
            <a:ext cx="12164805" cy="1216480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1F28"/>
            </a:solidFill>
          </p:spPr>
        </p:sp>
        <p:sp>
          <p:nvSpPr>
            <p:cNvPr id="4" name="TextBox 4"/>
            <p:cNvSpPr txBox="1"/>
            <p:nvPr/>
          </p:nvSpPr>
          <p:spPr>
            <a:xfrm>
              <a:off x="76200" y="76200"/>
              <a:ext cx="660400" cy="660400"/>
            </a:xfrm>
            <a:prstGeom prst="rect">
              <a:avLst/>
            </a:prstGeom>
          </p:spPr>
          <p:txBody>
            <a:bodyPr lIns="50800" tIns="50800" rIns="50800" bIns="50800" rtlCol="0" anchor="ctr"/>
            <a:lstStyle/>
            <a:p>
              <a:pPr algn="ctr">
                <a:lnSpc>
                  <a:spcPts val="2157"/>
                </a:lnSpc>
              </a:pPr>
              <a:endParaRPr/>
            </a:p>
          </p:txBody>
        </p:sp>
      </p:grpSp>
      <p:grpSp>
        <p:nvGrpSpPr>
          <p:cNvPr id="5" name="Group 5"/>
          <p:cNvGrpSpPr>
            <a:grpSpLocks noChangeAspect="1"/>
          </p:cNvGrpSpPr>
          <p:nvPr/>
        </p:nvGrpSpPr>
        <p:grpSpPr>
          <a:xfrm>
            <a:off x="13252265" y="1028700"/>
            <a:ext cx="4007035" cy="7928607"/>
            <a:chOff x="0" y="0"/>
            <a:chExt cx="2620010" cy="5184140"/>
          </a:xfrm>
        </p:grpSpPr>
        <p:sp>
          <p:nvSpPr>
            <p:cNvPr id="6" name="Freeform 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7" name="Freeform 7"/>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112628" r="-112628"/>
              </a:stretch>
            </a:blipFill>
          </p:spPr>
        </p:sp>
        <p:sp>
          <p:nvSpPr>
            <p:cNvPr id="8" name="Freeform 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9" name="Freeform 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10" name="Freeform 1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11" name="Freeform 1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12" name="Freeform 1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13" name="Freeform 1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14" name="Freeform 1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grpSp>
        <p:nvGrpSpPr>
          <p:cNvPr id="15" name="Group 15"/>
          <p:cNvGrpSpPr>
            <a:grpSpLocks noChangeAspect="1"/>
          </p:cNvGrpSpPr>
          <p:nvPr/>
        </p:nvGrpSpPr>
        <p:grpSpPr>
          <a:xfrm>
            <a:off x="8868527" y="3690675"/>
            <a:ext cx="4009751" cy="7933981"/>
            <a:chOff x="0" y="0"/>
            <a:chExt cx="2620010" cy="5184140"/>
          </a:xfrm>
        </p:grpSpPr>
        <p:sp>
          <p:nvSpPr>
            <p:cNvPr id="16" name="Freeform 1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17" name="Freeform 17"/>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112324" r="-112324"/>
              </a:stretch>
            </a:blipFill>
          </p:spPr>
        </p:sp>
        <p:sp>
          <p:nvSpPr>
            <p:cNvPr id="18" name="Freeform 1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19" name="Freeform 1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20" name="Freeform 2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21" name="Freeform 2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22" name="Freeform 2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23" name="Freeform 2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24" name="Freeform 2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id="25" name="Freeform 25"/>
          <p:cNvSpPr/>
          <p:nvPr/>
        </p:nvSpPr>
        <p:spPr>
          <a:xfrm flipV="1">
            <a:off x="-3692884" y="8433637"/>
            <a:ext cx="12561411" cy="2637896"/>
          </a:xfrm>
          <a:custGeom>
            <a:avLst/>
            <a:gdLst/>
            <a:ahLst/>
            <a:cxnLst/>
            <a:rect l="l" t="t" r="r" b="b"/>
            <a:pathLst>
              <a:path w="12561411" h="2637896">
                <a:moveTo>
                  <a:pt x="0" y="2637896"/>
                </a:moveTo>
                <a:lnTo>
                  <a:pt x="12561411" y="2637896"/>
                </a:lnTo>
                <a:lnTo>
                  <a:pt x="12561411" y="0"/>
                </a:lnTo>
                <a:lnTo>
                  <a:pt x="0" y="0"/>
                </a:lnTo>
                <a:lnTo>
                  <a:pt x="0" y="2637896"/>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6" name="Freeform 26"/>
          <p:cNvSpPr/>
          <p:nvPr/>
        </p:nvSpPr>
        <p:spPr>
          <a:xfrm>
            <a:off x="0" y="-23619"/>
            <a:ext cx="3406189" cy="2104637"/>
          </a:xfrm>
          <a:custGeom>
            <a:avLst/>
            <a:gdLst/>
            <a:ahLst/>
            <a:cxnLst/>
            <a:rect l="l" t="t" r="r" b="b"/>
            <a:pathLst>
              <a:path w="3406189" h="2104637">
                <a:moveTo>
                  <a:pt x="0" y="0"/>
                </a:moveTo>
                <a:lnTo>
                  <a:pt x="3406189" y="0"/>
                </a:lnTo>
                <a:lnTo>
                  <a:pt x="3406189" y="2104638"/>
                </a:lnTo>
                <a:lnTo>
                  <a:pt x="0" y="2104638"/>
                </a:lnTo>
                <a:lnTo>
                  <a:pt x="0" y="0"/>
                </a:lnTo>
                <a:close/>
              </a:path>
            </a:pathLst>
          </a:custGeom>
          <a:blipFill>
            <a:blip r:embed="rId6"/>
            <a:stretch>
              <a:fillRect/>
            </a:stretch>
          </a:blipFill>
        </p:spPr>
      </p:sp>
      <p:sp>
        <p:nvSpPr>
          <p:cNvPr id="27" name="TextBox 27"/>
          <p:cNvSpPr txBox="1"/>
          <p:nvPr/>
        </p:nvSpPr>
        <p:spPr>
          <a:xfrm>
            <a:off x="945347" y="2423159"/>
            <a:ext cx="6916838" cy="5618242"/>
          </a:xfrm>
          <a:prstGeom prst="rect">
            <a:avLst/>
          </a:prstGeom>
        </p:spPr>
        <p:txBody>
          <a:bodyPr lIns="0" tIns="0" rIns="0" bIns="0" rtlCol="0" anchor="t">
            <a:spAutoFit/>
          </a:bodyPr>
          <a:lstStyle/>
          <a:p>
            <a:pPr algn="ctr">
              <a:lnSpc>
                <a:spcPts val="4800"/>
              </a:lnSpc>
            </a:pPr>
            <a:r>
              <a:rPr lang="en-US" sz="4800" b="1">
                <a:solidFill>
                  <a:srgbClr val="303030"/>
                </a:solidFill>
                <a:latin typeface="Futura Ultra-Bold"/>
                <a:ea typeface="Futura Ultra-Bold"/>
                <a:cs typeface="Futura Ultra-Bold"/>
                <a:sym typeface="Futura Ultra-Bold"/>
              </a:rPr>
              <a:t>TEMA 2:</a:t>
            </a:r>
          </a:p>
          <a:p>
            <a:pPr algn="ctr">
              <a:lnSpc>
                <a:spcPts val="4800"/>
              </a:lnSpc>
            </a:pPr>
            <a:endParaRPr lang="en-US" sz="4800" b="1">
              <a:solidFill>
                <a:srgbClr val="303030"/>
              </a:solidFill>
              <a:latin typeface="Futura Ultra-Bold"/>
              <a:ea typeface="Futura Ultra-Bold"/>
              <a:cs typeface="Futura Ultra-Bold"/>
              <a:sym typeface="Futura Ultra-Bold"/>
            </a:endParaRPr>
          </a:p>
          <a:p>
            <a:pPr algn="ctr">
              <a:lnSpc>
                <a:spcPts val="4800"/>
              </a:lnSpc>
            </a:pPr>
            <a:r>
              <a:rPr lang="en-US" sz="4800" b="1">
                <a:solidFill>
                  <a:srgbClr val="303030"/>
                </a:solidFill>
                <a:latin typeface="Futura Ultra-Bold"/>
                <a:ea typeface="Futura Ultra-Bold"/>
                <a:cs typeface="Futura Ultra-Bold"/>
                <a:sym typeface="Futura Ultra-Bold"/>
              </a:rPr>
              <a:t>DERECHOS DE LAS COMUNIDADES, OBLIGACIONES DE LAS EMPRESAS E IMPLEMENTACIÓN DE ESTRATEGIAS DE RSE</a:t>
            </a:r>
          </a:p>
          <a:p>
            <a:pPr algn="ctr">
              <a:lnSpc>
                <a:spcPts val="4800"/>
              </a:lnSpc>
            </a:pPr>
            <a:endParaRPr lang="en-US" sz="4800" b="1">
              <a:solidFill>
                <a:srgbClr val="303030"/>
              </a:solidFill>
              <a:latin typeface="Futura Ultra-Bold"/>
              <a:ea typeface="Futura Ultra-Bold"/>
              <a:cs typeface="Futura Ultra-Bold"/>
              <a:sym typeface="Futura Ultra-Bo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5016394"/>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La Consulta es un proceso de información y diálogo entre empresas, comunidades y Estado acerca de las actividades energético-mineras en una localidad, el marco normativo que las regula y las medidas de prevención y manejo de los posibles impactos sociales y ambientales del proyecto. La Consulta no implica un derecho a veto de las comunidades sobre el proyecto. En caso de que las tierras superficiales sean de propiedad privada, la Consulta no exime al Titular de buscar llegar a un acuerdo con el propietario para el ingreso a su propiedad. La Consulta es una actividad fundamental en la relación entre la empresa y los Grupos de Interés ligados al proyecto (comunidades directa o indirectamente impactadas, personas u organizaciones con algún interés en el resultado de las actividades o que puedan afectar el resultado del proyecto). La Consulta es de doble dirección: por un lado, la empresa informa a la población de todos los aspectos del proyecto que tienen un impacto socioeconómico y por otro recibe las preocupaciones de la comunidad y otros agentes y las toma en cuenta para el diseño del proyecto</a:t>
            </a:r>
          </a:p>
        </p:txBody>
      </p:sp>
      <p:sp>
        <p:nvSpPr>
          <p:cNvPr id="8" name="TextBox 8"/>
          <p:cNvSpPr txBox="1"/>
          <p:nvPr/>
        </p:nvSpPr>
        <p:spPr>
          <a:xfrm>
            <a:off x="921543" y="3168257"/>
            <a:ext cx="13381711"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LA CONSULTA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4597249"/>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El objetivo de la Consulta es optimizar la información que la empresa incluye en su proceso de toma de decisiones para así potenciar los impactos socioeconómicos positivos inherentes al proyecto (beneficiando a la mayor cantidad de gente de la localidad) y mitigar los impactos negativos. La Consulta es además el mejor mecanismo para evitar conflictos con una comunidad al facilitar información que permite desvirtuar los temores y expectativas que surgen alrededor de un proyecto energético - minero. La Consulta implica identificar previamente a las personas impactadas directa o indirectamente por el proyecto y los mecanismos apropiados de información que deben usarse para iniciar y mantener un diálogo efectivo. Por otro lado, la empresa debe permitir que ese diálogo influya en aspectos como el análisis de alternativas durante el diseño del proyecto, la identificación de impactos y las medidas de manejo y la definición de la política de Responsabilidad Social de la empresa.</a:t>
            </a:r>
          </a:p>
        </p:txBody>
      </p:sp>
      <p:sp>
        <p:nvSpPr>
          <p:cNvPr id="8" name="TextBox 8"/>
          <p:cNvSpPr txBox="1"/>
          <p:nvPr/>
        </p:nvSpPr>
        <p:spPr>
          <a:xfrm>
            <a:off x="921543" y="3168257"/>
            <a:ext cx="13381711"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LA CONSULTA</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3758961"/>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El Plan de Consulta consiste en una serie de actividades que permiten a los diversos Grupos de Interés recibir información actualizada sobre el proyecto y expresar sus preocupaciones y opiniones. Este plan puede incluirse en el Plan de Relaciones Comunitarias que sintetiza las medidas de prevención y manejo de los impactos socioeconómicos el proyecto y que forma parte de los Estudios de Impacto Ambiental. La extensión del Plan depende, entre otros factores, del tamaño y duración del proyecto, la variedad e intensidad de los temas sociales y las características de las comunidades afectadas. No existen dos planes de Consulta iguales. El Plan de Consulta debe coordinarse con el proceso de toma de decisiones del proyecto para que la información surgida pueda ser tomada en cuenta en la práctica. </a:t>
            </a:r>
          </a:p>
        </p:txBody>
      </p:sp>
      <p:sp>
        <p:nvSpPr>
          <p:cNvPr id="8" name="TextBox 8"/>
          <p:cNvSpPr txBox="1"/>
          <p:nvPr/>
        </p:nvSpPr>
        <p:spPr>
          <a:xfrm>
            <a:off x="921543" y="3168257"/>
            <a:ext cx="13381711"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EL PLAN DE CONSULTA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5016394"/>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El público de una Consulta está compuesto por quienes en el primer capítulo denominamos Grupos de Interés: individuos, grupos y organizaciones que puedan estar directa o indirectamente impactados por algún aspecto del proyecto, que tengan un interés general en el resultado o las actividades asociadas con el proyecto y/o que puedan afectar el resultado del proyecto. Algunos Grupos de Interés típicos son: </a:t>
            </a:r>
          </a:p>
          <a:p>
            <a:pPr marL="518166" lvl="1" indent="-259083" algn="l">
              <a:lnSpc>
                <a:spcPts val="3360"/>
              </a:lnSpc>
              <a:buFont typeface="Arial"/>
              <a:buChar char="•"/>
            </a:pPr>
            <a:r>
              <a:rPr lang="en-US" sz="2400">
                <a:solidFill>
                  <a:srgbClr val="000000"/>
                </a:solidFill>
                <a:latin typeface="Inter"/>
                <a:ea typeface="Inter"/>
                <a:cs typeface="Inter"/>
                <a:sym typeface="Inter"/>
              </a:rPr>
              <a:t>Personas y comunidades directamente impactadas por el proyecto. Típicamente: propietarios de tierras sobre concesiones mineras y de hidrocarburos, usufructuarios de tierras, pastos y bosques afectados y habitantes ubicados cerca o en las áreas de interés del proyecto. </a:t>
            </a:r>
          </a:p>
          <a:p>
            <a:pPr marL="518166" lvl="1" indent="-259083" algn="l">
              <a:lnSpc>
                <a:spcPts val="3360"/>
              </a:lnSpc>
              <a:buFont typeface="Arial"/>
              <a:buChar char="•"/>
            </a:pPr>
            <a:r>
              <a:rPr lang="en-US" sz="2400">
                <a:solidFill>
                  <a:srgbClr val="000000"/>
                </a:solidFill>
                <a:latin typeface="Inter"/>
                <a:ea typeface="Inter"/>
                <a:cs typeface="Inter"/>
                <a:sym typeface="Inter"/>
              </a:rPr>
              <a:t>Personas, comunidades e instituciones indirectamente impactadas por el proyecto: Residentes en zonas aledañas al proyecto y afectados por inmigración de mano de obra, aumento local de precios, déficit de servicios, etc.</a:t>
            </a:r>
          </a:p>
          <a:p>
            <a:pPr algn="l">
              <a:lnSpc>
                <a:spcPts val="3360"/>
              </a:lnSpc>
            </a:pPr>
            <a:endParaRPr lang="en-US" sz="2400">
              <a:solidFill>
                <a:srgbClr val="000000"/>
              </a:solidFill>
              <a:latin typeface="Inter"/>
              <a:ea typeface="Inter"/>
              <a:cs typeface="Inter"/>
              <a:sym typeface="Inter"/>
            </a:endParaRPr>
          </a:p>
        </p:txBody>
      </p:sp>
      <p:sp>
        <p:nvSpPr>
          <p:cNvPr id="8" name="TextBox 8"/>
          <p:cNvSpPr txBox="1"/>
          <p:nvPr/>
        </p:nvSpPr>
        <p:spPr>
          <a:xfrm>
            <a:off x="921543" y="3168257"/>
            <a:ext cx="13381711"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¿CON QUIÉN DIALOGAR?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3758961"/>
          </a:xfrm>
          <a:prstGeom prst="rect">
            <a:avLst/>
          </a:prstGeom>
        </p:spPr>
        <p:txBody>
          <a:bodyPr lIns="0" tIns="0" rIns="0" bIns="0" rtlCol="0" anchor="t">
            <a:spAutoFit/>
          </a:bodyPr>
          <a:lstStyle/>
          <a:p>
            <a:pPr marL="518166" lvl="1" indent="-259083" algn="l">
              <a:lnSpc>
                <a:spcPts val="3360"/>
              </a:lnSpc>
              <a:buFont typeface="Arial"/>
              <a:buChar char="•"/>
            </a:pPr>
            <a:r>
              <a:rPr lang="en-US" sz="2400">
                <a:solidFill>
                  <a:srgbClr val="000000"/>
                </a:solidFill>
                <a:latin typeface="Inter"/>
                <a:ea typeface="Inter"/>
                <a:cs typeface="Inter"/>
                <a:sym typeface="Inter"/>
              </a:rPr>
              <a:t>Instituciones estatales y gobiernos locales ligados a los proyectos del sector: Alcaldías distritales y provinciales, gobiernos regionales, Ministerio de Energía y Minas (incluyendo a las Direcciones Regionales). Es conveniente además convocar a otras instancias del Estado que tienen relación con los proyectos del sector: Direcciones de Agricultura (los afectados son generalmente agricultores) y Direcciones Regionales de Salud, Educación y Vivienda, Transporte y Comunicaciones. </a:t>
            </a:r>
          </a:p>
          <a:p>
            <a:pPr marL="518166" lvl="1" indent="-259083" algn="l">
              <a:lnSpc>
                <a:spcPts val="3360"/>
              </a:lnSpc>
              <a:buFont typeface="Arial"/>
              <a:buChar char="•"/>
            </a:pPr>
            <a:r>
              <a:rPr lang="en-US" sz="2400">
                <a:solidFill>
                  <a:srgbClr val="000000"/>
                </a:solidFill>
                <a:latin typeface="Inter"/>
                <a:ea typeface="Inter"/>
                <a:cs typeface="Inter"/>
                <a:sym typeface="Inter"/>
              </a:rPr>
              <a:t>Organizaciones locales que representen los intereses de las personas o comunidades afectadas por el proyecto: organizaciones populares, federaciones indígenas, organizaciones religiosas, medios de prensa, ONG, etc.</a:t>
            </a:r>
          </a:p>
        </p:txBody>
      </p:sp>
      <p:sp>
        <p:nvSpPr>
          <p:cNvPr id="8" name="TextBox 8"/>
          <p:cNvSpPr txBox="1"/>
          <p:nvPr/>
        </p:nvSpPr>
        <p:spPr>
          <a:xfrm>
            <a:off x="921543" y="3168257"/>
            <a:ext cx="13381711"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¿CON QUIÉN DIALOGAR?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3758961"/>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Algunas preguntas útiles para identificar Grupos de Interés son: </a:t>
            </a:r>
          </a:p>
          <a:p>
            <a:pPr marL="518166" lvl="1" indent="-259083" algn="l">
              <a:lnSpc>
                <a:spcPts val="3360"/>
              </a:lnSpc>
              <a:buFont typeface="Arial"/>
              <a:buChar char="•"/>
            </a:pPr>
            <a:r>
              <a:rPr lang="en-US" sz="2400">
                <a:solidFill>
                  <a:srgbClr val="000000"/>
                </a:solidFill>
                <a:latin typeface="Inter"/>
                <a:ea typeface="Inter"/>
                <a:cs typeface="Inter"/>
                <a:sym typeface="Inter"/>
              </a:rPr>
              <a:t>¿Quién o quiénes pueden ser afectados (negativa o positivamente) por el proyecto? </a:t>
            </a:r>
          </a:p>
          <a:p>
            <a:pPr marL="518166" lvl="1" indent="-259083" algn="l">
              <a:lnSpc>
                <a:spcPts val="3360"/>
              </a:lnSpc>
              <a:buFont typeface="Arial"/>
              <a:buChar char="•"/>
            </a:pPr>
            <a:r>
              <a:rPr lang="en-US" sz="2400">
                <a:solidFill>
                  <a:srgbClr val="000000"/>
                </a:solidFill>
                <a:latin typeface="Inter"/>
                <a:ea typeface="Inter"/>
                <a:cs typeface="Inter"/>
                <a:sym typeface="Inter"/>
              </a:rPr>
              <a:t>¿Quiénes son los representantes de las personas o comunidades impactadas? (Alcaldes, Juntas Directivas de Comunidades, asesores) </a:t>
            </a:r>
          </a:p>
          <a:p>
            <a:pPr marL="518166" lvl="1" indent="-259083" algn="l">
              <a:lnSpc>
                <a:spcPts val="3360"/>
              </a:lnSpc>
              <a:buFont typeface="Arial"/>
              <a:buChar char="•"/>
            </a:pPr>
            <a:r>
              <a:rPr lang="en-US" sz="2400">
                <a:solidFill>
                  <a:srgbClr val="000000"/>
                </a:solidFill>
                <a:latin typeface="Inter"/>
                <a:ea typeface="Inter"/>
                <a:cs typeface="Inter"/>
                <a:sym typeface="Inter"/>
              </a:rPr>
              <a:t>¿Qué organizaciones o personas son claves para lograr el éxito en el proyecto? </a:t>
            </a:r>
          </a:p>
          <a:p>
            <a:pPr marL="518166" lvl="1" indent="-259083" algn="l">
              <a:lnSpc>
                <a:spcPts val="3360"/>
              </a:lnSpc>
              <a:buFont typeface="Arial"/>
              <a:buChar char="•"/>
            </a:pPr>
            <a:r>
              <a:rPr lang="en-US" sz="2400">
                <a:solidFill>
                  <a:srgbClr val="000000"/>
                </a:solidFill>
                <a:latin typeface="Inter"/>
                <a:ea typeface="Inter"/>
                <a:cs typeface="Inter"/>
                <a:sym typeface="Inter"/>
              </a:rPr>
              <a:t>¿Quiénes deben cambiar de actitud para que el proyecto tenga éxito? </a:t>
            </a:r>
          </a:p>
          <a:p>
            <a:pPr marL="518166" lvl="1" indent="-259083" algn="l">
              <a:lnSpc>
                <a:spcPts val="3360"/>
              </a:lnSpc>
              <a:buFont typeface="Arial"/>
              <a:buChar char="•"/>
            </a:pPr>
            <a:r>
              <a:rPr lang="en-US" sz="2400">
                <a:solidFill>
                  <a:srgbClr val="000000"/>
                </a:solidFill>
                <a:latin typeface="Inter"/>
                <a:ea typeface="Inter"/>
                <a:cs typeface="Inter"/>
                <a:sym typeface="Inter"/>
              </a:rPr>
              <a:t>De aquellos impactados, ¿qué grupos no tienen representación o son marginales, tal que se requiera de un esfuerzo especial para incluirlos en el proceso de consulta? Este tema lo desarrollamos más en el siguiente punto.</a:t>
            </a:r>
          </a:p>
        </p:txBody>
      </p:sp>
      <p:sp>
        <p:nvSpPr>
          <p:cNvPr id="8" name="TextBox 8"/>
          <p:cNvSpPr txBox="1"/>
          <p:nvPr/>
        </p:nvSpPr>
        <p:spPr>
          <a:xfrm>
            <a:off x="921543" y="3168257"/>
            <a:ext cx="13381711"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¿CON QUIÉN DIALOGAR?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33660" y="3924164"/>
            <a:ext cx="12164805" cy="1216480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1F28"/>
            </a:solidFill>
          </p:spPr>
        </p:sp>
        <p:sp>
          <p:nvSpPr>
            <p:cNvPr id="4" name="TextBox 4"/>
            <p:cNvSpPr txBox="1"/>
            <p:nvPr/>
          </p:nvSpPr>
          <p:spPr>
            <a:xfrm>
              <a:off x="76200" y="76200"/>
              <a:ext cx="660400" cy="660400"/>
            </a:xfrm>
            <a:prstGeom prst="rect">
              <a:avLst/>
            </a:prstGeom>
          </p:spPr>
          <p:txBody>
            <a:bodyPr lIns="50800" tIns="50800" rIns="50800" bIns="50800" rtlCol="0" anchor="ctr"/>
            <a:lstStyle/>
            <a:p>
              <a:pPr algn="ctr">
                <a:lnSpc>
                  <a:spcPts val="2157"/>
                </a:lnSpc>
              </a:pPr>
              <a:endParaRPr/>
            </a:p>
          </p:txBody>
        </p:sp>
      </p:grpSp>
      <p:grpSp>
        <p:nvGrpSpPr>
          <p:cNvPr id="5" name="Group 5"/>
          <p:cNvGrpSpPr>
            <a:grpSpLocks noChangeAspect="1"/>
          </p:cNvGrpSpPr>
          <p:nvPr/>
        </p:nvGrpSpPr>
        <p:grpSpPr>
          <a:xfrm>
            <a:off x="13252265" y="1028700"/>
            <a:ext cx="4007035" cy="7928607"/>
            <a:chOff x="0" y="0"/>
            <a:chExt cx="2620010" cy="5184140"/>
          </a:xfrm>
        </p:grpSpPr>
        <p:sp>
          <p:nvSpPr>
            <p:cNvPr id="6" name="Freeform 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7" name="Freeform 7"/>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112628" r="-112628"/>
              </a:stretch>
            </a:blipFill>
          </p:spPr>
        </p:sp>
        <p:sp>
          <p:nvSpPr>
            <p:cNvPr id="8" name="Freeform 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9" name="Freeform 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10" name="Freeform 1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11" name="Freeform 1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12" name="Freeform 1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13" name="Freeform 1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14" name="Freeform 1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grpSp>
        <p:nvGrpSpPr>
          <p:cNvPr id="15" name="Group 15"/>
          <p:cNvGrpSpPr>
            <a:grpSpLocks noChangeAspect="1"/>
          </p:cNvGrpSpPr>
          <p:nvPr/>
        </p:nvGrpSpPr>
        <p:grpSpPr>
          <a:xfrm>
            <a:off x="8868527" y="3690675"/>
            <a:ext cx="4009751" cy="7933981"/>
            <a:chOff x="0" y="0"/>
            <a:chExt cx="2620010" cy="5184140"/>
          </a:xfrm>
        </p:grpSpPr>
        <p:sp>
          <p:nvSpPr>
            <p:cNvPr id="16" name="Freeform 1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17" name="Freeform 17"/>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112324" r="-112324"/>
              </a:stretch>
            </a:blipFill>
          </p:spPr>
        </p:sp>
        <p:sp>
          <p:nvSpPr>
            <p:cNvPr id="18" name="Freeform 1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19" name="Freeform 1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20" name="Freeform 2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21" name="Freeform 2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22" name="Freeform 2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23" name="Freeform 2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24" name="Freeform 2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id="25" name="Freeform 25"/>
          <p:cNvSpPr/>
          <p:nvPr/>
        </p:nvSpPr>
        <p:spPr>
          <a:xfrm flipV="1">
            <a:off x="-3692884" y="8433637"/>
            <a:ext cx="12561411" cy="2637896"/>
          </a:xfrm>
          <a:custGeom>
            <a:avLst/>
            <a:gdLst/>
            <a:ahLst/>
            <a:cxnLst/>
            <a:rect l="l" t="t" r="r" b="b"/>
            <a:pathLst>
              <a:path w="12561411" h="2637896">
                <a:moveTo>
                  <a:pt x="0" y="2637896"/>
                </a:moveTo>
                <a:lnTo>
                  <a:pt x="12561411" y="2637896"/>
                </a:lnTo>
                <a:lnTo>
                  <a:pt x="12561411" y="0"/>
                </a:lnTo>
                <a:lnTo>
                  <a:pt x="0" y="0"/>
                </a:lnTo>
                <a:lnTo>
                  <a:pt x="0" y="2637896"/>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6" name="Freeform 26"/>
          <p:cNvSpPr/>
          <p:nvPr/>
        </p:nvSpPr>
        <p:spPr>
          <a:xfrm>
            <a:off x="0" y="-23619"/>
            <a:ext cx="3406189" cy="2104637"/>
          </a:xfrm>
          <a:custGeom>
            <a:avLst/>
            <a:gdLst/>
            <a:ahLst/>
            <a:cxnLst/>
            <a:rect l="l" t="t" r="r" b="b"/>
            <a:pathLst>
              <a:path w="3406189" h="2104637">
                <a:moveTo>
                  <a:pt x="0" y="0"/>
                </a:moveTo>
                <a:lnTo>
                  <a:pt x="3406189" y="0"/>
                </a:lnTo>
                <a:lnTo>
                  <a:pt x="3406189" y="2104638"/>
                </a:lnTo>
                <a:lnTo>
                  <a:pt x="0" y="2104638"/>
                </a:lnTo>
                <a:lnTo>
                  <a:pt x="0" y="0"/>
                </a:lnTo>
                <a:close/>
              </a:path>
            </a:pathLst>
          </a:custGeom>
          <a:blipFill>
            <a:blip r:embed="rId6"/>
            <a:stretch>
              <a:fillRect/>
            </a:stretch>
          </a:blipFill>
        </p:spPr>
      </p:sp>
      <p:sp>
        <p:nvSpPr>
          <p:cNvPr id="27" name="TextBox 27"/>
          <p:cNvSpPr txBox="1"/>
          <p:nvPr/>
        </p:nvSpPr>
        <p:spPr>
          <a:xfrm>
            <a:off x="1214756" y="2423159"/>
            <a:ext cx="6378021" cy="6227886"/>
          </a:xfrm>
          <a:prstGeom prst="rect">
            <a:avLst/>
          </a:prstGeom>
        </p:spPr>
        <p:txBody>
          <a:bodyPr lIns="0" tIns="0" rIns="0" bIns="0" rtlCol="0" anchor="t">
            <a:spAutoFit/>
          </a:bodyPr>
          <a:lstStyle/>
          <a:p>
            <a:pPr algn="ctr">
              <a:lnSpc>
                <a:spcPts val="4800"/>
              </a:lnSpc>
            </a:pPr>
            <a:r>
              <a:rPr lang="en-US" sz="4800" b="1">
                <a:solidFill>
                  <a:srgbClr val="303030"/>
                </a:solidFill>
                <a:latin typeface="Futura Ultra-Bold"/>
                <a:ea typeface="Futura Ultra-Bold"/>
                <a:cs typeface="Futura Ultra-Bold"/>
                <a:sym typeface="Futura Ultra-Bold"/>
              </a:rPr>
              <a:t>TEMA 3:</a:t>
            </a:r>
          </a:p>
          <a:p>
            <a:pPr algn="ctr">
              <a:lnSpc>
                <a:spcPts val="4800"/>
              </a:lnSpc>
            </a:pPr>
            <a:endParaRPr lang="en-US" sz="4800" b="1">
              <a:solidFill>
                <a:srgbClr val="303030"/>
              </a:solidFill>
              <a:latin typeface="Futura Ultra-Bold"/>
              <a:ea typeface="Futura Ultra-Bold"/>
              <a:cs typeface="Futura Ultra-Bold"/>
              <a:sym typeface="Futura Ultra-Bold"/>
            </a:endParaRPr>
          </a:p>
          <a:p>
            <a:pPr algn="ctr">
              <a:lnSpc>
                <a:spcPts val="4800"/>
              </a:lnSpc>
            </a:pPr>
            <a:r>
              <a:rPr lang="en-US" sz="4800" b="1">
                <a:solidFill>
                  <a:srgbClr val="303030"/>
                </a:solidFill>
                <a:latin typeface="Futura Ultra-Bold"/>
                <a:ea typeface="Futura Ultra-Bold"/>
                <a:cs typeface="Futura Ultra-Bold"/>
                <a:sym typeface="Futura Ultra-Bold"/>
              </a:rPr>
              <a:t>POLÍTICAS PÚBLICAS (LEYES Y REGULACIONES) PARA PREVENIR Y RESOLVER CONFLICTOS EN LAS COMUNIDADES MINERAS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4178105"/>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El conflicto social es un proceso complejo en el cual sectores de la sociedad, el Estado o las empresas perciben que sus posiciones, intereses, objetivos, valores, creencias o necesidades son contradictorios, creándose una situación que podría derivar en violencia. La complejidad de los conflictos está determinada por el número de actores que intervienen en ellos, la diversidad cultural, económica, social y política, las formas de violencia que se pueden presentar, o la debilidad institucional para atenderlos, entre otros elementos. En materia de conflictos, la Defensoría del Pueblo despliega sus facultades de defensa y supervisión para prevenir e intermediar con el fin de evitar situaciones que puedan amenazar o violar los derechos fundamentales, afectar a la gobernabilidad local, regional o nacional y abrir el camino a procesos de diálogo que contribuyan a su solución.</a:t>
            </a:r>
          </a:p>
        </p:txBody>
      </p:sp>
      <p:sp>
        <p:nvSpPr>
          <p:cNvPr id="8" name="TextBox 8"/>
          <p:cNvSpPr txBox="1"/>
          <p:nvPr/>
        </p:nvSpPr>
        <p:spPr>
          <a:xfrm>
            <a:off x="921543" y="3168257"/>
            <a:ext cx="16441978"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CONFLICTOS SOCIALES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3339817"/>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Son procesos complejos con participación de varios actores en torno a un problema ambiental. En los “Lineamientos para la gestión de conflictos socioambientales en el Sector Ambiental” aprobado por el MINAM, se define como “un proceso complejo en el cual sectores de la sociedad, el Estado y las empresas perciben que sus objetivos, intereses, valores o necesidades socioambientales son contradictorios y esa contradicción puede derivar en violencia. Estos procesos pueden generarse entre dos o más actores acerca del control, uso o acceso al ambiente y sus recursos, presentando componentes políticos, económicos, sociales y culturales, así como respecto al manejo de los impactos ambientales”.</a:t>
            </a:r>
          </a:p>
        </p:txBody>
      </p:sp>
      <p:sp>
        <p:nvSpPr>
          <p:cNvPr id="8" name="TextBox 8"/>
          <p:cNvSpPr txBox="1"/>
          <p:nvPr/>
        </p:nvSpPr>
        <p:spPr>
          <a:xfrm>
            <a:off x="921543" y="3168257"/>
            <a:ext cx="16441978"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¿QUÉ SON LOS CONFLICTOS SOCIOAMBIENTALES?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4178105"/>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Por ejemplo, se puede presentar un conflicto socioambiental por: </a:t>
            </a:r>
          </a:p>
          <a:p>
            <a:pPr marL="518166" lvl="1" indent="-259083" algn="l">
              <a:lnSpc>
                <a:spcPts val="3360"/>
              </a:lnSpc>
              <a:buFont typeface="Arial"/>
              <a:buChar char="•"/>
            </a:pPr>
            <a:r>
              <a:rPr lang="en-US" sz="2400">
                <a:solidFill>
                  <a:srgbClr val="000000"/>
                </a:solidFill>
                <a:latin typeface="Inter"/>
                <a:ea typeface="Inter"/>
                <a:cs typeface="Inter"/>
                <a:sym typeface="Inter"/>
              </a:rPr>
              <a:t>a) Afectación o potencial afectación a los recursos naturales (aire, agua, ruido, suelos, flora, fauna). </a:t>
            </a:r>
          </a:p>
          <a:p>
            <a:pPr marL="518166" lvl="1" indent="-259083" algn="l">
              <a:lnSpc>
                <a:spcPts val="3360"/>
              </a:lnSpc>
              <a:buFont typeface="Arial"/>
              <a:buChar char="•"/>
            </a:pPr>
            <a:r>
              <a:rPr lang="en-US" sz="2400">
                <a:solidFill>
                  <a:srgbClr val="000000"/>
                </a:solidFill>
                <a:latin typeface="Inter"/>
                <a:ea typeface="Inter"/>
                <a:cs typeface="Inter"/>
                <a:sym typeface="Inter"/>
              </a:rPr>
              <a:t>b) Riesgos de contaminación de cuencas, contaminación ambiental y pasivos ambientales, vertimientos, contaminación por actividades extractivas, entre otros. </a:t>
            </a:r>
          </a:p>
          <a:p>
            <a:pPr marL="518166" lvl="1" indent="-259083" algn="l">
              <a:lnSpc>
                <a:spcPts val="3360"/>
              </a:lnSpc>
              <a:buFont typeface="Arial"/>
              <a:buChar char="•"/>
            </a:pPr>
            <a:r>
              <a:rPr lang="en-US" sz="2400">
                <a:solidFill>
                  <a:srgbClr val="000000"/>
                </a:solidFill>
                <a:latin typeface="Inter"/>
                <a:ea typeface="Inter"/>
                <a:cs typeface="Inter"/>
                <a:sym typeface="Inter"/>
              </a:rPr>
              <a:t>c) Indicios del incumplimiento de instrumentos de gestión ambiental o la legislación ambiental. </a:t>
            </a:r>
          </a:p>
          <a:p>
            <a:pPr marL="518166" lvl="1" indent="-259083" algn="l">
              <a:lnSpc>
                <a:spcPts val="3360"/>
              </a:lnSpc>
              <a:buFont typeface="Arial"/>
              <a:buChar char="•"/>
            </a:pPr>
            <a:r>
              <a:rPr lang="en-US" sz="2400">
                <a:solidFill>
                  <a:srgbClr val="000000"/>
                </a:solidFill>
                <a:latin typeface="Inter"/>
                <a:ea typeface="Inter"/>
                <a:cs typeface="Inter"/>
                <a:sym typeface="Inter"/>
              </a:rPr>
              <a:t>d) Cuestionamientos o asuntos relacionados con los procesos de certificación ambiental y fiscalización ambiental. </a:t>
            </a:r>
          </a:p>
          <a:p>
            <a:pPr marL="518166" lvl="1" indent="-259083" algn="l">
              <a:lnSpc>
                <a:spcPts val="3360"/>
              </a:lnSpc>
              <a:buFont typeface="Arial"/>
              <a:buChar char="•"/>
            </a:pPr>
            <a:r>
              <a:rPr lang="en-US" sz="2400">
                <a:solidFill>
                  <a:srgbClr val="000000"/>
                </a:solidFill>
                <a:latin typeface="Inter"/>
                <a:ea typeface="Inter"/>
                <a:cs typeface="Inter"/>
                <a:sym typeface="Inter"/>
              </a:rPr>
              <a:t>e) Cuestionamientos o asuntos relacionados con el proceso de creación o de gestión de áreas destinadas a la conservación y al aprovechamiento de recursos naturales.</a:t>
            </a:r>
          </a:p>
        </p:txBody>
      </p:sp>
      <p:sp>
        <p:nvSpPr>
          <p:cNvPr id="8" name="TextBox 8"/>
          <p:cNvSpPr txBox="1"/>
          <p:nvPr/>
        </p:nvSpPr>
        <p:spPr>
          <a:xfrm>
            <a:off x="921543" y="3168257"/>
            <a:ext cx="16441978"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¿QUÉ SON LOS CONFLICTOS SOCIOAMBIENTALES?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5435538"/>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Se entiende como “el proceso mediante el cual una entidad del Sistema Nacional de Gestión Ambiental, adopta acciones o instaura mecanismos de coordinación o participativos y toma de decisiones ante un conflicto socioambiental, articulando acciones y generando espacios de diálogo para lograr soluciones integrales, a fin de contribuir a la sostenibilidad y a la generación de un clima de paz y diálogo, en el marco del Estado de derecho”. Es importante mencionar que el Sistema Nacional de Gestión Ambiental “se constituye sobre la base de las instituciones estatales, órganos y oficinas de los distintos ministerios, organismos públicos descentralizados e instituciones públicas a nivel nacional, regional y local que ejercen competencias y funciones sobre el ambiente y los recursos naturales; así como por los Sistemas Regionales y Locales de Gestión Ambiental, contando con la participación del sector privado y la sociedad civil”, conforme a lo establecido en el artículo 2 de la Ley N.º 28245, Ley Marco del Sistema Nacional de Gestión Ambiental. Por ejemplo, ante el surgimiento de un conflicto socioambiental, un                       mecanismo para su gestión es una mesa de diálogo, entre otros.</a:t>
            </a:r>
          </a:p>
        </p:txBody>
      </p:sp>
      <p:sp>
        <p:nvSpPr>
          <p:cNvPr id="8" name="TextBox 8"/>
          <p:cNvSpPr txBox="1"/>
          <p:nvPr/>
        </p:nvSpPr>
        <p:spPr>
          <a:xfrm>
            <a:off x="921543" y="2530060"/>
            <a:ext cx="11951830" cy="1360214"/>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¿A QUÉ NOS REFERIMOS CON GESTIÓN DE CONFLICTOS SOCIOAMBIENTALES?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5016394"/>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Los siguientes enfoques orientan las acciones de prevención y gestión de conflictos socioambientales, priorizando los derechos de las personas en relación con su entorno natural y la gestión del territorio; así como la equidad de género y el diálogo intercultural en el abordaje y transformación de la conflictividad socioambiental. </a:t>
            </a:r>
          </a:p>
          <a:p>
            <a:pPr algn="l">
              <a:lnSpc>
                <a:spcPts val="3360"/>
              </a:lnSpc>
            </a:pPr>
            <a:endParaRPr lang="en-US" sz="2400">
              <a:solidFill>
                <a:srgbClr val="000000"/>
              </a:solidFill>
              <a:latin typeface="Inter"/>
              <a:ea typeface="Inter"/>
              <a:cs typeface="Inter"/>
              <a:sym typeface="Inter"/>
            </a:endParaRPr>
          </a:p>
          <a:p>
            <a:pPr algn="l">
              <a:lnSpc>
                <a:spcPts val="3360"/>
              </a:lnSpc>
            </a:pPr>
            <a:r>
              <a:rPr lang="en-US" sz="2400" b="1">
                <a:solidFill>
                  <a:srgbClr val="000000"/>
                </a:solidFill>
                <a:latin typeface="Inter Bold"/>
                <a:ea typeface="Inter Bold"/>
                <a:cs typeface="Inter Bold"/>
                <a:sym typeface="Inter Bold"/>
              </a:rPr>
              <a:t>Enfoque de derechos humanos:</a:t>
            </a:r>
            <a:r>
              <a:rPr lang="en-US" sz="2400">
                <a:solidFill>
                  <a:srgbClr val="000000"/>
                </a:solidFill>
                <a:latin typeface="Inter"/>
                <a:ea typeface="Inter"/>
                <a:cs typeface="Inter"/>
                <a:sym typeface="Inter"/>
              </a:rPr>
              <a:t> en el abordaje de los conflictos socioambientales los actores involucrados son personas que tienen derechos que deben ser ejercidos sin discriminación, tal como son descritos en los “Lineamientos y protocolos para la intervención del Poder Ejecutivo, Gobiernos Regionales y Locales, en materia de gestión social y diálogo”. Por ejemplo, desde este enfoque, la problemática sobre la exposición de las personas a los metales pesados por actividades mineras e hidrocarburos, es materia de los procesos de diálogo de conflictos socioambientales.</a:t>
            </a:r>
          </a:p>
        </p:txBody>
      </p:sp>
      <p:sp>
        <p:nvSpPr>
          <p:cNvPr id="8" name="TextBox 8"/>
          <p:cNvSpPr txBox="1"/>
          <p:nvPr/>
        </p:nvSpPr>
        <p:spPr>
          <a:xfrm>
            <a:off x="921543" y="2530060"/>
            <a:ext cx="13868419" cy="1360214"/>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PRINCIPALES ENFOQUES EN LA PREVENCIÓN Y GESTIÓN DE CONFLICTOS SOCIOAMBIENTALES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4178105"/>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En tal sentido, el enfoque de derechos humanos plantea “que los derechos humanos son irrenunciables e inherentes a todos los seres humanos sin distinción alguna, se centran en la dignidad intrínseca y el valor igual de todos y todas, son inalienables, no pueden ser suspendidos o retirados y deben ser ejercidos sin discriminación. Estos derechos son interrelacionados, interdependientes e indivisibles. Este enfoque reconoce que el respeto, protección y promoción de los derechos humanos constituyen obligaciones primarias del Estado, siendo estos garantizados a través de tratados internacionales suscritos por el estado peruano, así como por las leyes y normas nacionales que garantizan los derechos individuales y colectivo”. </a:t>
            </a:r>
          </a:p>
          <a:p>
            <a:pPr algn="l">
              <a:lnSpc>
                <a:spcPts val="3360"/>
              </a:lnSpc>
            </a:pPr>
            <a:endParaRPr lang="en-US" sz="2400">
              <a:solidFill>
                <a:srgbClr val="000000"/>
              </a:solidFill>
              <a:latin typeface="Inter"/>
              <a:ea typeface="Inter"/>
              <a:cs typeface="Inter"/>
              <a:sym typeface="Inter"/>
            </a:endParaRPr>
          </a:p>
          <a:p>
            <a:pPr algn="l">
              <a:lnSpc>
                <a:spcPts val="3360"/>
              </a:lnSpc>
            </a:pPr>
            <a:endParaRPr lang="en-US" sz="2400">
              <a:solidFill>
                <a:srgbClr val="000000"/>
              </a:solidFill>
              <a:latin typeface="Inter"/>
              <a:ea typeface="Inter"/>
              <a:cs typeface="Inter"/>
              <a:sym typeface="Inter"/>
            </a:endParaRPr>
          </a:p>
        </p:txBody>
      </p:sp>
      <p:sp>
        <p:nvSpPr>
          <p:cNvPr id="8" name="TextBox 8"/>
          <p:cNvSpPr txBox="1"/>
          <p:nvPr/>
        </p:nvSpPr>
        <p:spPr>
          <a:xfrm>
            <a:off x="921543" y="2530060"/>
            <a:ext cx="13868419" cy="1360214"/>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PRINCIPALES ENFOQUES EN LA PREVENCIÓN Y GESTIÓN DE CONFLICTOS SOCIOAMBIENTALES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4597249"/>
          </a:xfrm>
          <a:prstGeom prst="rect">
            <a:avLst/>
          </a:prstGeom>
        </p:spPr>
        <p:txBody>
          <a:bodyPr lIns="0" tIns="0" rIns="0" bIns="0" rtlCol="0" anchor="t">
            <a:spAutoFit/>
          </a:bodyPr>
          <a:lstStyle/>
          <a:p>
            <a:pPr algn="l">
              <a:lnSpc>
                <a:spcPts val="3360"/>
              </a:lnSpc>
            </a:pPr>
            <a:r>
              <a:rPr lang="en-US" sz="2400" b="1">
                <a:solidFill>
                  <a:srgbClr val="000000"/>
                </a:solidFill>
                <a:latin typeface="Inter Bold"/>
                <a:ea typeface="Inter Bold"/>
                <a:cs typeface="Inter Bold"/>
                <a:sym typeface="Inter Bold"/>
              </a:rPr>
              <a:t>Enfoque Territorial: l</a:t>
            </a:r>
            <a:r>
              <a:rPr lang="en-US" sz="2400">
                <a:solidFill>
                  <a:srgbClr val="000000"/>
                </a:solidFill>
                <a:latin typeface="Inter"/>
                <a:ea typeface="Inter"/>
                <a:cs typeface="Inter"/>
                <a:sym typeface="Inter"/>
              </a:rPr>
              <a:t>os problemas ambientales que son materia de los conflictos socioambientales requieren ser superados o atendidos desde este enfoque para impulsar su desarrollo. Por ejemplo, las estrategias para hacer frente a la contaminación ambiental desde un enfoque territorial de cuencas hidrográficas es de vital importancia ser abordados en los procesos de diálogo de conflictos socioambientales. El enfoque territorial permite precisamente transformar los conflictos en una oportunidad de desarrollo. El enfoque territorial, se “entiende como una noción conceptual e instrumental que reconoce las características y particularidades del territorio para impulsar el desarrollo, y al territorio como unidad, tanto para la observación y la actuación, así como para la gestión y planificación estatal. Este enfoque plantea una mirada multidimensional del desarrollo que incluye el desarrollo humano, el desarrollo social e institucional, el desarrollo ambiental y el desarrollo económico”.</a:t>
            </a:r>
          </a:p>
        </p:txBody>
      </p:sp>
      <p:sp>
        <p:nvSpPr>
          <p:cNvPr id="8" name="TextBox 8"/>
          <p:cNvSpPr txBox="1"/>
          <p:nvPr/>
        </p:nvSpPr>
        <p:spPr>
          <a:xfrm>
            <a:off x="921543" y="2530060"/>
            <a:ext cx="13868419" cy="1360214"/>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PRINCIPALES ENFOQUES EN LA PREVENCIÓN Y GESTIÓN DE CONFLICTOS SOCIOAMBIENTALES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3758961"/>
          </a:xfrm>
          <a:prstGeom prst="rect">
            <a:avLst/>
          </a:prstGeom>
        </p:spPr>
        <p:txBody>
          <a:bodyPr lIns="0" tIns="0" rIns="0" bIns="0" rtlCol="0" anchor="t">
            <a:spAutoFit/>
          </a:bodyPr>
          <a:lstStyle/>
          <a:p>
            <a:pPr algn="l">
              <a:lnSpc>
                <a:spcPts val="3360"/>
              </a:lnSpc>
            </a:pPr>
            <a:r>
              <a:rPr lang="en-US" sz="2400" b="1">
                <a:solidFill>
                  <a:srgbClr val="000000"/>
                </a:solidFill>
                <a:latin typeface="Inter Bold"/>
                <a:ea typeface="Inter Bold"/>
                <a:cs typeface="Inter Bold"/>
                <a:sym typeface="Inter Bold"/>
              </a:rPr>
              <a:t>Enfoque transformativo:</a:t>
            </a:r>
            <a:r>
              <a:rPr lang="en-US" sz="2400">
                <a:solidFill>
                  <a:srgbClr val="000000"/>
                </a:solidFill>
                <a:latin typeface="Inter"/>
                <a:ea typeface="Inter"/>
                <a:cs typeface="Inter"/>
                <a:sym typeface="Inter"/>
              </a:rPr>
              <a:t> este enfoque orienta la prevención y gestión de conflictos como una oportunidad de cambio que permita mejorar las relaciones sociales entre los actores en un diálogo genuino, fortalecer la institucionalidad ambiental y la gestión de los conflictos socioambientales, en tránsito hacia el desarrollo sostenible. En los lineamientos de prevención y gestión de conflictos socioambientales se define la transformación de conflictos como el “proceso de cambio constructivo de las relaciones entre los miembros de una sociedad y las estructuras subyacentes, especialmente de la relación Estado-ciudadano-empresa-comunidad. Es un mecanismo de adaptación y colaborativo respecto de las necesidades de individuos y grupos, las instituciones políticas, sociales y económicas como tránsito hacia el desarrollo sostenible”.</a:t>
            </a:r>
          </a:p>
        </p:txBody>
      </p:sp>
      <p:sp>
        <p:nvSpPr>
          <p:cNvPr id="8" name="TextBox 8"/>
          <p:cNvSpPr txBox="1"/>
          <p:nvPr/>
        </p:nvSpPr>
        <p:spPr>
          <a:xfrm>
            <a:off x="921543" y="2530060"/>
            <a:ext cx="13868419" cy="1360214"/>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PRINCIPALES ENFOQUES EN LA PREVENCIÓN Y GESTIÓN DE CONFLICTOS SOCIOAMBIENTALES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4178105"/>
          </a:xfrm>
          <a:prstGeom prst="rect">
            <a:avLst/>
          </a:prstGeom>
        </p:spPr>
        <p:txBody>
          <a:bodyPr lIns="0" tIns="0" rIns="0" bIns="0" rtlCol="0" anchor="t">
            <a:spAutoFit/>
          </a:bodyPr>
          <a:lstStyle/>
          <a:p>
            <a:pPr algn="l">
              <a:lnSpc>
                <a:spcPts val="3360"/>
              </a:lnSpc>
            </a:pPr>
            <a:r>
              <a:rPr lang="en-US" sz="2400" b="1">
                <a:solidFill>
                  <a:srgbClr val="000000"/>
                </a:solidFill>
                <a:latin typeface="Inter Bold"/>
                <a:ea typeface="Inter Bold"/>
                <a:cs typeface="Inter Bold"/>
                <a:sym typeface="Inter Bold"/>
              </a:rPr>
              <a:t>Enfoque de Interculturalidad: </a:t>
            </a:r>
            <a:r>
              <a:rPr lang="en-US" sz="2400">
                <a:solidFill>
                  <a:srgbClr val="000000"/>
                </a:solidFill>
                <a:latin typeface="Inter"/>
                <a:ea typeface="Inter"/>
                <a:cs typeface="Inter"/>
                <a:sym typeface="Inter"/>
              </a:rPr>
              <a:t>los procesos de diálogo, como mecanismo de atención de los conflictos socioambientales, serán cada vez más genuinos cuando se valorice e incorpore la diversidad cultural. Por ejemplo, en los procesos de diálogo participan traductores para un mejor diálogo intercultural; que permita visualizar y comprender la agenda y demandas de las comunidades campesinas e indígenas en las temáticas del conflicto y de sus prioridades considerando su cultura. “El Enfoque Intercultural implica que el Estado valorice e incorpore las diferentes visiones culturales, concepciones de bienestar y desarrollo de los diversos grupos étnico-culturales para la generación de servicios con pertinencia cultural, la promoción de una ciudadanía intercultural basada en el diálogo y la atención diferenciada a los pueblos indígenas y la población afroperuana”.</a:t>
            </a:r>
          </a:p>
        </p:txBody>
      </p:sp>
      <p:sp>
        <p:nvSpPr>
          <p:cNvPr id="8" name="TextBox 8"/>
          <p:cNvSpPr txBox="1"/>
          <p:nvPr/>
        </p:nvSpPr>
        <p:spPr>
          <a:xfrm>
            <a:off x="921543" y="2530060"/>
            <a:ext cx="13868419" cy="1360214"/>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PRINCIPALES ENFOQUES EN LA PREVENCIÓN Y GESTIÓN DE CONFLICTOS SOCIOAMBIENTALES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3758961"/>
          </a:xfrm>
          <a:prstGeom prst="rect">
            <a:avLst/>
          </a:prstGeom>
        </p:spPr>
        <p:txBody>
          <a:bodyPr lIns="0" tIns="0" rIns="0" bIns="0" rtlCol="0" anchor="t">
            <a:spAutoFit/>
          </a:bodyPr>
          <a:lstStyle/>
          <a:p>
            <a:pPr algn="l">
              <a:lnSpc>
                <a:spcPts val="3360"/>
              </a:lnSpc>
            </a:pPr>
            <a:r>
              <a:rPr lang="en-US" sz="2400" b="1">
                <a:solidFill>
                  <a:srgbClr val="000000"/>
                </a:solidFill>
                <a:latin typeface="Inter Bold"/>
                <a:ea typeface="Inter Bold"/>
                <a:cs typeface="Inter Bold"/>
                <a:sym typeface="Inter Bold"/>
              </a:rPr>
              <a:t>Enfoque de Género: </a:t>
            </a:r>
            <a:r>
              <a:rPr lang="en-US" sz="2400">
                <a:solidFill>
                  <a:srgbClr val="000000"/>
                </a:solidFill>
                <a:latin typeface="Inter"/>
                <a:ea typeface="Inter"/>
                <a:cs typeface="Inter"/>
                <a:sym typeface="Inter"/>
              </a:rPr>
              <a:t>este enfoque “permite identificar los roles y tareas que realizan los hombres y las mujeres en una sociedad, así como las asimetrías, relaciones de poder e inequidades que se producen entre ellos. Al observar de manera crítica las relaciones de poder y subordinación que las culturas y las sociedades construyen entre hombres y mujeres y explicar las causas que producen las asimetrías y desigualdades, el enfoque de género aporta elementos centrales para la formulación de medidas que contribuyen a superar la desigualdad de género, modificar las relaciones asimétricas entre mujeres y hombres (…), asegurando el acceso de mujeres y hombres a recursos y servicios públicos y fortaleciendo su participación política y ciudadana en condiciones de igualdad”.</a:t>
            </a:r>
          </a:p>
        </p:txBody>
      </p:sp>
      <p:sp>
        <p:nvSpPr>
          <p:cNvPr id="8" name="TextBox 8"/>
          <p:cNvSpPr txBox="1"/>
          <p:nvPr/>
        </p:nvSpPr>
        <p:spPr>
          <a:xfrm>
            <a:off x="921543" y="2530060"/>
            <a:ext cx="13868419" cy="1360214"/>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PRINCIPALES ENFOQUES EN LA PREVENCIÓN Y GESTIÓN DE CONFLICTOS SOCIOAMBIENTALES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1244097"/>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APROBAR los documentos denominados: "Protocolo de Actuación Defensorial en Conflictos Sociales" y Lineamientos de Actuación Defensorial en casos de Conflicto Social", los mismos que constan de veintiún (21) páginas y siete (7) páginas.</a:t>
            </a:r>
          </a:p>
        </p:txBody>
      </p:sp>
      <p:sp>
        <p:nvSpPr>
          <p:cNvPr id="8" name="TextBox 8"/>
          <p:cNvSpPr txBox="1"/>
          <p:nvPr/>
        </p:nvSpPr>
        <p:spPr>
          <a:xfrm>
            <a:off x="921543" y="3168257"/>
            <a:ext cx="15443643"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RESOLUCIÓN ADMINISTRATIVA N° 006-2015/DP-PAD</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2920673"/>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Los conflictos sociales son hechos en los que se amenazan o violan derechos fundamentales. La Defensoría del Pueblo les da un tratamiento particular por la complejidad de la materia en disputa, el número y las características de los actores y, especialmente, porque pueden escalar hacia episodios de violencia. Presentado el caso, es posible distinguir entre los derechos referidos a los problemas que el conflicto plantea, de los derechos puestos en riesgo a raíz de un manejo inadecuado del conflicto. Estos últimos son, por lo general, vida, integridad, seguridad, tranquilidad, entre otros.</a:t>
            </a:r>
          </a:p>
        </p:txBody>
      </p:sp>
      <p:sp>
        <p:nvSpPr>
          <p:cNvPr id="8" name="TextBox 8"/>
          <p:cNvSpPr txBox="1"/>
          <p:nvPr/>
        </p:nvSpPr>
        <p:spPr>
          <a:xfrm>
            <a:off x="921543" y="3168257"/>
            <a:ext cx="15443643"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RESOLUCIÓN ADMINISTRATIVA N° 006-2015/DP-PAD</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2920673"/>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Frente a los conflictos sociales, la Defensoría del Pueblo despliega sus facultades de defensa y supervisión para prevenir e intermediar a fin de abrir el camino a procesos de diálogo que ayuden a solucionar el conflicto. Estas facultades se ejercerán en la forma que este protocolo establece. La intervención defensorial se orienta, además, a legitimar los procedimientos democráticos basados en la legalidad y el diálogo. En esa medida, toda intervención defensorial en conflictos sociales tiene como finalidad contribuir a proteger derechos fundamentales, fortalecer gobernabilidad democrática, contribuir al desarrollo y afianzar una cultura de diálogo y paz.</a:t>
            </a:r>
          </a:p>
        </p:txBody>
      </p:sp>
      <p:sp>
        <p:nvSpPr>
          <p:cNvPr id="8" name="TextBox 8"/>
          <p:cNvSpPr txBox="1"/>
          <p:nvPr/>
        </p:nvSpPr>
        <p:spPr>
          <a:xfrm>
            <a:off x="921543" y="3168257"/>
            <a:ext cx="15443643"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RESOLUCIÓN ADMINISTRATIVA N° 006-2015/DP-PAD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5632889"/>
          </a:xfrm>
          <a:prstGeom prst="rect">
            <a:avLst/>
          </a:prstGeom>
        </p:spPr>
        <p:txBody>
          <a:bodyPr lIns="0" tIns="0" rIns="0" bIns="0" rtlCol="0" anchor="t">
            <a:spAutoFit/>
          </a:bodyPr>
          <a:lstStyle/>
          <a:p>
            <a:pPr algn="l">
              <a:lnSpc>
                <a:spcPts val="3360"/>
              </a:lnSpc>
            </a:pPr>
            <a:r>
              <a:rPr lang="en-US" sz="2400" dirty="0" err="1">
                <a:solidFill>
                  <a:srgbClr val="000000"/>
                </a:solidFill>
                <a:latin typeface="Inter"/>
                <a:ea typeface="Inter"/>
                <a:cs typeface="Inter"/>
                <a:sym typeface="Inter"/>
              </a:rPr>
              <a:t>Además</a:t>
            </a:r>
            <a:r>
              <a:rPr lang="en-US" sz="2400" dirty="0">
                <a:solidFill>
                  <a:srgbClr val="000000"/>
                </a:solidFill>
                <a:latin typeface="Inter"/>
                <a:ea typeface="Inter"/>
                <a:cs typeface="Inter"/>
                <a:sym typeface="Inter"/>
              </a:rPr>
              <a:t> de </a:t>
            </a:r>
            <a:r>
              <a:rPr lang="en-US" sz="2400" dirty="0" err="1">
                <a:solidFill>
                  <a:srgbClr val="000000"/>
                </a:solidFill>
                <a:latin typeface="Inter"/>
                <a:ea typeface="Inter"/>
                <a:cs typeface="Inter"/>
                <a:sym typeface="Inter"/>
              </a:rPr>
              <a:t>los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principios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señalados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en</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el</a:t>
            </a:r>
            <a:r>
              <a:rPr lang="en-US" sz="2400" dirty="0">
                <a:solidFill>
                  <a:srgbClr val="000000"/>
                </a:solidFill>
                <a:latin typeface="Inter"/>
                <a:ea typeface="Inter"/>
                <a:cs typeface="Inter"/>
                <a:sym typeface="Inter"/>
              </a:rPr>
              <a:t> art. 3° del </a:t>
            </a:r>
            <a:r>
              <a:rPr lang="en-US" sz="2400" dirty="0" err="1">
                <a:solidFill>
                  <a:srgbClr val="000000"/>
                </a:solidFill>
                <a:latin typeface="Inter"/>
                <a:ea typeface="Inter"/>
                <a:cs typeface="Inter"/>
                <a:sym typeface="Inter"/>
              </a:rPr>
              <a:t>protocolo</a:t>
            </a:r>
            <a:r>
              <a:rPr lang="en-US" sz="2400" dirty="0">
                <a:solidFill>
                  <a:srgbClr val="000000"/>
                </a:solidFill>
                <a:latin typeface="Inter"/>
                <a:ea typeface="Inter"/>
                <a:cs typeface="Inter"/>
                <a:sym typeface="Inter"/>
              </a:rPr>
              <a:t> de </a:t>
            </a:r>
            <a:r>
              <a:rPr lang="en-US" sz="2400" dirty="0" err="1">
                <a:solidFill>
                  <a:srgbClr val="000000"/>
                </a:solidFill>
                <a:latin typeface="Inter"/>
                <a:ea typeface="Inter"/>
                <a:cs typeface="Inter"/>
                <a:sym typeface="Inter"/>
              </a:rPr>
              <a:t>Actuaciones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Defensoriales</a:t>
            </a:r>
            <a:r>
              <a:rPr lang="en-US" sz="2400" dirty="0">
                <a:solidFill>
                  <a:srgbClr val="000000"/>
                </a:solidFill>
                <a:latin typeface="Inter"/>
                <a:ea typeface="Inter"/>
                <a:cs typeface="Inter"/>
                <a:sym typeface="Inter"/>
              </a:rPr>
              <a:t> - </a:t>
            </a:r>
            <a:r>
              <a:rPr lang="en-US" sz="2400" dirty="0" err="1">
                <a:solidFill>
                  <a:srgbClr val="000000"/>
                </a:solidFill>
                <a:latin typeface="Inter"/>
                <a:ea typeface="Inter"/>
                <a:cs typeface="Inter"/>
                <a:sym typeface="Inter"/>
              </a:rPr>
              <a:t>Resolución</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Administrativa</a:t>
            </a:r>
            <a:r>
              <a:rPr lang="en-US" sz="2400" dirty="0">
                <a:solidFill>
                  <a:srgbClr val="000000"/>
                </a:solidFill>
                <a:latin typeface="Inter"/>
                <a:ea typeface="Inter"/>
                <a:cs typeface="Inter"/>
                <a:sym typeface="Inter"/>
              </a:rPr>
              <a:t> N° 047-2008/PAD del 15 de </a:t>
            </a:r>
            <a:r>
              <a:rPr lang="en-US" sz="2400" dirty="0" err="1">
                <a:solidFill>
                  <a:srgbClr val="000000"/>
                </a:solidFill>
                <a:latin typeface="Inter"/>
                <a:ea typeface="Inter"/>
                <a:cs typeface="Inter"/>
                <a:sym typeface="Inter"/>
              </a:rPr>
              <a:t>agosto</a:t>
            </a:r>
            <a:r>
              <a:rPr lang="en-US" sz="2400" dirty="0">
                <a:solidFill>
                  <a:srgbClr val="000000"/>
                </a:solidFill>
                <a:latin typeface="Inter"/>
                <a:ea typeface="Inter"/>
                <a:cs typeface="Inter"/>
                <a:sym typeface="Inter"/>
              </a:rPr>
              <a:t> del 2008, se </a:t>
            </a:r>
            <a:r>
              <a:rPr lang="en-US" sz="2400" dirty="0" err="1">
                <a:solidFill>
                  <a:srgbClr val="000000"/>
                </a:solidFill>
                <a:latin typeface="Inter"/>
                <a:ea typeface="Inter"/>
                <a:cs typeface="Inter"/>
                <a:sym typeface="Inter"/>
              </a:rPr>
              <a:t>debe</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tener</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presente</a:t>
            </a:r>
            <a:r>
              <a:rPr lang="en-US" sz="2400" dirty="0">
                <a:solidFill>
                  <a:srgbClr val="000000"/>
                </a:solidFill>
                <a:latin typeface="Inter"/>
                <a:ea typeface="Inter"/>
                <a:cs typeface="Inter"/>
                <a:sym typeface="Inter"/>
              </a:rPr>
              <a:t>: </a:t>
            </a:r>
          </a:p>
          <a:p>
            <a:pPr marL="518166" lvl="1" indent="-259083" algn="l">
              <a:lnSpc>
                <a:spcPts val="3360"/>
              </a:lnSpc>
              <a:buFont typeface="Arial"/>
              <a:buChar char="•"/>
            </a:pPr>
            <a:r>
              <a:rPr lang="en-US" sz="2400" dirty="0">
                <a:solidFill>
                  <a:srgbClr val="000000"/>
                </a:solidFill>
                <a:latin typeface="Inter"/>
                <a:ea typeface="Inter"/>
                <a:cs typeface="Inter"/>
                <a:sym typeface="Inter"/>
              </a:rPr>
              <a:t>a) </a:t>
            </a:r>
            <a:r>
              <a:rPr lang="en-US" sz="2400" dirty="0" err="1">
                <a:solidFill>
                  <a:srgbClr val="000000"/>
                </a:solidFill>
                <a:latin typeface="Inter"/>
                <a:ea typeface="Inter"/>
                <a:cs typeface="Inter"/>
                <a:sym typeface="Inter"/>
              </a:rPr>
              <a:t>Prevención</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Capacidad</a:t>
            </a:r>
            <a:r>
              <a:rPr lang="en-US" sz="2400" dirty="0">
                <a:solidFill>
                  <a:srgbClr val="000000"/>
                </a:solidFill>
                <a:latin typeface="Inter"/>
                <a:ea typeface="Inter"/>
                <a:cs typeface="Inter"/>
                <a:sym typeface="Inter"/>
              </a:rPr>
              <a:t> de </a:t>
            </a:r>
            <a:r>
              <a:rPr lang="en-US" sz="2400" dirty="0" err="1">
                <a:solidFill>
                  <a:srgbClr val="000000"/>
                </a:solidFill>
                <a:latin typeface="Inter"/>
                <a:ea typeface="Inter"/>
                <a:cs typeface="Inter"/>
                <a:sym typeface="Inter"/>
              </a:rPr>
              <a:t>adelantarse</a:t>
            </a:r>
            <a:r>
              <a:rPr lang="en-US" sz="2400" dirty="0">
                <a:solidFill>
                  <a:srgbClr val="000000"/>
                </a:solidFill>
                <a:latin typeface="Inter"/>
                <a:ea typeface="Inter"/>
                <a:cs typeface="Inter"/>
                <a:sym typeface="Inter"/>
              </a:rPr>
              <a:t> y </a:t>
            </a:r>
            <a:r>
              <a:rPr lang="en-US" sz="2400" dirty="0" err="1">
                <a:solidFill>
                  <a:srgbClr val="000000"/>
                </a:solidFill>
                <a:latin typeface="Inter"/>
                <a:ea typeface="Inter"/>
                <a:cs typeface="Inter"/>
                <a:sym typeface="Inter"/>
              </a:rPr>
              <a:t>tomar</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medidas</a:t>
            </a:r>
            <a:r>
              <a:rPr lang="en-US" sz="2400" dirty="0">
                <a:solidFill>
                  <a:srgbClr val="000000"/>
                </a:solidFill>
                <a:latin typeface="Inter"/>
                <a:ea typeface="Inter"/>
                <a:cs typeface="Inter"/>
                <a:sym typeface="Inter"/>
              </a:rPr>
              <a:t> que </a:t>
            </a:r>
            <a:r>
              <a:rPr lang="en-US" sz="2400" dirty="0" err="1">
                <a:solidFill>
                  <a:srgbClr val="000000"/>
                </a:solidFill>
                <a:latin typeface="Inter"/>
                <a:ea typeface="Inter"/>
                <a:cs typeface="Inter"/>
                <a:sym typeface="Inter"/>
              </a:rPr>
              <a:t>eviten</a:t>
            </a:r>
            <a:r>
              <a:rPr lang="en-US" sz="2400" dirty="0">
                <a:solidFill>
                  <a:srgbClr val="000000"/>
                </a:solidFill>
                <a:latin typeface="Inter"/>
                <a:ea typeface="Inter"/>
                <a:cs typeface="Inter"/>
                <a:sym typeface="Inter"/>
              </a:rPr>
              <a:t> o </a:t>
            </a:r>
            <a:r>
              <a:rPr lang="en-US" sz="2400" dirty="0" err="1">
                <a:solidFill>
                  <a:srgbClr val="000000"/>
                </a:solidFill>
                <a:latin typeface="Inter"/>
                <a:ea typeface="Inter"/>
                <a:cs typeface="Inter"/>
                <a:sym typeface="Inter"/>
              </a:rPr>
              <a:t>disminuyan</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el</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riesgo</a:t>
            </a:r>
            <a:r>
              <a:rPr lang="en-US" sz="2400" dirty="0">
                <a:solidFill>
                  <a:srgbClr val="000000"/>
                </a:solidFill>
                <a:latin typeface="Inter"/>
                <a:ea typeface="Inter"/>
                <a:cs typeface="Inter"/>
                <a:sym typeface="Inter"/>
              </a:rPr>
              <a:t> de </a:t>
            </a:r>
            <a:r>
              <a:rPr lang="en-US" sz="2400" dirty="0" err="1">
                <a:solidFill>
                  <a:srgbClr val="000000"/>
                </a:solidFill>
                <a:latin typeface="Inter"/>
                <a:ea typeface="Inter"/>
                <a:cs typeface="Inter"/>
                <a:sym typeface="Inter"/>
              </a:rPr>
              <a:t>manifestación</a:t>
            </a:r>
            <a:r>
              <a:rPr lang="en-US" sz="2400" dirty="0">
                <a:solidFill>
                  <a:srgbClr val="000000"/>
                </a:solidFill>
                <a:latin typeface="Inter"/>
                <a:ea typeface="Inter"/>
                <a:cs typeface="Inter"/>
                <a:sym typeface="Inter"/>
              </a:rPr>
              <a:t> de </a:t>
            </a:r>
            <a:r>
              <a:rPr lang="en-US" sz="2400" dirty="0" err="1">
                <a:solidFill>
                  <a:srgbClr val="000000"/>
                </a:solidFill>
                <a:latin typeface="Inter"/>
                <a:ea typeface="Inter"/>
                <a:cs typeface="Inter"/>
                <a:sym typeface="Inter"/>
              </a:rPr>
              <a:t>conflictos</a:t>
            </a:r>
            <a:r>
              <a:rPr lang="en-US" sz="2400" dirty="0">
                <a:solidFill>
                  <a:srgbClr val="000000"/>
                </a:solidFill>
                <a:latin typeface="Inter"/>
                <a:ea typeface="Inter"/>
                <a:cs typeface="Inter"/>
                <a:sym typeface="Inter"/>
              </a:rPr>
              <a:t>. </a:t>
            </a:r>
          </a:p>
          <a:p>
            <a:pPr marL="518166" lvl="1" indent="-259083" algn="l">
              <a:lnSpc>
                <a:spcPts val="3360"/>
              </a:lnSpc>
              <a:buFont typeface="Arial"/>
              <a:buChar char="•"/>
            </a:pPr>
            <a:r>
              <a:rPr lang="en-US" sz="2400" dirty="0">
                <a:solidFill>
                  <a:srgbClr val="000000"/>
                </a:solidFill>
                <a:latin typeface="Inter"/>
                <a:ea typeface="Inter"/>
                <a:cs typeface="Inter"/>
                <a:sym typeface="Inter"/>
              </a:rPr>
              <a:t>b) </a:t>
            </a:r>
            <a:r>
              <a:rPr lang="en-US" sz="2400" dirty="0" err="1">
                <a:solidFill>
                  <a:srgbClr val="000000"/>
                </a:solidFill>
                <a:latin typeface="Inter"/>
                <a:ea typeface="Inter"/>
                <a:cs typeface="Inter"/>
                <a:sym typeface="Inter"/>
              </a:rPr>
              <a:t>Transparencia</a:t>
            </a:r>
            <a:r>
              <a:rPr lang="en-US" sz="2400" dirty="0">
                <a:solidFill>
                  <a:srgbClr val="000000"/>
                </a:solidFill>
                <a:latin typeface="Inter"/>
                <a:ea typeface="Inter"/>
                <a:cs typeface="Inter"/>
                <a:sym typeface="Inter"/>
              </a:rPr>
              <a:t>: Las partes </a:t>
            </a:r>
            <a:r>
              <a:rPr lang="en-US" sz="2400" dirty="0" err="1">
                <a:solidFill>
                  <a:srgbClr val="000000"/>
                </a:solidFill>
                <a:latin typeface="Inter"/>
                <a:ea typeface="Inter"/>
                <a:cs typeface="Inter"/>
                <a:sym typeface="Inter"/>
              </a:rPr>
              <a:t>en</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conflicto</a:t>
            </a:r>
            <a:r>
              <a:rPr lang="en-US" sz="2400" dirty="0">
                <a:solidFill>
                  <a:srgbClr val="000000"/>
                </a:solidFill>
                <a:latin typeface="Inter"/>
                <a:ea typeface="Inter"/>
                <a:cs typeface="Inter"/>
                <a:sym typeface="Inter"/>
              </a:rPr>
              <a:t> y la </a:t>
            </a:r>
            <a:r>
              <a:rPr lang="en-US" sz="2400" dirty="0" err="1">
                <a:solidFill>
                  <a:srgbClr val="000000"/>
                </a:solidFill>
                <a:latin typeface="Inter"/>
                <a:ea typeface="Inter"/>
                <a:cs typeface="Inter"/>
                <a:sym typeface="Inter"/>
              </a:rPr>
              <a:t>opinión</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pública</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deben</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conocer</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el</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papel</a:t>
            </a:r>
            <a:r>
              <a:rPr lang="en-US" sz="2400" dirty="0">
                <a:solidFill>
                  <a:srgbClr val="000000"/>
                </a:solidFill>
                <a:latin typeface="Inter"/>
                <a:ea typeface="Inter"/>
                <a:cs typeface="Inter"/>
                <a:sym typeface="Inter"/>
              </a:rPr>
              <a:t> de la </a:t>
            </a:r>
            <a:r>
              <a:rPr lang="en-US" sz="2400" dirty="0" err="1">
                <a:solidFill>
                  <a:srgbClr val="000000"/>
                </a:solidFill>
                <a:latin typeface="Inter"/>
                <a:ea typeface="Inter"/>
                <a:cs typeface="Inter"/>
                <a:sym typeface="Inter"/>
              </a:rPr>
              <a:t>Defensoría</a:t>
            </a:r>
            <a:r>
              <a:rPr lang="en-US" sz="2400" dirty="0">
                <a:solidFill>
                  <a:srgbClr val="000000"/>
                </a:solidFill>
                <a:latin typeface="Inter"/>
                <a:ea typeface="Inter"/>
                <a:cs typeface="Inter"/>
                <a:sym typeface="Inter"/>
              </a:rPr>
              <a:t> del Pueblo y </a:t>
            </a:r>
            <a:r>
              <a:rPr lang="en-US" sz="2400" dirty="0" err="1">
                <a:solidFill>
                  <a:srgbClr val="000000"/>
                </a:solidFill>
                <a:latin typeface="Inter"/>
                <a:ea typeface="Inter"/>
                <a:cs typeface="Inter"/>
                <a:sym typeface="Inter"/>
              </a:rPr>
              <a:t>los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límites</a:t>
            </a:r>
            <a:r>
              <a:rPr lang="en-US" sz="2400" dirty="0">
                <a:solidFill>
                  <a:srgbClr val="000000"/>
                </a:solidFill>
                <a:latin typeface="Inter"/>
                <a:ea typeface="Inter"/>
                <a:cs typeface="Inter"/>
                <a:sym typeface="Inter"/>
              </a:rPr>
              <a:t> de </a:t>
            </a:r>
            <a:r>
              <a:rPr lang="en-US" sz="2400" dirty="0" err="1">
                <a:solidFill>
                  <a:srgbClr val="000000"/>
                </a:solidFill>
                <a:latin typeface="Inter"/>
                <a:ea typeface="Inter"/>
                <a:cs typeface="Inter"/>
                <a:sym typeface="Inter"/>
              </a:rPr>
              <a:t>su</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intervención</a:t>
            </a:r>
            <a:r>
              <a:rPr lang="en-US" sz="2400" dirty="0">
                <a:solidFill>
                  <a:srgbClr val="000000"/>
                </a:solidFill>
                <a:latin typeface="Inter"/>
                <a:ea typeface="Inter"/>
                <a:cs typeface="Inter"/>
                <a:sym typeface="Inter"/>
              </a:rPr>
              <a:t>. </a:t>
            </a:r>
          </a:p>
          <a:p>
            <a:pPr marL="518166" lvl="1" indent="-259083" algn="l">
              <a:lnSpc>
                <a:spcPts val="3360"/>
              </a:lnSpc>
              <a:buFont typeface="Arial"/>
              <a:buChar char="•"/>
            </a:pPr>
            <a:r>
              <a:rPr lang="en-US" sz="2400" dirty="0">
                <a:solidFill>
                  <a:srgbClr val="000000"/>
                </a:solidFill>
                <a:latin typeface="Inter"/>
                <a:ea typeface="Inter"/>
                <a:cs typeface="Inter"/>
                <a:sym typeface="Inter"/>
              </a:rPr>
              <a:t>c) </a:t>
            </a:r>
            <a:r>
              <a:rPr lang="en-US" sz="2400" dirty="0" err="1">
                <a:solidFill>
                  <a:srgbClr val="000000"/>
                </a:solidFill>
                <a:latin typeface="Inter"/>
                <a:ea typeface="Inter"/>
                <a:cs typeface="Inter"/>
                <a:sym typeface="Inter"/>
              </a:rPr>
              <a:t>Legalidad</a:t>
            </a:r>
            <a:r>
              <a:rPr lang="en-US" sz="2400" dirty="0">
                <a:solidFill>
                  <a:srgbClr val="000000"/>
                </a:solidFill>
                <a:latin typeface="Inter"/>
                <a:ea typeface="Inter"/>
                <a:cs typeface="Inter"/>
                <a:sym typeface="Inter"/>
              </a:rPr>
              <a:t>: Toda </a:t>
            </a:r>
            <a:r>
              <a:rPr lang="en-US" sz="2400" dirty="0" err="1">
                <a:solidFill>
                  <a:srgbClr val="000000"/>
                </a:solidFill>
                <a:latin typeface="Inter"/>
                <a:ea typeface="Inter"/>
                <a:cs typeface="Inter"/>
                <a:sym typeface="Inter"/>
              </a:rPr>
              <a:t>intervención</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defensorial</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en</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conflictos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debe</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hacerse</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en</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el</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marco</a:t>
            </a:r>
            <a:r>
              <a:rPr lang="en-US" sz="2400" dirty="0">
                <a:solidFill>
                  <a:srgbClr val="000000"/>
                </a:solidFill>
                <a:latin typeface="Inter"/>
                <a:ea typeface="Inter"/>
                <a:cs typeface="Inter"/>
                <a:sym typeface="Inter"/>
              </a:rPr>
              <a:t> de la </a:t>
            </a:r>
            <a:r>
              <a:rPr lang="en-US" sz="2400" dirty="0" err="1">
                <a:solidFill>
                  <a:srgbClr val="000000"/>
                </a:solidFill>
                <a:latin typeface="Inter"/>
                <a:ea typeface="Inter"/>
                <a:cs typeface="Inter"/>
                <a:sym typeface="Inter"/>
              </a:rPr>
              <a:t>Constitución</a:t>
            </a:r>
            <a:r>
              <a:rPr lang="en-US" sz="2400" dirty="0">
                <a:solidFill>
                  <a:srgbClr val="000000"/>
                </a:solidFill>
                <a:latin typeface="Inter"/>
                <a:ea typeface="Inter"/>
                <a:cs typeface="Inter"/>
                <a:sym typeface="Inter"/>
              </a:rPr>
              <a:t> y las </a:t>
            </a:r>
            <a:r>
              <a:rPr lang="en-US" sz="2400" dirty="0" err="1">
                <a:solidFill>
                  <a:srgbClr val="000000"/>
                </a:solidFill>
                <a:latin typeface="Inter"/>
                <a:ea typeface="Inter"/>
                <a:cs typeface="Inter"/>
                <a:sym typeface="Inter"/>
              </a:rPr>
              <a:t>leyes</a:t>
            </a:r>
            <a:r>
              <a:rPr lang="en-US" sz="2400" dirty="0">
                <a:solidFill>
                  <a:srgbClr val="000000"/>
                </a:solidFill>
                <a:latin typeface="Inter"/>
                <a:ea typeface="Inter"/>
                <a:cs typeface="Inter"/>
                <a:sym typeface="Inter"/>
              </a:rPr>
              <a:t>.</a:t>
            </a:r>
          </a:p>
          <a:p>
            <a:pPr marL="518166" lvl="1" indent="-259083" algn="l">
              <a:lnSpc>
                <a:spcPts val="3360"/>
              </a:lnSpc>
              <a:buFont typeface="Arial"/>
              <a:buChar char="•"/>
            </a:pPr>
            <a:r>
              <a:rPr lang="en-US" sz="2400" dirty="0">
                <a:solidFill>
                  <a:srgbClr val="000000"/>
                </a:solidFill>
                <a:latin typeface="Inter"/>
                <a:ea typeface="Inter"/>
                <a:cs typeface="Inter"/>
                <a:sym typeface="Inter"/>
              </a:rPr>
              <a:t>d) </a:t>
            </a:r>
            <a:r>
              <a:rPr lang="en-US" sz="2400" dirty="0" err="1">
                <a:solidFill>
                  <a:srgbClr val="000000"/>
                </a:solidFill>
                <a:latin typeface="Inter"/>
                <a:ea typeface="Inter"/>
                <a:cs typeface="Inter"/>
                <a:sym typeface="Inter"/>
              </a:rPr>
              <a:t>Interculturalidad</a:t>
            </a:r>
            <a:r>
              <a:rPr lang="en-US" sz="2400" dirty="0">
                <a:solidFill>
                  <a:srgbClr val="000000"/>
                </a:solidFill>
                <a:latin typeface="Inter"/>
                <a:ea typeface="Inter"/>
                <a:cs typeface="Inter"/>
                <a:sym typeface="Inter"/>
              </a:rPr>
              <a:t>: La </a:t>
            </a:r>
            <a:r>
              <a:rPr lang="en-US" sz="2400" dirty="0" err="1">
                <a:solidFill>
                  <a:srgbClr val="000000"/>
                </a:solidFill>
                <a:latin typeface="Inter"/>
                <a:ea typeface="Inter"/>
                <a:cs typeface="Inter"/>
                <a:sym typeface="Inter"/>
              </a:rPr>
              <a:t>intervención</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defensorial</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toma</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en</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cuenta</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los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contextos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culturales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étnicos</a:t>
            </a:r>
            <a:r>
              <a:rPr lang="en-US" sz="2400" dirty="0">
                <a:solidFill>
                  <a:srgbClr val="000000"/>
                </a:solidFill>
                <a:latin typeface="Inter"/>
                <a:ea typeface="Inter"/>
                <a:cs typeface="Inter"/>
                <a:sym typeface="Inter"/>
              </a:rPr>
              <a:t> y </a:t>
            </a:r>
            <a:r>
              <a:rPr lang="en-US" sz="2400" dirty="0" err="1">
                <a:solidFill>
                  <a:srgbClr val="000000"/>
                </a:solidFill>
                <a:latin typeface="Inter"/>
                <a:ea typeface="Inter"/>
                <a:cs typeface="Inter"/>
                <a:sym typeface="Inter"/>
              </a:rPr>
              <a:t>lingüísticos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en</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los</a:t>
            </a:r>
            <a:r>
              <a:rPr lang="en-US" sz="2400" dirty="0">
                <a:solidFill>
                  <a:srgbClr val="000000"/>
                </a:solidFill>
                <a:latin typeface="Inter"/>
                <a:ea typeface="Inter"/>
                <a:cs typeface="Inter"/>
                <a:sym typeface="Inter"/>
              </a:rPr>
              <a:t> que se </a:t>
            </a:r>
            <a:r>
              <a:rPr lang="en-US" sz="2400" dirty="0" err="1">
                <a:solidFill>
                  <a:srgbClr val="000000"/>
                </a:solidFill>
                <a:latin typeface="Inter"/>
                <a:ea typeface="Inter"/>
                <a:cs typeface="Inter"/>
                <a:sym typeface="Inter"/>
              </a:rPr>
              <a:t>desarrolla</a:t>
            </a:r>
            <a:r>
              <a:rPr lang="en-US" sz="2400" dirty="0">
                <a:solidFill>
                  <a:srgbClr val="000000"/>
                </a:solidFill>
                <a:latin typeface="Inter"/>
                <a:ea typeface="Inter"/>
                <a:cs typeface="Inter"/>
                <a:sym typeface="Inter"/>
              </a:rPr>
              <a:t> la labor, tanto para la </a:t>
            </a:r>
            <a:r>
              <a:rPr lang="en-US" sz="2400" dirty="0" err="1">
                <a:solidFill>
                  <a:srgbClr val="000000"/>
                </a:solidFill>
                <a:latin typeface="Inter"/>
                <a:ea typeface="Inter"/>
                <a:cs typeface="Inter"/>
                <a:sym typeface="Inter"/>
              </a:rPr>
              <a:t>aplicación</a:t>
            </a:r>
            <a:r>
              <a:rPr lang="en-US" sz="2400" dirty="0">
                <a:solidFill>
                  <a:srgbClr val="000000"/>
                </a:solidFill>
                <a:latin typeface="Inter"/>
                <a:ea typeface="Inter"/>
                <a:cs typeface="Inter"/>
                <a:sym typeface="Inter"/>
              </a:rPr>
              <a:t> de sus </a:t>
            </a:r>
            <a:r>
              <a:rPr lang="en-US" sz="2400" dirty="0" err="1">
                <a:solidFill>
                  <a:srgbClr val="000000"/>
                </a:solidFill>
                <a:latin typeface="Inter"/>
                <a:ea typeface="Inter"/>
                <a:cs typeface="Inter"/>
                <a:sym typeface="Inter"/>
              </a:rPr>
              <a:t>procedimientos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como</a:t>
            </a:r>
            <a:r>
              <a:rPr lang="en-US" sz="2400" dirty="0">
                <a:solidFill>
                  <a:srgbClr val="000000"/>
                </a:solidFill>
                <a:latin typeface="Inter"/>
                <a:ea typeface="Inter"/>
                <a:cs typeface="Inter"/>
                <a:sym typeface="Inter"/>
              </a:rPr>
              <a:t> para la </a:t>
            </a:r>
            <a:r>
              <a:rPr lang="en-US" sz="2400" dirty="0" err="1">
                <a:solidFill>
                  <a:srgbClr val="000000"/>
                </a:solidFill>
                <a:latin typeface="Inter"/>
                <a:ea typeface="Inter"/>
                <a:cs typeface="Inter"/>
                <a:sym typeface="Inter"/>
              </a:rPr>
              <a:t>comprensión</a:t>
            </a:r>
            <a:r>
              <a:rPr lang="en-US" sz="2400" dirty="0">
                <a:solidFill>
                  <a:srgbClr val="000000"/>
                </a:solidFill>
                <a:latin typeface="Inter"/>
                <a:ea typeface="Inter"/>
                <a:cs typeface="Inter"/>
                <a:sym typeface="Inter"/>
              </a:rPr>
              <a:t> de </a:t>
            </a:r>
            <a:r>
              <a:rPr lang="en-US" sz="2400" dirty="0" err="1">
                <a:solidFill>
                  <a:srgbClr val="000000"/>
                </a:solidFill>
                <a:latin typeface="Inter"/>
                <a:ea typeface="Inter"/>
                <a:cs typeface="Inter"/>
                <a:sym typeface="Inter"/>
              </a:rPr>
              <a:t>los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problemas</a:t>
            </a:r>
            <a:r>
              <a:rPr lang="en-US" sz="2400" dirty="0">
                <a:solidFill>
                  <a:srgbClr val="000000"/>
                </a:solidFill>
                <a:latin typeface="Inter"/>
                <a:ea typeface="Inter"/>
                <a:cs typeface="Inter"/>
                <a:sym typeface="Inter"/>
              </a:rPr>
              <a:t>. </a:t>
            </a:r>
          </a:p>
          <a:p>
            <a:pPr marL="518166" lvl="1" indent="-259083" algn="l">
              <a:lnSpc>
                <a:spcPts val="3360"/>
              </a:lnSpc>
              <a:buFont typeface="Arial"/>
              <a:buChar char="•"/>
            </a:pPr>
            <a:r>
              <a:rPr lang="en-US" sz="2400" dirty="0">
                <a:solidFill>
                  <a:srgbClr val="000000"/>
                </a:solidFill>
                <a:latin typeface="Inter"/>
                <a:ea typeface="Inter"/>
                <a:cs typeface="Inter"/>
                <a:sym typeface="Inter"/>
              </a:rPr>
              <a:t>e) </a:t>
            </a:r>
            <a:r>
              <a:rPr lang="en-US" sz="2400" dirty="0" err="1">
                <a:solidFill>
                  <a:srgbClr val="000000"/>
                </a:solidFill>
                <a:latin typeface="Inter"/>
                <a:ea typeface="Inter"/>
                <a:cs typeface="Inter"/>
                <a:sym typeface="Inter"/>
              </a:rPr>
              <a:t>Creatividad</a:t>
            </a:r>
            <a:r>
              <a:rPr lang="en-US" sz="2400" dirty="0">
                <a:solidFill>
                  <a:srgbClr val="000000"/>
                </a:solidFill>
                <a:latin typeface="Inter"/>
                <a:ea typeface="Inter"/>
                <a:cs typeface="Inter"/>
                <a:sym typeface="Inter"/>
              </a:rPr>
              <a:t>: Los </a:t>
            </a:r>
            <a:r>
              <a:rPr lang="en-US" sz="2400" dirty="0" err="1">
                <a:solidFill>
                  <a:srgbClr val="000000"/>
                </a:solidFill>
                <a:latin typeface="Inter"/>
                <a:ea typeface="Inter"/>
                <a:cs typeface="Inter"/>
                <a:sym typeface="Inter"/>
              </a:rPr>
              <a:t>problemas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complejos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exigen</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soluciones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imaginativas</a:t>
            </a:r>
            <a:r>
              <a:rPr lang="en-US" sz="2400" dirty="0">
                <a:solidFill>
                  <a:srgbClr val="000000"/>
                </a:solidFill>
                <a:latin typeface="Inter"/>
                <a:ea typeface="Inter"/>
                <a:cs typeface="Inter"/>
                <a:sym typeface="Inter"/>
              </a:rPr>
              <a:t> que                    </a:t>
            </a:r>
            <a:r>
              <a:rPr lang="en-US" sz="2400" dirty="0" err="1">
                <a:solidFill>
                  <a:srgbClr val="000000"/>
                </a:solidFill>
                <a:latin typeface="Inter"/>
                <a:ea typeface="Inter"/>
                <a:cs typeface="Inter"/>
                <a:sym typeface="Inter"/>
              </a:rPr>
              <a:t>deberán</a:t>
            </a:r>
            <a:r>
              <a:rPr lang="en-US" sz="2400" dirty="0">
                <a:solidFill>
                  <a:srgbClr val="000000"/>
                </a:solidFill>
                <a:latin typeface="Inter"/>
                <a:ea typeface="Inter"/>
                <a:cs typeface="Inter"/>
                <a:sym typeface="Inter"/>
              </a:rPr>
              <a:t> ser </a:t>
            </a:r>
            <a:r>
              <a:rPr lang="en-US" sz="2400" dirty="0" err="1">
                <a:solidFill>
                  <a:srgbClr val="000000"/>
                </a:solidFill>
                <a:latin typeface="Inter"/>
                <a:ea typeface="Inter"/>
                <a:cs typeface="Inter"/>
                <a:sym typeface="Inter"/>
              </a:rPr>
              <a:t>estimuladas</a:t>
            </a:r>
            <a:r>
              <a:rPr lang="en-US" sz="2400" dirty="0">
                <a:solidFill>
                  <a:srgbClr val="000000"/>
                </a:solidFill>
                <a:latin typeface="Inter"/>
                <a:ea typeface="Inter"/>
                <a:cs typeface="Inter"/>
                <a:sym typeface="Inter"/>
              </a:rPr>
              <a:t> o </a:t>
            </a:r>
            <a:r>
              <a:rPr lang="en-US" sz="2400" dirty="0" err="1">
                <a:solidFill>
                  <a:srgbClr val="000000"/>
                </a:solidFill>
                <a:latin typeface="Inter"/>
                <a:ea typeface="Inter"/>
                <a:cs typeface="Inter"/>
                <a:sym typeface="Inter"/>
              </a:rPr>
              <a:t>propuestas</a:t>
            </a:r>
            <a:r>
              <a:rPr lang="en-US" sz="2400" dirty="0">
                <a:solidFill>
                  <a:srgbClr val="000000"/>
                </a:solidFill>
                <a:latin typeface="Inter"/>
                <a:ea typeface="Inter"/>
                <a:cs typeface="Inter"/>
                <a:sym typeface="Inter"/>
              </a:rPr>
              <a:t>.</a:t>
            </a:r>
          </a:p>
        </p:txBody>
      </p:sp>
      <p:sp>
        <p:nvSpPr>
          <p:cNvPr id="8" name="TextBox 8"/>
          <p:cNvSpPr txBox="1"/>
          <p:nvPr/>
        </p:nvSpPr>
        <p:spPr>
          <a:xfrm>
            <a:off x="921543" y="3168257"/>
            <a:ext cx="15443643"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RESOLUCIÓN ADMINISTRATIVA N° 006-2015/DP-PAD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5435538"/>
          </a:xfrm>
          <a:prstGeom prst="rect">
            <a:avLst/>
          </a:prstGeom>
        </p:spPr>
        <p:txBody>
          <a:bodyPr lIns="0" tIns="0" rIns="0" bIns="0" rtlCol="0" anchor="t">
            <a:spAutoFit/>
          </a:bodyPr>
          <a:lstStyle/>
          <a:p>
            <a:pPr marL="518166" lvl="1" indent="-259083" algn="l">
              <a:lnSpc>
                <a:spcPts val="3360"/>
              </a:lnSpc>
              <a:buFont typeface="Arial"/>
              <a:buChar char="•"/>
            </a:pPr>
            <a:r>
              <a:rPr lang="en-US" sz="2400" b="1">
                <a:solidFill>
                  <a:srgbClr val="000000"/>
                </a:solidFill>
                <a:latin typeface="Inter Bold"/>
                <a:ea typeface="Inter Bold"/>
                <a:cs typeface="Inter Bold"/>
                <a:sym typeface="Inter Bold"/>
              </a:rPr>
              <a:t>CONFLICTO ACTIVO:</a:t>
            </a:r>
            <a:r>
              <a:rPr lang="en-US" sz="2400">
                <a:solidFill>
                  <a:srgbClr val="000000"/>
                </a:solidFill>
                <a:latin typeface="Inter"/>
                <a:ea typeface="Inter"/>
                <a:cs typeface="Inter"/>
                <a:sym typeface="Inter"/>
              </a:rPr>
              <a:t> Es el conflicto social expresado por alguna de las partes o por terceros a través de reclamaciones públicas formales informales. El conflicto en este estado tiene una serie de fases que en el numeral 5 detallaremos. </a:t>
            </a:r>
          </a:p>
          <a:p>
            <a:pPr marL="518166" lvl="1" indent="-259083" algn="l">
              <a:lnSpc>
                <a:spcPts val="3360"/>
              </a:lnSpc>
              <a:buFont typeface="Arial"/>
              <a:buChar char="•"/>
            </a:pPr>
            <a:r>
              <a:rPr lang="en-US" sz="2400" b="1">
                <a:solidFill>
                  <a:srgbClr val="000000"/>
                </a:solidFill>
                <a:latin typeface="Inter Bold"/>
                <a:ea typeface="Inter Bold"/>
                <a:cs typeface="Inter Bold"/>
                <a:sym typeface="Inter Bold"/>
              </a:rPr>
              <a:t>CONFLICTO LATENTE:</a:t>
            </a:r>
            <a:r>
              <a:rPr lang="en-US" sz="2400">
                <a:solidFill>
                  <a:srgbClr val="000000"/>
                </a:solidFill>
                <a:latin typeface="Inter"/>
                <a:ea typeface="Inter"/>
                <a:cs typeface="Inter"/>
                <a:sym typeface="Inter"/>
              </a:rPr>
              <a:t> Es el conflicto social no expresado públicamente. Permanece oculto, silencioso o inactivo. En él se puede observar la concurrencia de factores que tienen un curso de colisión pero que no se manifiestan o habiéndose manifestado, han dejado de hacerlo durante un tiempo considerable. </a:t>
            </a:r>
          </a:p>
          <a:p>
            <a:pPr marL="518166" lvl="1" indent="-259083" algn="l">
              <a:lnSpc>
                <a:spcPts val="3360"/>
              </a:lnSpc>
              <a:buFont typeface="Arial"/>
              <a:buChar char="•"/>
            </a:pPr>
            <a:r>
              <a:rPr lang="en-US" sz="2400" b="1">
                <a:solidFill>
                  <a:srgbClr val="000000"/>
                </a:solidFill>
                <a:latin typeface="Inter Bold"/>
                <a:ea typeface="Inter Bold"/>
                <a:cs typeface="Inter Bold"/>
                <a:sym typeface="Inter Bold"/>
              </a:rPr>
              <a:t>CONFLICTO RESUELTO: </a:t>
            </a:r>
            <a:r>
              <a:rPr lang="en-US" sz="2400">
                <a:solidFill>
                  <a:srgbClr val="000000"/>
                </a:solidFill>
                <a:latin typeface="Inter"/>
                <a:ea typeface="Inter"/>
                <a:cs typeface="Inter"/>
                <a:sym typeface="Inter"/>
              </a:rPr>
              <a:t>Es el conflicto social cuya conclusión, mediante acuerdos, emisión normativa, resolución judicial o administrativa, etc. aceptada por las partes, restablece las relaciones entre ellas en condiciones de armonía. Nunca es posible asegurar que la resolución sea definitiva, por lo que para efectos formales se considera resuelto el conflicto en el que se llega a una solución acordada por las partes. Quedará para un segundo momento               hacer el seguimiento del cumplimiento de dichos acuerdos.</a:t>
            </a:r>
          </a:p>
        </p:txBody>
      </p:sp>
      <p:sp>
        <p:nvSpPr>
          <p:cNvPr id="8" name="TextBox 8"/>
          <p:cNvSpPr txBox="1"/>
          <p:nvPr/>
        </p:nvSpPr>
        <p:spPr>
          <a:xfrm>
            <a:off x="921543" y="3168257"/>
            <a:ext cx="15443643"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ESTADOS DEL CONFLICTO SOCIAL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sp>
        <p:nvSpPr>
          <p:cNvPr id="4" name="Freeform 4"/>
          <p:cNvSpPr/>
          <p:nvPr/>
        </p:nvSpPr>
        <p:spPr>
          <a:xfrm>
            <a:off x="3450441" y="2057186"/>
            <a:ext cx="9126348" cy="8229814"/>
          </a:xfrm>
          <a:custGeom>
            <a:avLst/>
            <a:gdLst/>
            <a:ahLst/>
            <a:cxnLst/>
            <a:rect l="l" t="t" r="r" b="b"/>
            <a:pathLst>
              <a:path w="9126348" h="8229814">
                <a:moveTo>
                  <a:pt x="0" y="0"/>
                </a:moveTo>
                <a:lnTo>
                  <a:pt x="9126348" y="0"/>
                </a:lnTo>
                <a:lnTo>
                  <a:pt x="9126348" y="8229814"/>
                </a:lnTo>
                <a:lnTo>
                  <a:pt x="0" y="8229814"/>
                </a:lnTo>
                <a:lnTo>
                  <a:pt x="0" y="0"/>
                </a:lnTo>
                <a:close/>
              </a:path>
            </a:pathLst>
          </a:custGeom>
          <a:blipFill>
            <a:blip r:embed="rId5"/>
            <a:stretch>
              <a:fillRect r="-13764"/>
            </a:stretch>
          </a:blipFill>
        </p:spPr>
      </p:sp>
      <p:sp>
        <p:nvSpPr>
          <p:cNvPr id="5" name="TextBox 5"/>
          <p:cNvSpPr txBox="1"/>
          <p:nvPr/>
        </p:nvSpPr>
        <p:spPr>
          <a:xfrm>
            <a:off x="921543" y="1253666"/>
            <a:ext cx="14184144" cy="2636608"/>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PRINCIPALES MECANISMOS DE INTERVENCIÓN</a:t>
            </a:r>
          </a:p>
          <a:p>
            <a:pPr algn="l">
              <a:lnSpc>
                <a:spcPts val="5039"/>
              </a:lnSpc>
            </a:pPr>
            <a:endParaRPr lang="en-US" sz="3999" b="1">
              <a:solidFill>
                <a:srgbClr val="A42F0F"/>
              </a:solidFill>
              <a:latin typeface="Futura Ultra-Bold"/>
              <a:ea typeface="Futura Ultra-Bold"/>
              <a:cs typeface="Futura Ultra-Bold"/>
              <a:sym typeface="Futura Ultra-Bold"/>
            </a:endParaRPr>
          </a:p>
          <a:p>
            <a:pPr algn="l">
              <a:lnSpc>
                <a:spcPts val="5039"/>
              </a:lnSpc>
            </a:pPr>
            <a:endParaRPr lang="en-US" sz="3999" b="1">
              <a:solidFill>
                <a:srgbClr val="A42F0F"/>
              </a:solidFill>
              <a:latin typeface="Futura Ultra-Bold"/>
              <a:ea typeface="Futura Ultra-Bold"/>
              <a:cs typeface="Futura Ultra-Bold"/>
              <a:sym typeface="Futura Ultra-Bold"/>
            </a:endParaRPr>
          </a:p>
          <a:p>
            <a:pPr algn="l">
              <a:lnSpc>
                <a:spcPts val="5039"/>
              </a:lnSpc>
            </a:pPr>
            <a:endParaRPr lang="en-US" sz="3999" b="1">
              <a:solidFill>
                <a:srgbClr val="A42F0F"/>
              </a:solidFill>
              <a:latin typeface="Futura Ultra-Bold"/>
              <a:ea typeface="Futura Ultra-Bold"/>
              <a:cs typeface="Futura Ultra-Bold"/>
              <a:sym typeface="Futura Ultra-Bold"/>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5632889"/>
          </a:xfrm>
          <a:prstGeom prst="rect">
            <a:avLst/>
          </a:prstGeom>
        </p:spPr>
        <p:txBody>
          <a:bodyPr lIns="0" tIns="0" rIns="0" bIns="0" rtlCol="0" anchor="t">
            <a:spAutoFit/>
          </a:bodyPr>
          <a:lstStyle/>
          <a:p>
            <a:pPr algn="l">
              <a:lnSpc>
                <a:spcPts val="3360"/>
              </a:lnSpc>
            </a:pPr>
            <a:r>
              <a:rPr lang="en-US" sz="2400" b="1" dirty="0" err="1">
                <a:solidFill>
                  <a:srgbClr val="000000"/>
                </a:solidFill>
                <a:latin typeface="Inter Bold"/>
                <a:ea typeface="Inter Bold"/>
                <a:cs typeface="Inter Bold"/>
                <a:sym typeface="Inter Bold"/>
              </a:rPr>
              <a:t>PREVENCIÓN</a:t>
            </a:r>
            <a:endParaRPr lang="en-US" sz="2400" b="1" dirty="0">
              <a:solidFill>
                <a:srgbClr val="000000"/>
              </a:solidFill>
              <a:latin typeface="Inter Bold"/>
              <a:ea typeface="Inter Bold"/>
              <a:cs typeface="Inter Bold"/>
              <a:sym typeface="Inter Bold"/>
            </a:endParaRPr>
          </a:p>
          <a:p>
            <a:pPr algn="l">
              <a:lnSpc>
                <a:spcPts val="3360"/>
              </a:lnSpc>
            </a:pPr>
            <a:r>
              <a:rPr lang="en-US" sz="2400" dirty="0">
                <a:solidFill>
                  <a:srgbClr val="000000"/>
                </a:solidFill>
                <a:latin typeface="Inter"/>
                <a:ea typeface="Inter"/>
                <a:cs typeface="Inter"/>
                <a:sym typeface="Inter"/>
              </a:rPr>
              <a:t>Es la </a:t>
            </a:r>
            <a:r>
              <a:rPr lang="en-US" sz="2400" dirty="0" err="1">
                <a:solidFill>
                  <a:srgbClr val="000000"/>
                </a:solidFill>
                <a:latin typeface="Inter"/>
                <a:ea typeface="Inter"/>
                <a:cs typeface="Inter"/>
                <a:sym typeface="Inter"/>
              </a:rPr>
              <a:t>intervención</a:t>
            </a:r>
            <a:r>
              <a:rPr lang="en-US" sz="2400" dirty="0">
                <a:solidFill>
                  <a:srgbClr val="000000"/>
                </a:solidFill>
                <a:latin typeface="Inter"/>
                <a:ea typeface="Inter"/>
                <a:cs typeface="Inter"/>
                <a:sym typeface="Inter"/>
              </a:rPr>
              <a:t> de las </a:t>
            </a:r>
            <a:r>
              <a:rPr lang="en-US" sz="2400" dirty="0" err="1">
                <a:solidFill>
                  <a:srgbClr val="000000"/>
                </a:solidFill>
                <a:latin typeface="Inter"/>
                <a:ea typeface="Inter"/>
                <a:cs typeface="Inter"/>
                <a:sym typeface="Inter"/>
              </a:rPr>
              <a:t>entidades</a:t>
            </a:r>
            <a:r>
              <a:rPr lang="en-US" sz="2400" dirty="0">
                <a:solidFill>
                  <a:srgbClr val="000000"/>
                </a:solidFill>
                <a:latin typeface="Inter"/>
                <a:ea typeface="Inter"/>
                <a:cs typeface="Inter"/>
                <a:sym typeface="Inter"/>
              </a:rPr>
              <a:t> del Sistema Nacional de </a:t>
            </a:r>
            <a:r>
              <a:rPr lang="en-US" sz="2400" dirty="0" err="1">
                <a:solidFill>
                  <a:srgbClr val="000000"/>
                </a:solidFill>
                <a:latin typeface="Inter"/>
                <a:ea typeface="Inter"/>
                <a:cs typeface="Inter"/>
                <a:sym typeface="Inter"/>
              </a:rPr>
              <a:t>Gestión</a:t>
            </a:r>
            <a:r>
              <a:rPr lang="en-US" sz="2400" dirty="0">
                <a:solidFill>
                  <a:srgbClr val="000000"/>
                </a:solidFill>
                <a:latin typeface="Inter"/>
                <a:ea typeface="Inter"/>
                <a:cs typeface="Inter"/>
                <a:sym typeface="Inter"/>
              </a:rPr>
              <a:t> Ambiental ante </a:t>
            </a:r>
            <a:r>
              <a:rPr lang="en-US" sz="2400" dirty="0" err="1">
                <a:solidFill>
                  <a:srgbClr val="000000"/>
                </a:solidFill>
                <a:latin typeface="Inter"/>
                <a:ea typeface="Inter"/>
                <a:cs typeface="Inter"/>
                <a:sym typeface="Inter"/>
              </a:rPr>
              <a:t>manifestaciones</a:t>
            </a:r>
            <a:r>
              <a:rPr lang="en-US" sz="2400" dirty="0">
                <a:solidFill>
                  <a:srgbClr val="000000"/>
                </a:solidFill>
                <a:latin typeface="Inter"/>
                <a:ea typeface="Inter"/>
                <a:cs typeface="Inter"/>
                <a:sym typeface="Inter"/>
              </a:rPr>
              <a:t> previas al </a:t>
            </a:r>
            <a:r>
              <a:rPr lang="en-US" sz="2400" dirty="0" err="1">
                <a:solidFill>
                  <a:srgbClr val="000000"/>
                </a:solidFill>
                <a:latin typeface="Inter"/>
                <a:ea typeface="Inter"/>
                <a:cs typeface="Inter"/>
                <a:sym typeface="Inter"/>
              </a:rPr>
              <a:t>surgimiento</a:t>
            </a:r>
            <a:r>
              <a:rPr lang="en-US" sz="2400" dirty="0">
                <a:solidFill>
                  <a:srgbClr val="000000"/>
                </a:solidFill>
                <a:latin typeface="Inter"/>
                <a:ea typeface="Inter"/>
                <a:cs typeface="Inter"/>
                <a:sym typeface="Inter"/>
              </a:rPr>
              <a:t> de un </a:t>
            </a:r>
            <a:r>
              <a:rPr lang="en-US" sz="2400" dirty="0" err="1">
                <a:solidFill>
                  <a:srgbClr val="000000"/>
                </a:solidFill>
                <a:latin typeface="Inter"/>
                <a:ea typeface="Inter"/>
                <a:cs typeface="Inter"/>
                <a:sym typeface="Inter"/>
              </a:rPr>
              <a:t>conflicto</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socioambiental</a:t>
            </a:r>
            <a:r>
              <a:rPr lang="en-US" sz="2400" dirty="0">
                <a:solidFill>
                  <a:srgbClr val="000000"/>
                </a:solidFill>
                <a:latin typeface="Inter"/>
                <a:ea typeface="Inter"/>
                <a:cs typeface="Inter"/>
                <a:sym typeface="Inter"/>
              </a:rPr>
              <a:t> o </a:t>
            </a:r>
            <a:r>
              <a:rPr lang="en-US" sz="2400" dirty="0" err="1">
                <a:solidFill>
                  <a:srgbClr val="000000"/>
                </a:solidFill>
                <a:latin typeface="Inter"/>
                <a:ea typeface="Inter"/>
                <a:cs typeface="Inter"/>
                <a:sym typeface="Inter"/>
              </a:rPr>
              <a:t>frente</a:t>
            </a:r>
            <a:r>
              <a:rPr lang="en-US" sz="2400" dirty="0">
                <a:solidFill>
                  <a:srgbClr val="000000"/>
                </a:solidFill>
                <a:latin typeface="Inter"/>
                <a:ea typeface="Inter"/>
                <a:cs typeface="Inter"/>
                <a:sym typeface="Inter"/>
              </a:rPr>
              <a:t> al </a:t>
            </a:r>
            <a:r>
              <a:rPr lang="en-US" sz="2400" dirty="0" err="1">
                <a:solidFill>
                  <a:srgbClr val="000000"/>
                </a:solidFill>
                <a:latin typeface="Inter"/>
                <a:ea typeface="Inter"/>
                <a:cs typeface="Inter"/>
                <a:sym typeface="Inter"/>
              </a:rPr>
              <a:t>escalamiento</a:t>
            </a:r>
            <a:r>
              <a:rPr lang="en-US" sz="2400" dirty="0">
                <a:solidFill>
                  <a:srgbClr val="000000"/>
                </a:solidFill>
                <a:latin typeface="Inter"/>
                <a:ea typeface="Inter"/>
                <a:cs typeface="Inter"/>
                <a:sym typeface="Inter"/>
              </a:rPr>
              <a:t> del </a:t>
            </a:r>
            <a:r>
              <a:rPr lang="en-US" sz="2400" dirty="0" err="1">
                <a:solidFill>
                  <a:srgbClr val="000000"/>
                </a:solidFill>
                <a:latin typeface="Inter"/>
                <a:ea typeface="Inter"/>
                <a:cs typeface="Inter"/>
                <a:sym typeface="Inter"/>
              </a:rPr>
              <a:t>mismo</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Cuando</a:t>
            </a:r>
            <a:r>
              <a:rPr lang="en-US" sz="2400" dirty="0">
                <a:solidFill>
                  <a:srgbClr val="000000"/>
                </a:solidFill>
                <a:latin typeface="Inter"/>
                <a:ea typeface="Inter"/>
                <a:cs typeface="Inter"/>
                <a:sym typeface="Inter"/>
              </a:rPr>
              <a:t> se </a:t>
            </a:r>
            <a:r>
              <a:rPr lang="en-US" sz="2400" dirty="0" err="1">
                <a:solidFill>
                  <a:srgbClr val="000000"/>
                </a:solidFill>
                <a:latin typeface="Inter"/>
                <a:ea typeface="Inter"/>
                <a:cs typeface="Inter"/>
                <a:sym typeface="Inter"/>
              </a:rPr>
              <a:t>menciona</a:t>
            </a:r>
            <a:r>
              <a:rPr lang="en-US" sz="2400" dirty="0">
                <a:solidFill>
                  <a:srgbClr val="000000"/>
                </a:solidFill>
                <a:latin typeface="Inter"/>
                <a:ea typeface="Inter"/>
                <a:cs typeface="Inter"/>
                <a:sym typeface="Inter"/>
              </a:rPr>
              <a:t> al Sistema Nacional de </a:t>
            </a:r>
            <a:r>
              <a:rPr lang="en-US" sz="2400" dirty="0" err="1">
                <a:solidFill>
                  <a:srgbClr val="000000"/>
                </a:solidFill>
                <a:latin typeface="Inter"/>
                <a:ea typeface="Inter"/>
                <a:cs typeface="Inter"/>
                <a:sym typeface="Inter"/>
              </a:rPr>
              <a:t>Gestión</a:t>
            </a:r>
            <a:r>
              <a:rPr lang="en-US" sz="2400" dirty="0">
                <a:solidFill>
                  <a:srgbClr val="000000"/>
                </a:solidFill>
                <a:latin typeface="Inter"/>
                <a:ea typeface="Inter"/>
                <a:cs typeface="Inter"/>
                <a:sym typeface="Inter"/>
              </a:rPr>
              <a:t> Ambiental se </a:t>
            </a:r>
            <a:r>
              <a:rPr lang="en-US" sz="2400" dirty="0" err="1">
                <a:solidFill>
                  <a:srgbClr val="000000"/>
                </a:solidFill>
                <a:latin typeface="Inter"/>
                <a:ea typeface="Inter"/>
                <a:cs typeface="Inter"/>
                <a:sym typeface="Inter"/>
              </a:rPr>
              <a:t>refiere</a:t>
            </a:r>
            <a:r>
              <a:rPr lang="en-US" sz="2400" dirty="0">
                <a:solidFill>
                  <a:srgbClr val="000000"/>
                </a:solidFill>
                <a:latin typeface="Inter"/>
                <a:ea typeface="Inter"/>
                <a:cs typeface="Inter"/>
                <a:sym typeface="Inter"/>
              </a:rPr>
              <a:t> al conjunto de </a:t>
            </a:r>
            <a:r>
              <a:rPr lang="en-US" sz="2400" dirty="0" err="1">
                <a:solidFill>
                  <a:srgbClr val="000000"/>
                </a:solidFill>
                <a:latin typeface="Inter"/>
                <a:ea typeface="Inter"/>
                <a:cs typeface="Inter"/>
                <a:sym typeface="Inter"/>
              </a:rPr>
              <a:t>instituciones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públicas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estatales</a:t>
            </a:r>
            <a:r>
              <a:rPr lang="en-US" sz="2400" dirty="0">
                <a:solidFill>
                  <a:srgbClr val="000000"/>
                </a:solidFill>
                <a:latin typeface="Inter"/>
                <a:ea typeface="Inter"/>
                <a:cs typeface="Inter"/>
                <a:sym typeface="Inter"/>
              </a:rPr>
              <a:t> de </a:t>
            </a:r>
            <a:r>
              <a:rPr lang="en-US" sz="2400" dirty="0" err="1">
                <a:solidFill>
                  <a:srgbClr val="000000"/>
                </a:solidFill>
                <a:latin typeface="Inter"/>
                <a:ea typeface="Inter"/>
                <a:cs typeface="Inter"/>
                <a:sym typeface="Inter"/>
              </a:rPr>
              <a:t>los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tres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niveles</a:t>
            </a:r>
            <a:r>
              <a:rPr lang="en-US" sz="2400" dirty="0">
                <a:solidFill>
                  <a:srgbClr val="000000"/>
                </a:solidFill>
                <a:latin typeface="Inter"/>
                <a:ea typeface="Inter"/>
                <a:cs typeface="Inter"/>
                <a:sym typeface="Inter"/>
              </a:rPr>
              <a:t> de </a:t>
            </a:r>
            <a:r>
              <a:rPr lang="en-US" sz="2400" dirty="0" err="1">
                <a:solidFill>
                  <a:srgbClr val="000000"/>
                </a:solidFill>
                <a:latin typeface="Inter"/>
                <a:ea typeface="Inter"/>
                <a:cs typeface="Inter"/>
                <a:sym typeface="Inter"/>
              </a:rPr>
              <a:t>gobierno</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los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sistemas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regionales</a:t>
            </a:r>
            <a:r>
              <a:rPr lang="en-US" sz="2400" dirty="0">
                <a:solidFill>
                  <a:srgbClr val="000000"/>
                </a:solidFill>
                <a:latin typeface="Inter"/>
                <a:ea typeface="Inter"/>
                <a:cs typeface="Inter"/>
                <a:sym typeface="Inter"/>
              </a:rPr>
              <a:t> y locales de </a:t>
            </a:r>
            <a:r>
              <a:rPr lang="en-US" sz="2400" dirty="0" err="1">
                <a:solidFill>
                  <a:srgbClr val="000000"/>
                </a:solidFill>
                <a:latin typeface="Inter"/>
                <a:ea typeface="Inter"/>
                <a:cs typeface="Inter"/>
                <a:sym typeface="Inter"/>
              </a:rPr>
              <a:t>gestión</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ambiental</a:t>
            </a:r>
            <a:r>
              <a:rPr lang="en-US" sz="2400" dirty="0">
                <a:solidFill>
                  <a:srgbClr val="000000"/>
                </a:solidFill>
                <a:latin typeface="Inter"/>
                <a:ea typeface="Inter"/>
                <a:cs typeface="Inter"/>
                <a:sym typeface="Inter"/>
              </a:rPr>
              <a:t>, con </a:t>
            </a:r>
            <a:r>
              <a:rPr lang="en-US" sz="2400" dirty="0" err="1">
                <a:solidFill>
                  <a:srgbClr val="000000"/>
                </a:solidFill>
                <a:latin typeface="Inter"/>
                <a:ea typeface="Inter"/>
                <a:cs typeface="Inter"/>
                <a:sym typeface="Inter"/>
              </a:rPr>
              <a:t>participación</a:t>
            </a:r>
            <a:r>
              <a:rPr lang="en-US" sz="2400" dirty="0">
                <a:solidFill>
                  <a:srgbClr val="000000"/>
                </a:solidFill>
                <a:latin typeface="Inter"/>
                <a:ea typeface="Inter"/>
                <a:cs typeface="Inter"/>
                <a:sym typeface="Inter"/>
              </a:rPr>
              <a:t> del sector privado y </a:t>
            </a:r>
            <a:r>
              <a:rPr lang="en-US" sz="2400" dirty="0" err="1">
                <a:solidFill>
                  <a:srgbClr val="000000"/>
                </a:solidFill>
                <a:latin typeface="Inter"/>
                <a:ea typeface="Inter"/>
                <a:cs typeface="Inter"/>
                <a:sym typeface="Inter"/>
              </a:rPr>
              <a:t>sociedad</a:t>
            </a:r>
            <a:r>
              <a:rPr lang="en-US" sz="2400" dirty="0">
                <a:solidFill>
                  <a:srgbClr val="000000"/>
                </a:solidFill>
                <a:latin typeface="Inter"/>
                <a:ea typeface="Inter"/>
                <a:cs typeface="Inter"/>
                <a:sym typeface="Inter"/>
              </a:rPr>
              <a:t> civil; </a:t>
            </a:r>
            <a:r>
              <a:rPr lang="en-US" sz="2400" dirty="0" err="1">
                <a:solidFill>
                  <a:srgbClr val="000000"/>
                </a:solidFill>
                <a:latin typeface="Inter"/>
                <a:ea typeface="Inter"/>
                <a:cs typeface="Inter"/>
                <a:sym typeface="Inter"/>
              </a:rPr>
              <a:t>como</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ya</a:t>
            </a:r>
            <a:r>
              <a:rPr lang="en-US" sz="2400" dirty="0">
                <a:solidFill>
                  <a:srgbClr val="000000"/>
                </a:solidFill>
                <a:latin typeface="Inter"/>
                <a:ea typeface="Inter"/>
                <a:cs typeface="Inter"/>
                <a:sym typeface="Inter"/>
              </a:rPr>
              <a:t> se ha </a:t>
            </a:r>
            <a:r>
              <a:rPr lang="en-US" sz="2400" dirty="0" err="1">
                <a:solidFill>
                  <a:srgbClr val="000000"/>
                </a:solidFill>
                <a:latin typeface="Inter"/>
                <a:ea typeface="Inter"/>
                <a:cs typeface="Inter"/>
                <a:sym typeface="Inter"/>
              </a:rPr>
              <a:t>señalado</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líneas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arriba</a:t>
            </a:r>
            <a:r>
              <a:rPr lang="en-US" sz="2400" dirty="0">
                <a:solidFill>
                  <a:srgbClr val="000000"/>
                </a:solidFill>
                <a:latin typeface="Inter"/>
                <a:ea typeface="Inter"/>
                <a:cs typeface="Inter"/>
                <a:sym typeface="Inter"/>
              </a:rPr>
              <a:t>: “El Sistema Nacional de </a:t>
            </a:r>
            <a:r>
              <a:rPr lang="en-US" sz="2400" dirty="0" err="1">
                <a:solidFill>
                  <a:srgbClr val="000000"/>
                </a:solidFill>
                <a:latin typeface="Inter"/>
                <a:ea typeface="Inter"/>
                <a:cs typeface="Inter"/>
                <a:sym typeface="Inter"/>
              </a:rPr>
              <a:t>Gestión</a:t>
            </a:r>
            <a:r>
              <a:rPr lang="en-US" sz="2400" dirty="0">
                <a:solidFill>
                  <a:srgbClr val="000000"/>
                </a:solidFill>
                <a:latin typeface="Inter"/>
                <a:ea typeface="Inter"/>
                <a:cs typeface="Inter"/>
                <a:sym typeface="Inter"/>
              </a:rPr>
              <a:t> Ambiental se </a:t>
            </a:r>
            <a:r>
              <a:rPr lang="en-US" sz="2400" dirty="0" err="1">
                <a:solidFill>
                  <a:srgbClr val="000000"/>
                </a:solidFill>
                <a:latin typeface="Inter"/>
                <a:ea typeface="Inter"/>
                <a:cs typeface="Inter"/>
                <a:sym typeface="Inter"/>
              </a:rPr>
              <a:t>constituye</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sobre</a:t>
            </a:r>
            <a:r>
              <a:rPr lang="en-US" sz="2400" dirty="0">
                <a:solidFill>
                  <a:srgbClr val="000000"/>
                </a:solidFill>
                <a:latin typeface="Inter"/>
                <a:ea typeface="Inter"/>
                <a:cs typeface="Inter"/>
                <a:sym typeface="Inter"/>
              </a:rPr>
              <a:t> la base de las </a:t>
            </a:r>
            <a:r>
              <a:rPr lang="en-US" sz="2400" dirty="0" err="1">
                <a:solidFill>
                  <a:srgbClr val="000000"/>
                </a:solidFill>
                <a:latin typeface="Inter"/>
                <a:ea typeface="Inter"/>
                <a:cs typeface="Inter"/>
                <a:sym typeface="Inter"/>
              </a:rPr>
              <a:t>instituciones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estatales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órganos</a:t>
            </a:r>
            <a:r>
              <a:rPr lang="en-US" sz="2400" dirty="0">
                <a:solidFill>
                  <a:srgbClr val="000000"/>
                </a:solidFill>
                <a:latin typeface="Inter"/>
                <a:ea typeface="Inter"/>
                <a:cs typeface="Inter"/>
                <a:sym typeface="Inter"/>
              </a:rPr>
              <a:t> y </a:t>
            </a:r>
            <a:r>
              <a:rPr lang="en-US" sz="2400" dirty="0" err="1">
                <a:solidFill>
                  <a:srgbClr val="000000"/>
                </a:solidFill>
                <a:latin typeface="Inter"/>
                <a:ea typeface="Inter"/>
                <a:cs typeface="Inter"/>
                <a:sym typeface="Inter"/>
              </a:rPr>
              <a:t>oficinas</a:t>
            </a:r>
            <a:r>
              <a:rPr lang="en-US" sz="2400" dirty="0">
                <a:solidFill>
                  <a:srgbClr val="000000"/>
                </a:solidFill>
                <a:latin typeface="Inter"/>
                <a:ea typeface="Inter"/>
                <a:cs typeface="Inter"/>
                <a:sym typeface="Inter"/>
              </a:rPr>
              <a:t> de </a:t>
            </a:r>
            <a:r>
              <a:rPr lang="en-US" sz="2400" dirty="0" err="1">
                <a:solidFill>
                  <a:srgbClr val="000000"/>
                </a:solidFill>
                <a:latin typeface="Inter"/>
                <a:ea typeface="Inter"/>
                <a:cs typeface="Inter"/>
                <a:sym typeface="Inter"/>
              </a:rPr>
              <a:t>los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distintos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ministerios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organismos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públicos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descentralizados</a:t>
            </a:r>
            <a:r>
              <a:rPr lang="en-US" sz="2400" dirty="0">
                <a:solidFill>
                  <a:srgbClr val="000000"/>
                </a:solidFill>
                <a:latin typeface="Inter"/>
                <a:ea typeface="Inter"/>
                <a:cs typeface="Inter"/>
                <a:sym typeface="Inter"/>
              </a:rPr>
              <a:t> e </a:t>
            </a:r>
            <a:r>
              <a:rPr lang="en-US" sz="2400" dirty="0" err="1">
                <a:solidFill>
                  <a:srgbClr val="000000"/>
                </a:solidFill>
                <a:latin typeface="Inter"/>
                <a:ea typeface="Inter"/>
                <a:cs typeface="Inter"/>
                <a:sym typeface="Inter"/>
              </a:rPr>
              <a:t>instituciones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públicas</a:t>
            </a:r>
            <a:r>
              <a:rPr lang="en-US" sz="2400" dirty="0">
                <a:solidFill>
                  <a:srgbClr val="000000"/>
                </a:solidFill>
                <a:latin typeface="Inter"/>
                <a:ea typeface="Inter"/>
                <a:cs typeface="Inter"/>
                <a:sym typeface="Inter"/>
              </a:rPr>
              <a:t> a </a:t>
            </a:r>
            <a:r>
              <a:rPr lang="en-US" sz="2400" dirty="0" err="1">
                <a:solidFill>
                  <a:srgbClr val="000000"/>
                </a:solidFill>
                <a:latin typeface="Inter"/>
                <a:ea typeface="Inter"/>
                <a:cs typeface="Inter"/>
                <a:sym typeface="Inter"/>
              </a:rPr>
              <a:t>nivel</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nacional</a:t>
            </a:r>
            <a:r>
              <a:rPr lang="en-US" sz="2400" dirty="0">
                <a:solidFill>
                  <a:srgbClr val="000000"/>
                </a:solidFill>
                <a:latin typeface="Inter"/>
                <a:ea typeface="Inter"/>
                <a:cs typeface="Inter"/>
                <a:sym typeface="Inter"/>
              </a:rPr>
              <a:t>, regional y local que </a:t>
            </a:r>
            <a:r>
              <a:rPr lang="en-US" sz="2400" dirty="0" err="1">
                <a:solidFill>
                  <a:srgbClr val="000000"/>
                </a:solidFill>
                <a:latin typeface="Inter"/>
                <a:ea typeface="Inter"/>
                <a:cs typeface="Inter"/>
                <a:sym typeface="Inter"/>
              </a:rPr>
              <a:t>ejerzan</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competencias</a:t>
            </a:r>
            <a:r>
              <a:rPr lang="en-US" sz="2400" dirty="0">
                <a:solidFill>
                  <a:srgbClr val="000000"/>
                </a:solidFill>
                <a:latin typeface="Inter"/>
                <a:ea typeface="Inter"/>
                <a:cs typeface="Inter"/>
                <a:sym typeface="Inter"/>
              </a:rPr>
              <a:t> y </a:t>
            </a:r>
            <a:r>
              <a:rPr lang="en-US" sz="2400" dirty="0" err="1">
                <a:solidFill>
                  <a:srgbClr val="000000"/>
                </a:solidFill>
                <a:latin typeface="Inter"/>
                <a:ea typeface="Inter"/>
                <a:cs typeface="Inter"/>
                <a:sym typeface="Inter"/>
              </a:rPr>
              <a:t>funciones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sobre</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el</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ambiente</a:t>
            </a:r>
            <a:r>
              <a:rPr lang="en-US" sz="2400" dirty="0">
                <a:solidFill>
                  <a:srgbClr val="000000"/>
                </a:solidFill>
                <a:latin typeface="Inter"/>
                <a:ea typeface="Inter"/>
                <a:cs typeface="Inter"/>
                <a:sym typeface="Inter"/>
              </a:rPr>
              <a:t> y </a:t>
            </a:r>
            <a:r>
              <a:rPr lang="en-US" sz="2400" dirty="0" err="1">
                <a:solidFill>
                  <a:srgbClr val="000000"/>
                </a:solidFill>
                <a:latin typeface="Inter"/>
                <a:ea typeface="Inter"/>
                <a:cs typeface="Inter"/>
                <a:sym typeface="Inter"/>
              </a:rPr>
              <a:t>los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recursos</a:t>
            </a:r>
            <a:r>
              <a:rPr lang="en-US" sz="2400" dirty="0">
                <a:solidFill>
                  <a:srgbClr val="000000"/>
                </a:solidFill>
                <a:latin typeface="Inter"/>
                <a:ea typeface="Inter"/>
                <a:cs typeface="Inter"/>
                <a:sym typeface="Inter"/>
              </a:rPr>
              <a:t> naturales; </a:t>
            </a:r>
            <a:r>
              <a:rPr lang="en-US" sz="2400" dirty="0" err="1">
                <a:solidFill>
                  <a:srgbClr val="000000"/>
                </a:solidFill>
                <a:latin typeface="Inter"/>
                <a:ea typeface="Inter"/>
                <a:cs typeface="Inter"/>
                <a:sym typeface="Inter"/>
              </a:rPr>
              <a:t>así</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como</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por</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los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Sistemas</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Regionales</a:t>
            </a:r>
            <a:r>
              <a:rPr lang="en-US" sz="2400" dirty="0">
                <a:solidFill>
                  <a:srgbClr val="000000"/>
                </a:solidFill>
                <a:latin typeface="Inter"/>
                <a:ea typeface="Inter"/>
                <a:cs typeface="Inter"/>
                <a:sym typeface="Inter"/>
              </a:rPr>
              <a:t> y Locales de </a:t>
            </a:r>
            <a:r>
              <a:rPr lang="en-US" sz="2400" dirty="0" err="1">
                <a:solidFill>
                  <a:srgbClr val="000000"/>
                </a:solidFill>
                <a:latin typeface="Inter"/>
                <a:ea typeface="Inter"/>
                <a:cs typeface="Inter"/>
                <a:sym typeface="Inter"/>
              </a:rPr>
              <a:t>Gestión</a:t>
            </a:r>
            <a:r>
              <a:rPr lang="en-US" sz="2400" dirty="0">
                <a:solidFill>
                  <a:srgbClr val="000000"/>
                </a:solidFill>
                <a:latin typeface="Inter"/>
                <a:ea typeface="Inter"/>
                <a:cs typeface="Inter"/>
                <a:sym typeface="Inter"/>
              </a:rPr>
              <a:t> Ambiental, </a:t>
            </a:r>
            <a:r>
              <a:rPr lang="en-US" sz="2400" dirty="0" err="1">
                <a:solidFill>
                  <a:srgbClr val="000000"/>
                </a:solidFill>
                <a:latin typeface="Inter"/>
                <a:ea typeface="Inter"/>
                <a:cs typeface="Inter"/>
                <a:sym typeface="Inter"/>
              </a:rPr>
              <a:t>contando</a:t>
            </a:r>
            <a:r>
              <a:rPr lang="en-US" sz="2400" dirty="0">
                <a:solidFill>
                  <a:srgbClr val="000000"/>
                </a:solidFill>
                <a:latin typeface="Inter"/>
                <a:ea typeface="Inter"/>
                <a:cs typeface="Inter"/>
                <a:sym typeface="Inter"/>
              </a:rPr>
              <a:t> con la </a:t>
            </a:r>
            <a:r>
              <a:rPr lang="en-US" sz="2400" dirty="0" err="1">
                <a:solidFill>
                  <a:srgbClr val="000000"/>
                </a:solidFill>
                <a:latin typeface="Inter"/>
                <a:ea typeface="Inter"/>
                <a:cs typeface="Inter"/>
                <a:sym typeface="Inter"/>
              </a:rPr>
              <a:t>participación</a:t>
            </a:r>
            <a:r>
              <a:rPr lang="en-US" sz="2400" dirty="0">
                <a:solidFill>
                  <a:srgbClr val="000000"/>
                </a:solidFill>
                <a:latin typeface="Inter"/>
                <a:ea typeface="Inter"/>
                <a:cs typeface="Inter"/>
                <a:sym typeface="Inter"/>
              </a:rPr>
              <a:t> del sector privado y la </a:t>
            </a:r>
            <a:r>
              <a:rPr lang="en-US" sz="2400" dirty="0" err="1">
                <a:solidFill>
                  <a:srgbClr val="000000"/>
                </a:solidFill>
                <a:latin typeface="Inter"/>
                <a:ea typeface="Inter"/>
                <a:cs typeface="Inter"/>
                <a:sym typeface="Inter"/>
              </a:rPr>
              <a:t>sociedad</a:t>
            </a:r>
            <a:r>
              <a:rPr lang="en-US" sz="2400" dirty="0">
                <a:solidFill>
                  <a:srgbClr val="000000"/>
                </a:solidFill>
                <a:latin typeface="Inter"/>
                <a:ea typeface="Inter"/>
                <a:cs typeface="Inter"/>
                <a:sym typeface="Inter"/>
              </a:rPr>
              <a:t> civil”, </a:t>
            </a:r>
            <a:r>
              <a:rPr lang="en-US" sz="2400" dirty="0" err="1">
                <a:solidFill>
                  <a:srgbClr val="000000"/>
                </a:solidFill>
                <a:latin typeface="Inter"/>
                <a:ea typeface="Inter"/>
                <a:cs typeface="Inter"/>
                <a:sym typeface="Inter"/>
              </a:rPr>
              <a:t>conforme</a:t>
            </a:r>
            <a:r>
              <a:rPr lang="en-US" sz="2400" dirty="0">
                <a:solidFill>
                  <a:srgbClr val="000000"/>
                </a:solidFill>
                <a:latin typeface="Inter"/>
                <a:ea typeface="Inter"/>
                <a:cs typeface="Inter"/>
                <a:sym typeface="Inter"/>
              </a:rPr>
              <a:t> a lo </a:t>
            </a:r>
            <a:r>
              <a:rPr lang="en-US" sz="2400" dirty="0" err="1">
                <a:solidFill>
                  <a:srgbClr val="000000"/>
                </a:solidFill>
                <a:latin typeface="Inter"/>
                <a:ea typeface="Inter"/>
                <a:cs typeface="Inter"/>
                <a:sym typeface="Inter"/>
              </a:rPr>
              <a:t>establecido</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en</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el</a:t>
            </a:r>
            <a:r>
              <a:rPr lang="en-US" sz="2400" dirty="0">
                <a:solidFill>
                  <a:srgbClr val="000000"/>
                </a:solidFill>
                <a:latin typeface="Inter"/>
                <a:ea typeface="Inter"/>
                <a:cs typeface="Inter"/>
                <a:sym typeface="Inter"/>
              </a:rPr>
              <a:t> </a:t>
            </a:r>
            <a:r>
              <a:rPr lang="en-US" sz="2400" dirty="0" err="1">
                <a:solidFill>
                  <a:srgbClr val="000000"/>
                </a:solidFill>
                <a:latin typeface="Inter"/>
                <a:ea typeface="Inter"/>
                <a:cs typeface="Inter"/>
                <a:sym typeface="Inter"/>
              </a:rPr>
              <a:t>artículo</a:t>
            </a:r>
            <a:r>
              <a:rPr lang="en-US" sz="2400" dirty="0">
                <a:solidFill>
                  <a:srgbClr val="000000"/>
                </a:solidFill>
                <a:latin typeface="Inter"/>
                <a:ea typeface="Inter"/>
                <a:cs typeface="Inter"/>
                <a:sym typeface="Inter"/>
              </a:rPr>
              <a:t> 2 de la Ley N° 28245,                               Ley Marco del Sistema Nacional de </a:t>
            </a:r>
            <a:r>
              <a:rPr lang="en-US" sz="2400" dirty="0" err="1">
                <a:solidFill>
                  <a:srgbClr val="000000"/>
                </a:solidFill>
                <a:latin typeface="Inter"/>
                <a:ea typeface="Inter"/>
                <a:cs typeface="Inter"/>
                <a:sym typeface="Inter"/>
              </a:rPr>
              <a:t>Gestión</a:t>
            </a:r>
            <a:r>
              <a:rPr lang="en-US" sz="2400" dirty="0">
                <a:solidFill>
                  <a:srgbClr val="000000"/>
                </a:solidFill>
                <a:latin typeface="Inter"/>
                <a:ea typeface="Inter"/>
                <a:cs typeface="Inter"/>
                <a:sym typeface="Inter"/>
              </a:rPr>
              <a:t> Ambiental. </a:t>
            </a:r>
          </a:p>
        </p:txBody>
      </p:sp>
      <p:sp>
        <p:nvSpPr>
          <p:cNvPr id="8" name="TextBox 8"/>
          <p:cNvSpPr txBox="1"/>
          <p:nvPr/>
        </p:nvSpPr>
        <p:spPr>
          <a:xfrm>
            <a:off x="921543" y="3168257"/>
            <a:ext cx="15443643"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PRINCIPALES MECANISMOS DE INTERVENCIÓN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2920673"/>
          </a:xfrm>
          <a:prstGeom prst="rect">
            <a:avLst/>
          </a:prstGeom>
        </p:spPr>
        <p:txBody>
          <a:bodyPr lIns="0" tIns="0" rIns="0" bIns="0" rtlCol="0" anchor="t">
            <a:spAutoFit/>
          </a:bodyPr>
          <a:lstStyle/>
          <a:p>
            <a:pPr algn="l">
              <a:lnSpc>
                <a:spcPts val="3360"/>
              </a:lnSpc>
            </a:pPr>
            <a:r>
              <a:rPr lang="en-US" sz="2400" b="1">
                <a:solidFill>
                  <a:srgbClr val="000000"/>
                </a:solidFill>
                <a:latin typeface="Inter Bold"/>
                <a:ea typeface="Inter Bold"/>
                <a:cs typeface="Inter Bold"/>
                <a:sym typeface="Inter Bold"/>
              </a:rPr>
              <a:t>PREVENCIÓN</a:t>
            </a:r>
          </a:p>
          <a:p>
            <a:pPr algn="l">
              <a:lnSpc>
                <a:spcPts val="3360"/>
              </a:lnSpc>
            </a:pPr>
            <a:r>
              <a:rPr lang="en-US" sz="2400">
                <a:solidFill>
                  <a:srgbClr val="000000"/>
                </a:solidFill>
                <a:latin typeface="Inter"/>
                <a:ea typeface="Inter"/>
                <a:cs typeface="Inter"/>
                <a:sym typeface="Inter"/>
              </a:rPr>
              <a:t>Un potencial conflicto socioambiental podría ser el futuro colapso de un relleno sanitario por la culminación de su vida útil, pudiendo afectar el destino final de los residuos sólidos en una localidad determinada. En este escenario se tienen que implementar acciones para la prevención del conflicto. Aquí nos encontramos en la primera línea de acción.</a:t>
            </a:r>
          </a:p>
          <a:p>
            <a:pPr algn="l">
              <a:lnSpc>
                <a:spcPts val="3360"/>
              </a:lnSpc>
            </a:pPr>
            <a:endParaRPr lang="en-US" sz="2400">
              <a:solidFill>
                <a:srgbClr val="000000"/>
              </a:solidFill>
              <a:latin typeface="Inter"/>
              <a:ea typeface="Inter"/>
              <a:cs typeface="Inter"/>
              <a:sym typeface="Inter"/>
            </a:endParaRPr>
          </a:p>
          <a:p>
            <a:pPr algn="l">
              <a:lnSpc>
                <a:spcPts val="3360"/>
              </a:lnSpc>
            </a:pPr>
            <a:endParaRPr lang="en-US" sz="2400">
              <a:solidFill>
                <a:srgbClr val="000000"/>
              </a:solidFill>
              <a:latin typeface="Inter"/>
              <a:ea typeface="Inter"/>
              <a:cs typeface="Inter"/>
              <a:sym typeface="Inter"/>
            </a:endParaRPr>
          </a:p>
        </p:txBody>
      </p:sp>
      <p:sp>
        <p:nvSpPr>
          <p:cNvPr id="8" name="TextBox 8"/>
          <p:cNvSpPr txBox="1"/>
          <p:nvPr/>
        </p:nvSpPr>
        <p:spPr>
          <a:xfrm>
            <a:off x="921543" y="3168257"/>
            <a:ext cx="15443643"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PRINCIPALES MECANISMOS DE INTERVENCIÓN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4597249"/>
          </a:xfrm>
          <a:prstGeom prst="rect">
            <a:avLst/>
          </a:prstGeom>
        </p:spPr>
        <p:txBody>
          <a:bodyPr lIns="0" tIns="0" rIns="0" bIns="0" rtlCol="0" anchor="t">
            <a:spAutoFit/>
          </a:bodyPr>
          <a:lstStyle/>
          <a:p>
            <a:pPr algn="l">
              <a:lnSpc>
                <a:spcPts val="3360"/>
              </a:lnSpc>
            </a:pPr>
            <a:r>
              <a:rPr lang="en-US" sz="2400" b="1">
                <a:solidFill>
                  <a:srgbClr val="000000"/>
                </a:solidFill>
                <a:latin typeface="Inter Bold"/>
                <a:ea typeface="Inter Bold"/>
                <a:cs typeface="Inter Bold"/>
                <a:sym typeface="Inter Bold"/>
              </a:rPr>
              <a:t>TRATAMIENTO </a:t>
            </a:r>
          </a:p>
          <a:p>
            <a:pPr algn="l">
              <a:lnSpc>
                <a:spcPts val="3360"/>
              </a:lnSpc>
            </a:pPr>
            <a:r>
              <a:rPr lang="en-US" sz="2400">
                <a:solidFill>
                  <a:srgbClr val="000000"/>
                </a:solidFill>
                <a:latin typeface="Inter"/>
                <a:ea typeface="Inter"/>
                <a:cs typeface="Inter"/>
                <a:sym typeface="Inter"/>
              </a:rPr>
              <a:t>Se busca gestionar los factores de los conflictos socioambientales y fortalecer las alternativas de solución a través de los mecanismos institucionales previstos en el Sistema Nacional de Gestión Ambiental. Cuando las partes en conflicto socioambiental, pudiendo ser una comunidad campesina y una empresa minera, deciden ponerse de acuerdo en un espacio de diálogo para abordar el problema ambiental, ya estamos en el tratamiento del conflicto socioambiental. Este espacio de diálogo, que puede ser una mesa o cualquier otro grupo de trabajo, es una oportunidad para que las partes en conflicto se pongan de acuerdo. Por ejemplo, para abordar la problemática de la cuenca del río Llallimayo en la provincia de Melgar en Puno, se conformó una Mesa de Diálogo; del mismo modo, varios espacios de diálogo se conforman para atender determinada problemática ambiental.</a:t>
            </a:r>
          </a:p>
        </p:txBody>
      </p:sp>
      <p:sp>
        <p:nvSpPr>
          <p:cNvPr id="8" name="TextBox 8"/>
          <p:cNvSpPr txBox="1"/>
          <p:nvPr/>
        </p:nvSpPr>
        <p:spPr>
          <a:xfrm>
            <a:off x="921543" y="3168257"/>
            <a:ext cx="15443643"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PRINCIPALES MECANISMOS DE INTERVENCIÓN</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4178105"/>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Las acciones que se desarrollan para la prevención están relacionadas con aquellas que eviten el surgimiento del conflicto o su escalamiento. </a:t>
            </a:r>
          </a:p>
          <a:p>
            <a:pPr algn="l">
              <a:lnSpc>
                <a:spcPts val="3360"/>
              </a:lnSpc>
            </a:pPr>
            <a:endParaRPr lang="en-US" sz="2400">
              <a:solidFill>
                <a:srgbClr val="000000"/>
              </a:solidFill>
              <a:latin typeface="Inter"/>
              <a:ea typeface="Inter"/>
              <a:cs typeface="Inter"/>
              <a:sym typeface="Inter"/>
            </a:endParaRPr>
          </a:p>
          <a:p>
            <a:pPr algn="l">
              <a:lnSpc>
                <a:spcPts val="3360"/>
              </a:lnSpc>
            </a:pPr>
            <a:r>
              <a:rPr lang="en-US" sz="2400" b="1">
                <a:solidFill>
                  <a:srgbClr val="000000"/>
                </a:solidFill>
                <a:latin typeface="Inter Bold"/>
                <a:ea typeface="Inter Bold"/>
                <a:cs typeface="Inter Bold"/>
                <a:sym typeface="Inter Bold"/>
              </a:rPr>
              <a:t>Identificación de casos </a:t>
            </a:r>
          </a:p>
          <a:p>
            <a:pPr algn="l">
              <a:lnSpc>
                <a:spcPts val="3360"/>
              </a:lnSpc>
            </a:pPr>
            <a:r>
              <a:rPr lang="en-US" sz="2400">
                <a:solidFill>
                  <a:srgbClr val="000000"/>
                </a:solidFill>
                <a:latin typeface="Inter"/>
                <a:ea typeface="Inter"/>
                <a:cs typeface="Inter"/>
                <a:sym typeface="Inter"/>
              </a:rPr>
              <a:t>Para la identificación de casos se considera como criterio principal la existencia de una problemática ambiental acerca de la afectación a la naturaleza y el ambiente, que podría generar un posible escenario de conflictividad socioambiental o el escalamiento del conflicto. Después de la identificación de los casos de prevención asociados a un problema ambiental, se procede a incorporarlo en un instrumento de registro que contiene una serie de consideraciones para su caracterización, como puede ser una matriz de casos (Anexo III). </a:t>
            </a:r>
          </a:p>
        </p:txBody>
      </p:sp>
      <p:sp>
        <p:nvSpPr>
          <p:cNvPr id="8" name="TextBox 8"/>
          <p:cNvSpPr txBox="1"/>
          <p:nvPr/>
        </p:nvSpPr>
        <p:spPr>
          <a:xfrm>
            <a:off x="921543" y="3168257"/>
            <a:ext cx="15443643"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PREVENCIÓN DE CONFLICTOS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4597249"/>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Por ejemplo, como ya lo hemos mencionado líneas arriba, un potencial conflicto socioambiental, que requiere implementar acciones preventivas, es la relacionada con la situación de un relleno sanitario. Este sería un caso preventivo, por cuanto la problemática ambiental del relleno sanitario podría afectar al ambiente y generar un conflicto en la localidad. </a:t>
            </a:r>
          </a:p>
          <a:p>
            <a:pPr algn="l">
              <a:lnSpc>
                <a:spcPts val="3360"/>
              </a:lnSpc>
            </a:pPr>
            <a:endParaRPr lang="en-US" sz="2400">
              <a:solidFill>
                <a:srgbClr val="000000"/>
              </a:solidFill>
              <a:latin typeface="Inter"/>
              <a:ea typeface="Inter"/>
              <a:cs typeface="Inter"/>
              <a:sym typeface="Inter"/>
            </a:endParaRPr>
          </a:p>
          <a:p>
            <a:pPr algn="l">
              <a:lnSpc>
                <a:spcPts val="3360"/>
              </a:lnSpc>
            </a:pPr>
            <a:r>
              <a:rPr lang="en-US" sz="2400" b="1">
                <a:solidFill>
                  <a:srgbClr val="000000"/>
                </a:solidFill>
                <a:latin typeface="Inter Bold"/>
                <a:ea typeface="Inter Bold"/>
                <a:cs typeface="Inter Bold"/>
                <a:sym typeface="Inter Bold"/>
              </a:rPr>
              <a:t>Monitoreo y atención de casos en prevención </a:t>
            </a:r>
          </a:p>
          <a:p>
            <a:pPr algn="l">
              <a:lnSpc>
                <a:spcPts val="3360"/>
              </a:lnSpc>
            </a:pPr>
            <a:r>
              <a:rPr lang="en-US" sz="2400">
                <a:solidFill>
                  <a:srgbClr val="000000"/>
                </a:solidFill>
                <a:latin typeface="Inter"/>
                <a:ea typeface="Inter"/>
                <a:cs typeface="Inter"/>
                <a:sym typeface="Inter"/>
              </a:rPr>
              <a:t>Después de la identificación y registro de casos se procede a su monitoreo y atención. Para ello, se desarrollan diversas acciones, orientadas a evitar el surgimiento del conflicto o su escalamiento. Recordar que la prevención es la intervención de las entidades del Sistema Nacional de Gestión Ambiental ante manifestaciones previas al surgimiento de un conflicto socioambiental o frente al escalamiento del mismo.</a:t>
            </a:r>
          </a:p>
        </p:txBody>
      </p:sp>
      <p:sp>
        <p:nvSpPr>
          <p:cNvPr id="8" name="TextBox 8"/>
          <p:cNvSpPr txBox="1"/>
          <p:nvPr/>
        </p:nvSpPr>
        <p:spPr>
          <a:xfrm>
            <a:off x="921543" y="3168257"/>
            <a:ext cx="15443643"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PREVENCIÓN DE CONFLICTOS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5016394"/>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Se realizan diversas acciones como: </a:t>
            </a:r>
          </a:p>
          <a:p>
            <a:pPr marL="518166" lvl="1" indent="-259083" algn="l">
              <a:lnSpc>
                <a:spcPts val="3360"/>
              </a:lnSpc>
              <a:buFont typeface="Arial"/>
              <a:buChar char="•"/>
            </a:pPr>
            <a:r>
              <a:rPr lang="en-US" sz="2400">
                <a:solidFill>
                  <a:srgbClr val="000000"/>
                </a:solidFill>
                <a:latin typeface="Inter"/>
                <a:ea typeface="Inter"/>
                <a:cs typeface="Inter"/>
                <a:sym typeface="Inter"/>
              </a:rPr>
              <a:t>a) Fortalecimiento de capacidades en prevención y gestión de conflictos socioambientales.</a:t>
            </a:r>
          </a:p>
          <a:p>
            <a:pPr marL="518166" lvl="1" indent="-259083" algn="l">
              <a:lnSpc>
                <a:spcPts val="3360"/>
              </a:lnSpc>
              <a:buFont typeface="Arial"/>
              <a:buChar char="•"/>
            </a:pPr>
            <a:r>
              <a:rPr lang="en-US" sz="2400">
                <a:solidFill>
                  <a:srgbClr val="000000"/>
                </a:solidFill>
                <a:latin typeface="Inter"/>
                <a:ea typeface="Inter"/>
                <a:cs typeface="Inter"/>
                <a:sym typeface="Inter"/>
              </a:rPr>
              <a:t>b) Elaboración y atención de reportes de alerta temprana. </a:t>
            </a:r>
          </a:p>
          <a:p>
            <a:pPr marL="518166" lvl="1" indent="-259083" algn="l">
              <a:lnSpc>
                <a:spcPts val="3360"/>
              </a:lnSpc>
              <a:buFont typeface="Arial"/>
              <a:buChar char="•"/>
            </a:pPr>
            <a:r>
              <a:rPr lang="en-US" sz="2400">
                <a:solidFill>
                  <a:srgbClr val="000000"/>
                </a:solidFill>
                <a:latin typeface="Inter"/>
                <a:ea typeface="Inter"/>
                <a:cs typeface="Inter"/>
                <a:sym typeface="Inter"/>
              </a:rPr>
              <a:t>c) Fortalecimiento de las redes de alerta temprana de conflictos socioambientales.</a:t>
            </a:r>
          </a:p>
          <a:p>
            <a:pPr algn="l">
              <a:lnSpc>
                <a:spcPts val="3360"/>
              </a:lnSpc>
            </a:pPr>
            <a:endParaRPr lang="en-US" sz="2400">
              <a:solidFill>
                <a:srgbClr val="000000"/>
              </a:solidFill>
              <a:latin typeface="Inter"/>
              <a:ea typeface="Inter"/>
              <a:cs typeface="Inter"/>
              <a:sym typeface="Inter"/>
            </a:endParaRPr>
          </a:p>
          <a:p>
            <a:pPr algn="l">
              <a:lnSpc>
                <a:spcPts val="3360"/>
              </a:lnSpc>
            </a:pPr>
            <a:r>
              <a:rPr lang="en-US" sz="2400">
                <a:solidFill>
                  <a:srgbClr val="000000"/>
                </a:solidFill>
                <a:latin typeface="Inter"/>
                <a:ea typeface="Inter"/>
                <a:cs typeface="Inter"/>
                <a:sym typeface="Inter"/>
              </a:rPr>
              <a:t>Asimismo, se realiza el monitoreo permanente para identificar situaciones que puedan configurar el surgimiento de los conflictos socioambientales. Es importante, actuar en las fases previas al surgimiento de un conflicto. Las unidades de organización del MINAM, programas y proyectos especiales, así como sus organismos públicos adscritos “que hayan identificado un potencial conflicto socioambiental, coordinarán un Plan de Trabajo para la Prevención de conflictos socioambientales”. Asimismo, implementan el Plan de Trabajo para la Prevención de conflictos socioambientales.</a:t>
            </a:r>
          </a:p>
        </p:txBody>
      </p:sp>
      <p:sp>
        <p:nvSpPr>
          <p:cNvPr id="8" name="TextBox 8"/>
          <p:cNvSpPr txBox="1"/>
          <p:nvPr/>
        </p:nvSpPr>
        <p:spPr>
          <a:xfrm>
            <a:off x="921543" y="3168257"/>
            <a:ext cx="15443643"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ACCIONES DE prevención DESDE EL MINAM</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5435538"/>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El Reporte de Alerta Temprana de Conflictos Socioambientales (RATCS) es un mecanismo de prevención que tiene como objetivo “advertir sobre las situaciones que ameriten atención inmediata” por parte de las unidades de organización del MINAM, programas y proyectos especiales, así como sus organismos públicos adscritos, a fin de prevenir y evitar el surgimiento o la escalada de un conflicto socioambiental. De esta manera se pueden implementar acciones de respuesta para atender este potencial conflicto socioambiental. La OGASA, las unidades de organización del MINAM, programas y proyectos especiales, así como sus organismos públicos adscritos, que, durante el ejercicio de sus funciones, tome conocimiento sobre hechos y acciones que evidencien la generación o desarrollo de conflictos socioambientales, registrará dicha información en el RATCS. Por ejemplo, el cambio de coloración de un río, podría ser un problema ambiental, así como un potencial conflicto socioambiental. Reportar de manera temprana este problema ambiental podría activar acciones para revertir la situación y evitar la                manifestación de un conflicto.</a:t>
            </a:r>
          </a:p>
        </p:txBody>
      </p:sp>
      <p:sp>
        <p:nvSpPr>
          <p:cNvPr id="8" name="TextBox 8"/>
          <p:cNvSpPr txBox="1"/>
          <p:nvPr/>
        </p:nvSpPr>
        <p:spPr>
          <a:xfrm>
            <a:off x="921543" y="2530060"/>
            <a:ext cx="15802855" cy="1360214"/>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¿QUÉ ES EL REPORTE DE ALERTA TEMprana de Conflictos Socioambientales y cómo SE ELABORA?</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33660" y="3924164"/>
            <a:ext cx="12164805" cy="1216480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1F28"/>
            </a:solidFill>
          </p:spPr>
        </p:sp>
        <p:sp>
          <p:nvSpPr>
            <p:cNvPr id="4" name="TextBox 4"/>
            <p:cNvSpPr txBox="1"/>
            <p:nvPr/>
          </p:nvSpPr>
          <p:spPr>
            <a:xfrm>
              <a:off x="76200" y="76200"/>
              <a:ext cx="660400" cy="660400"/>
            </a:xfrm>
            <a:prstGeom prst="rect">
              <a:avLst/>
            </a:prstGeom>
          </p:spPr>
          <p:txBody>
            <a:bodyPr lIns="50800" tIns="50800" rIns="50800" bIns="50800" rtlCol="0" anchor="ctr"/>
            <a:lstStyle/>
            <a:p>
              <a:pPr algn="ctr">
                <a:lnSpc>
                  <a:spcPts val="2157"/>
                </a:lnSpc>
              </a:pPr>
              <a:endParaRPr/>
            </a:p>
          </p:txBody>
        </p:sp>
      </p:grpSp>
      <p:grpSp>
        <p:nvGrpSpPr>
          <p:cNvPr id="5" name="Group 5"/>
          <p:cNvGrpSpPr>
            <a:grpSpLocks noChangeAspect="1"/>
          </p:cNvGrpSpPr>
          <p:nvPr/>
        </p:nvGrpSpPr>
        <p:grpSpPr>
          <a:xfrm>
            <a:off x="13252265" y="1028700"/>
            <a:ext cx="4007035" cy="7928607"/>
            <a:chOff x="0" y="0"/>
            <a:chExt cx="2620010" cy="5184140"/>
          </a:xfrm>
        </p:grpSpPr>
        <p:sp>
          <p:nvSpPr>
            <p:cNvPr id="6" name="Freeform 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7" name="Freeform 7"/>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112628" r="-112628"/>
              </a:stretch>
            </a:blipFill>
          </p:spPr>
        </p:sp>
        <p:sp>
          <p:nvSpPr>
            <p:cNvPr id="8" name="Freeform 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9" name="Freeform 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10" name="Freeform 1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11" name="Freeform 1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12" name="Freeform 1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13" name="Freeform 1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14" name="Freeform 1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grpSp>
        <p:nvGrpSpPr>
          <p:cNvPr id="15" name="Group 15"/>
          <p:cNvGrpSpPr>
            <a:grpSpLocks noChangeAspect="1"/>
          </p:cNvGrpSpPr>
          <p:nvPr/>
        </p:nvGrpSpPr>
        <p:grpSpPr>
          <a:xfrm>
            <a:off x="8868527" y="3690675"/>
            <a:ext cx="4009751" cy="7933981"/>
            <a:chOff x="0" y="0"/>
            <a:chExt cx="2620010" cy="5184140"/>
          </a:xfrm>
        </p:grpSpPr>
        <p:sp>
          <p:nvSpPr>
            <p:cNvPr id="16" name="Freeform 1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17" name="Freeform 17"/>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112324" r="-112324"/>
              </a:stretch>
            </a:blipFill>
          </p:spPr>
        </p:sp>
        <p:sp>
          <p:nvSpPr>
            <p:cNvPr id="18" name="Freeform 1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19" name="Freeform 1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20" name="Freeform 2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21" name="Freeform 2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22" name="Freeform 2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23" name="Freeform 2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24" name="Freeform 2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id="25" name="Freeform 25"/>
          <p:cNvSpPr/>
          <p:nvPr/>
        </p:nvSpPr>
        <p:spPr>
          <a:xfrm flipV="1">
            <a:off x="-3692884" y="8433637"/>
            <a:ext cx="12561411" cy="2637896"/>
          </a:xfrm>
          <a:custGeom>
            <a:avLst/>
            <a:gdLst/>
            <a:ahLst/>
            <a:cxnLst/>
            <a:rect l="l" t="t" r="r" b="b"/>
            <a:pathLst>
              <a:path w="12561411" h="2637896">
                <a:moveTo>
                  <a:pt x="0" y="2637896"/>
                </a:moveTo>
                <a:lnTo>
                  <a:pt x="12561411" y="2637896"/>
                </a:lnTo>
                <a:lnTo>
                  <a:pt x="12561411" y="0"/>
                </a:lnTo>
                <a:lnTo>
                  <a:pt x="0" y="0"/>
                </a:lnTo>
                <a:lnTo>
                  <a:pt x="0" y="2637896"/>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6" name="Freeform 26"/>
          <p:cNvSpPr/>
          <p:nvPr/>
        </p:nvSpPr>
        <p:spPr>
          <a:xfrm>
            <a:off x="0" y="-23619"/>
            <a:ext cx="3406189" cy="2104637"/>
          </a:xfrm>
          <a:custGeom>
            <a:avLst/>
            <a:gdLst/>
            <a:ahLst/>
            <a:cxnLst/>
            <a:rect l="l" t="t" r="r" b="b"/>
            <a:pathLst>
              <a:path w="3406189" h="2104637">
                <a:moveTo>
                  <a:pt x="0" y="0"/>
                </a:moveTo>
                <a:lnTo>
                  <a:pt x="3406189" y="0"/>
                </a:lnTo>
                <a:lnTo>
                  <a:pt x="3406189" y="2104638"/>
                </a:lnTo>
                <a:lnTo>
                  <a:pt x="0" y="2104638"/>
                </a:lnTo>
                <a:lnTo>
                  <a:pt x="0" y="0"/>
                </a:lnTo>
                <a:close/>
              </a:path>
            </a:pathLst>
          </a:custGeom>
          <a:blipFill>
            <a:blip r:embed="rId6"/>
            <a:stretch>
              <a:fillRect/>
            </a:stretch>
          </a:blipFill>
        </p:spPr>
      </p:sp>
      <p:sp>
        <p:nvSpPr>
          <p:cNvPr id="27" name="TextBox 27"/>
          <p:cNvSpPr txBox="1"/>
          <p:nvPr/>
        </p:nvSpPr>
        <p:spPr>
          <a:xfrm>
            <a:off x="945347" y="2423159"/>
            <a:ext cx="6916838" cy="5618242"/>
          </a:xfrm>
          <a:prstGeom prst="rect">
            <a:avLst/>
          </a:prstGeom>
        </p:spPr>
        <p:txBody>
          <a:bodyPr lIns="0" tIns="0" rIns="0" bIns="0" rtlCol="0" anchor="t">
            <a:spAutoFit/>
          </a:bodyPr>
          <a:lstStyle/>
          <a:p>
            <a:pPr algn="ctr">
              <a:lnSpc>
                <a:spcPts val="4800"/>
              </a:lnSpc>
            </a:pPr>
            <a:r>
              <a:rPr lang="en-US" sz="4800" b="1">
                <a:solidFill>
                  <a:srgbClr val="303030"/>
                </a:solidFill>
                <a:latin typeface="Futura Ultra-Bold"/>
                <a:ea typeface="Futura Ultra-Bold"/>
                <a:cs typeface="Futura Ultra-Bold"/>
                <a:sym typeface="Futura Ultra-Bold"/>
              </a:rPr>
              <a:t>TEMA 4:</a:t>
            </a:r>
          </a:p>
          <a:p>
            <a:pPr algn="ctr">
              <a:lnSpc>
                <a:spcPts val="4800"/>
              </a:lnSpc>
            </a:pPr>
            <a:endParaRPr lang="en-US" sz="4800" b="1">
              <a:solidFill>
                <a:srgbClr val="303030"/>
              </a:solidFill>
              <a:latin typeface="Futura Ultra-Bold"/>
              <a:ea typeface="Futura Ultra-Bold"/>
              <a:cs typeface="Futura Ultra-Bold"/>
              <a:sym typeface="Futura Ultra-Bold"/>
            </a:endParaRPr>
          </a:p>
          <a:p>
            <a:pPr algn="ctr">
              <a:lnSpc>
                <a:spcPts val="4800"/>
              </a:lnSpc>
            </a:pPr>
            <a:r>
              <a:rPr lang="en-US" sz="4800" b="1">
                <a:solidFill>
                  <a:srgbClr val="303030"/>
                </a:solidFill>
                <a:latin typeface="Futura Ultra-Bold"/>
                <a:ea typeface="Futura Ultra-Bold"/>
                <a:cs typeface="Futura Ultra-Bold"/>
                <a:sym typeface="Futura Ultra-Bold"/>
              </a:rPr>
              <a:t>TÉCNICAS Y ESTRATEGIAS DE MEDIACIÓN PARA FACILITAR LA COMUNICACIÓN Y RESOLVER CONFLICTOS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4178105"/>
          </a:xfrm>
          <a:prstGeom prst="rect">
            <a:avLst/>
          </a:prstGeom>
        </p:spPr>
        <p:txBody>
          <a:bodyPr lIns="0" tIns="0" rIns="0" bIns="0" rtlCol="0" anchor="t">
            <a:spAutoFit/>
          </a:bodyPr>
          <a:lstStyle/>
          <a:p>
            <a:pPr marL="518166" lvl="1" indent="-259083" algn="l">
              <a:lnSpc>
                <a:spcPts val="3360"/>
              </a:lnSpc>
              <a:buFont typeface="Arial"/>
              <a:buChar char="•"/>
            </a:pPr>
            <a:r>
              <a:rPr lang="en-US" sz="2400">
                <a:solidFill>
                  <a:srgbClr val="000000"/>
                </a:solidFill>
                <a:latin typeface="Inter"/>
                <a:ea typeface="Inter"/>
                <a:cs typeface="Inter"/>
                <a:sym typeface="Inter"/>
              </a:rPr>
              <a:t>La mediación es un método alternativo para la resolución de conflictos en el que un tercero imparcial (mediador), ayuda a las partes en conflicto a identificar los distintos problemas y a encontrar una solución que beneficie a ambos.</a:t>
            </a:r>
          </a:p>
          <a:p>
            <a:pPr marL="518166" lvl="1" indent="-259083" algn="l">
              <a:lnSpc>
                <a:spcPts val="3360"/>
              </a:lnSpc>
              <a:buFont typeface="Arial"/>
              <a:buChar char="•"/>
            </a:pPr>
            <a:r>
              <a:rPr lang="en-US" sz="2400">
                <a:solidFill>
                  <a:srgbClr val="000000"/>
                </a:solidFill>
                <a:latin typeface="Inter"/>
                <a:ea typeface="Inter"/>
                <a:cs typeface="Inter"/>
                <a:sym typeface="Inter"/>
              </a:rPr>
              <a:t>El objetivo de la mediación para la transformación de conflictos se centra en la modificación de la relación entre las partes en conflicto, mediante el fortalecimiento de los canales y formas de comunicación que logre alcanzar la comprensión y reconocimiento mutuo.</a:t>
            </a:r>
          </a:p>
          <a:p>
            <a:pPr marL="518166" lvl="1" indent="-259083" algn="l">
              <a:lnSpc>
                <a:spcPts val="3360"/>
              </a:lnSpc>
              <a:buFont typeface="Arial"/>
              <a:buChar char="•"/>
            </a:pPr>
            <a:r>
              <a:rPr lang="en-US" sz="2400">
                <a:solidFill>
                  <a:srgbClr val="000000"/>
                </a:solidFill>
                <a:latin typeface="Inter"/>
                <a:ea typeface="Inter"/>
                <a:cs typeface="Inter"/>
                <a:sym typeface="Inter"/>
              </a:rPr>
              <a:t>Mediante el proceso de mediación, las partes en conflicto toman conciencia de las alternativas posibles para lograr cubrir sus intereses y necesidades a la vez que incrementan sus capacidades comunicativas y de reflexión, la formulación de sus argumentos y el desarrollo de propuestas.</a:t>
            </a:r>
          </a:p>
        </p:txBody>
      </p:sp>
      <p:sp>
        <p:nvSpPr>
          <p:cNvPr id="8" name="TextBox 8"/>
          <p:cNvSpPr txBox="1"/>
          <p:nvPr/>
        </p:nvSpPr>
        <p:spPr>
          <a:xfrm>
            <a:off x="921543" y="3168257"/>
            <a:ext cx="15802855"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¿QUÉ ES LA Mediación?</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4597249"/>
          </a:xfrm>
          <a:prstGeom prst="rect">
            <a:avLst/>
          </a:prstGeom>
        </p:spPr>
        <p:txBody>
          <a:bodyPr lIns="0" tIns="0" rIns="0" bIns="0" rtlCol="0" anchor="t">
            <a:spAutoFit/>
          </a:bodyPr>
          <a:lstStyle/>
          <a:p>
            <a:pPr algn="l">
              <a:lnSpc>
                <a:spcPts val="3360"/>
              </a:lnSpc>
            </a:pPr>
            <a:r>
              <a:rPr lang="en-US" sz="2400" b="1">
                <a:solidFill>
                  <a:srgbClr val="000000"/>
                </a:solidFill>
                <a:latin typeface="Inter Bold"/>
                <a:ea typeface="Inter Bold"/>
                <a:cs typeface="Inter Bold"/>
                <a:sym typeface="Inter Bold"/>
              </a:rPr>
              <a:t>PASO 1: Comprensión del conflicto</a:t>
            </a:r>
          </a:p>
          <a:p>
            <a:pPr algn="l">
              <a:lnSpc>
                <a:spcPts val="3360"/>
              </a:lnSpc>
            </a:pPr>
            <a:r>
              <a:rPr lang="en-US" sz="2400">
                <a:solidFill>
                  <a:srgbClr val="000000"/>
                </a:solidFill>
                <a:latin typeface="Inter"/>
                <a:ea typeface="Inter"/>
                <a:cs typeface="Inter"/>
                <a:sym typeface="Inter"/>
              </a:rPr>
              <a:t>En esta fase se realiza el análisis del conflicto, para identificar y clarificar temáticas de conflictividad, actores, contexto y dinámica del mismo. Este paso previo es imprescindible para iniciar el diseño de un proceso de diálogo y para la selección del mediador, en los casos en los que se requiera su rol.</a:t>
            </a:r>
          </a:p>
          <a:p>
            <a:pPr algn="l">
              <a:lnSpc>
                <a:spcPts val="3360"/>
              </a:lnSpc>
            </a:pPr>
            <a:endParaRPr lang="en-US" sz="2400">
              <a:solidFill>
                <a:srgbClr val="000000"/>
              </a:solidFill>
              <a:latin typeface="Inter"/>
              <a:ea typeface="Inter"/>
              <a:cs typeface="Inter"/>
              <a:sym typeface="Inter"/>
            </a:endParaRPr>
          </a:p>
          <a:p>
            <a:pPr algn="l">
              <a:lnSpc>
                <a:spcPts val="3360"/>
              </a:lnSpc>
            </a:pPr>
            <a:r>
              <a:rPr lang="en-US" sz="2400" b="1">
                <a:solidFill>
                  <a:srgbClr val="000000"/>
                </a:solidFill>
                <a:latin typeface="Inter Bold"/>
                <a:ea typeface="Inter Bold"/>
                <a:cs typeface="Inter Bold"/>
                <a:sym typeface="Inter Bold"/>
              </a:rPr>
              <a:t>PASO 2: Preparación del mediador</a:t>
            </a:r>
          </a:p>
          <a:p>
            <a:pPr marL="518166" lvl="1" indent="-259083" algn="l">
              <a:lnSpc>
                <a:spcPts val="3360"/>
              </a:lnSpc>
              <a:buFont typeface="Arial"/>
              <a:buChar char="•"/>
            </a:pPr>
            <a:r>
              <a:rPr lang="en-US" sz="2400">
                <a:solidFill>
                  <a:srgbClr val="000000"/>
                </a:solidFill>
                <a:latin typeface="Inter"/>
                <a:ea typeface="Inter"/>
                <a:cs typeface="Inter"/>
                <a:sym typeface="Inter"/>
              </a:rPr>
              <a:t>Seleccionar al mediador con la aprobación de cada una de las partes y definir su rol.</a:t>
            </a:r>
          </a:p>
          <a:p>
            <a:pPr marL="518166" lvl="1" indent="-259083" algn="l">
              <a:lnSpc>
                <a:spcPts val="3360"/>
              </a:lnSpc>
              <a:buFont typeface="Arial"/>
              <a:buChar char="•"/>
            </a:pPr>
            <a:r>
              <a:rPr lang="en-US" sz="2400">
                <a:solidFill>
                  <a:srgbClr val="000000"/>
                </a:solidFill>
                <a:latin typeface="Inter"/>
                <a:ea typeface="Inter"/>
                <a:cs typeface="Inter"/>
                <a:sym typeface="Inter"/>
              </a:rPr>
              <a:t>Construir credibilidad: transparencia/confidencialidad, misma proximidad a las partes.</a:t>
            </a:r>
          </a:p>
          <a:p>
            <a:pPr marL="518166" lvl="1" indent="-259083" algn="l">
              <a:lnSpc>
                <a:spcPts val="3360"/>
              </a:lnSpc>
              <a:buFont typeface="Arial"/>
              <a:buChar char="•"/>
            </a:pPr>
            <a:r>
              <a:rPr lang="en-US" sz="2400">
                <a:solidFill>
                  <a:srgbClr val="000000"/>
                </a:solidFill>
                <a:latin typeface="Inter"/>
                <a:ea typeface="Inter"/>
                <a:cs typeface="Inter"/>
                <a:sym typeface="Inter"/>
              </a:rPr>
              <a:t>Desarrollar y fortalecer habilidades del mediador, en el caso de ser necesario.</a:t>
            </a:r>
          </a:p>
          <a:p>
            <a:pPr algn="l">
              <a:lnSpc>
                <a:spcPts val="3360"/>
              </a:lnSpc>
            </a:pPr>
            <a:endParaRPr lang="en-US" sz="2400">
              <a:solidFill>
                <a:srgbClr val="000000"/>
              </a:solidFill>
              <a:latin typeface="Inter"/>
              <a:ea typeface="Inter"/>
              <a:cs typeface="Inter"/>
              <a:sym typeface="Inter"/>
            </a:endParaRPr>
          </a:p>
        </p:txBody>
      </p:sp>
      <p:sp>
        <p:nvSpPr>
          <p:cNvPr id="8" name="TextBox 8"/>
          <p:cNvSpPr txBox="1"/>
          <p:nvPr/>
        </p:nvSpPr>
        <p:spPr>
          <a:xfrm>
            <a:off x="921543" y="3168257"/>
            <a:ext cx="15802855"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LA MEDIACIÓN EN UNA Negociación/diálogo</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3758961"/>
          </a:xfrm>
          <a:prstGeom prst="rect">
            <a:avLst/>
          </a:prstGeom>
        </p:spPr>
        <p:txBody>
          <a:bodyPr lIns="0" tIns="0" rIns="0" bIns="0" rtlCol="0" anchor="t">
            <a:spAutoFit/>
          </a:bodyPr>
          <a:lstStyle/>
          <a:p>
            <a:pPr algn="l">
              <a:lnSpc>
                <a:spcPts val="3360"/>
              </a:lnSpc>
            </a:pPr>
            <a:r>
              <a:rPr lang="en-US" sz="2400" b="1">
                <a:solidFill>
                  <a:srgbClr val="000000"/>
                </a:solidFill>
                <a:latin typeface="Inter Bold"/>
                <a:ea typeface="Inter Bold"/>
                <a:cs typeface="Inter Bold"/>
                <a:sym typeface="Inter Bold"/>
              </a:rPr>
              <a:t>PASO 2: Preparación del mediador</a:t>
            </a:r>
          </a:p>
          <a:p>
            <a:pPr marL="518166" lvl="1" indent="-259083" algn="l">
              <a:lnSpc>
                <a:spcPts val="3360"/>
              </a:lnSpc>
              <a:buFont typeface="Arial"/>
              <a:buChar char="•"/>
            </a:pPr>
            <a:r>
              <a:rPr lang="en-US" sz="2400">
                <a:solidFill>
                  <a:srgbClr val="000000"/>
                </a:solidFill>
                <a:latin typeface="Inter"/>
                <a:ea typeface="Inter"/>
                <a:cs typeface="Inter"/>
                <a:sym typeface="Inter"/>
              </a:rPr>
              <a:t>Reconocer las diferencias culturales: estilos de comunicación, humor, formas de cortesía, formas de respeto…</a:t>
            </a:r>
          </a:p>
          <a:p>
            <a:pPr marL="518166" lvl="1" indent="-259083" algn="l">
              <a:lnSpc>
                <a:spcPts val="3360"/>
              </a:lnSpc>
              <a:buFont typeface="Arial"/>
              <a:buChar char="•"/>
            </a:pPr>
            <a:r>
              <a:rPr lang="en-US" sz="2400">
                <a:solidFill>
                  <a:srgbClr val="000000"/>
                </a:solidFill>
                <a:latin typeface="Inter"/>
                <a:ea typeface="Inter"/>
                <a:cs typeface="Inter"/>
                <a:sym typeface="Inter"/>
              </a:rPr>
              <a:t>Asegurar legitimidad y recursos: tener un mandato claro, conseguir apoyo político, asegurar y planear los recursos para el proceso</a:t>
            </a:r>
          </a:p>
          <a:p>
            <a:pPr algn="l">
              <a:lnSpc>
                <a:spcPts val="3360"/>
              </a:lnSpc>
            </a:pPr>
            <a:endParaRPr lang="en-US" sz="2400">
              <a:solidFill>
                <a:srgbClr val="000000"/>
              </a:solidFill>
              <a:latin typeface="Inter"/>
              <a:ea typeface="Inter"/>
              <a:cs typeface="Inter"/>
              <a:sym typeface="Inter"/>
            </a:endParaRPr>
          </a:p>
          <a:p>
            <a:pPr algn="l">
              <a:lnSpc>
                <a:spcPts val="3360"/>
              </a:lnSpc>
            </a:pPr>
            <a:r>
              <a:rPr lang="en-US" sz="2400" i="1">
                <a:solidFill>
                  <a:srgbClr val="000000"/>
                </a:solidFill>
                <a:latin typeface="Inter Italics"/>
                <a:ea typeface="Inter Italics"/>
                <a:cs typeface="Inter Italics"/>
                <a:sym typeface="Inter Italics"/>
              </a:rPr>
              <a:t>Cuando NO mediar:</a:t>
            </a:r>
          </a:p>
          <a:p>
            <a:pPr marL="518166" lvl="1" indent="-259083" algn="l">
              <a:lnSpc>
                <a:spcPts val="3360"/>
              </a:lnSpc>
              <a:buFont typeface="Arial"/>
              <a:buChar char="•"/>
            </a:pPr>
            <a:r>
              <a:rPr lang="en-US" sz="2400">
                <a:solidFill>
                  <a:srgbClr val="000000"/>
                </a:solidFill>
                <a:latin typeface="Inter"/>
                <a:ea typeface="Inter"/>
                <a:cs typeface="Inter"/>
                <a:sym typeface="Inter"/>
              </a:rPr>
              <a:t>Falta de compromiso, recursos o credibilidad</a:t>
            </a:r>
          </a:p>
          <a:p>
            <a:pPr marL="518166" lvl="1" indent="-259083" algn="l">
              <a:lnSpc>
                <a:spcPts val="3360"/>
              </a:lnSpc>
              <a:buFont typeface="Arial"/>
              <a:buChar char="•"/>
            </a:pPr>
            <a:r>
              <a:rPr lang="en-US" sz="2400">
                <a:solidFill>
                  <a:srgbClr val="000000"/>
                </a:solidFill>
                <a:latin typeface="Inter"/>
                <a:ea typeface="Inter"/>
                <a:cs typeface="Inter"/>
                <a:sym typeface="Inter"/>
              </a:rPr>
              <a:t>Cuando las partes no muestran intención real de explorar una solución política/consensuada.</a:t>
            </a:r>
          </a:p>
        </p:txBody>
      </p:sp>
      <p:sp>
        <p:nvSpPr>
          <p:cNvPr id="8" name="TextBox 8"/>
          <p:cNvSpPr txBox="1"/>
          <p:nvPr/>
        </p:nvSpPr>
        <p:spPr>
          <a:xfrm>
            <a:off x="921543" y="3168257"/>
            <a:ext cx="15802855"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LA MEDIACIÓN EN UNA Negociación/diálogo</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5016394"/>
          </a:xfrm>
          <a:prstGeom prst="rect">
            <a:avLst/>
          </a:prstGeom>
        </p:spPr>
        <p:txBody>
          <a:bodyPr lIns="0" tIns="0" rIns="0" bIns="0" rtlCol="0" anchor="t">
            <a:spAutoFit/>
          </a:bodyPr>
          <a:lstStyle/>
          <a:p>
            <a:pPr algn="l">
              <a:lnSpc>
                <a:spcPts val="3360"/>
              </a:lnSpc>
            </a:pPr>
            <a:r>
              <a:rPr lang="en-US" sz="2400" i="1">
                <a:solidFill>
                  <a:srgbClr val="000000"/>
                </a:solidFill>
                <a:latin typeface="Inter Italics"/>
                <a:ea typeface="Inter Italics"/>
                <a:cs typeface="Inter Italics"/>
                <a:sym typeface="Inter Italics"/>
              </a:rPr>
              <a:t>Saber cuándo retirarse: </a:t>
            </a:r>
            <a:r>
              <a:rPr lang="en-US" sz="2400">
                <a:solidFill>
                  <a:srgbClr val="000000"/>
                </a:solidFill>
                <a:latin typeface="Inter"/>
                <a:ea typeface="Inter"/>
                <a:cs typeface="Inter"/>
                <a:sym typeface="Inter"/>
              </a:rPr>
              <a:t>las iniciativas de mediación se deben ir evaluando durante su desarrollo.</a:t>
            </a:r>
          </a:p>
          <a:p>
            <a:pPr marL="518166" lvl="1" indent="-259083" algn="l">
              <a:lnSpc>
                <a:spcPts val="3360"/>
              </a:lnSpc>
              <a:buAutoNum type="arabicPeriod"/>
            </a:pPr>
            <a:r>
              <a:rPr lang="en-US" sz="2400">
                <a:solidFill>
                  <a:srgbClr val="000000"/>
                </a:solidFill>
                <a:latin typeface="Inter"/>
                <a:ea typeface="Inter"/>
                <a:cs typeface="Inter"/>
                <a:sym typeface="Inter"/>
              </a:rPr>
              <a:t>Una o más partes participa de “mala fe”</a:t>
            </a:r>
          </a:p>
          <a:p>
            <a:pPr marL="518166" lvl="1" indent="-259083" algn="l">
              <a:lnSpc>
                <a:spcPts val="3360"/>
              </a:lnSpc>
              <a:buAutoNum type="arabicPeriod"/>
            </a:pPr>
            <a:r>
              <a:rPr lang="en-US" sz="2400">
                <a:solidFill>
                  <a:srgbClr val="000000"/>
                </a:solidFill>
                <a:latin typeface="Inter"/>
                <a:ea typeface="Inter"/>
                <a:cs typeface="Inter"/>
                <a:sym typeface="Inter"/>
              </a:rPr>
              <a:t>Cuando no es posible operar con equidad: estándares mínimos de seguridad o justicia</a:t>
            </a:r>
          </a:p>
          <a:p>
            <a:pPr marL="518166" lvl="1" indent="-259083" algn="l">
              <a:lnSpc>
                <a:spcPts val="3360"/>
              </a:lnSpc>
              <a:buAutoNum type="arabicPeriod"/>
            </a:pPr>
            <a:r>
              <a:rPr lang="en-US" sz="2400">
                <a:solidFill>
                  <a:srgbClr val="000000"/>
                </a:solidFill>
                <a:latin typeface="Inter"/>
                <a:ea typeface="Inter"/>
                <a:cs typeface="Inter"/>
                <a:sym typeface="Inter"/>
              </a:rPr>
              <a:t>Evaluar las razones para retirarse de cara a los próximos esfuerzos de mediación</a:t>
            </a:r>
          </a:p>
          <a:p>
            <a:pPr algn="l">
              <a:lnSpc>
                <a:spcPts val="3360"/>
              </a:lnSpc>
            </a:pPr>
            <a:endParaRPr lang="en-US" sz="2400">
              <a:solidFill>
                <a:srgbClr val="000000"/>
              </a:solidFill>
              <a:latin typeface="Inter"/>
              <a:ea typeface="Inter"/>
              <a:cs typeface="Inter"/>
              <a:sym typeface="Inter"/>
            </a:endParaRPr>
          </a:p>
          <a:p>
            <a:pPr algn="l">
              <a:lnSpc>
                <a:spcPts val="3360"/>
              </a:lnSpc>
            </a:pPr>
            <a:r>
              <a:rPr lang="en-US" sz="2400" i="1">
                <a:solidFill>
                  <a:srgbClr val="000000"/>
                </a:solidFill>
                <a:latin typeface="Inter Italics"/>
                <a:ea typeface="Inter Italics"/>
                <a:cs typeface="Inter Italics"/>
                <a:sym typeface="Inter Italics"/>
              </a:rPr>
              <a:t>Gestionar múltiples mediadores:</a:t>
            </a:r>
          </a:p>
          <a:p>
            <a:pPr marL="518166" lvl="1" indent="-259083" algn="l">
              <a:lnSpc>
                <a:spcPts val="3360"/>
              </a:lnSpc>
              <a:buFont typeface="Arial"/>
              <a:buChar char="•"/>
            </a:pPr>
            <a:r>
              <a:rPr lang="en-US" sz="2400">
                <a:solidFill>
                  <a:srgbClr val="000000"/>
                </a:solidFill>
                <a:latin typeface="Inter"/>
                <a:ea typeface="Inter"/>
                <a:cs typeface="Inter"/>
                <a:sym typeface="Inter"/>
              </a:rPr>
              <a:t>Evaluar roles de los otros mediadores.</a:t>
            </a:r>
          </a:p>
          <a:p>
            <a:pPr marL="518166" lvl="1" indent="-259083" algn="l">
              <a:lnSpc>
                <a:spcPts val="3360"/>
              </a:lnSpc>
              <a:buFont typeface="Arial"/>
              <a:buChar char="•"/>
            </a:pPr>
            <a:r>
              <a:rPr lang="en-US" sz="2400">
                <a:solidFill>
                  <a:srgbClr val="000000"/>
                </a:solidFill>
                <a:latin typeface="Inter"/>
                <a:ea typeface="Inter"/>
                <a:cs typeface="Inter"/>
                <a:sym typeface="Inter"/>
              </a:rPr>
              <a:t>Mediadores especializados en diferentes temas pueden manejar partes específicas de la negociación.</a:t>
            </a:r>
          </a:p>
          <a:p>
            <a:pPr marL="518166" lvl="1" indent="-259083" algn="l">
              <a:lnSpc>
                <a:spcPts val="3360"/>
              </a:lnSpc>
              <a:buFont typeface="Arial"/>
              <a:buChar char="•"/>
            </a:pPr>
            <a:r>
              <a:rPr lang="en-US" sz="2400">
                <a:solidFill>
                  <a:srgbClr val="000000"/>
                </a:solidFill>
                <a:latin typeface="Inter"/>
                <a:ea typeface="Inter"/>
                <a:cs typeface="Inter"/>
                <a:sym typeface="Inter"/>
              </a:rPr>
              <a:t>Trabajar en cooperación ayuda a dividir tareas y garantiza credibilidad</a:t>
            </a:r>
          </a:p>
          <a:p>
            <a:pPr marL="518166" lvl="1" indent="-259083" algn="l">
              <a:lnSpc>
                <a:spcPts val="3360"/>
              </a:lnSpc>
              <a:buFont typeface="Arial"/>
              <a:buChar char="•"/>
            </a:pPr>
            <a:r>
              <a:rPr lang="en-US" sz="2400">
                <a:solidFill>
                  <a:srgbClr val="000000"/>
                </a:solidFill>
                <a:latin typeface="Inter"/>
                <a:ea typeface="Inter"/>
                <a:cs typeface="Inter"/>
                <a:sym typeface="Inter"/>
              </a:rPr>
              <a:t>Para ello es necesario:</a:t>
            </a:r>
          </a:p>
          <a:p>
            <a:pPr marL="518166" lvl="1" indent="-259083" algn="l">
              <a:lnSpc>
                <a:spcPts val="3360"/>
              </a:lnSpc>
              <a:buFont typeface="Arial"/>
              <a:buChar char="•"/>
            </a:pPr>
            <a:r>
              <a:rPr lang="en-US" sz="2400">
                <a:solidFill>
                  <a:srgbClr val="000000"/>
                </a:solidFill>
                <a:latin typeface="Inter"/>
                <a:ea typeface="Inter"/>
                <a:cs typeface="Inter"/>
                <a:sym typeface="Inter"/>
              </a:rPr>
              <a:t>Comunicar, coordinar y cooperar con los otros mediadores</a:t>
            </a:r>
          </a:p>
        </p:txBody>
      </p:sp>
      <p:sp>
        <p:nvSpPr>
          <p:cNvPr id="8" name="TextBox 8"/>
          <p:cNvSpPr txBox="1"/>
          <p:nvPr/>
        </p:nvSpPr>
        <p:spPr>
          <a:xfrm>
            <a:off x="921543" y="3168257"/>
            <a:ext cx="15802855"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LA MEDIACIÓN EN UNA Negociación/diálogo</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Freeform 7"/>
          <p:cNvSpPr/>
          <p:nvPr/>
        </p:nvSpPr>
        <p:spPr>
          <a:xfrm>
            <a:off x="11627239" y="2644360"/>
            <a:ext cx="5736282" cy="7122927"/>
          </a:xfrm>
          <a:custGeom>
            <a:avLst/>
            <a:gdLst/>
            <a:ahLst/>
            <a:cxnLst/>
            <a:rect l="l" t="t" r="r" b="b"/>
            <a:pathLst>
              <a:path w="5736282" h="7122927">
                <a:moveTo>
                  <a:pt x="0" y="0"/>
                </a:moveTo>
                <a:lnTo>
                  <a:pt x="5736282" y="0"/>
                </a:lnTo>
                <a:lnTo>
                  <a:pt x="5736282" y="7122927"/>
                </a:lnTo>
                <a:lnTo>
                  <a:pt x="0" y="7122927"/>
                </a:lnTo>
                <a:lnTo>
                  <a:pt x="0" y="0"/>
                </a:lnTo>
                <a:close/>
              </a:path>
            </a:pathLst>
          </a:custGeom>
          <a:blipFill>
            <a:blip r:embed="rId7"/>
            <a:stretch>
              <a:fillRect l="-119210" t="-4297" b="-2947"/>
            </a:stretch>
          </a:blipFill>
        </p:spPr>
      </p:sp>
      <p:sp>
        <p:nvSpPr>
          <p:cNvPr id="8" name="TextBox 8"/>
          <p:cNvSpPr txBox="1"/>
          <p:nvPr/>
        </p:nvSpPr>
        <p:spPr>
          <a:xfrm>
            <a:off x="921543" y="4125289"/>
            <a:ext cx="10255265" cy="4597249"/>
          </a:xfrm>
          <a:prstGeom prst="rect">
            <a:avLst/>
          </a:prstGeom>
        </p:spPr>
        <p:txBody>
          <a:bodyPr lIns="0" tIns="0" rIns="0" bIns="0" rtlCol="0" anchor="t">
            <a:spAutoFit/>
          </a:bodyPr>
          <a:lstStyle/>
          <a:p>
            <a:pPr algn="l">
              <a:lnSpc>
                <a:spcPts val="3360"/>
              </a:lnSpc>
            </a:pPr>
            <a:r>
              <a:rPr lang="en-US" sz="2400" b="1">
                <a:solidFill>
                  <a:srgbClr val="000000"/>
                </a:solidFill>
                <a:latin typeface="Inter Bold"/>
                <a:ea typeface="Inter Bold"/>
                <a:cs typeface="Inter Bold"/>
                <a:sym typeface="Inter Bold"/>
              </a:rPr>
              <a:t>PASO 3: Asegurar maduración del conflicto</a:t>
            </a:r>
          </a:p>
          <a:p>
            <a:pPr algn="l">
              <a:lnSpc>
                <a:spcPts val="3360"/>
              </a:lnSpc>
            </a:pPr>
            <a:r>
              <a:rPr lang="en-US" sz="2400">
                <a:solidFill>
                  <a:srgbClr val="000000"/>
                </a:solidFill>
                <a:latin typeface="Inter"/>
                <a:ea typeface="Inter"/>
                <a:cs typeface="Inter"/>
                <a:sym typeface="Inter"/>
              </a:rPr>
              <a:t>En esta etapa el mediador trata de:</a:t>
            </a:r>
          </a:p>
          <a:p>
            <a:pPr marL="518166" lvl="1" indent="-259083" algn="l">
              <a:lnSpc>
                <a:spcPts val="3360"/>
              </a:lnSpc>
              <a:buFont typeface="Arial"/>
              <a:buChar char="•"/>
            </a:pPr>
            <a:r>
              <a:rPr lang="en-US" sz="2400">
                <a:solidFill>
                  <a:srgbClr val="000000"/>
                </a:solidFill>
                <a:latin typeface="Inter"/>
                <a:ea typeface="Inter"/>
                <a:cs typeface="Inter"/>
                <a:sym typeface="Inter"/>
              </a:rPr>
              <a:t>Convencer a las partes de que no podrán lograr sus objetivos mediante la violencia, que hay otros métodos posibles.</a:t>
            </a:r>
          </a:p>
          <a:p>
            <a:pPr marL="518166" lvl="1" indent="-259083" algn="l">
              <a:lnSpc>
                <a:spcPts val="3360"/>
              </a:lnSpc>
              <a:buFont typeface="Arial"/>
              <a:buChar char="•"/>
            </a:pPr>
            <a:r>
              <a:rPr lang="en-US" sz="2400">
                <a:solidFill>
                  <a:srgbClr val="000000"/>
                </a:solidFill>
                <a:latin typeface="Inter"/>
                <a:ea typeface="Inter"/>
                <a:cs typeface="Inter"/>
                <a:sym typeface="Inter"/>
              </a:rPr>
              <a:t>Ayudar a los líderes a comprender los costos y los beneficios</a:t>
            </a:r>
          </a:p>
          <a:p>
            <a:pPr marL="518166" lvl="1" indent="-259083" algn="l">
              <a:lnSpc>
                <a:spcPts val="3360"/>
              </a:lnSpc>
              <a:buFont typeface="Arial"/>
              <a:buChar char="•"/>
            </a:pPr>
            <a:r>
              <a:rPr lang="en-US" sz="2400">
                <a:solidFill>
                  <a:srgbClr val="000000"/>
                </a:solidFill>
                <a:latin typeface="Inter"/>
                <a:ea typeface="Inter"/>
                <a:cs typeface="Inter"/>
                <a:sym typeface="Inter"/>
              </a:rPr>
              <a:t>Aumentar el sentido de responsabilidad de los líderes</a:t>
            </a:r>
          </a:p>
          <a:p>
            <a:pPr marL="518166" lvl="1" indent="-259083" algn="l">
              <a:lnSpc>
                <a:spcPts val="3360"/>
              </a:lnSpc>
              <a:buFont typeface="Arial"/>
              <a:buChar char="•"/>
            </a:pPr>
            <a:r>
              <a:rPr lang="en-US" sz="2400">
                <a:solidFill>
                  <a:srgbClr val="000000"/>
                </a:solidFill>
                <a:latin typeface="Inter"/>
                <a:ea typeface="Inter"/>
                <a:cs typeface="Inter"/>
                <a:sym typeface="Inter"/>
              </a:rPr>
              <a:t>Buscar líderes que posean legitimidad interna y apoyo</a:t>
            </a:r>
          </a:p>
          <a:p>
            <a:pPr marL="518166" lvl="1" indent="-259083" algn="l">
              <a:lnSpc>
                <a:spcPts val="3360"/>
              </a:lnSpc>
              <a:buFont typeface="Arial"/>
              <a:buChar char="•"/>
            </a:pPr>
            <a:r>
              <a:rPr lang="en-US" sz="2400">
                <a:solidFill>
                  <a:srgbClr val="000000"/>
                </a:solidFill>
                <a:latin typeface="Inter"/>
                <a:ea typeface="Inter"/>
                <a:cs typeface="Inter"/>
                <a:sym typeface="Inter"/>
              </a:rPr>
              <a:t>Crear equilibrio entre las partes: fortalecer a la parte más debilitada</a:t>
            </a:r>
          </a:p>
          <a:p>
            <a:pPr marL="518166" lvl="1" indent="-259083" algn="l">
              <a:lnSpc>
                <a:spcPts val="3360"/>
              </a:lnSpc>
              <a:buFont typeface="Arial"/>
              <a:buChar char="•"/>
            </a:pPr>
            <a:r>
              <a:rPr lang="en-US" sz="2400">
                <a:solidFill>
                  <a:srgbClr val="000000"/>
                </a:solidFill>
                <a:latin typeface="Inter"/>
                <a:ea typeface="Inter"/>
                <a:cs typeface="Inter"/>
                <a:sym typeface="Inter"/>
              </a:rPr>
              <a:t>Tener en cuenta intentos de mediación anteriores: considerar nuevas fórmulas y nuevos actores</a:t>
            </a:r>
          </a:p>
        </p:txBody>
      </p:sp>
      <p:sp>
        <p:nvSpPr>
          <p:cNvPr id="9" name="TextBox 9"/>
          <p:cNvSpPr txBox="1"/>
          <p:nvPr/>
        </p:nvSpPr>
        <p:spPr>
          <a:xfrm>
            <a:off x="921543" y="2530060"/>
            <a:ext cx="7630785" cy="1360214"/>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LA MEDIACIÓN EN UNA Negociación/diálogo</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5016394"/>
          </a:xfrm>
          <a:prstGeom prst="rect">
            <a:avLst/>
          </a:prstGeom>
        </p:spPr>
        <p:txBody>
          <a:bodyPr lIns="0" tIns="0" rIns="0" bIns="0" rtlCol="0" anchor="t">
            <a:spAutoFit/>
          </a:bodyPr>
          <a:lstStyle/>
          <a:p>
            <a:pPr marL="518166" lvl="1" indent="-259083" algn="l">
              <a:lnSpc>
                <a:spcPts val="3360"/>
              </a:lnSpc>
              <a:buFont typeface="Arial"/>
              <a:buChar char="•"/>
            </a:pPr>
            <a:r>
              <a:rPr lang="en-US" sz="2400">
                <a:solidFill>
                  <a:srgbClr val="000000"/>
                </a:solidFill>
                <a:latin typeface="Inter"/>
                <a:ea typeface="Inter"/>
                <a:cs typeface="Inter"/>
                <a:sym typeface="Inter"/>
              </a:rPr>
              <a:t>"Proceso en el que las personas se reúnen para construir confianza y entendimiento mutuo más allá de las diferencias y para generar resultados positivos a través de la conversación".</a:t>
            </a:r>
          </a:p>
          <a:p>
            <a:pPr marL="518166" lvl="1" indent="-259083" algn="l">
              <a:lnSpc>
                <a:spcPts val="3360"/>
              </a:lnSpc>
              <a:buFont typeface="Arial"/>
              <a:buChar char="•"/>
            </a:pPr>
            <a:r>
              <a:rPr lang="en-US" sz="2400">
                <a:solidFill>
                  <a:srgbClr val="000000"/>
                </a:solidFill>
                <a:latin typeface="Inter"/>
                <a:ea typeface="Inter"/>
                <a:cs typeface="Inter"/>
                <a:sym typeface="Inter"/>
              </a:rPr>
              <a:t>"El diálogo es un proceso de genuina interacción mediante el cual los seres humanos se escuchan unos a otros con tal profundidad y respeto que cambian mediante lo que aprenden. Cada uno de los participantes en un diálogo se esfuerza para incorporar las preocupaciones de los otros a su propia perspectiva, aun cuando persista el desacuerdo. Ninguno de los participantes renuncia a su identidad, pero cada uno reconoce la validez de las reivindicaciones humanas de los demás y en consecuencia actúa en forma diferente hacia los otros"</a:t>
            </a:r>
          </a:p>
          <a:p>
            <a:pPr marL="518166" lvl="1" indent="-259083" algn="l">
              <a:lnSpc>
                <a:spcPts val="3360"/>
              </a:lnSpc>
              <a:buFont typeface="Arial"/>
              <a:buChar char="•"/>
            </a:pPr>
            <a:r>
              <a:rPr lang="en-US" sz="2400" b="1">
                <a:solidFill>
                  <a:srgbClr val="000000"/>
                </a:solidFill>
                <a:latin typeface="Inter Bold"/>
                <a:ea typeface="Inter Bold"/>
                <a:cs typeface="Inter Bold"/>
                <a:sym typeface="Inter Bold"/>
              </a:rPr>
              <a:t>DIÁLOGO DEMOCRÁTICO: </a:t>
            </a:r>
            <a:r>
              <a:rPr lang="en-US" sz="2400">
                <a:solidFill>
                  <a:srgbClr val="000000"/>
                </a:solidFill>
                <a:latin typeface="Inter"/>
                <a:ea typeface="Inter"/>
                <a:cs typeface="Inter"/>
                <a:sym typeface="Inter"/>
              </a:rPr>
              <a:t>aquel diálogo que respeta y fortalece la institucionalidad democrática y busca transformar las relaciones conflictivas para evitar la crisis y la violencia y contribuir, por tanto, a la gobernabilidad democrática.</a:t>
            </a:r>
          </a:p>
        </p:txBody>
      </p:sp>
      <p:sp>
        <p:nvSpPr>
          <p:cNvPr id="8" name="TextBox 8"/>
          <p:cNvSpPr txBox="1"/>
          <p:nvPr/>
        </p:nvSpPr>
        <p:spPr>
          <a:xfrm>
            <a:off x="921543" y="3168257"/>
            <a:ext cx="7630785"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¿QUÉ ES EL diálogo?</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4597249"/>
          </a:xfrm>
          <a:prstGeom prst="rect">
            <a:avLst/>
          </a:prstGeom>
        </p:spPr>
        <p:txBody>
          <a:bodyPr lIns="0" tIns="0" rIns="0" bIns="0" rtlCol="0" anchor="t">
            <a:spAutoFit/>
          </a:bodyPr>
          <a:lstStyle/>
          <a:p>
            <a:pPr marL="518166" lvl="1" indent="-259083" algn="l">
              <a:lnSpc>
                <a:spcPts val="3360"/>
              </a:lnSpc>
              <a:buFont typeface="Arial"/>
              <a:buChar char="•"/>
            </a:pPr>
            <a:r>
              <a:rPr lang="en-US" sz="2400">
                <a:solidFill>
                  <a:srgbClr val="000000"/>
                </a:solidFill>
                <a:latin typeface="Inter"/>
                <a:ea typeface="Inter"/>
                <a:cs typeface="Inter"/>
                <a:sym typeface="Inter"/>
              </a:rPr>
              <a:t>1. Manejar momentos críticos o crisis</a:t>
            </a:r>
          </a:p>
          <a:p>
            <a:pPr marL="518166" lvl="1" indent="-259083" algn="l">
              <a:lnSpc>
                <a:spcPts val="3360"/>
              </a:lnSpc>
              <a:buFont typeface="Arial"/>
              <a:buChar char="•"/>
            </a:pPr>
            <a:r>
              <a:rPr lang="en-US" sz="2400">
                <a:solidFill>
                  <a:srgbClr val="000000"/>
                </a:solidFill>
                <a:latin typeface="Inter"/>
                <a:ea typeface="Inter"/>
                <a:cs typeface="Inter"/>
                <a:sym typeface="Inter"/>
              </a:rPr>
              <a:t>2. Proveer espacio de discusión para promover visiones conjuntas</a:t>
            </a:r>
          </a:p>
          <a:p>
            <a:pPr marL="518166" lvl="1" indent="-259083" algn="l">
              <a:lnSpc>
                <a:spcPts val="3360"/>
              </a:lnSpc>
              <a:buFont typeface="Arial"/>
              <a:buChar char="•"/>
            </a:pPr>
            <a:r>
              <a:rPr lang="en-US" sz="2400">
                <a:solidFill>
                  <a:srgbClr val="000000"/>
                </a:solidFill>
                <a:latin typeface="Inter"/>
                <a:ea typeface="Inter"/>
                <a:cs typeface="Inter"/>
                <a:sym typeface="Inter"/>
              </a:rPr>
              <a:t>3. Generar un espacio de reflexión</a:t>
            </a:r>
          </a:p>
          <a:p>
            <a:pPr algn="l">
              <a:lnSpc>
                <a:spcPts val="3360"/>
              </a:lnSpc>
            </a:pPr>
            <a:endParaRPr lang="en-US" sz="2400">
              <a:solidFill>
                <a:srgbClr val="000000"/>
              </a:solidFill>
              <a:latin typeface="Inter"/>
              <a:ea typeface="Inter"/>
              <a:cs typeface="Inter"/>
              <a:sym typeface="Inter"/>
            </a:endParaRPr>
          </a:p>
          <a:p>
            <a:pPr algn="l">
              <a:lnSpc>
                <a:spcPts val="3360"/>
              </a:lnSpc>
            </a:pPr>
            <a:r>
              <a:rPr lang="en-US" sz="2400">
                <a:solidFill>
                  <a:srgbClr val="000000"/>
                </a:solidFill>
                <a:latin typeface="Inter"/>
                <a:ea typeface="Inter"/>
                <a:cs typeface="Inter"/>
                <a:sym typeface="Inter"/>
              </a:rPr>
              <a:t>El objetivo no es dialogar en el sentido de intercambiar información, sino transformar a través del diálogo. En conflictos con redes complejas de intereses, el desafío no es evitar el conflicto, sino transformarlo, fortaleciendo las estructuras sociales legítimas y evitando la violencia.</a:t>
            </a:r>
          </a:p>
          <a:p>
            <a:pPr algn="l">
              <a:lnSpc>
                <a:spcPts val="3360"/>
              </a:lnSpc>
            </a:pPr>
            <a:endParaRPr lang="en-US" sz="2400">
              <a:solidFill>
                <a:srgbClr val="000000"/>
              </a:solidFill>
              <a:latin typeface="Inter"/>
              <a:ea typeface="Inter"/>
              <a:cs typeface="Inter"/>
              <a:sym typeface="Inter"/>
            </a:endParaRPr>
          </a:p>
          <a:p>
            <a:pPr algn="l">
              <a:lnSpc>
                <a:spcPts val="3360"/>
              </a:lnSpc>
            </a:pPr>
            <a:r>
              <a:rPr lang="en-US" sz="2400" i="1">
                <a:solidFill>
                  <a:srgbClr val="000000"/>
                </a:solidFill>
                <a:latin typeface="Inter Italics"/>
                <a:ea typeface="Inter Italics"/>
                <a:cs typeface="Inter Italics"/>
                <a:sym typeface="Inter Italics"/>
              </a:rPr>
              <a:t>«… el objetivo del diálogo no es defender, sino indagar; no es discutir, sino explorar; no es convencer, sino descubrir»</a:t>
            </a:r>
          </a:p>
          <a:p>
            <a:pPr algn="l">
              <a:lnSpc>
                <a:spcPts val="3360"/>
              </a:lnSpc>
            </a:pPr>
            <a:r>
              <a:rPr lang="en-US" sz="2400" i="1">
                <a:solidFill>
                  <a:srgbClr val="000000"/>
                </a:solidFill>
                <a:latin typeface="Inter Italics"/>
                <a:ea typeface="Inter Italics"/>
                <a:cs typeface="Inter Italics"/>
                <a:sym typeface="Inter Italics"/>
              </a:rPr>
              <a:t>(Louise Diamond)</a:t>
            </a:r>
          </a:p>
        </p:txBody>
      </p:sp>
      <p:sp>
        <p:nvSpPr>
          <p:cNvPr id="8" name="TextBox 8"/>
          <p:cNvSpPr txBox="1"/>
          <p:nvPr/>
        </p:nvSpPr>
        <p:spPr>
          <a:xfrm>
            <a:off x="921543" y="3168257"/>
            <a:ext cx="7630785"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OBJETIVOS DEL diálogo</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4597249"/>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Los conflictos ambientales para una organización vienen acompañados de problemas sociales y políticos, pérdida de reputación e interrupción del crecimiento. Uno de los últimos y más conocidos en el país fue el derrame en Imaza (Amazonas), con 2000 barriles de petróleo vertidos y 1900 personas afectadas. Aunque la mejor solución es la prevención e implementación de leyes, normas y políticas de regulación socioambiental, es necesario formular estrategias en caso de conflictos inevitables. </a:t>
            </a:r>
          </a:p>
          <a:p>
            <a:pPr algn="l">
              <a:lnSpc>
                <a:spcPts val="3360"/>
              </a:lnSpc>
            </a:pPr>
            <a:endParaRPr lang="en-US" sz="2400">
              <a:solidFill>
                <a:srgbClr val="000000"/>
              </a:solidFill>
              <a:latin typeface="Inter"/>
              <a:ea typeface="Inter"/>
              <a:cs typeface="Inter"/>
              <a:sym typeface="Inter"/>
            </a:endParaRPr>
          </a:p>
          <a:p>
            <a:pPr algn="l">
              <a:lnSpc>
                <a:spcPts val="3360"/>
              </a:lnSpc>
            </a:pPr>
            <a:r>
              <a:rPr lang="en-US" sz="2400">
                <a:solidFill>
                  <a:srgbClr val="000000"/>
                </a:solidFill>
                <a:latin typeface="Inter"/>
                <a:ea typeface="Inter"/>
                <a:cs typeface="Inter"/>
                <a:sym typeface="Inter"/>
              </a:rPr>
              <a:t>Según Iván Ormachea, presidente de la firma ProDiálogo y especialista en la prevención y transformación de conflictos, es necesario analizar todo a lo que la empresa se enfrenta. Así se brinda una serie de beneficios tanto para la organización como para las comunidades, compañías, Gobierno u otros agentes que formen parte del conflicto.</a:t>
            </a:r>
          </a:p>
        </p:txBody>
      </p:sp>
      <p:sp>
        <p:nvSpPr>
          <p:cNvPr id="8" name="TextBox 8"/>
          <p:cNvSpPr txBox="1"/>
          <p:nvPr/>
        </p:nvSpPr>
        <p:spPr>
          <a:xfrm>
            <a:off x="921543" y="2530060"/>
            <a:ext cx="15196685" cy="1360214"/>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TÉCNICAS Y ESTRATEGIAS DE MEDIACIÓN PARA FACILITAR LA COMUNicación y resolver conflictos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5016394"/>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Para ello, se debe:</a:t>
            </a:r>
          </a:p>
          <a:p>
            <a:pPr marL="518166" lvl="1" indent="-259083" algn="l">
              <a:lnSpc>
                <a:spcPts val="3360"/>
              </a:lnSpc>
              <a:buFont typeface="Arial"/>
              <a:buChar char="•"/>
            </a:pPr>
            <a:r>
              <a:rPr lang="en-US" sz="2400">
                <a:solidFill>
                  <a:srgbClr val="000000"/>
                </a:solidFill>
                <a:latin typeface="Inter"/>
                <a:ea typeface="Inter"/>
                <a:cs typeface="Inter"/>
                <a:sym typeface="Inter"/>
              </a:rPr>
              <a:t>Entender los orígenes, la dinámica y la naturaleza del problema. El objetivo es establecer qué posibilidades de resolución existen. </a:t>
            </a:r>
          </a:p>
          <a:p>
            <a:pPr marL="518166" lvl="1" indent="-259083" algn="l">
              <a:lnSpc>
                <a:spcPts val="3360"/>
              </a:lnSpc>
              <a:buFont typeface="Arial"/>
              <a:buChar char="•"/>
            </a:pPr>
            <a:r>
              <a:rPr lang="en-US" sz="2400">
                <a:solidFill>
                  <a:srgbClr val="000000"/>
                </a:solidFill>
                <a:latin typeface="Inter"/>
                <a:ea typeface="Inter"/>
                <a:cs typeface="Inter"/>
                <a:sym typeface="Inter"/>
              </a:rPr>
              <a:t>Comprender cómo se ha desarrollado el conflicto y todos los aspectos que lo componen. </a:t>
            </a:r>
          </a:p>
          <a:p>
            <a:pPr marL="518166" lvl="1" indent="-259083" algn="l">
              <a:lnSpc>
                <a:spcPts val="3360"/>
              </a:lnSpc>
              <a:buFont typeface="Arial"/>
              <a:buChar char="•"/>
            </a:pPr>
            <a:r>
              <a:rPr lang="en-US" sz="2400">
                <a:solidFill>
                  <a:srgbClr val="000000"/>
                </a:solidFill>
                <a:latin typeface="Inter"/>
                <a:ea typeface="Inter"/>
                <a:cs typeface="Inter"/>
                <a:sym typeface="Inter"/>
              </a:rPr>
              <a:t>Invitar a las partes involucradas a una discusión común. Esto con el fin de entender cómo se han comportado, cómo reaccionan y qué están dispuestos a permitir durante el desarrollado el problema. </a:t>
            </a:r>
          </a:p>
          <a:p>
            <a:pPr marL="518166" lvl="1" indent="-259083" algn="l">
              <a:lnSpc>
                <a:spcPts val="3360"/>
              </a:lnSpc>
              <a:buFont typeface="Arial"/>
              <a:buChar char="•"/>
            </a:pPr>
            <a:r>
              <a:rPr lang="en-US" sz="2400">
                <a:solidFill>
                  <a:srgbClr val="000000"/>
                </a:solidFill>
                <a:latin typeface="Inter"/>
                <a:ea typeface="Inter"/>
                <a:cs typeface="Inter"/>
                <a:sym typeface="Inter"/>
              </a:rPr>
              <a:t>Establecer herramientas y estrategias que permitan solucionar cada aspecto determinado. Además, debe identificarse en qué puntos se tendrá mayor consideración, analizando también los factores que fueron más impactados. </a:t>
            </a:r>
          </a:p>
          <a:p>
            <a:pPr marL="518166" lvl="1" indent="-259083" algn="l">
              <a:lnSpc>
                <a:spcPts val="3360"/>
              </a:lnSpc>
              <a:buFont typeface="Arial"/>
              <a:buChar char="•"/>
            </a:pPr>
            <a:r>
              <a:rPr lang="en-US" sz="2400">
                <a:solidFill>
                  <a:srgbClr val="000000"/>
                </a:solidFill>
                <a:latin typeface="Inter"/>
                <a:ea typeface="Inter"/>
                <a:cs typeface="Inter"/>
                <a:sym typeface="Inter"/>
              </a:rPr>
              <a:t>Fomentar una futura relación de colaboración entre la empresa y la contraparte, de modo que se pueda llegar a una solución en el menor tiempo posible.</a:t>
            </a:r>
          </a:p>
        </p:txBody>
      </p:sp>
      <p:sp>
        <p:nvSpPr>
          <p:cNvPr id="8" name="TextBox 8"/>
          <p:cNvSpPr txBox="1"/>
          <p:nvPr/>
        </p:nvSpPr>
        <p:spPr>
          <a:xfrm>
            <a:off x="921543" y="2530060"/>
            <a:ext cx="15196685" cy="1360214"/>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TÉCNICAS Y ESTRATEGIAS DE MEDIACIÓN PARA FACILITAR LA COMUNicación y resolver conflictos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2501529"/>
          </a:xfrm>
          <a:prstGeom prst="rect">
            <a:avLst/>
          </a:prstGeom>
        </p:spPr>
        <p:txBody>
          <a:bodyPr lIns="0" tIns="0" rIns="0" bIns="0" rtlCol="0" anchor="t">
            <a:spAutoFit/>
          </a:bodyPr>
          <a:lstStyle/>
          <a:p>
            <a:pPr algn="l">
              <a:lnSpc>
                <a:spcPts val="3360"/>
              </a:lnSpc>
            </a:pPr>
            <a:r>
              <a:rPr lang="en-US" sz="2400">
                <a:solidFill>
                  <a:srgbClr val="000000"/>
                </a:solidFill>
                <a:latin typeface="Inter"/>
                <a:ea typeface="Inter"/>
                <a:cs typeface="Inter"/>
                <a:sym typeface="Inter"/>
              </a:rPr>
              <a:t>La OEFA (Organismo de Evaluación y Fiscalización Ambiental, que pertenece al Ministerio de Ambiente), es una entidad a la que diversas organizaciones pueden acudir. Aunque su principal labor es la prevención, esta institución también se encarga de coordinar con la compañía involucrada, los gobiernos regionales y otras partes. El fin es establecer la debida atención, mediación, negociación y diálogo para brindar soluciones. Además, ayuda a desarrollar programas de capacitación para el uso de herramientas, estrategias y procesos de gestión ambiental.</a:t>
            </a:r>
          </a:p>
        </p:txBody>
      </p:sp>
      <p:sp>
        <p:nvSpPr>
          <p:cNvPr id="8" name="TextBox 8"/>
          <p:cNvSpPr txBox="1"/>
          <p:nvPr/>
        </p:nvSpPr>
        <p:spPr>
          <a:xfrm>
            <a:off x="921543" y="2530060"/>
            <a:ext cx="15196685" cy="1360214"/>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TÉCNICAS Y ESTRATEGIAS DE MEDIACIÓN PARA FACILITAR LA COMUNicación y resolver conflictos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4178105"/>
          </a:xfrm>
          <a:prstGeom prst="rect">
            <a:avLst/>
          </a:prstGeom>
        </p:spPr>
        <p:txBody>
          <a:bodyPr lIns="0" tIns="0" rIns="0" bIns="0" rtlCol="0" anchor="t">
            <a:spAutoFit/>
          </a:bodyPr>
          <a:lstStyle/>
          <a:p>
            <a:pPr marL="518166" lvl="1" indent="-259083" algn="l">
              <a:lnSpc>
                <a:spcPts val="3360"/>
              </a:lnSpc>
              <a:buFont typeface="Arial"/>
              <a:buChar char="•"/>
            </a:pPr>
            <a:r>
              <a:rPr lang="en-US" sz="2400">
                <a:solidFill>
                  <a:srgbClr val="000000"/>
                </a:solidFill>
                <a:latin typeface="Inter"/>
                <a:ea typeface="Inter"/>
                <a:cs typeface="Inter"/>
                <a:sym typeface="Inter"/>
              </a:rPr>
              <a:t>El siguiente paso es implementar una mesa de diálogo para la adecuada gestión de lo que ha sucedido. En ella deben estar todos los representantes de cada parte afectada, siendo fundamental conversar con representantes que manejen estos tres grupos: los que toman las decisiones, quienes las transmiten y quienes las ejecutan. </a:t>
            </a:r>
          </a:p>
          <a:p>
            <a:pPr marL="518166" lvl="1" indent="-259083" algn="l">
              <a:lnSpc>
                <a:spcPts val="3360"/>
              </a:lnSpc>
              <a:buFont typeface="Arial"/>
              <a:buChar char="•"/>
            </a:pPr>
            <a:r>
              <a:rPr lang="en-US" sz="2400">
                <a:solidFill>
                  <a:srgbClr val="000000"/>
                </a:solidFill>
                <a:latin typeface="Inter"/>
                <a:ea typeface="Inter"/>
                <a:cs typeface="Inter"/>
                <a:sym typeface="Inter"/>
              </a:rPr>
              <a:t>Después de implementar estrategias de colaboración entre todos, los participantes deben proponer alternativas de solución. Uno de los objetivos es que todos salgan beneficiados y satisfechos. Para ello, también se identificarán los indicadores sociales, ambientales, políticos, culturales, económicos, financieros, etc. de la empresa y de —por ejemplo— una comunidad local afectada. </a:t>
            </a:r>
          </a:p>
          <a:p>
            <a:pPr algn="l">
              <a:lnSpc>
                <a:spcPts val="3360"/>
              </a:lnSpc>
            </a:pPr>
            <a:endParaRPr lang="en-US" sz="2400">
              <a:solidFill>
                <a:srgbClr val="000000"/>
              </a:solidFill>
              <a:latin typeface="Inter"/>
              <a:ea typeface="Inter"/>
              <a:cs typeface="Inter"/>
              <a:sym typeface="Inter"/>
            </a:endParaRPr>
          </a:p>
        </p:txBody>
      </p:sp>
      <p:sp>
        <p:nvSpPr>
          <p:cNvPr id="8" name="TextBox 8"/>
          <p:cNvSpPr txBox="1"/>
          <p:nvPr/>
        </p:nvSpPr>
        <p:spPr>
          <a:xfrm>
            <a:off x="921543" y="2530060"/>
            <a:ext cx="15196685" cy="1360214"/>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TÉCNICAS Y ESTRATEGIAS DE MEDIACIÓN PARA FACILITAR LA COMUNicación y resolver conflictos</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4"/>
            <a:stretch>
              <a:fillRect l="-48045" t="-197476"/>
            </a:stretch>
          </a:blipFill>
        </p:spPr>
      </p:sp>
      <p:sp>
        <p:nvSpPr>
          <p:cNvPr id="4" name="Freeform 4"/>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grpSp>
        <p:nvGrpSpPr>
          <p:cNvPr id="5" name="Group 5"/>
          <p:cNvGrpSpPr/>
          <p:nvPr/>
        </p:nvGrpSpPr>
        <p:grpSpPr>
          <a:xfrm>
            <a:off x="4673915" y="-27387"/>
            <a:ext cx="10116046" cy="2253857"/>
            <a:chOff x="0" y="0"/>
            <a:chExt cx="1438895" cy="320586"/>
          </a:xfrm>
        </p:grpSpPr>
        <p:sp>
          <p:nvSpPr>
            <p:cNvPr id="6" name="Freeform 6"/>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6"/>
              <a:stretch>
                <a:fillRect t="-99797" b="-99797"/>
              </a:stretch>
            </a:blipFill>
          </p:spPr>
        </p:sp>
      </p:grpSp>
      <p:sp>
        <p:nvSpPr>
          <p:cNvPr id="7" name="TextBox 7"/>
          <p:cNvSpPr txBox="1"/>
          <p:nvPr/>
        </p:nvSpPr>
        <p:spPr>
          <a:xfrm>
            <a:off x="921543" y="4125289"/>
            <a:ext cx="14184144" cy="3758961"/>
          </a:xfrm>
          <a:prstGeom prst="rect">
            <a:avLst/>
          </a:prstGeom>
        </p:spPr>
        <p:txBody>
          <a:bodyPr lIns="0" tIns="0" rIns="0" bIns="0" rtlCol="0" anchor="t">
            <a:spAutoFit/>
          </a:bodyPr>
          <a:lstStyle/>
          <a:p>
            <a:pPr marL="518166" lvl="1" indent="-259083" algn="l">
              <a:lnSpc>
                <a:spcPts val="3360"/>
              </a:lnSpc>
              <a:buFont typeface="Arial"/>
              <a:buChar char="•"/>
            </a:pPr>
            <a:r>
              <a:rPr lang="en-US" sz="2400">
                <a:solidFill>
                  <a:srgbClr val="000000"/>
                </a:solidFill>
                <a:latin typeface="Inter"/>
                <a:ea typeface="Inter"/>
                <a:cs typeface="Inter"/>
                <a:sym typeface="Inter"/>
              </a:rPr>
              <a:t>La organización puede afrontar un conflicto sin perder reputación a largo plazo. Esto es gracias a un correcto control de crisis, basado en la gestión de imagen de marca, el diálogo institucional y el cumplimiento de normas legales. Finalmente, cabe recalcar que toda la resolución de un asunto de este tipo requiere primero de un conocimiento absoluto por parte de la compañía sobre el marco legal en el que se encuentra. </a:t>
            </a:r>
          </a:p>
          <a:p>
            <a:pPr marL="518166" lvl="1" indent="-259083" algn="l">
              <a:lnSpc>
                <a:spcPts val="3360"/>
              </a:lnSpc>
              <a:buFont typeface="Arial"/>
              <a:buChar char="•"/>
            </a:pPr>
            <a:r>
              <a:rPr lang="en-US" sz="2400">
                <a:solidFill>
                  <a:srgbClr val="000000"/>
                </a:solidFill>
                <a:latin typeface="Inter"/>
                <a:ea typeface="Inter"/>
                <a:cs typeface="Inter"/>
                <a:sym typeface="Inter"/>
              </a:rPr>
              <a:t>De esta manera, una gestión medioambiental eficaz será capaz de minimizar cualquier impacto dentro de dicho aspecto. En consecuencia, los procesos productivos en la empresa serán sustentables y acordes con las tendencias actuales, evitando problemas sociales y ambientales en los lugares en donde se opera.</a:t>
            </a:r>
          </a:p>
        </p:txBody>
      </p:sp>
      <p:sp>
        <p:nvSpPr>
          <p:cNvPr id="8" name="TextBox 8"/>
          <p:cNvSpPr txBox="1"/>
          <p:nvPr/>
        </p:nvSpPr>
        <p:spPr>
          <a:xfrm>
            <a:off x="921543" y="2530060"/>
            <a:ext cx="15196685" cy="1360214"/>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TÉCNICAS Y ESTRATEGIAS DE MEDIACIÓN PARA FACILITAR LA COMUNicación y resolver conflictos</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2"/>
            <a:stretch>
              <a:fillRect l="-48045" t="-197476"/>
            </a:stretch>
          </a:blipFill>
        </p:spPr>
      </p:sp>
      <p:sp>
        <p:nvSpPr>
          <p:cNvPr id="3" name="Freeform 3"/>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3"/>
            <a:stretch>
              <a:fillRect/>
            </a:stretch>
          </a:blipFill>
        </p:spPr>
      </p:sp>
      <p:grpSp>
        <p:nvGrpSpPr>
          <p:cNvPr id="4" name="Group 4"/>
          <p:cNvGrpSpPr/>
          <p:nvPr/>
        </p:nvGrpSpPr>
        <p:grpSpPr>
          <a:xfrm>
            <a:off x="4673915" y="-27387"/>
            <a:ext cx="10116046" cy="2253857"/>
            <a:chOff x="0" y="0"/>
            <a:chExt cx="1438895" cy="320586"/>
          </a:xfrm>
        </p:grpSpPr>
        <p:sp>
          <p:nvSpPr>
            <p:cNvPr id="5" name="Freeform 5"/>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4"/>
              <a:stretch>
                <a:fillRect t="-99797" b="-99797"/>
              </a:stretch>
            </a:blipFill>
          </p:spPr>
        </p:sp>
      </p:grpSp>
      <p:sp>
        <p:nvSpPr>
          <p:cNvPr id="6" name="TextBox 6"/>
          <p:cNvSpPr txBox="1"/>
          <p:nvPr/>
        </p:nvSpPr>
        <p:spPr>
          <a:xfrm>
            <a:off x="921543" y="4125289"/>
            <a:ext cx="10785953" cy="4597249"/>
          </a:xfrm>
          <a:prstGeom prst="rect">
            <a:avLst/>
          </a:prstGeom>
        </p:spPr>
        <p:txBody>
          <a:bodyPr lIns="0" tIns="0" rIns="0" bIns="0" rtlCol="0" anchor="t">
            <a:spAutoFit/>
          </a:bodyPr>
          <a:lstStyle/>
          <a:p>
            <a:pPr marL="518166" lvl="1" indent="-259083" algn="l">
              <a:lnSpc>
                <a:spcPts val="3360"/>
              </a:lnSpc>
              <a:buFont typeface="Arial"/>
              <a:buChar char="•"/>
            </a:pPr>
            <a:r>
              <a:rPr lang="en-US" sz="2400">
                <a:solidFill>
                  <a:srgbClr val="000000"/>
                </a:solidFill>
                <a:latin typeface="Inter"/>
                <a:ea typeface="Inter"/>
                <a:cs typeface="Inter"/>
                <a:sym typeface="Inter"/>
              </a:rPr>
              <a:t>Ormachea, I. (2019). Prevención y transformación de conflictos socioambientales: Estrategias para el diálogo y la sostenibilidad.</a:t>
            </a:r>
          </a:p>
          <a:p>
            <a:pPr marL="518166" lvl="1" indent="-259083" algn="l">
              <a:lnSpc>
                <a:spcPts val="3360"/>
              </a:lnSpc>
              <a:buFont typeface="Arial"/>
              <a:buChar char="•"/>
            </a:pPr>
            <a:r>
              <a:rPr lang="en-US" sz="2400">
                <a:solidFill>
                  <a:srgbClr val="000000"/>
                </a:solidFill>
                <a:latin typeface="Inter"/>
                <a:ea typeface="Inter"/>
                <a:cs typeface="Inter"/>
                <a:sym typeface="Inter"/>
              </a:rPr>
              <a:t>Bebbington, A., &amp; Bury, J. (Eds.). (2013). Subterranean Struggles: New Dynamics of Mining, Oil, and Gas in Latin America.</a:t>
            </a:r>
          </a:p>
          <a:p>
            <a:pPr marL="518166" lvl="1" indent="-259083" algn="l">
              <a:lnSpc>
                <a:spcPts val="3360"/>
              </a:lnSpc>
              <a:buFont typeface="Arial"/>
              <a:buChar char="•"/>
            </a:pPr>
            <a:r>
              <a:rPr lang="en-US" sz="2400">
                <a:solidFill>
                  <a:srgbClr val="000000"/>
                </a:solidFill>
                <a:latin typeface="Inter"/>
                <a:ea typeface="Inter"/>
                <a:cs typeface="Inter"/>
                <a:sym typeface="Inter"/>
              </a:rPr>
              <a:t>O’Faircheallaigh, C. (2016). Negotiations in the Indigenous World: Aboriginal Peoples and the Extractive Industry in Australia and Canada.</a:t>
            </a:r>
          </a:p>
          <a:p>
            <a:pPr marL="518166" lvl="1" indent="-259083" algn="l">
              <a:lnSpc>
                <a:spcPts val="3360"/>
              </a:lnSpc>
              <a:buFont typeface="Arial"/>
              <a:buChar char="•"/>
            </a:pPr>
            <a:r>
              <a:rPr lang="en-US" sz="2400">
                <a:solidFill>
                  <a:srgbClr val="000000"/>
                </a:solidFill>
                <a:latin typeface="Inter"/>
                <a:ea typeface="Inter"/>
                <a:cs typeface="Inter"/>
                <a:sym typeface="Inter"/>
              </a:rPr>
              <a:t>Fisher, R., Ury, W., &amp; Patton, B. (2011). Getting to Yes: Negotiating Agreement Without Giving In.</a:t>
            </a:r>
          </a:p>
          <a:p>
            <a:pPr marL="518166" lvl="1" indent="-259083" algn="l">
              <a:lnSpc>
                <a:spcPts val="3360"/>
              </a:lnSpc>
              <a:buFont typeface="Arial"/>
              <a:buChar char="•"/>
            </a:pPr>
            <a:r>
              <a:rPr lang="en-US" sz="2400">
                <a:solidFill>
                  <a:srgbClr val="000000"/>
                </a:solidFill>
                <a:latin typeface="Inter"/>
                <a:ea typeface="Inter"/>
                <a:cs typeface="Inter"/>
                <a:sym typeface="Inter"/>
              </a:rPr>
              <a:t>Susskind, L., &amp; Cruikshank, J. (2006). Breaking Robert’s Rules: The New Way to Run Your Meeting, Build Consensus, and Get Results.</a:t>
            </a:r>
          </a:p>
          <a:p>
            <a:pPr algn="l">
              <a:lnSpc>
                <a:spcPts val="3360"/>
              </a:lnSpc>
            </a:pPr>
            <a:endParaRPr lang="en-US" sz="2400">
              <a:solidFill>
                <a:srgbClr val="000000"/>
              </a:solidFill>
              <a:latin typeface="Inter"/>
              <a:ea typeface="Inter"/>
              <a:cs typeface="Inter"/>
              <a:sym typeface="Inter"/>
            </a:endParaRPr>
          </a:p>
        </p:txBody>
      </p:sp>
      <p:sp>
        <p:nvSpPr>
          <p:cNvPr id="7" name="TextBox 7"/>
          <p:cNvSpPr txBox="1"/>
          <p:nvPr/>
        </p:nvSpPr>
        <p:spPr>
          <a:xfrm>
            <a:off x="921543" y="3168257"/>
            <a:ext cx="15244428"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BIBLIOGRAFÍA</a:t>
            </a:r>
          </a:p>
        </p:txBody>
      </p:sp>
      <p:sp>
        <p:nvSpPr>
          <p:cNvPr id="8" name="Freeform 8"/>
          <p:cNvSpPr/>
          <p:nvPr/>
        </p:nvSpPr>
        <p:spPr>
          <a:xfrm flipH="1">
            <a:off x="9603984" y="3263802"/>
            <a:ext cx="8684016" cy="7023198"/>
          </a:xfrm>
          <a:custGeom>
            <a:avLst/>
            <a:gdLst/>
            <a:ahLst/>
            <a:cxnLst/>
            <a:rect l="l" t="t" r="r" b="b"/>
            <a:pathLst>
              <a:path w="8684016" h="7023198">
                <a:moveTo>
                  <a:pt x="8684016" y="0"/>
                </a:moveTo>
                <a:lnTo>
                  <a:pt x="0" y="0"/>
                </a:lnTo>
                <a:lnTo>
                  <a:pt x="0" y="7023198"/>
                </a:lnTo>
                <a:lnTo>
                  <a:pt x="8684016" y="7023198"/>
                </a:lnTo>
                <a:lnTo>
                  <a:pt x="8684016"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44409" y="-416150"/>
            <a:ext cx="11111025" cy="2929712"/>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2"/>
            <a:stretch>
              <a:fillRect l="-48045" t="-197476"/>
            </a:stretch>
          </a:blipFill>
        </p:spPr>
      </p:sp>
      <p:sp>
        <p:nvSpPr>
          <p:cNvPr id="3" name="Freeform 3"/>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3"/>
            <a:stretch>
              <a:fillRect/>
            </a:stretch>
          </a:blipFill>
        </p:spPr>
      </p:sp>
      <p:grpSp>
        <p:nvGrpSpPr>
          <p:cNvPr id="4" name="Group 4"/>
          <p:cNvGrpSpPr/>
          <p:nvPr/>
        </p:nvGrpSpPr>
        <p:grpSpPr>
          <a:xfrm>
            <a:off x="4673915" y="-27387"/>
            <a:ext cx="10116046" cy="2253857"/>
            <a:chOff x="0" y="0"/>
            <a:chExt cx="1438895" cy="320586"/>
          </a:xfrm>
        </p:grpSpPr>
        <p:sp>
          <p:nvSpPr>
            <p:cNvPr id="5" name="Freeform 5"/>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4"/>
              <a:stretch>
                <a:fillRect t="-99797" b="-99797"/>
              </a:stretch>
            </a:blipFill>
          </p:spPr>
        </p:sp>
      </p:grpSp>
      <p:sp>
        <p:nvSpPr>
          <p:cNvPr id="6" name="TextBox 6"/>
          <p:cNvSpPr txBox="1"/>
          <p:nvPr/>
        </p:nvSpPr>
        <p:spPr>
          <a:xfrm>
            <a:off x="921543" y="4125289"/>
            <a:ext cx="10729317" cy="3758961"/>
          </a:xfrm>
          <a:prstGeom prst="rect">
            <a:avLst/>
          </a:prstGeom>
        </p:spPr>
        <p:txBody>
          <a:bodyPr lIns="0" tIns="0" rIns="0" bIns="0" rtlCol="0" anchor="t">
            <a:spAutoFit/>
          </a:bodyPr>
          <a:lstStyle/>
          <a:p>
            <a:pPr marL="518166" lvl="1" indent="-259083" algn="l">
              <a:lnSpc>
                <a:spcPts val="3360"/>
              </a:lnSpc>
              <a:buFont typeface="Arial"/>
              <a:buChar char="•"/>
            </a:pPr>
            <a:r>
              <a:rPr lang="en-US" sz="2400">
                <a:solidFill>
                  <a:srgbClr val="000000"/>
                </a:solidFill>
                <a:latin typeface="Inter"/>
                <a:ea typeface="Inter"/>
                <a:cs typeface="Inter"/>
                <a:sym typeface="Inter"/>
              </a:rPr>
              <a:t>United Nations Development Programme (UNDP). (2010). Guía para la resolución de conflictos socioambientales en América Latina.</a:t>
            </a:r>
          </a:p>
          <a:p>
            <a:pPr marL="518166" lvl="1" indent="-259083" algn="l">
              <a:lnSpc>
                <a:spcPts val="3360"/>
              </a:lnSpc>
              <a:buFont typeface="Arial"/>
              <a:buChar char="•"/>
            </a:pPr>
            <a:r>
              <a:rPr lang="en-US" sz="2400">
                <a:solidFill>
                  <a:srgbClr val="000000"/>
                </a:solidFill>
                <a:latin typeface="Inter"/>
                <a:ea typeface="Inter"/>
                <a:cs typeface="Inter"/>
                <a:sym typeface="Inter"/>
              </a:rPr>
              <a:t>Blowfield, M., &amp; Murray, A. (2014). Corporate Responsibility.</a:t>
            </a:r>
          </a:p>
          <a:p>
            <a:pPr marL="518166" lvl="1" indent="-259083" algn="l">
              <a:lnSpc>
                <a:spcPts val="3360"/>
              </a:lnSpc>
              <a:buFont typeface="Arial"/>
              <a:buChar char="•"/>
            </a:pPr>
            <a:r>
              <a:rPr lang="en-US" sz="2400">
                <a:solidFill>
                  <a:srgbClr val="000000"/>
                </a:solidFill>
                <a:latin typeface="Inter"/>
                <a:ea typeface="Inter"/>
                <a:cs typeface="Inter"/>
                <a:sym typeface="Inter"/>
              </a:rPr>
              <a:t>Franks, D. M. (2015). Mountain Movers: Mining, Sustainability and the Agents of Change.</a:t>
            </a:r>
          </a:p>
          <a:p>
            <a:pPr marL="518166" lvl="1" indent="-259083" algn="l">
              <a:lnSpc>
                <a:spcPts val="3360"/>
              </a:lnSpc>
              <a:buFont typeface="Arial"/>
              <a:buChar char="•"/>
            </a:pPr>
            <a:r>
              <a:rPr lang="en-US" sz="2400">
                <a:solidFill>
                  <a:srgbClr val="000000"/>
                </a:solidFill>
                <a:latin typeface="Inter"/>
                <a:ea typeface="Inter"/>
                <a:cs typeface="Inter"/>
                <a:sym typeface="Inter"/>
              </a:rPr>
              <a:t>Organismo de Evaluación y Fiscalización Ambiental (OEFA). (2020). Guía de gestión ambiental para el sector minero en el Perú.</a:t>
            </a:r>
          </a:p>
          <a:p>
            <a:pPr marL="518166" lvl="1" indent="-259083" algn="l">
              <a:lnSpc>
                <a:spcPts val="3360"/>
              </a:lnSpc>
              <a:buFont typeface="Arial"/>
              <a:buChar char="•"/>
            </a:pPr>
            <a:r>
              <a:rPr lang="en-US" sz="2400">
                <a:solidFill>
                  <a:srgbClr val="000000"/>
                </a:solidFill>
                <a:latin typeface="Inter"/>
                <a:ea typeface="Inter"/>
                <a:cs typeface="Inter"/>
                <a:sym typeface="Inter"/>
              </a:rPr>
              <a:t>Diamond, L., &amp; McDonald, J. (1996). Multi-Track Diplomacy: A Systems Approach to Peace.</a:t>
            </a:r>
          </a:p>
        </p:txBody>
      </p:sp>
      <p:sp>
        <p:nvSpPr>
          <p:cNvPr id="7" name="TextBox 7"/>
          <p:cNvSpPr txBox="1"/>
          <p:nvPr/>
        </p:nvSpPr>
        <p:spPr>
          <a:xfrm>
            <a:off x="921543" y="3168257"/>
            <a:ext cx="15244428" cy="722017"/>
          </a:xfrm>
          <a:prstGeom prst="rect">
            <a:avLst/>
          </a:prstGeom>
        </p:spPr>
        <p:txBody>
          <a:bodyPr lIns="0" tIns="0" rIns="0" bIns="0" rtlCol="0" anchor="t">
            <a:spAutoFit/>
          </a:bodyPr>
          <a:lstStyle/>
          <a:p>
            <a:pPr algn="l">
              <a:lnSpc>
                <a:spcPts val="5039"/>
              </a:lnSpc>
            </a:pPr>
            <a:r>
              <a:rPr lang="en-US" sz="3999" b="1">
                <a:solidFill>
                  <a:srgbClr val="A42F0F"/>
                </a:solidFill>
                <a:latin typeface="Futura Ultra-Bold"/>
                <a:ea typeface="Futura Ultra-Bold"/>
                <a:cs typeface="Futura Ultra-Bold"/>
                <a:sym typeface="Futura Ultra-Bold"/>
              </a:rPr>
              <a:t>BIBLIOGRAFÍA</a:t>
            </a:r>
          </a:p>
        </p:txBody>
      </p:sp>
      <p:sp>
        <p:nvSpPr>
          <p:cNvPr id="8" name="Freeform 8"/>
          <p:cNvSpPr/>
          <p:nvPr/>
        </p:nvSpPr>
        <p:spPr>
          <a:xfrm flipH="1">
            <a:off x="9603984" y="3263802"/>
            <a:ext cx="8684016" cy="7023198"/>
          </a:xfrm>
          <a:custGeom>
            <a:avLst/>
            <a:gdLst/>
            <a:ahLst/>
            <a:cxnLst/>
            <a:rect l="l" t="t" r="r" b="b"/>
            <a:pathLst>
              <a:path w="8684016" h="7023198">
                <a:moveTo>
                  <a:pt x="8684016" y="0"/>
                </a:moveTo>
                <a:lnTo>
                  <a:pt x="0" y="0"/>
                </a:lnTo>
                <a:lnTo>
                  <a:pt x="0" y="7023198"/>
                </a:lnTo>
                <a:lnTo>
                  <a:pt x="8684016" y="7023198"/>
                </a:lnTo>
                <a:lnTo>
                  <a:pt x="8684016"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7909631" y="8188044"/>
            <a:ext cx="10631292" cy="2232571"/>
          </a:xfrm>
          <a:custGeom>
            <a:avLst/>
            <a:gdLst/>
            <a:ahLst/>
            <a:cxnLst/>
            <a:rect l="l" t="t" r="r" b="b"/>
            <a:pathLst>
              <a:path w="10631292" h="2232571">
                <a:moveTo>
                  <a:pt x="0" y="2232571"/>
                </a:moveTo>
                <a:lnTo>
                  <a:pt x="10631292" y="2232571"/>
                </a:lnTo>
                <a:lnTo>
                  <a:pt x="10631292" y="0"/>
                </a:lnTo>
                <a:lnTo>
                  <a:pt x="0" y="0"/>
                </a:lnTo>
                <a:lnTo>
                  <a:pt x="0" y="2232571"/>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751968" y="0"/>
            <a:ext cx="11086125" cy="2372699"/>
            <a:chOff x="0" y="0"/>
            <a:chExt cx="1601814" cy="342827"/>
          </a:xfrm>
        </p:grpSpPr>
        <p:sp>
          <p:nvSpPr>
            <p:cNvPr id="4" name="Freeform 4"/>
            <p:cNvSpPr/>
            <p:nvPr/>
          </p:nvSpPr>
          <p:spPr>
            <a:xfrm>
              <a:off x="0" y="0"/>
              <a:ext cx="1601814" cy="342827"/>
            </a:xfrm>
            <a:custGeom>
              <a:avLst/>
              <a:gdLst/>
              <a:ahLst/>
              <a:cxnLst/>
              <a:rect l="l" t="t" r="r" b="b"/>
              <a:pathLst>
                <a:path w="1601814" h="342827">
                  <a:moveTo>
                    <a:pt x="203200" y="0"/>
                  </a:moveTo>
                  <a:lnTo>
                    <a:pt x="1601814" y="0"/>
                  </a:lnTo>
                  <a:lnTo>
                    <a:pt x="1398614" y="342827"/>
                  </a:lnTo>
                  <a:lnTo>
                    <a:pt x="0" y="342827"/>
                  </a:lnTo>
                  <a:lnTo>
                    <a:pt x="203200" y="0"/>
                  </a:lnTo>
                  <a:close/>
                </a:path>
              </a:pathLst>
            </a:custGeom>
            <a:solidFill>
              <a:srgbClr val="E38C26">
                <a:alpha val="14902"/>
              </a:srgbClr>
            </a:solidFill>
          </p:spPr>
        </p:sp>
        <p:sp>
          <p:nvSpPr>
            <p:cNvPr id="5" name="TextBox 5"/>
            <p:cNvSpPr txBox="1"/>
            <p:nvPr/>
          </p:nvSpPr>
          <p:spPr>
            <a:xfrm>
              <a:off x="101600" y="-47625"/>
              <a:ext cx="1398614" cy="390452"/>
            </a:xfrm>
            <a:prstGeom prst="rect">
              <a:avLst/>
            </a:prstGeom>
          </p:spPr>
          <p:txBody>
            <a:bodyPr lIns="50800" tIns="50800" rIns="50800" bIns="50800" rtlCol="0" anchor="ctr"/>
            <a:lstStyle/>
            <a:p>
              <a:pPr algn="ctr">
                <a:lnSpc>
                  <a:spcPts val="3220"/>
                </a:lnSpc>
              </a:pPr>
              <a:endParaRPr/>
            </a:p>
          </p:txBody>
        </p:sp>
      </p:grpSp>
      <p:grpSp>
        <p:nvGrpSpPr>
          <p:cNvPr id="6" name="Group 6"/>
          <p:cNvGrpSpPr/>
          <p:nvPr/>
        </p:nvGrpSpPr>
        <p:grpSpPr>
          <a:xfrm>
            <a:off x="945347" y="6678155"/>
            <a:ext cx="8305457" cy="3656470"/>
            <a:chOff x="0" y="0"/>
            <a:chExt cx="1286733" cy="566483"/>
          </a:xfrm>
        </p:grpSpPr>
        <p:sp>
          <p:nvSpPr>
            <p:cNvPr id="7" name="Freeform 7"/>
            <p:cNvSpPr/>
            <p:nvPr/>
          </p:nvSpPr>
          <p:spPr>
            <a:xfrm>
              <a:off x="0" y="0"/>
              <a:ext cx="1286733" cy="566483"/>
            </a:xfrm>
            <a:custGeom>
              <a:avLst/>
              <a:gdLst/>
              <a:ahLst/>
              <a:cxnLst/>
              <a:rect l="l" t="t" r="r" b="b"/>
              <a:pathLst>
                <a:path w="1286733" h="566483">
                  <a:moveTo>
                    <a:pt x="0" y="0"/>
                  </a:moveTo>
                  <a:lnTo>
                    <a:pt x="1286733" y="0"/>
                  </a:lnTo>
                  <a:lnTo>
                    <a:pt x="1286733" y="566483"/>
                  </a:lnTo>
                  <a:lnTo>
                    <a:pt x="0" y="566483"/>
                  </a:lnTo>
                  <a:close/>
                </a:path>
              </a:pathLst>
            </a:custGeom>
            <a:blipFill>
              <a:blip r:embed="rId4"/>
              <a:stretch>
                <a:fillRect t="-15161" b="-15161"/>
              </a:stretch>
            </a:blipFill>
            <a:ln cap="sq">
              <a:noFill/>
              <a:prstDash val="solid"/>
              <a:miter/>
            </a:ln>
          </p:spPr>
        </p:sp>
      </p:grpSp>
      <p:grpSp>
        <p:nvGrpSpPr>
          <p:cNvPr id="8" name="Group 8"/>
          <p:cNvGrpSpPr/>
          <p:nvPr/>
        </p:nvGrpSpPr>
        <p:grpSpPr>
          <a:xfrm>
            <a:off x="12458000" y="6499146"/>
            <a:ext cx="7000297" cy="1099303"/>
            <a:chOff x="0" y="0"/>
            <a:chExt cx="2183103" cy="342827"/>
          </a:xfrm>
        </p:grpSpPr>
        <p:sp>
          <p:nvSpPr>
            <p:cNvPr id="9" name="Freeform 9"/>
            <p:cNvSpPr/>
            <p:nvPr/>
          </p:nvSpPr>
          <p:spPr>
            <a:xfrm>
              <a:off x="0" y="0"/>
              <a:ext cx="2183103" cy="342827"/>
            </a:xfrm>
            <a:custGeom>
              <a:avLst/>
              <a:gdLst/>
              <a:ahLst/>
              <a:cxnLst/>
              <a:rect l="l" t="t" r="r" b="b"/>
              <a:pathLst>
                <a:path w="2183103" h="342827">
                  <a:moveTo>
                    <a:pt x="203200" y="0"/>
                  </a:moveTo>
                  <a:lnTo>
                    <a:pt x="2183103" y="0"/>
                  </a:lnTo>
                  <a:lnTo>
                    <a:pt x="1979903" y="342827"/>
                  </a:lnTo>
                  <a:lnTo>
                    <a:pt x="0" y="342827"/>
                  </a:lnTo>
                  <a:lnTo>
                    <a:pt x="203200" y="0"/>
                  </a:lnTo>
                  <a:close/>
                </a:path>
              </a:pathLst>
            </a:custGeom>
            <a:solidFill>
              <a:srgbClr val="E38C26">
                <a:alpha val="14902"/>
              </a:srgbClr>
            </a:solidFill>
          </p:spPr>
        </p:sp>
        <p:sp>
          <p:nvSpPr>
            <p:cNvPr id="10" name="TextBox 10"/>
            <p:cNvSpPr txBox="1"/>
            <p:nvPr/>
          </p:nvSpPr>
          <p:spPr>
            <a:xfrm>
              <a:off x="101600" y="-47625"/>
              <a:ext cx="1979903" cy="390452"/>
            </a:xfrm>
            <a:prstGeom prst="rect">
              <a:avLst/>
            </a:prstGeom>
          </p:spPr>
          <p:txBody>
            <a:bodyPr lIns="50800" tIns="50800" rIns="50800" bIns="50800" rtlCol="0" anchor="ctr"/>
            <a:lstStyle/>
            <a:p>
              <a:pPr algn="ctr">
                <a:lnSpc>
                  <a:spcPts val="3220"/>
                </a:lnSpc>
              </a:pPr>
              <a:endParaRPr/>
            </a:p>
          </p:txBody>
        </p:sp>
      </p:grpSp>
      <p:sp>
        <p:nvSpPr>
          <p:cNvPr id="11" name="TextBox 11"/>
          <p:cNvSpPr txBox="1"/>
          <p:nvPr/>
        </p:nvSpPr>
        <p:spPr>
          <a:xfrm>
            <a:off x="945347" y="3753814"/>
            <a:ext cx="7855320" cy="2951911"/>
          </a:xfrm>
          <a:prstGeom prst="rect">
            <a:avLst/>
          </a:prstGeom>
        </p:spPr>
        <p:txBody>
          <a:bodyPr lIns="0" tIns="0" rIns="0" bIns="0" rtlCol="0" anchor="t">
            <a:spAutoFit/>
          </a:bodyPr>
          <a:lstStyle/>
          <a:p>
            <a:pPr algn="l">
              <a:lnSpc>
                <a:spcPts val="21070"/>
              </a:lnSpc>
            </a:pPr>
            <a:r>
              <a:rPr lang="en-US" sz="16722">
                <a:solidFill>
                  <a:srgbClr val="A42F0F"/>
                </a:solidFill>
                <a:latin typeface="Impact"/>
                <a:ea typeface="Impact"/>
                <a:cs typeface="Impact"/>
                <a:sym typeface="Impact"/>
              </a:rPr>
              <a:t>GRACIAS </a:t>
            </a:r>
          </a:p>
        </p:txBody>
      </p:sp>
      <p:sp>
        <p:nvSpPr>
          <p:cNvPr id="12" name="Freeform 12"/>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9696</Words>
  <Application>Microsoft Office PowerPoint</Application>
  <PresentationFormat>Personalizado</PresentationFormat>
  <Paragraphs>329</Paragraphs>
  <Slides>84</Slides>
  <Notes>0</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84</vt:i4>
      </vt:variant>
    </vt:vector>
  </HeadingPairs>
  <TitlesOfParts>
    <vt:vector size="94" baseType="lpstr">
      <vt:lpstr>Inter</vt:lpstr>
      <vt:lpstr>Calibri</vt:lpstr>
      <vt:lpstr>Montserrat Bold</vt:lpstr>
      <vt:lpstr>Inter Bold</vt:lpstr>
      <vt:lpstr>Inter Italics</vt:lpstr>
      <vt:lpstr>Futura Ultra-Bold</vt:lpstr>
      <vt:lpstr>Impact</vt:lpstr>
      <vt:lpstr>Montserrat</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05 Y 06 - RESPONSABILIDAD SOCIAL, DERECHOS DE LAS COMUNIDADES Y RESOLUCIÓN DE CONFLICTOS</dc:title>
  <cp:lastModifiedBy>Video Conferencias</cp:lastModifiedBy>
  <cp:revision>3</cp:revision>
  <dcterms:created xsi:type="dcterms:W3CDTF">2006-08-16T00:00:00Z</dcterms:created>
  <dcterms:modified xsi:type="dcterms:W3CDTF">2025-10-23T22:00:55Z</dcterms:modified>
  <dc:identifier>DAGrX8H1hDk</dc:identifier>
</cp:coreProperties>
</file>