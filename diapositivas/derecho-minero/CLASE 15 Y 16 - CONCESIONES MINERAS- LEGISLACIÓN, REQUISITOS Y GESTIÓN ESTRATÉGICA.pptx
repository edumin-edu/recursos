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427" r:id="rId2"/>
    <p:sldId id="257" r:id="rId3"/>
    <p:sldId id="428" r:id="rId4"/>
    <p:sldId id="375" r:id="rId5"/>
    <p:sldId id="259" r:id="rId6"/>
    <p:sldId id="306" r:id="rId7"/>
    <p:sldId id="307" r:id="rId8"/>
    <p:sldId id="332" r:id="rId9"/>
    <p:sldId id="333" r:id="rId10"/>
    <p:sldId id="346" r:id="rId11"/>
    <p:sldId id="334" r:id="rId12"/>
    <p:sldId id="309" r:id="rId13"/>
    <p:sldId id="335" r:id="rId14"/>
    <p:sldId id="310" r:id="rId15"/>
    <p:sldId id="336" r:id="rId16"/>
    <p:sldId id="327" r:id="rId17"/>
    <p:sldId id="269" r:id="rId18"/>
    <p:sldId id="270" r:id="rId19"/>
    <p:sldId id="311" r:id="rId20"/>
    <p:sldId id="340" r:id="rId21"/>
    <p:sldId id="312" r:id="rId22"/>
    <p:sldId id="341" r:id="rId23"/>
    <p:sldId id="330" r:id="rId24"/>
    <p:sldId id="331" r:id="rId25"/>
    <p:sldId id="371" r:id="rId26"/>
    <p:sldId id="372" r:id="rId27"/>
    <p:sldId id="373" r:id="rId28"/>
    <p:sldId id="374" r:id="rId29"/>
    <p:sldId id="280" r:id="rId30"/>
    <p:sldId id="281" r:id="rId31"/>
    <p:sldId id="315" r:id="rId32"/>
    <p:sldId id="316" r:id="rId33"/>
    <p:sldId id="376" r:id="rId34"/>
    <p:sldId id="377" r:id="rId35"/>
    <p:sldId id="378" r:id="rId36"/>
    <p:sldId id="379" r:id="rId37"/>
    <p:sldId id="380" r:id="rId38"/>
    <p:sldId id="381" r:id="rId39"/>
    <p:sldId id="382" r:id="rId40"/>
    <p:sldId id="383" r:id="rId41"/>
    <p:sldId id="384" r:id="rId42"/>
    <p:sldId id="385" r:id="rId43"/>
    <p:sldId id="386" r:id="rId44"/>
    <p:sldId id="387" r:id="rId45"/>
    <p:sldId id="388" r:id="rId46"/>
    <p:sldId id="389" r:id="rId47"/>
    <p:sldId id="390" r:id="rId48"/>
    <p:sldId id="391" r:id="rId49"/>
    <p:sldId id="294" r:id="rId50"/>
    <p:sldId id="260" r:id="rId51"/>
    <p:sldId id="342" r:id="rId52"/>
    <p:sldId id="392" r:id="rId53"/>
    <p:sldId id="393" r:id="rId54"/>
    <p:sldId id="320" r:id="rId55"/>
    <p:sldId id="343" r:id="rId56"/>
    <p:sldId id="325" r:id="rId57"/>
    <p:sldId id="394" r:id="rId58"/>
    <p:sldId id="395" r:id="rId59"/>
    <p:sldId id="396" r:id="rId60"/>
    <p:sldId id="397" r:id="rId61"/>
    <p:sldId id="398" r:id="rId62"/>
    <p:sldId id="399" r:id="rId63"/>
    <p:sldId id="400" r:id="rId64"/>
    <p:sldId id="401" r:id="rId65"/>
    <p:sldId id="402" r:id="rId66"/>
    <p:sldId id="403" r:id="rId67"/>
    <p:sldId id="404" r:id="rId68"/>
    <p:sldId id="405" r:id="rId69"/>
    <p:sldId id="406" r:id="rId70"/>
    <p:sldId id="407" r:id="rId71"/>
    <p:sldId id="408" r:id="rId72"/>
    <p:sldId id="410" r:id="rId73"/>
    <p:sldId id="411" r:id="rId74"/>
    <p:sldId id="409" r:id="rId75"/>
    <p:sldId id="412" r:id="rId76"/>
    <p:sldId id="413" r:id="rId77"/>
    <p:sldId id="414" r:id="rId78"/>
    <p:sldId id="415" r:id="rId79"/>
    <p:sldId id="416" r:id="rId80"/>
    <p:sldId id="417" r:id="rId81"/>
    <p:sldId id="419" r:id="rId82"/>
    <p:sldId id="420" r:id="rId83"/>
    <p:sldId id="421" r:id="rId84"/>
    <p:sldId id="422" r:id="rId85"/>
    <p:sldId id="418" r:id="rId86"/>
    <p:sldId id="423" r:id="rId87"/>
    <p:sldId id="424" r:id="rId88"/>
    <p:sldId id="425" r:id="rId89"/>
    <p:sldId id="426" r:id="rId90"/>
    <p:sldId id="304" r:id="rId91"/>
    <p:sldId id="305" r:id="rId92"/>
  </p:sldIdLst>
  <p:sldSz cx="18288000" cy="10287000"/>
  <p:notesSz cx="6858000" cy="9144000"/>
  <p:embeddedFontLst>
    <p:embeddedFont>
      <p:font typeface="Tahoma" pitchFamily="34" charset="0"/>
      <p:regular r:id="rId93"/>
      <p:bold r:id="rId94"/>
    </p:embeddedFont>
    <p:embeddedFont>
      <p:font typeface="Futura Ultra-Bold" charset="0"/>
      <p:regular r:id="rId95"/>
    </p:embeddedFont>
    <p:embeddedFont>
      <p:font typeface="Inter Bold" charset="0"/>
      <p:regular r:id="rId96"/>
    </p:embeddedFont>
    <p:embeddedFont>
      <p:font typeface="Montserrat Bold" charset="0"/>
      <p:regular r:id="rId97"/>
      <p:bold r:id="rId98"/>
    </p:embeddedFont>
    <p:embeddedFont>
      <p:font typeface="Montserrat" charset="0"/>
      <p:regular r:id="rId99"/>
      <p:bold r:id="rId100"/>
      <p:italic r:id="rId101"/>
      <p:boldItalic r:id="rId102"/>
    </p:embeddedFont>
    <p:embeddedFont>
      <p:font typeface="Impact" pitchFamily="34" charset="0"/>
      <p:regular r:id="rId103"/>
    </p:embeddedFont>
    <p:embeddedFont>
      <p:font typeface="Calibri" pitchFamily="34" charset="0"/>
      <p:regular r:id="rId104"/>
      <p:bold r:id="rId105"/>
      <p:italic r:id="rId106"/>
      <p:boldItalic r:id="rId10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p:cViewPr>
        <p:scale>
          <a:sx n="50" d="100"/>
          <a:sy n="50" d="100"/>
        </p:scale>
        <p:origin x="-42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font" Target="fonts/font15.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font" Target="fonts/font10.fntdata"/><Relationship Id="rId110"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font" Target="fonts/font8.fntdata"/><Relationship Id="rId105"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font" Target="fonts/font1.fntdata"/><Relationship Id="rId98"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font" Target="fonts/font11.fntdata"/><Relationship Id="rId10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font" Target="fonts/font4.fntdata"/><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2.fntdata"/><Relationship Id="rId99" Type="http://schemas.openxmlformats.org/officeDocument/2006/relationships/font" Target="fonts/font7.fntdata"/><Relationship Id="rId10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5.fntdata"/><Relationship Id="rId104"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2.jpeg"/><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0.jpe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3.svg"/><Relationship Id="rId7"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0.jpe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9.jpeg"/><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0.jpe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0.jpe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4.jpeg"/><Relationship Id="rId4" Type="http://schemas.openxmlformats.org/officeDocument/2006/relationships/image" Target="../media/image23.jpeg"/></Relationships>
</file>

<file path=ppt/slides/_rels/slide5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5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4.jpeg"/><Relationship Id="rId4" Type="http://schemas.openxmlformats.org/officeDocument/2006/relationships/image" Target="../media/image23.jpeg"/></Relationships>
</file>

<file path=ppt/slides/_rels/slide6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7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8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4.jpeg"/><Relationship Id="rId4" Type="http://schemas.openxmlformats.org/officeDocument/2006/relationships/image" Target="../media/image23.jpeg"/></Relationships>
</file>

<file path=ppt/slides/_rels/slide8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png"/></Relationships>
</file>

<file path=ppt/slides/_rels/slide8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defensoria.gob.pe/" TargetMode="External"/><Relationship Id="rId5" Type="http://schemas.openxmlformats.org/officeDocument/2006/relationships/hyperlink" Target="https://www.minem.gob.pe/" TargetMode="External"/><Relationship Id="rId4" Type="http://schemas.openxmlformats.org/officeDocument/2006/relationships/image" Target="../media/image6.png"/></Relationships>
</file>

<file path=ppt/slides/_rels/slide9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814948" y="8081549"/>
            <a:ext cx="12561411"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14006833" y="0"/>
            <a:ext cx="4281167" cy="4518382"/>
          </a:xfrm>
          <a:custGeom>
            <a:avLst/>
            <a:gdLst/>
            <a:ahLst/>
            <a:cxnLst/>
            <a:rect l="l" t="t" r="r" b="b"/>
            <a:pathLst>
              <a:path w="4281167" h="4518382">
                <a:moveTo>
                  <a:pt x="4281167" y="4518382"/>
                </a:moveTo>
                <a:lnTo>
                  <a:pt x="0" y="4518382"/>
                </a:lnTo>
                <a:lnTo>
                  <a:pt x="0" y="0"/>
                </a:lnTo>
                <a:lnTo>
                  <a:pt x="4281167" y="0"/>
                </a:lnTo>
                <a:lnTo>
                  <a:pt x="4281167" y="4518382"/>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4" name="AutoShape 4"/>
          <p:cNvSpPr/>
          <p:nvPr/>
        </p:nvSpPr>
        <p:spPr>
          <a:xfrm>
            <a:off x="4928825" y="4654532"/>
            <a:ext cx="8430351" cy="0"/>
          </a:xfrm>
          <a:prstGeom prst="line">
            <a:avLst/>
          </a:prstGeom>
          <a:ln w="57150" cap="flat">
            <a:solidFill>
              <a:srgbClr val="E38C26"/>
            </a:solidFill>
            <a:prstDash val="solid"/>
            <a:headEnd type="none" w="sm" len="sm"/>
            <a:tailEnd type="none" w="sm" len="sm"/>
          </a:ln>
        </p:spPr>
      </p:sp>
      <p:sp>
        <p:nvSpPr>
          <p:cNvPr id="5" name="Freeform 5"/>
          <p:cNvSpPr/>
          <p:nvPr/>
        </p:nvSpPr>
        <p:spPr>
          <a:xfrm>
            <a:off x="-538785" y="-761660"/>
            <a:ext cx="3580720" cy="3580720"/>
          </a:xfrm>
          <a:custGeom>
            <a:avLst/>
            <a:gdLst/>
            <a:ahLst/>
            <a:cxnLst/>
            <a:rect l="l" t="t" r="r" b="b"/>
            <a:pathLst>
              <a:path w="3580720" h="3580720">
                <a:moveTo>
                  <a:pt x="0" y="0"/>
                </a:moveTo>
                <a:lnTo>
                  <a:pt x="3580720" y="0"/>
                </a:lnTo>
                <a:lnTo>
                  <a:pt x="3580720" y="3580720"/>
                </a:lnTo>
                <a:lnTo>
                  <a:pt x="0" y="3580720"/>
                </a:lnTo>
                <a:lnTo>
                  <a:pt x="0" y="0"/>
                </a:lnTo>
                <a:close/>
              </a:path>
            </a:pathLst>
          </a:custGeom>
          <a:blipFill>
            <a:blip r:embed="rId6"/>
            <a:stretch>
              <a:fillRect/>
            </a:stretch>
          </a:blipFill>
        </p:spPr>
      </p:sp>
      <p:sp>
        <p:nvSpPr>
          <p:cNvPr id="6" name="TextBox 6"/>
          <p:cNvSpPr txBox="1"/>
          <p:nvPr/>
        </p:nvSpPr>
        <p:spPr>
          <a:xfrm>
            <a:off x="1620679" y="2622406"/>
            <a:ext cx="15046641" cy="1538883"/>
          </a:xfrm>
          <a:prstGeom prst="rect">
            <a:avLst/>
          </a:prstGeom>
        </p:spPr>
        <p:txBody>
          <a:bodyPr lIns="0" tIns="0" rIns="0" bIns="0" rtlCol="0" anchor="t">
            <a:spAutoFit/>
          </a:bodyPr>
          <a:lstStyle/>
          <a:p>
            <a:pPr algn="ctr">
              <a:lnSpc>
                <a:spcPts val="5981"/>
              </a:lnSpc>
            </a:pPr>
            <a:r>
              <a:rPr lang="es-PE" sz="5069" b="1" dirty="0">
                <a:solidFill>
                  <a:srgbClr val="222023"/>
                </a:solidFill>
                <a:latin typeface="Montserrat Bold"/>
                <a:ea typeface="Montserrat Bold"/>
                <a:cs typeface="Montserrat Bold"/>
                <a:sym typeface="Montserrat Bold"/>
              </a:rPr>
              <a:t>DIPLOMADO DE ALTA ESPECIALIZACIÓN EN DERECHO MINERO</a:t>
            </a:r>
          </a:p>
        </p:txBody>
      </p:sp>
      <p:sp>
        <p:nvSpPr>
          <p:cNvPr id="7" name="TextBox 7"/>
          <p:cNvSpPr txBox="1"/>
          <p:nvPr/>
        </p:nvSpPr>
        <p:spPr>
          <a:xfrm>
            <a:off x="2590801" y="5823066"/>
            <a:ext cx="13106400" cy="1039067"/>
          </a:xfrm>
          <a:prstGeom prst="rect">
            <a:avLst/>
          </a:prstGeom>
        </p:spPr>
        <p:txBody>
          <a:bodyPr wrap="square" lIns="0" tIns="0" rIns="0" bIns="0" rtlCol="0" anchor="t">
            <a:spAutoFit/>
          </a:bodyPr>
          <a:lstStyle/>
          <a:p>
            <a:pPr algn="ctr">
              <a:lnSpc>
                <a:spcPts val="4256"/>
              </a:lnSpc>
            </a:pPr>
            <a:r>
              <a:rPr lang="es-PE" sz="3299" b="1" dirty="0">
                <a:solidFill>
                  <a:srgbClr val="A42F0F"/>
                </a:solidFill>
                <a:latin typeface="Futura Ultra-Bold"/>
                <a:ea typeface="Futura Ultra-Bold"/>
                <a:cs typeface="Futura Ultra-Bold"/>
                <a:sym typeface="Futura Ultra-Bold"/>
              </a:rPr>
              <a:t>CLASE 15 Y 16: CONCESIONES MINERAS: LEGISLACIÓN, REQUISITOS Y GESTIÓN ESTRATÉGICA</a:t>
            </a:r>
          </a:p>
        </p:txBody>
      </p:sp>
      <p:sp>
        <p:nvSpPr>
          <p:cNvPr id="8" name="TextBox 8"/>
          <p:cNvSpPr txBox="1"/>
          <p:nvPr/>
        </p:nvSpPr>
        <p:spPr>
          <a:xfrm>
            <a:off x="955697" y="4768832"/>
            <a:ext cx="16376606" cy="405763"/>
          </a:xfrm>
          <a:prstGeom prst="rect">
            <a:avLst/>
          </a:prstGeom>
        </p:spPr>
        <p:txBody>
          <a:bodyPr lIns="0" tIns="0" rIns="0" bIns="0" rtlCol="0" anchor="t">
            <a:spAutoFit/>
          </a:bodyPr>
          <a:lstStyle/>
          <a:p>
            <a:pPr algn="ctr">
              <a:lnSpc>
                <a:spcPts val="3360"/>
              </a:lnSpc>
            </a:pPr>
            <a:r>
              <a:rPr lang="es-PE" sz="2400" b="1" dirty="0">
                <a:solidFill>
                  <a:srgbClr val="222023"/>
                </a:solidFill>
                <a:latin typeface="Inter Bold"/>
                <a:ea typeface="Inter Bold"/>
                <a:cs typeface="Inter Bold"/>
                <a:sym typeface="Inter Bold"/>
              </a:rPr>
              <a:t>MÓDULO III: GESTIÓN CONTRACTUAL, CONCESIONES Y RESPONSABILIDADES DE LOS TITULARES MINEROS</a:t>
            </a:r>
          </a:p>
        </p:txBody>
      </p:sp>
      <p:sp>
        <p:nvSpPr>
          <p:cNvPr id="9" name="TextBox 9"/>
          <p:cNvSpPr txBox="1"/>
          <p:nvPr/>
        </p:nvSpPr>
        <p:spPr>
          <a:xfrm>
            <a:off x="12244210" y="9210675"/>
            <a:ext cx="5638330" cy="860425"/>
          </a:xfrm>
          <a:prstGeom prst="rect">
            <a:avLst/>
          </a:prstGeom>
        </p:spPr>
        <p:txBody>
          <a:bodyPr lIns="0" tIns="0" rIns="0" bIns="0" rtlCol="0" anchor="t">
            <a:spAutoFit/>
          </a:bodyPr>
          <a:lstStyle/>
          <a:p>
            <a:pPr algn="l">
              <a:lnSpc>
                <a:spcPts val="3500"/>
              </a:lnSpc>
            </a:pPr>
            <a:r>
              <a:rPr lang="es-PE" sz="2500" dirty="0">
                <a:solidFill>
                  <a:srgbClr val="000000"/>
                </a:solidFill>
                <a:latin typeface="Montserrat"/>
                <a:ea typeface="Montserrat"/>
                <a:cs typeface="Montserrat"/>
                <a:sym typeface="Montserrat"/>
              </a:rPr>
              <a:t>PRESENTADO POR: </a:t>
            </a:r>
          </a:p>
          <a:p>
            <a:pPr algn="l">
              <a:lnSpc>
                <a:spcPts val="3500"/>
              </a:lnSpc>
            </a:pPr>
            <a:r>
              <a:rPr lang="es-PE" sz="2500" dirty="0">
                <a:solidFill>
                  <a:srgbClr val="000000"/>
                </a:solidFill>
                <a:latin typeface="Montserrat"/>
                <a:ea typeface="Montserrat"/>
                <a:cs typeface="Montserrat"/>
                <a:sym typeface="Montserrat"/>
              </a:rPr>
              <a:t>ABG. ANDREA TEJADA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0" y="-2066"/>
            <a:ext cx="10101436" cy="3962400"/>
            <a:chOff x="0" y="0"/>
            <a:chExt cx="600156" cy="215144"/>
          </a:xfrm>
        </p:grpSpPr>
        <p:sp>
          <p:nvSpPr>
            <p:cNvPr id="3" name="Freeform 3"/>
            <p:cNvSpPr/>
            <p:nvPr/>
          </p:nvSpPr>
          <p:spPr>
            <a:xfrm>
              <a:off x="0" y="0"/>
              <a:ext cx="600156" cy="215144"/>
            </a:xfrm>
            <a:custGeom>
              <a:avLst/>
              <a:gdLst/>
              <a:ahLst/>
              <a:cxnLst/>
              <a:rect l="l" t="t" r="r" b="b"/>
              <a:pathLst>
                <a:path w="600156" h="215144">
                  <a:moveTo>
                    <a:pt x="396956" y="0"/>
                  </a:moveTo>
                  <a:lnTo>
                    <a:pt x="0" y="0"/>
                  </a:lnTo>
                  <a:lnTo>
                    <a:pt x="203200" y="215144"/>
                  </a:lnTo>
                  <a:lnTo>
                    <a:pt x="600156" y="215144"/>
                  </a:lnTo>
                  <a:lnTo>
                    <a:pt x="396956" y="0"/>
                  </a:lnTo>
                  <a:close/>
                </a:path>
              </a:pathLst>
            </a:custGeom>
            <a:blipFill>
              <a:blip r:embed="rId2"/>
              <a:stretch>
                <a:fillRect t="-36650" b="-36650"/>
              </a:stretch>
            </a:blipFill>
          </p:spPr>
        </p:sp>
      </p:grpSp>
      <p:sp>
        <p:nvSpPr>
          <p:cNvPr id="4" name="Freeform 4"/>
          <p:cNvSpPr/>
          <p:nvPr/>
        </p:nvSpPr>
        <p:spPr>
          <a:xfrm flipH="1">
            <a:off x="9603984" y="3297420"/>
            <a:ext cx="8684016" cy="7023198"/>
          </a:xfrm>
          <a:custGeom>
            <a:avLst/>
            <a:gdLst/>
            <a:ahLst/>
            <a:cxnLst/>
            <a:rect l="l" t="t" r="r" b="b"/>
            <a:pathLst>
              <a:path w="8684016" h="7023198">
                <a:moveTo>
                  <a:pt x="8684016" y="0"/>
                </a:moveTo>
                <a:lnTo>
                  <a:pt x="0" y="0"/>
                </a:lnTo>
                <a:lnTo>
                  <a:pt x="0" y="7023197"/>
                </a:lnTo>
                <a:lnTo>
                  <a:pt x="8684016" y="7023197"/>
                </a:lnTo>
                <a:lnTo>
                  <a:pt x="8684016"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solid"/>
            <a:miter/>
          </a:ln>
        </p:spPr>
      </p:sp>
      <p:grpSp>
        <p:nvGrpSpPr>
          <p:cNvPr id="5" name="Group 5"/>
          <p:cNvGrpSpPr/>
          <p:nvPr/>
        </p:nvGrpSpPr>
        <p:grpSpPr>
          <a:xfrm>
            <a:off x="4201208" y="8357434"/>
            <a:ext cx="7629069" cy="1796816"/>
            <a:chOff x="0" y="0"/>
            <a:chExt cx="752497" cy="177230"/>
          </a:xfrm>
        </p:grpSpPr>
        <p:sp>
          <p:nvSpPr>
            <p:cNvPr id="6" name="Freeform 6"/>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7" name="TextBox 7"/>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
        <p:nvSpPr>
          <p:cNvPr id="8" name="Freeform 8"/>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sp>
        <p:nvSpPr>
          <p:cNvPr id="9" name="TextBox 9"/>
          <p:cNvSpPr txBox="1"/>
          <p:nvPr/>
        </p:nvSpPr>
        <p:spPr>
          <a:xfrm>
            <a:off x="685800" y="4516251"/>
            <a:ext cx="14554200" cy="1309718"/>
          </a:xfrm>
          <a:prstGeom prst="rect">
            <a:avLst/>
          </a:prstGeom>
        </p:spPr>
        <p:txBody>
          <a:bodyPr wrap="square" lIns="0" tIns="0" rIns="0" bIns="0" rtlCol="0" anchor="t">
            <a:spAutoFit/>
          </a:bodyPr>
          <a:lstStyle/>
          <a:p>
            <a:pPr algn="just">
              <a:lnSpc>
                <a:spcPts val="3500"/>
              </a:lnSpc>
            </a:pPr>
            <a:endParaRPr lang="es-PE" sz="2500" dirty="0">
              <a:solidFill>
                <a:srgbClr val="222023"/>
              </a:solidFill>
              <a:latin typeface="Inter"/>
              <a:ea typeface="Inter"/>
              <a:cs typeface="Inter"/>
              <a:sym typeface="Inter"/>
            </a:endParaRPr>
          </a:p>
          <a:p>
            <a:pPr algn="just">
              <a:lnSpc>
                <a:spcPts val="3500"/>
              </a:lnSpc>
            </a:pPr>
            <a:endParaRPr lang="es-PE" sz="2500" dirty="0">
              <a:solidFill>
                <a:srgbClr val="222023"/>
              </a:solidFill>
              <a:latin typeface="Inter"/>
              <a:ea typeface="Inter"/>
              <a:cs typeface="Inter"/>
              <a:sym typeface="Inter"/>
            </a:endParaRPr>
          </a:p>
          <a:p>
            <a:pPr algn="just">
              <a:lnSpc>
                <a:spcPts val="3500"/>
              </a:lnSpc>
            </a:pPr>
            <a:endParaRPr lang="es-PE" sz="2500" dirty="0">
              <a:solidFill>
                <a:srgbClr val="222023"/>
              </a:solidFill>
              <a:latin typeface="Inter"/>
              <a:ea typeface="Inter"/>
              <a:cs typeface="Inter"/>
              <a:sym typeface="Inter"/>
            </a:endParaRPr>
          </a:p>
        </p:txBody>
      </p:sp>
      <p:sp>
        <p:nvSpPr>
          <p:cNvPr id="10" name="TextBox 10"/>
          <p:cNvSpPr txBox="1"/>
          <p:nvPr/>
        </p:nvSpPr>
        <p:spPr>
          <a:xfrm>
            <a:off x="1028700" y="2522438"/>
            <a:ext cx="9108526" cy="1099660"/>
          </a:xfrm>
          <a:prstGeom prst="rect">
            <a:avLst/>
          </a:prstGeom>
        </p:spPr>
        <p:txBody>
          <a:bodyPr lIns="0" tIns="0" rIns="0" bIns="0" rtlCol="0" anchor="t">
            <a:spAutoFit/>
          </a:bodyPr>
          <a:lstStyle/>
          <a:p>
            <a:pPr algn="l">
              <a:lnSpc>
                <a:spcPts val="9799"/>
              </a:lnSpc>
            </a:pPr>
            <a:r>
              <a:rPr lang="es-PE" sz="6999" b="1" dirty="0">
                <a:solidFill>
                  <a:srgbClr val="A42F0F"/>
                </a:solidFill>
                <a:latin typeface="Futura Ultra-Bold"/>
                <a:ea typeface="Futura Ultra-Bold"/>
                <a:cs typeface="Futura Ultra-Bold"/>
                <a:sym typeface="Futura Ultra-Bold"/>
              </a:rPr>
              <a:t>INTRODUCCIÓN</a:t>
            </a:r>
          </a:p>
        </p:txBody>
      </p:sp>
      <p:sp>
        <p:nvSpPr>
          <p:cNvPr id="12" name="CuadroTexto 11">
            <a:extLst>
              <a:ext uri="{FF2B5EF4-FFF2-40B4-BE49-F238E27FC236}">
                <a16:creationId xmlns:a16="http://schemas.microsoft.com/office/drawing/2014/main" xmlns="" id="{949C6E4C-F738-4785-A9B9-2014F23F2731}"/>
              </a:ext>
            </a:extLst>
          </p:cNvPr>
          <p:cNvSpPr txBox="1"/>
          <p:nvPr/>
        </p:nvSpPr>
        <p:spPr>
          <a:xfrm>
            <a:off x="1028700" y="4362195"/>
            <a:ext cx="9944100" cy="4893647"/>
          </a:xfrm>
          <a:prstGeom prst="rect">
            <a:avLst/>
          </a:prstGeom>
          <a:noFill/>
        </p:spPr>
        <p:txBody>
          <a:bodyPr wrap="square">
            <a:spAutoFit/>
          </a:bodyPr>
          <a:lstStyle/>
          <a:p>
            <a:r>
              <a:rPr lang="es-PE" sz="2400" dirty="0">
                <a:latin typeface="Inter" panose="020B0604020202020204" charset="0"/>
                <a:ea typeface="Inter" panose="020B0604020202020204" charset="0"/>
                <a:cs typeface="Inter" panose="020B0604020202020204" charset="0"/>
              </a:rPr>
              <a:t>Las concesiones mineras constituyen la base legal que permite a empresas y personas desarrollar actividades de exploración y explotación de recursos minerales. En el Perú, este proceso está regulado por un marco jurídico específico que establece los requisitos, derechos y obligaciones de los titulares mineros. Comprender la legislación vigente, así como los procedimientos para obtener y mantener una concesión, es fundamental para una gestión estratégica que garantice la sostenibilidad, el cumplimiento normativo y el aprovechamiento eficiente de los recursos. </a:t>
            </a:r>
          </a:p>
          <a:p>
            <a:endParaRPr lang="es-PE" sz="2400"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Esta presentación abordará los aspectos clave de la legislación minera, los requisitos para la obtención de concesiones y las mejores prácticas para su gestión estratégica.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0" y="-2066"/>
            <a:ext cx="10101436" cy="3962400"/>
            <a:chOff x="0" y="0"/>
            <a:chExt cx="600156" cy="215144"/>
          </a:xfrm>
        </p:grpSpPr>
        <p:sp>
          <p:nvSpPr>
            <p:cNvPr id="3" name="Freeform 3"/>
            <p:cNvSpPr/>
            <p:nvPr/>
          </p:nvSpPr>
          <p:spPr>
            <a:xfrm>
              <a:off x="0" y="0"/>
              <a:ext cx="600156" cy="215144"/>
            </a:xfrm>
            <a:custGeom>
              <a:avLst/>
              <a:gdLst/>
              <a:ahLst/>
              <a:cxnLst/>
              <a:rect l="l" t="t" r="r" b="b"/>
              <a:pathLst>
                <a:path w="600156" h="215144">
                  <a:moveTo>
                    <a:pt x="396956" y="0"/>
                  </a:moveTo>
                  <a:lnTo>
                    <a:pt x="0" y="0"/>
                  </a:lnTo>
                  <a:lnTo>
                    <a:pt x="203200" y="215144"/>
                  </a:lnTo>
                  <a:lnTo>
                    <a:pt x="600156" y="215144"/>
                  </a:lnTo>
                  <a:lnTo>
                    <a:pt x="396956" y="0"/>
                  </a:lnTo>
                  <a:close/>
                </a:path>
              </a:pathLst>
            </a:custGeom>
            <a:blipFill>
              <a:blip r:embed="rId2"/>
              <a:stretch>
                <a:fillRect t="-36650" b="-36650"/>
              </a:stretch>
            </a:blipFill>
          </p:spPr>
        </p:sp>
      </p:grpSp>
      <p:sp>
        <p:nvSpPr>
          <p:cNvPr id="4" name="Freeform 4"/>
          <p:cNvSpPr/>
          <p:nvPr/>
        </p:nvSpPr>
        <p:spPr>
          <a:xfrm flipH="1">
            <a:off x="9753600" y="3289142"/>
            <a:ext cx="8684016" cy="7023198"/>
          </a:xfrm>
          <a:custGeom>
            <a:avLst/>
            <a:gdLst/>
            <a:ahLst/>
            <a:cxnLst/>
            <a:rect l="l" t="t" r="r" b="b"/>
            <a:pathLst>
              <a:path w="8684016" h="7023198">
                <a:moveTo>
                  <a:pt x="8684016" y="0"/>
                </a:moveTo>
                <a:lnTo>
                  <a:pt x="0" y="0"/>
                </a:lnTo>
                <a:lnTo>
                  <a:pt x="0" y="7023197"/>
                </a:lnTo>
                <a:lnTo>
                  <a:pt x="8684016" y="7023197"/>
                </a:lnTo>
                <a:lnTo>
                  <a:pt x="8684016"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solid"/>
            <a:miter/>
          </a:ln>
        </p:spPr>
      </p:sp>
      <p:grpSp>
        <p:nvGrpSpPr>
          <p:cNvPr id="5" name="Group 5"/>
          <p:cNvGrpSpPr/>
          <p:nvPr/>
        </p:nvGrpSpPr>
        <p:grpSpPr>
          <a:xfrm>
            <a:off x="4201208" y="8357434"/>
            <a:ext cx="7629069" cy="1796816"/>
            <a:chOff x="0" y="0"/>
            <a:chExt cx="752497" cy="177230"/>
          </a:xfrm>
        </p:grpSpPr>
        <p:sp>
          <p:nvSpPr>
            <p:cNvPr id="6" name="Freeform 6"/>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7" name="TextBox 7"/>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
        <p:nvSpPr>
          <p:cNvPr id="8" name="Freeform 8"/>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sp>
        <p:nvSpPr>
          <p:cNvPr id="9" name="TextBox 9"/>
          <p:cNvSpPr txBox="1"/>
          <p:nvPr/>
        </p:nvSpPr>
        <p:spPr>
          <a:xfrm>
            <a:off x="685800" y="4516251"/>
            <a:ext cx="14554200" cy="1309718"/>
          </a:xfrm>
          <a:prstGeom prst="rect">
            <a:avLst/>
          </a:prstGeom>
        </p:spPr>
        <p:txBody>
          <a:bodyPr wrap="square" lIns="0" tIns="0" rIns="0" bIns="0" rtlCol="0" anchor="t">
            <a:spAutoFit/>
          </a:bodyPr>
          <a:lstStyle/>
          <a:p>
            <a:pPr algn="just">
              <a:lnSpc>
                <a:spcPts val="3500"/>
              </a:lnSpc>
            </a:pPr>
            <a:endParaRPr lang="es-PE" sz="2500" dirty="0">
              <a:solidFill>
                <a:srgbClr val="222023"/>
              </a:solidFill>
              <a:latin typeface="Inter"/>
              <a:ea typeface="Inter"/>
              <a:cs typeface="Inter"/>
              <a:sym typeface="Inter"/>
            </a:endParaRPr>
          </a:p>
          <a:p>
            <a:pPr algn="just">
              <a:lnSpc>
                <a:spcPts val="3500"/>
              </a:lnSpc>
            </a:pPr>
            <a:endParaRPr lang="es-PE" sz="2500" dirty="0">
              <a:solidFill>
                <a:srgbClr val="222023"/>
              </a:solidFill>
              <a:latin typeface="Inter"/>
              <a:ea typeface="Inter"/>
              <a:cs typeface="Inter"/>
              <a:sym typeface="Inter"/>
            </a:endParaRPr>
          </a:p>
          <a:p>
            <a:pPr algn="just">
              <a:lnSpc>
                <a:spcPts val="3500"/>
              </a:lnSpc>
            </a:pPr>
            <a:endParaRPr lang="es-PE" sz="2500" dirty="0">
              <a:solidFill>
                <a:srgbClr val="222023"/>
              </a:solidFill>
              <a:latin typeface="Inter"/>
              <a:ea typeface="Inter"/>
              <a:cs typeface="Inter"/>
              <a:sym typeface="Inter"/>
            </a:endParaRPr>
          </a:p>
        </p:txBody>
      </p:sp>
      <p:sp>
        <p:nvSpPr>
          <p:cNvPr id="10" name="TextBox 10"/>
          <p:cNvSpPr txBox="1"/>
          <p:nvPr/>
        </p:nvSpPr>
        <p:spPr>
          <a:xfrm>
            <a:off x="9067800" y="6172364"/>
            <a:ext cx="9108526" cy="1256754"/>
          </a:xfrm>
          <a:prstGeom prst="rect">
            <a:avLst/>
          </a:prstGeom>
        </p:spPr>
        <p:txBody>
          <a:bodyPr lIns="0" tIns="0" rIns="0" bIns="0" rtlCol="0" anchor="t">
            <a:spAutoFit/>
          </a:bodyPr>
          <a:lstStyle/>
          <a:p>
            <a:pPr>
              <a:lnSpc>
                <a:spcPts val="9799"/>
              </a:lnSpc>
            </a:pPr>
            <a:r>
              <a:rPr lang="es-PE" sz="1600" b="1" dirty="0">
                <a:solidFill>
                  <a:srgbClr val="A42F0F"/>
                </a:solidFill>
                <a:latin typeface="Futura Ultra-Bold"/>
                <a:ea typeface="Futura Ultra-Bold"/>
                <a:cs typeface="Futura Ultra-Bold"/>
                <a:sym typeface="Futura Ultra-Bold"/>
              </a:rPr>
              <a:t>https://www.youtube.com/watch?v=QusgsvShpRA</a:t>
            </a:r>
            <a:endParaRPr lang="es-PE" sz="1600" b="1" dirty="0">
              <a:solidFill>
                <a:srgbClr val="A42F0F"/>
              </a:solidFill>
              <a:latin typeface="Futura Ultra-Bold"/>
              <a:ea typeface="Futura Ultra-Bold"/>
              <a:cs typeface="Futura Ultra-Bold"/>
              <a:sym typeface="Futura Ultra-Bold"/>
            </a:endParaRPr>
          </a:p>
        </p:txBody>
      </p:sp>
      <p:sp>
        <p:nvSpPr>
          <p:cNvPr id="12" name="CuadroTexto 11">
            <a:extLst>
              <a:ext uri="{FF2B5EF4-FFF2-40B4-BE49-F238E27FC236}">
                <a16:creationId xmlns:a16="http://schemas.microsoft.com/office/drawing/2014/main" xmlns="" id="{949C6E4C-F738-4785-A9B9-2014F23F2731}"/>
              </a:ext>
            </a:extLst>
          </p:cNvPr>
          <p:cNvSpPr txBox="1"/>
          <p:nvPr/>
        </p:nvSpPr>
        <p:spPr>
          <a:xfrm>
            <a:off x="1033365" y="4362195"/>
            <a:ext cx="9944100" cy="461665"/>
          </a:xfrm>
          <a:prstGeom prst="rect">
            <a:avLst/>
          </a:prstGeom>
          <a:noFill/>
        </p:spPr>
        <p:txBody>
          <a:bodyPr wrap="square">
            <a:spAutoFit/>
          </a:bodyPr>
          <a:lstStyle/>
          <a:p>
            <a:r>
              <a:rPr lang="es-PE" sz="2400" dirty="0" smtClean="0">
                <a:latin typeface="Inter" panose="020B0604020202020204" charset="0"/>
                <a:ea typeface="Inter" panose="020B0604020202020204" charset="0"/>
                <a:cs typeface="Inter" panose="020B0604020202020204" charset="0"/>
              </a:rPr>
              <a:t>.</a:t>
            </a:r>
            <a:endParaRPr lang="es-PE" sz="2400" dirty="0">
              <a:latin typeface="Inter" panose="020B0604020202020204" charset="0"/>
              <a:ea typeface="Inter" panose="020B0604020202020204" charset="0"/>
              <a:cs typeface="Inter" panose="020B0604020202020204" charset="0"/>
            </a:endParaRPr>
          </a:p>
        </p:txBody>
      </p:sp>
      <p:pic>
        <p:nvPicPr>
          <p:cNvPr id="1026"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l="6255" t="29177" r="39817" b="9088"/>
          <a:stretch/>
        </p:blipFill>
        <p:spPr bwMode="auto">
          <a:xfrm>
            <a:off x="1722953" y="2913102"/>
            <a:ext cx="7016620" cy="4516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7343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D666A5-6E65-FC3F-4590-1053F80AB5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F1A83A7D-A523-E269-BF3A-3A454AA1E841}"/>
              </a:ext>
            </a:extLst>
          </p:cNvPr>
          <p:cNvGrpSpPr/>
          <p:nvPr/>
        </p:nvGrpSpPr>
        <p:grpSpPr>
          <a:xfrm>
            <a:off x="6858000" y="-2066"/>
            <a:ext cx="10101436" cy="3962400"/>
            <a:chOff x="0" y="0"/>
            <a:chExt cx="600156" cy="215144"/>
          </a:xfrm>
        </p:grpSpPr>
        <p:sp>
          <p:nvSpPr>
            <p:cNvPr id="3" name="Freeform 3">
              <a:extLst>
                <a:ext uri="{FF2B5EF4-FFF2-40B4-BE49-F238E27FC236}">
                  <a16:creationId xmlns:a16="http://schemas.microsoft.com/office/drawing/2014/main" xmlns="" id="{912FD8D5-5147-5717-11A2-AD254172F122}"/>
                </a:ext>
              </a:extLst>
            </p:cNvPr>
            <p:cNvSpPr/>
            <p:nvPr/>
          </p:nvSpPr>
          <p:spPr>
            <a:xfrm>
              <a:off x="0" y="0"/>
              <a:ext cx="600156" cy="215144"/>
            </a:xfrm>
            <a:custGeom>
              <a:avLst/>
              <a:gdLst/>
              <a:ahLst/>
              <a:cxnLst/>
              <a:rect l="l" t="t" r="r" b="b"/>
              <a:pathLst>
                <a:path w="600156" h="215144">
                  <a:moveTo>
                    <a:pt x="396956" y="0"/>
                  </a:moveTo>
                  <a:lnTo>
                    <a:pt x="0" y="0"/>
                  </a:lnTo>
                  <a:lnTo>
                    <a:pt x="203200" y="215144"/>
                  </a:lnTo>
                  <a:lnTo>
                    <a:pt x="600156" y="215144"/>
                  </a:lnTo>
                  <a:lnTo>
                    <a:pt x="396956" y="0"/>
                  </a:lnTo>
                  <a:close/>
                </a:path>
              </a:pathLst>
            </a:custGeom>
            <a:blipFill>
              <a:blip r:embed="rId2"/>
              <a:stretch>
                <a:fillRect t="-36650" b="-36650"/>
              </a:stretch>
            </a:blipFill>
          </p:spPr>
        </p:sp>
      </p:grpSp>
      <p:sp>
        <p:nvSpPr>
          <p:cNvPr id="8" name="Freeform 8">
            <a:extLst>
              <a:ext uri="{FF2B5EF4-FFF2-40B4-BE49-F238E27FC236}">
                <a16:creationId xmlns:a16="http://schemas.microsoft.com/office/drawing/2014/main" xmlns="" id="{02E73F93-A9D9-D7E7-D50A-018AA6306379}"/>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3"/>
            <a:stretch>
              <a:fillRect/>
            </a:stretch>
          </a:blipFill>
        </p:spPr>
      </p:sp>
      <p:sp>
        <p:nvSpPr>
          <p:cNvPr id="9" name="TextBox 9">
            <a:extLst>
              <a:ext uri="{FF2B5EF4-FFF2-40B4-BE49-F238E27FC236}">
                <a16:creationId xmlns:a16="http://schemas.microsoft.com/office/drawing/2014/main" xmlns="" id="{39D2E03D-0902-8EEF-4B88-307FDE9CED80}"/>
              </a:ext>
            </a:extLst>
          </p:cNvPr>
          <p:cNvSpPr txBox="1"/>
          <p:nvPr/>
        </p:nvSpPr>
        <p:spPr>
          <a:xfrm>
            <a:off x="685800" y="4516251"/>
            <a:ext cx="14554200" cy="1309718"/>
          </a:xfrm>
          <a:prstGeom prst="rect">
            <a:avLst/>
          </a:prstGeom>
        </p:spPr>
        <p:txBody>
          <a:bodyPr wrap="square" lIns="0" tIns="0" rIns="0" bIns="0" rtlCol="0" anchor="t">
            <a:spAutoFit/>
          </a:bodyPr>
          <a:lstStyle/>
          <a:p>
            <a:pPr algn="just">
              <a:lnSpc>
                <a:spcPts val="3500"/>
              </a:lnSpc>
            </a:pPr>
            <a:endParaRPr lang="es-PE" sz="2500" dirty="0">
              <a:solidFill>
                <a:srgbClr val="222023"/>
              </a:solidFill>
              <a:latin typeface="Inter"/>
              <a:ea typeface="Inter"/>
              <a:cs typeface="Inter"/>
              <a:sym typeface="Inter"/>
            </a:endParaRPr>
          </a:p>
          <a:p>
            <a:pPr algn="just">
              <a:lnSpc>
                <a:spcPts val="3500"/>
              </a:lnSpc>
            </a:pPr>
            <a:endParaRPr lang="es-PE" sz="2500" dirty="0">
              <a:solidFill>
                <a:srgbClr val="222023"/>
              </a:solidFill>
              <a:latin typeface="Inter"/>
              <a:ea typeface="Inter"/>
              <a:cs typeface="Inter"/>
              <a:sym typeface="Inter"/>
            </a:endParaRPr>
          </a:p>
          <a:p>
            <a:pPr algn="just">
              <a:lnSpc>
                <a:spcPts val="3500"/>
              </a:lnSpc>
            </a:pPr>
            <a:endParaRPr lang="es-PE" sz="2500" dirty="0">
              <a:solidFill>
                <a:srgbClr val="222023"/>
              </a:solidFill>
              <a:latin typeface="Inter"/>
              <a:ea typeface="Inter"/>
              <a:cs typeface="Inter"/>
              <a:sym typeface="Inter"/>
            </a:endParaRPr>
          </a:p>
        </p:txBody>
      </p:sp>
      <p:sp>
        <p:nvSpPr>
          <p:cNvPr id="10" name="TextBox 10">
            <a:extLst>
              <a:ext uri="{FF2B5EF4-FFF2-40B4-BE49-F238E27FC236}">
                <a16:creationId xmlns:a16="http://schemas.microsoft.com/office/drawing/2014/main" xmlns="" id="{2D88DA14-D356-6717-CA4F-9FEED6413C05}"/>
              </a:ext>
            </a:extLst>
          </p:cNvPr>
          <p:cNvSpPr txBox="1"/>
          <p:nvPr/>
        </p:nvSpPr>
        <p:spPr>
          <a:xfrm>
            <a:off x="1028700" y="2997102"/>
            <a:ext cx="7246720" cy="1099660"/>
          </a:xfrm>
          <a:prstGeom prst="rect">
            <a:avLst/>
          </a:prstGeom>
        </p:spPr>
        <p:txBody>
          <a:bodyPr wrap="square" lIns="0" tIns="0" rIns="0" bIns="0" rtlCol="0" anchor="t">
            <a:spAutoFit/>
          </a:bodyPr>
          <a:lstStyle/>
          <a:p>
            <a:pPr algn="l">
              <a:lnSpc>
                <a:spcPts val="9799"/>
              </a:lnSpc>
            </a:pPr>
            <a:r>
              <a:rPr lang="es-PE" sz="6999" b="1" dirty="0">
                <a:solidFill>
                  <a:srgbClr val="A42F0F"/>
                </a:solidFill>
                <a:latin typeface="Futura Ultra-Bold"/>
                <a:ea typeface="Futura Ultra-Bold"/>
                <a:cs typeface="Futura Ultra-Bold"/>
                <a:sym typeface="Futura Ultra-Bold"/>
              </a:rPr>
              <a:t>CONTENIDO</a:t>
            </a:r>
          </a:p>
        </p:txBody>
      </p:sp>
      <p:sp>
        <p:nvSpPr>
          <p:cNvPr id="12" name="CuadroTexto 11">
            <a:extLst>
              <a:ext uri="{FF2B5EF4-FFF2-40B4-BE49-F238E27FC236}">
                <a16:creationId xmlns:a16="http://schemas.microsoft.com/office/drawing/2014/main" xmlns="" id="{2EF30922-37C8-E781-55F3-A3E7E8FF9F12}"/>
              </a:ext>
            </a:extLst>
          </p:cNvPr>
          <p:cNvSpPr txBox="1"/>
          <p:nvPr/>
        </p:nvSpPr>
        <p:spPr>
          <a:xfrm>
            <a:off x="1028700" y="4579600"/>
            <a:ext cx="8684016" cy="3929281"/>
          </a:xfrm>
          <a:prstGeom prst="rect">
            <a:avLst/>
          </a:prstGeom>
          <a:noFill/>
        </p:spPr>
        <p:txBody>
          <a:bodyPr wrap="square">
            <a:spAutoFit/>
          </a:bodyPr>
          <a:lstStyle/>
          <a:p>
            <a:pPr marL="0" indent="0" algn="l" rtl="0" eaLnBrk="1" fontAlgn="ctr" latinLnBrk="0" hangingPunct="1">
              <a:lnSpc>
                <a:spcPct val="150000"/>
              </a:lnSpc>
              <a:spcAft>
                <a:spcPts val="800"/>
              </a:spcAft>
              <a:buNone/>
            </a:pPr>
            <a:r>
              <a:rPr lang="es-PE" sz="2400" b="1" dirty="0">
                <a:solidFill>
                  <a:srgbClr val="A42F0F"/>
                </a:solidFill>
                <a:latin typeface="Inter" panose="020B0604020202020204" charset="0"/>
                <a:ea typeface="Inter" panose="020B0604020202020204" charset="0"/>
                <a:cs typeface="Inter" panose="020B0604020202020204" charset="0"/>
              </a:rPr>
              <a:t>1. </a:t>
            </a:r>
            <a:r>
              <a:rPr lang="es-PE" sz="2400" b="1" i="0" u="none" strike="noStrike" dirty="0">
                <a:effectLst/>
                <a:latin typeface="Inter" panose="020B0604020202020204" charset="0"/>
                <a:ea typeface="Inter" panose="020B0604020202020204" charset="0"/>
                <a:cs typeface="Inter" panose="020B0604020202020204" charset="0"/>
              </a:rPr>
              <a:t>ACTIVIDADES MINERAS - LIBRES – CONCESIONES</a:t>
            </a:r>
            <a:endParaRPr lang="es-PE" sz="2400" b="0" i="0" u="none" strike="noStrike" dirty="0">
              <a:effectLst/>
              <a:latin typeface="Inter" panose="020B0604020202020204" charset="0"/>
              <a:ea typeface="Inter" panose="020B0604020202020204" charset="0"/>
              <a:cs typeface="Inter" panose="020B0604020202020204" charset="0"/>
            </a:endParaRPr>
          </a:p>
          <a:p>
            <a:pPr marL="0" indent="0" algn="l" rtl="0" eaLnBrk="1" fontAlgn="ctr" latinLnBrk="0" hangingPunct="1">
              <a:lnSpc>
                <a:spcPct val="150000"/>
              </a:lnSpc>
              <a:spcAft>
                <a:spcPts val="800"/>
              </a:spcAft>
              <a:buNone/>
            </a:pPr>
            <a:r>
              <a:rPr lang="es-PE" sz="2400" b="1" dirty="0">
                <a:solidFill>
                  <a:srgbClr val="A42F0F"/>
                </a:solidFill>
                <a:latin typeface="Inter" panose="020B0604020202020204" charset="0"/>
                <a:ea typeface="Inter" panose="020B0604020202020204" charset="0"/>
                <a:cs typeface="Inter" panose="020B0604020202020204" charset="0"/>
              </a:rPr>
              <a:t>2. </a:t>
            </a:r>
            <a:r>
              <a:rPr lang="es-PE" sz="2400" b="1" i="0" u="none" strike="noStrike" dirty="0">
                <a:effectLst/>
                <a:latin typeface="Inter" panose="020B0604020202020204" charset="0"/>
                <a:ea typeface="Inter" panose="020B0604020202020204" charset="0"/>
                <a:cs typeface="Inter" panose="020B0604020202020204" charset="0"/>
              </a:rPr>
              <a:t>NATURALEZA DE LA CONCESIÓN MINERA</a:t>
            </a:r>
            <a:endParaRPr lang="es-PE" sz="2400" b="0" i="0" u="none" strike="noStrike" dirty="0">
              <a:effectLst/>
              <a:latin typeface="Inter" panose="020B0604020202020204" charset="0"/>
              <a:ea typeface="Inter" panose="020B0604020202020204" charset="0"/>
              <a:cs typeface="Inter" panose="020B0604020202020204" charset="0"/>
            </a:endParaRPr>
          </a:p>
          <a:p>
            <a:pPr marL="0" indent="0" algn="l" rtl="0" eaLnBrk="1" fontAlgn="ctr" latinLnBrk="0" hangingPunct="1">
              <a:lnSpc>
                <a:spcPct val="150000"/>
              </a:lnSpc>
              <a:spcAft>
                <a:spcPts val="800"/>
              </a:spcAft>
              <a:buNone/>
            </a:pPr>
            <a:r>
              <a:rPr lang="es-PE" sz="2400" b="1" dirty="0">
                <a:solidFill>
                  <a:srgbClr val="A42F0F"/>
                </a:solidFill>
                <a:latin typeface="Inter" panose="020B0604020202020204" charset="0"/>
                <a:ea typeface="Inter" panose="020B0604020202020204" charset="0"/>
                <a:cs typeface="Inter" panose="020B0604020202020204" charset="0"/>
              </a:rPr>
              <a:t>3. </a:t>
            </a:r>
            <a:r>
              <a:rPr lang="es-PE" sz="2400" b="1" i="0" u="none" strike="noStrike" dirty="0">
                <a:effectLst/>
                <a:latin typeface="Inter" panose="020B0604020202020204" charset="0"/>
                <a:ea typeface="Inter" panose="020B0604020202020204" charset="0"/>
                <a:cs typeface="Inter" panose="020B0604020202020204" charset="0"/>
              </a:rPr>
              <a:t>PROCEDIMIENTOS DE OTORGAMIENTO </a:t>
            </a:r>
            <a:endParaRPr lang="es-PE" sz="2400" b="0" i="0" u="none" strike="noStrike" dirty="0">
              <a:effectLst/>
              <a:latin typeface="Inter" panose="020B0604020202020204" charset="0"/>
              <a:ea typeface="Inter" panose="020B0604020202020204" charset="0"/>
              <a:cs typeface="Inter" panose="020B0604020202020204" charset="0"/>
            </a:endParaRPr>
          </a:p>
          <a:p>
            <a:pPr marL="0" indent="0" algn="l" rtl="0" eaLnBrk="1" fontAlgn="ctr" latinLnBrk="0" hangingPunct="1">
              <a:lnSpc>
                <a:spcPct val="150000"/>
              </a:lnSpc>
              <a:spcAft>
                <a:spcPts val="800"/>
              </a:spcAft>
              <a:buNone/>
            </a:pPr>
            <a:r>
              <a:rPr lang="es-PE" sz="2400" b="1" dirty="0">
                <a:solidFill>
                  <a:srgbClr val="A42F0F"/>
                </a:solidFill>
                <a:latin typeface="Inter" panose="020B0604020202020204" charset="0"/>
                <a:ea typeface="Inter" panose="020B0604020202020204" charset="0"/>
                <a:cs typeface="Inter" panose="020B0604020202020204" charset="0"/>
              </a:rPr>
              <a:t>4. </a:t>
            </a:r>
            <a:r>
              <a:rPr lang="es-PE" sz="2400" b="1" i="0" u="none" strike="noStrike" dirty="0">
                <a:effectLst/>
                <a:latin typeface="Inter" panose="020B0604020202020204" charset="0"/>
                <a:ea typeface="Inter" panose="020B0604020202020204" charset="0"/>
                <a:cs typeface="Inter" panose="020B0604020202020204" charset="0"/>
              </a:rPr>
              <a:t>AUTORIZACIÓN DE EXPLORACIÓN Y EXPLOTACIÓN</a:t>
            </a:r>
            <a:endParaRPr lang="es-PE" sz="2400" b="0" i="0" u="none" strike="noStrike" dirty="0">
              <a:effectLst/>
              <a:latin typeface="Inter" panose="020B0604020202020204" charset="0"/>
              <a:ea typeface="Inter" panose="020B0604020202020204" charset="0"/>
              <a:cs typeface="Inter" panose="020B0604020202020204" charset="0"/>
            </a:endParaRPr>
          </a:p>
          <a:p>
            <a:pPr marL="182880" indent="-182880" algn="l" rtl="0" eaLnBrk="1" fontAlgn="ctr" latinLnBrk="0" hangingPunct="1">
              <a:lnSpc>
                <a:spcPct val="150000"/>
              </a:lnSpc>
              <a:spcAft>
                <a:spcPts val="800"/>
              </a:spcAft>
              <a:buNone/>
            </a:pPr>
            <a:r>
              <a:rPr lang="es-PE" sz="2400" b="1" dirty="0">
                <a:solidFill>
                  <a:srgbClr val="A42F0F"/>
                </a:solidFill>
                <a:latin typeface="Inter" panose="020B0604020202020204" charset="0"/>
                <a:ea typeface="Inter" panose="020B0604020202020204" charset="0"/>
                <a:cs typeface="Inter" panose="020B0604020202020204" charset="0"/>
              </a:rPr>
              <a:t>5. </a:t>
            </a:r>
            <a:r>
              <a:rPr lang="es-PE" sz="2400" b="1" i="0" u="none" strike="noStrike" dirty="0">
                <a:effectLst/>
                <a:latin typeface="Inter" panose="020B0604020202020204" charset="0"/>
                <a:ea typeface="Inter" panose="020B0604020202020204" charset="0"/>
                <a:cs typeface="Inter" panose="020B0604020202020204" charset="0"/>
              </a:rPr>
              <a:t>CONCESIÓN DE BENEFICIO Y SUS MODIFICACIONES</a:t>
            </a:r>
            <a:endParaRPr lang="es-PE" sz="2400" b="0" i="0" u="none" strike="noStrike" dirty="0">
              <a:effectLst/>
              <a:latin typeface="Inter" panose="020B0604020202020204" charset="0"/>
              <a:ea typeface="Inter" panose="020B0604020202020204" charset="0"/>
              <a:cs typeface="Inter" panose="020B0604020202020204" charset="0"/>
            </a:endParaRPr>
          </a:p>
          <a:p>
            <a:pPr marL="265176" indent="-265176" algn="l" rtl="0" eaLnBrk="1" fontAlgn="ctr" latinLnBrk="0" hangingPunct="1">
              <a:lnSpc>
                <a:spcPct val="150000"/>
              </a:lnSpc>
              <a:spcAft>
                <a:spcPts val="800"/>
              </a:spcAft>
            </a:pPr>
            <a:r>
              <a:rPr lang="es-PE" sz="2400" b="1" dirty="0">
                <a:solidFill>
                  <a:srgbClr val="A42F0F"/>
                </a:solidFill>
                <a:latin typeface="Inter" panose="020B0604020202020204" charset="0"/>
                <a:ea typeface="Inter" panose="020B0604020202020204" charset="0"/>
                <a:cs typeface="Inter" panose="020B0604020202020204" charset="0"/>
              </a:rPr>
              <a:t>6. </a:t>
            </a:r>
            <a:r>
              <a:rPr lang="es-PE" sz="2400" b="1" i="0" u="none" strike="noStrike" dirty="0">
                <a:effectLst/>
                <a:latin typeface="Inter" panose="020B0604020202020204" charset="0"/>
                <a:ea typeface="Inter" panose="020B0604020202020204" charset="0"/>
                <a:cs typeface="Inter" panose="020B0604020202020204" charset="0"/>
              </a:rPr>
              <a:t>CONCESIÓN DE TRANSPORTE</a:t>
            </a:r>
            <a:endParaRPr lang="es-PE" sz="2400" b="0" i="0" u="none" strike="noStrike" dirty="0">
              <a:effectLst/>
              <a:latin typeface="Inter" panose="020B0604020202020204" charset="0"/>
              <a:ea typeface="Inter" panose="020B0604020202020204" charset="0"/>
              <a:cs typeface="Inter" panose="020B0604020202020204" charset="0"/>
            </a:endParaRPr>
          </a:p>
        </p:txBody>
      </p:sp>
      <p:sp>
        <p:nvSpPr>
          <p:cNvPr id="11" name="Freeform 4">
            <a:extLst>
              <a:ext uri="{FF2B5EF4-FFF2-40B4-BE49-F238E27FC236}">
                <a16:creationId xmlns:a16="http://schemas.microsoft.com/office/drawing/2014/main" xmlns="" id="{47EA6444-CF6E-18B7-819F-93082BF1E412}"/>
              </a:ext>
            </a:extLst>
          </p:cNvPr>
          <p:cNvSpPr/>
          <p:nvPr/>
        </p:nvSpPr>
        <p:spPr>
          <a:xfrm flipH="1">
            <a:off x="9603984" y="3297420"/>
            <a:ext cx="8684016" cy="7023198"/>
          </a:xfrm>
          <a:custGeom>
            <a:avLst/>
            <a:gdLst/>
            <a:ahLst/>
            <a:cxnLst/>
            <a:rect l="l" t="t" r="r" b="b"/>
            <a:pathLst>
              <a:path w="8684016" h="7023198">
                <a:moveTo>
                  <a:pt x="8684016" y="0"/>
                </a:moveTo>
                <a:lnTo>
                  <a:pt x="0" y="0"/>
                </a:lnTo>
                <a:lnTo>
                  <a:pt x="0" y="7023197"/>
                </a:lnTo>
                <a:lnTo>
                  <a:pt x="8684016" y="7023197"/>
                </a:lnTo>
                <a:lnTo>
                  <a:pt x="8684016"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grpSp>
        <p:nvGrpSpPr>
          <p:cNvPr id="13" name="Group 5">
            <a:extLst>
              <a:ext uri="{FF2B5EF4-FFF2-40B4-BE49-F238E27FC236}">
                <a16:creationId xmlns:a16="http://schemas.microsoft.com/office/drawing/2014/main" xmlns="" id="{D6BA00B6-3B24-781C-F134-128CF6925448}"/>
              </a:ext>
            </a:extLst>
          </p:cNvPr>
          <p:cNvGrpSpPr/>
          <p:nvPr/>
        </p:nvGrpSpPr>
        <p:grpSpPr>
          <a:xfrm>
            <a:off x="4201208" y="8357434"/>
            <a:ext cx="7629069" cy="1796816"/>
            <a:chOff x="0" y="0"/>
            <a:chExt cx="752497" cy="177230"/>
          </a:xfrm>
        </p:grpSpPr>
        <p:sp>
          <p:nvSpPr>
            <p:cNvPr id="14" name="Freeform 6">
              <a:extLst>
                <a:ext uri="{FF2B5EF4-FFF2-40B4-BE49-F238E27FC236}">
                  <a16:creationId xmlns:a16="http://schemas.microsoft.com/office/drawing/2014/main" xmlns="" id="{E4750EA3-4FCC-D966-ADBB-9E8C741ADCA8}"/>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5" name="TextBox 7">
              <a:extLst>
                <a:ext uri="{FF2B5EF4-FFF2-40B4-BE49-F238E27FC236}">
                  <a16:creationId xmlns:a16="http://schemas.microsoft.com/office/drawing/2014/main" xmlns="" id="{D727F284-58C8-9510-FB94-C819B1A4D2BF}"/>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1876213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33660" y="3924164"/>
            <a:ext cx="12164805" cy="121648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157"/>
                </a:lnSpc>
              </a:pPr>
              <a:endParaRPr dirty="0"/>
            </a:p>
          </p:txBody>
        </p:sp>
      </p:grpSp>
      <p:grpSp>
        <p:nvGrpSpPr>
          <p:cNvPr id="5" name="Group 5"/>
          <p:cNvGrpSpPr>
            <a:grpSpLocks noChangeAspect="1"/>
          </p:cNvGrpSpPr>
          <p:nvPr/>
        </p:nvGrpSpPr>
        <p:grpSpPr>
          <a:xfrm>
            <a:off x="13252265" y="1028700"/>
            <a:ext cx="4007035" cy="7928607"/>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65990" r="-5865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6" name="Group 16"/>
          <p:cNvGrpSpPr>
            <a:grpSpLocks noChangeAspect="1"/>
          </p:cNvGrpSpPr>
          <p:nvPr/>
        </p:nvGrpSpPr>
        <p:grpSpPr>
          <a:xfrm>
            <a:off x="8868527" y="3690675"/>
            <a:ext cx="4009751" cy="7933981"/>
            <a:chOff x="0" y="0"/>
            <a:chExt cx="2620010" cy="5184140"/>
          </a:xfrm>
        </p:grpSpPr>
        <p:sp>
          <p:nvSpPr>
            <p:cNvPr id="17" name="Freeform 1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8" name="Freeform 18"/>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54403" r="-170854"/>
              </a:stretch>
            </a:blipFill>
          </p:spPr>
        </p:sp>
        <p:sp>
          <p:nvSpPr>
            <p:cNvPr id="19" name="Freeform 1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20" name="Freeform 20"/>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1" name="Freeform 2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2" name="Freeform 2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3" name="Freeform 2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4" name="Freeform 2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5" name="Freeform 2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6" name="Freeform 26"/>
          <p:cNvSpPr/>
          <p:nvPr/>
        </p:nvSpPr>
        <p:spPr>
          <a:xfrm flipV="1">
            <a:off x="0" y="7685305"/>
            <a:ext cx="8713035"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7" name="Freeform 27"/>
          <p:cNvSpPr/>
          <p:nvPr/>
        </p:nvSpPr>
        <p:spPr>
          <a:xfrm>
            <a:off x="0" y="-23619"/>
            <a:ext cx="3406189" cy="2104637"/>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8" name="TextBox 28"/>
          <p:cNvSpPr txBox="1"/>
          <p:nvPr/>
        </p:nvSpPr>
        <p:spPr>
          <a:xfrm>
            <a:off x="1664029" y="2989064"/>
            <a:ext cx="5904704" cy="5047536"/>
          </a:xfrm>
          <a:prstGeom prst="rect">
            <a:avLst/>
          </a:prstGeom>
        </p:spPr>
        <p:txBody>
          <a:bodyPr wrap="square" lIns="0" tIns="0" rIns="0" bIns="0" rtlCol="0" anchor="t">
            <a:spAutoFit/>
          </a:bodyPr>
          <a:lstStyle/>
          <a:p>
            <a:pPr algn="ctr"/>
            <a:r>
              <a:rPr lang="es-PE" sz="4800" dirty="0">
                <a:solidFill>
                  <a:srgbClr val="303030"/>
                </a:solidFill>
                <a:latin typeface="Futura Std Book" panose="020B0802020204020204" pitchFamily="34" charset="0"/>
                <a:sym typeface="Montserrat Bold"/>
              </a:rPr>
              <a:t>TEMA 01: </a:t>
            </a:r>
          </a:p>
          <a:p>
            <a:pPr algn="ctr"/>
            <a:endParaRPr lang="es-PE" sz="4800" dirty="0">
              <a:solidFill>
                <a:srgbClr val="303030"/>
              </a:solidFill>
              <a:latin typeface="Futura Std Book" panose="020B0802020204020204" pitchFamily="34" charset="0"/>
              <a:sym typeface="Montserrat Bold"/>
            </a:endParaRPr>
          </a:p>
          <a:p>
            <a:pPr algn="ctr"/>
            <a:r>
              <a:rPr lang="es-PE" sz="4800" dirty="0">
                <a:solidFill>
                  <a:srgbClr val="303030"/>
                </a:solidFill>
                <a:latin typeface="Futura Std Book" panose="020B0802020204020204" pitchFamily="34" charset="0"/>
              </a:rPr>
              <a:t>ACTIVIDADES MINERAS - </a:t>
            </a:r>
            <a:br>
              <a:rPr lang="es-PE" sz="4800" dirty="0">
                <a:solidFill>
                  <a:srgbClr val="303030"/>
                </a:solidFill>
                <a:latin typeface="Futura Std Book" panose="020B0802020204020204" pitchFamily="34" charset="0"/>
              </a:rPr>
            </a:br>
            <a:r>
              <a:rPr lang="es-PE" sz="4800" dirty="0">
                <a:solidFill>
                  <a:srgbClr val="303030"/>
                </a:solidFill>
                <a:latin typeface="Futura Std Book" panose="020B0802020204020204" pitchFamily="34" charset="0"/>
              </a:rPr>
              <a:t>LIBRES - CONCESIONES</a:t>
            </a:r>
            <a:endParaRPr lang="es-PE" sz="4800" dirty="0">
              <a:solidFill>
                <a:srgbClr val="303030"/>
              </a:solidFill>
              <a:latin typeface="Futura Std Book" panose="020B0802020204020204" pitchFamily="34" charset="0"/>
              <a:sym typeface="Futura Ultra-Bold"/>
            </a:endParaRPr>
          </a:p>
          <a:p>
            <a:pPr algn="ctr">
              <a:lnSpc>
                <a:spcPts val="4800"/>
              </a:lnSpc>
            </a:pPr>
            <a:endParaRPr lang="es-PE" sz="4800" b="1" dirty="0">
              <a:solidFill>
                <a:srgbClr val="303030"/>
              </a:solidFill>
              <a:latin typeface="Futura Std Book" panose="020B0802020204020204" pitchFamily="34" charset="0"/>
              <a:sym typeface="Montserrat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8969283" y="8595490"/>
            <a:ext cx="7629069" cy="1796816"/>
            <a:chOff x="0" y="0"/>
            <a:chExt cx="752497" cy="177230"/>
          </a:xfrm>
        </p:grpSpPr>
        <p:sp>
          <p:nvSpPr>
            <p:cNvPr id="6" name="Freeform 6"/>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7" name="TextBox 7"/>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
        <p:nvSpPr>
          <p:cNvPr id="8" name="Freeform 8"/>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2"/>
            <a:stretch>
              <a:fillRect/>
            </a:stretch>
          </a:blipFill>
        </p:spPr>
      </p:sp>
      <p:sp>
        <p:nvSpPr>
          <p:cNvPr id="9" name="TextBox 9"/>
          <p:cNvSpPr txBox="1"/>
          <p:nvPr/>
        </p:nvSpPr>
        <p:spPr>
          <a:xfrm>
            <a:off x="641669" y="4355855"/>
            <a:ext cx="9340788" cy="1309718"/>
          </a:xfrm>
          <a:prstGeom prst="rect">
            <a:avLst/>
          </a:prstGeom>
        </p:spPr>
        <p:txBody>
          <a:bodyPr lIns="0" tIns="0" rIns="0" bIns="0" rtlCol="0" anchor="t">
            <a:spAutoFit/>
          </a:bodyPr>
          <a:lstStyle/>
          <a:p>
            <a:pPr algn="just">
              <a:lnSpc>
                <a:spcPts val="3500"/>
              </a:lnSpc>
            </a:pPr>
            <a:endParaRPr lang="es-PE" sz="2500" dirty="0">
              <a:solidFill>
                <a:srgbClr val="222023"/>
              </a:solidFill>
              <a:latin typeface="Inter"/>
              <a:ea typeface="Inter"/>
              <a:cs typeface="Inter"/>
              <a:sym typeface="Inter"/>
            </a:endParaRPr>
          </a:p>
          <a:p>
            <a:pPr algn="just">
              <a:lnSpc>
                <a:spcPts val="3500"/>
              </a:lnSpc>
            </a:pPr>
            <a:endParaRPr lang="es-PE" sz="2500" dirty="0">
              <a:solidFill>
                <a:srgbClr val="222023"/>
              </a:solidFill>
              <a:latin typeface="Inter"/>
              <a:ea typeface="Inter"/>
              <a:cs typeface="Inter"/>
              <a:sym typeface="Inter"/>
            </a:endParaRPr>
          </a:p>
          <a:p>
            <a:pPr algn="just">
              <a:lnSpc>
                <a:spcPts val="3500"/>
              </a:lnSpc>
            </a:pPr>
            <a:endParaRPr lang="es-PE" sz="2500" dirty="0">
              <a:solidFill>
                <a:srgbClr val="222023"/>
              </a:solidFill>
              <a:latin typeface="Inter"/>
              <a:ea typeface="Inter"/>
              <a:cs typeface="Inter"/>
              <a:sym typeface="Inter"/>
            </a:endParaRPr>
          </a:p>
        </p:txBody>
      </p:sp>
      <p:sp>
        <p:nvSpPr>
          <p:cNvPr id="10" name="TextBox 10"/>
          <p:cNvSpPr txBox="1"/>
          <p:nvPr/>
        </p:nvSpPr>
        <p:spPr>
          <a:xfrm>
            <a:off x="1219200" y="2686597"/>
            <a:ext cx="7753898" cy="615553"/>
          </a:xfrm>
          <a:prstGeom prst="rect">
            <a:avLst/>
          </a:prstGeom>
        </p:spPr>
        <p:txBody>
          <a:bodyPr wrap="square" lIns="0" tIns="0" rIns="0" bIns="0" rtlCol="0" anchor="t">
            <a:spAutoFit/>
          </a:bodyPr>
          <a:lstStyle/>
          <a:p>
            <a:pPr algn="l"/>
            <a:r>
              <a:rPr lang="es-PE" sz="4000" b="1" dirty="0">
                <a:solidFill>
                  <a:srgbClr val="A42F0F"/>
                </a:solidFill>
                <a:latin typeface="Futura Ultra-Bold"/>
                <a:sym typeface="Futura Ultra-Bold"/>
              </a:rPr>
              <a:t>1.1 ACTIVIDADES MINERAS</a:t>
            </a:r>
          </a:p>
        </p:txBody>
      </p:sp>
      <p:sp>
        <p:nvSpPr>
          <p:cNvPr id="14" name="Freeform 4">
            <a:extLst>
              <a:ext uri="{FF2B5EF4-FFF2-40B4-BE49-F238E27FC236}">
                <a16:creationId xmlns:a16="http://schemas.microsoft.com/office/drawing/2014/main" xmlns="" id="{D7A7443F-D997-2C02-C653-CCA65C74A073}"/>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solid"/>
            <a:miter/>
          </a:ln>
        </p:spPr>
      </p:sp>
      <p:grpSp>
        <p:nvGrpSpPr>
          <p:cNvPr id="15" name="Group 6">
            <a:extLst>
              <a:ext uri="{FF2B5EF4-FFF2-40B4-BE49-F238E27FC236}">
                <a16:creationId xmlns:a16="http://schemas.microsoft.com/office/drawing/2014/main" xmlns="" id="{C6733919-0E22-0292-F7D1-8C7D92ED01F2}"/>
              </a:ext>
            </a:extLst>
          </p:cNvPr>
          <p:cNvGrpSpPr/>
          <p:nvPr/>
        </p:nvGrpSpPr>
        <p:grpSpPr>
          <a:xfrm>
            <a:off x="3733800" y="235864"/>
            <a:ext cx="10116046" cy="2253857"/>
            <a:chOff x="0" y="0"/>
            <a:chExt cx="1438895" cy="320586"/>
          </a:xfrm>
        </p:grpSpPr>
        <p:sp>
          <p:nvSpPr>
            <p:cNvPr id="16" name="Freeform 7">
              <a:extLst>
                <a:ext uri="{FF2B5EF4-FFF2-40B4-BE49-F238E27FC236}">
                  <a16:creationId xmlns:a16="http://schemas.microsoft.com/office/drawing/2014/main" xmlns="" id="{017FF1CF-AECA-1117-1D7A-3791F4FD9CC2}"/>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graphicFrame>
        <p:nvGraphicFramePr>
          <p:cNvPr id="2" name="Tabla 1">
            <a:extLst>
              <a:ext uri="{FF2B5EF4-FFF2-40B4-BE49-F238E27FC236}">
                <a16:creationId xmlns:a16="http://schemas.microsoft.com/office/drawing/2014/main" xmlns="" id="{4C66CDF2-9375-14DD-CC16-6A18355A2887}"/>
              </a:ext>
            </a:extLst>
          </p:cNvPr>
          <p:cNvGraphicFramePr>
            <a:graphicFrameLocks noGrp="1"/>
          </p:cNvGraphicFramePr>
          <p:nvPr>
            <p:extLst>
              <p:ext uri="{D42A27DB-BD31-4B8C-83A1-F6EECF244321}">
                <p14:modId xmlns:p14="http://schemas.microsoft.com/office/powerpoint/2010/main" val="4101917078"/>
              </p:ext>
            </p:extLst>
          </p:nvPr>
        </p:nvGraphicFramePr>
        <p:xfrm>
          <a:off x="1371599" y="3543757"/>
          <a:ext cx="12344401" cy="5871910"/>
        </p:xfrm>
        <a:graphic>
          <a:graphicData uri="http://schemas.openxmlformats.org/drawingml/2006/table">
            <a:tbl>
              <a:tblPr firstRow="1" bandRow="1">
                <a:tableStyleId>{69012ECD-51FC-41F1-AA8D-1B2483CD663E}</a:tableStyleId>
              </a:tblPr>
              <a:tblGrid>
                <a:gridCol w="6964524">
                  <a:extLst>
                    <a:ext uri="{9D8B030D-6E8A-4147-A177-3AD203B41FA5}">
                      <a16:colId xmlns:a16="http://schemas.microsoft.com/office/drawing/2014/main" xmlns="" val="812297421"/>
                    </a:ext>
                  </a:extLst>
                </a:gridCol>
                <a:gridCol w="5379877">
                  <a:extLst>
                    <a:ext uri="{9D8B030D-6E8A-4147-A177-3AD203B41FA5}">
                      <a16:colId xmlns:a16="http://schemas.microsoft.com/office/drawing/2014/main" xmlns="" val="1273624118"/>
                    </a:ext>
                  </a:extLst>
                </a:gridCol>
              </a:tblGrid>
              <a:tr h="587191">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s-PE" sz="2400" b="1" kern="1200" dirty="0">
                          <a:solidFill>
                            <a:schemeClr val="bg1"/>
                          </a:solidFill>
                          <a:effectLst/>
                          <a:latin typeface="Inter" panose="020B0604020202020204" charset="0"/>
                          <a:ea typeface="Inter" panose="020B0604020202020204" charset="0"/>
                          <a:cs typeface="Inter" panose="020B0604020202020204" charset="0"/>
                        </a:rPr>
                        <a:t>ACTIVIDADES MINERAS</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75000"/>
                      </a:schemeClr>
                    </a:solidFill>
                  </a:tcPr>
                </a:tc>
                <a:tc>
                  <a:txBody>
                    <a:bodyPr/>
                    <a:lstStyle/>
                    <a:p>
                      <a:pPr algn="ctr">
                        <a:lnSpc>
                          <a:spcPct val="107000"/>
                        </a:lnSpc>
                        <a:spcAft>
                          <a:spcPts val="0"/>
                        </a:spcAft>
                      </a:pPr>
                      <a:r>
                        <a:rPr lang="es-PE" sz="2400" dirty="0">
                          <a:solidFill>
                            <a:schemeClr val="bg1"/>
                          </a:solidFill>
                          <a:effectLst/>
                          <a:latin typeface="Inter" panose="020B0604020202020204" charset="0"/>
                          <a:ea typeface="Inter" panose="020B0604020202020204" charset="0"/>
                          <a:cs typeface="Inter" panose="020B0604020202020204" charset="0"/>
                        </a:rPr>
                        <a:t>RÉGIMEN </a:t>
                      </a:r>
                      <a:r>
                        <a:rPr lang="es-PE" sz="2400" b="1" kern="1200" dirty="0">
                          <a:solidFill>
                            <a:schemeClr val="bg1"/>
                          </a:solidFill>
                          <a:effectLst/>
                          <a:latin typeface="Inter" panose="020B0604020202020204" charset="0"/>
                          <a:ea typeface="Inter" panose="020B0604020202020204" charset="0"/>
                          <a:cs typeface="Inter" panose="020B0604020202020204" charset="0"/>
                        </a:rPr>
                        <a:t>CONCESIONES</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xmlns="" val="932797757"/>
                  </a:ext>
                </a:extLst>
              </a:tr>
              <a:tr h="587191">
                <a:tc>
                  <a:txBody>
                    <a:bodyPr/>
                    <a:lstStyle/>
                    <a:p>
                      <a:pP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CATEO </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Libre</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xmlns="" val="3890194536"/>
                  </a:ext>
                </a:extLst>
              </a:tr>
              <a:tr h="587191">
                <a:tc>
                  <a:txBody>
                    <a:bodyPr/>
                    <a:lstStyle/>
                    <a:p>
                      <a:pP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PROSPECCIÓN</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Libre</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xmlns="" val="826416876"/>
                  </a:ext>
                </a:extLst>
              </a:tr>
              <a:tr h="587191">
                <a:tc>
                  <a:txBody>
                    <a:bodyPr/>
                    <a:lstStyle/>
                    <a:p>
                      <a:pPr>
                        <a:lnSpc>
                          <a:spcPct val="107000"/>
                        </a:lnSpc>
                        <a:spcAft>
                          <a:spcPts val="0"/>
                        </a:spcAft>
                      </a:pPr>
                      <a:r>
                        <a:rPr lang="es-PE" sz="2400" b="1" dirty="0">
                          <a:effectLst/>
                          <a:latin typeface="Inter" panose="020B0604020202020204" charset="0"/>
                          <a:ea typeface="Inter" panose="020B0604020202020204" charset="0"/>
                          <a:cs typeface="Inter" panose="020B0604020202020204" charset="0"/>
                        </a:rPr>
                        <a:t>EXPLORACIÓN</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rowSpan="2">
                  <a:txBody>
                    <a:bodyPr/>
                    <a:lstStyle/>
                    <a:p>
                      <a:pPr algn="ct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Concesión Minera</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479420876"/>
                  </a:ext>
                </a:extLst>
              </a:tr>
              <a:tr h="587191">
                <a:tc>
                  <a:txBody>
                    <a:bodyPr/>
                    <a:lstStyle/>
                    <a:p>
                      <a:pPr>
                        <a:lnSpc>
                          <a:spcPct val="107000"/>
                        </a:lnSpc>
                        <a:spcAft>
                          <a:spcPts val="0"/>
                        </a:spcAft>
                      </a:pPr>
                      <a:r>
                        <a:rPr lang="es-PE" sz="2400" b="1" dirty="0">
                          <a:effectLst/>
                          <a:latin typeface="Inter" panose="020B0604020202020204" charset="0"/>
                          <a:ea typeface="Inter" panose="020B0604020202020204" charset="0"/>
                          <a:cs typeface="Inter" panose="020B0604020202020204" charset="0"/>
                        </a:rPr>
                        <a:t>EXPLOTACIÓN</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vMerge="1">
                  <a:txBody>
                    <a:bodyPr/>
                    <a:lstStyle/>
                    <a:p>
                      <a:endParaRPr lang="es-PE"/>
                    </a:p>
                  </a:txBody>
                  <a:tcPr/>
                </a:tc>
                <a:extLst>
                  <a:ext uri="{0D108BD9-81ED-4DB2-BD59-A6C34878D82A}">
                    <a16:rowId xmlns:a16="http://schemas.microsoft.com/office/drawing/2014/main" xmlns="" val="34686119"/>
                  </a:ext>
                </a:extLst>
              </a:tr>
              <a:tr h="587191">
                <a:tc>
                  <a:txBody>
                    <a:bodyPr/>
                    <a:lstStyle/>
                    <a:p>
                      <a:pPr>
                        <a:lnSpc>
                          <a:spcPct val="107000"/>
                        </a:lnSpc>
                        <a:spcAft>
                          <a:spcPts val="0"/>
                        </a:spcAft>
                      </a:pPr>
                      <a:r>
                        <a:rPr lang="es-PE" sz="2400" b="1" dirty="0">
                          <a:effectLst/>
                          <a:latin typeface="Inter" panose="020B0604020202020204" charset="0"/>
                          <a:ea typeface="Inter" panose="020B0604020202020204" charset="0"/>
                          <a:cs typeface="Inter" panose="020B0604020202020204" charset="0"/>
                        </a:rPr>
                        <a:t>BENEFICIO</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60000"/>
                        <a:lumOff val="40000"/>
                      </a:schemeClr>
                    </a:solidFill>
                  </a:tcPr>
                </a:tc>
                <a:tc>
                  <a:txBody>
                    <a:bodyPr/>
                    <a:lstStyle/>
                    <a:p>
                      <a:pPr algn="ct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Concesión de beneficio</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3663052818"/>
                  </a:ext>
                </a:extLst>
              </a:tr>
              <a:tr h="587191">
                <a:tc>
                  <a:txBody>
                    <a:bodyPr/>
                    <a:lstStyle/>
                    <a:p>
                      <a:pPr>
                        <a:lnSpc>
                          <a:spcPct val="107000"/>
                        </a:lnSpc>
                        <a:spcAft>
                          <a:spcPts val="0"/>
                        </a:spcAft>
                      </a:pPr>
                      <a:r>
                        <a:rPr lang="es-PE" sz="2400" b="1" dirty="0">
                          <a:effectLst/>
                          <a:latin typeface="Inter" panose="020B0604020202020204" charset="0"/>
                          <a:ea typeface="Inter" panose="020B0604020202020204" charset="0"/>
                          <a:cs typeface="Inter" panose="020B0604020202020204" charset="0"/>
                        </a:rPr>
                        <a:t>LABOR GENERAL</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tc>
                  <a:txBody>
                    <a:bodyPr/>
                    <a:lstStyle/>
                    <a:p>
                      <a:pPr algn="ct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Concesión de Labor General</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4153026812"/>
                  </a:ext>
                </a:extLst>
              </a:tr>
              <a:tr h="587191">
                <a:tc>
                  <a:txBody>
                    <a:bodyPr/>
                    <a:lstStyle/>
                    <a:p>
                      <a:pPr marL="0" algn="l" defTabSz="914400" rtl="0" eaLnBrk="1" latinLnBrk="0" hangingPunct="1">
                        <a:lnSpc>
                          <a:spcPct val="107000"/>
                        </a:lnSpc>
                        <a:spcAft>
                          <a:spcPts val="0"/>
                        </a:spcAft>
                      </a:pPr>
                      <a:r>
                        <a:rPr lang="es-PE" sz="2400" b="1" kern="1200" dirty="0">
                          <a:solidFill>
                            <a:schemeClr val="tx1"/>
                          </a:solidFill>
                          <a:effectLst/>
                          <a:latin typeface="Inter" panose="020B0604020202020204" charset="0"/>
                          <a:ea typeface="Inter" panose="020B0604020202020204" charset="0"/>
                          <a:cs typeface="Inter" panose="020B0604020202020204" charset="0"/>
                        </a:rPr>
                        <a:t>TRANSPORTE MINERO</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60000"/>
                        <a:lumOff val="40000"/>
                      </a:schemeClr>
                    </a:solidFill>
                  </a:tcPr>
                </a:tc>
                <a:tc>
                  <a:txBody>
                    <a:bodyPr/>
                    <a:lstStyle/>
                    <a:p>
                      <a:pPr marL="0" algn="ctr" defTabSz="914400" rtl="0" eaLnBrk="1" latinLnBrk="0" hangingPunct="1">
                        <a:lnSpc>
                          <a:spcPct val="107000"/>
                        </a:lnSpc>
                        <a:spcAft>
                          <a:spcPts val="0"/>
                        </a:spcAft>
                      </a:pPr>
                      <a:r>
                        <a:rPr lang="es-PE" sz="2400" kern="1200" dirty="0">
                          <a:solidFill>
                            <a:schemeClr val="tx1"/>
                          </a:solidFill>
                          <a:effectLst/>
                          <a:latin typeface="Inter" panose="020B0604020202020204" charset="0"/>
                          <a:ea typeface="Inter" panose="020B0604020202020204" charset="0"/>
                          <a:cs typeface="Inter" panose="020B0604020202020204" charset="0"/>
                        </a:rPr>
                        <a:t>Concesión de Transporte Minero</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973551855"/>
                  </a:ext>
                </a:extLst>
              </a:tr>
              <a:tr h="587191">
                <a:tc>
                  <a:txBody>
                    <a:bodyPr/>
                    <a:lstStyle/>
                    <a:p>
                      <a:pP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COMERCIALIZACIÓN </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Libre</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xmlns="" val="1097300790"/>
                  </a:ext>
                </a:extLst>
              </a:tr>
              <a:tr h="587191">
                <a:tc>
                  <a:txBody>
                    <a:bodyPr/>
                    <a:lstStyle/>
                    <a:p>
                      <a:pP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ALMACENAMIENTO DE CONCENTRADOS (*)</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spcAft>
                          <a:spcPts val="0"/>
                        </a:spcAft>
                      </a:pPr>
                      <a:r>
                        <a:rPr lang="es-PE" sz="2400" dirty="0">
                          <a:effectLst/>
                          <a:latin typeface="Inter" panose="020B0604020202020204" charset="0"/>
                          <a:ea typeface="Inter" panose="020B0604020202020204" charset="0"/>
                          <a:cs typeface="Inter" panose="020B0604020202020204" charset="0"/>
                        </a:rPr>
                        <a:t>Libre</a:t>
                      </a:r>
                    </a:p>
                  </a:txBody>
                  <a:tcPr marL="37960" marR="3796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xmlns="" val="2506786505"/>
                  </a:ext>
                </a:extLst>
              </a:tr>
            </a:tbl>
          </a:graphicData>
        </a:graphic>
      </p:graphicFrame>
    </p:spTree>
    <p:extLst>
      <p:ext uri="{BB962C8B-B14F-4D97-AF65-F5344CB8AC3E}">
        <p14:creationId xmlns:p14="http://schemas.microsoft.com/office/powerpoint/2010/main" val="404335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p:cNvGrpSpPr/>
          <p:nvPr/>
        </p:nvGrpSpPr>
        <p:grpSpPr>
          <a:xfrm>
            <a:off x="3733800" y="235864"/>
            <a:ext cx="10116046" cy="2253857"/>
            <a:chOff x="0" y="0"/>
            <a:chExt cx="1438895" cy="320586"/>
          </a:xfrm>
        </p:grpSpPr>
        <p:sp>
          <p:nvSpPr>
            <p:cNvPr id="7" name="Freeform 7"/>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10">
            <a:extLst>
              <a:ext uri="{FF2B5EF4-FFF2-40B4-BE49-F238E27FC236}">
                <a16:creationId xmlns:a16="http://schemas.microsoft.com/office/drawing/2014/main" xmlns="" id="{E5FFED57-9644-DAB5-143E-EBF84D38C1CB}"/>
              </a:ext>
            </a:extLst>
          </p:cNvPr>
          <p:cNvSpPr txBox="1"/>
          <p:nvPr/>
        </p:nvSpPr>
        <p:spPr>
          <a:xfrm>
            <a:off x="1219200" y="2686597"/>
            <a:ext cx="9982200" cy="615553"/>
          </a:xfrm>
          <a:prstGeom prst="rect">
            <a:avLst/>
          </a:prstGeom>
        </p:spPr>
        <p:txBody>
          <a:bodyPr wrap="square" lIns="0" tIns="0" rIns="0" bIns="0" rtlCol="0" anchor="t">
            <a:spAutoFit/>
          </a:bodyPr>
          <a:lstStyle/>
          <a:p>
            <a:pPr algn="l"/>
            <a:r>
              <a:rPr lang="es-PE" sz="4000" b="1" dirty="0">
                <a:solidFill>
                  <a:srgbClr val="A42F0F"/>
                </a:solidFill>
                <a:latin typeface="Futura Ultra-Bold"/>
                <a:sym typeface="Futura Ultra-Bold"/>
              </a:rPr>
              <a:t>1.2 ACTIVIDADES MINERAS LIBRES</a:t>
            </a:r>
          </a:p>
        </p:txBody>
      </p:sp>
      <p:sp>
        <p:nvSpPr>
          <p:cNvPr id="9" name="CuadroTexto 8">
            <a:extLst>
              <a:ext uri="{FF2B5EF4-FFF2-40B4-BE49-F238E27FC236}">
                <a16:creationId xmlns:a16="http://schemas.microsoft.com/office/drawing/2014/main" xmlns="" id="{86068BB0-06ED-A705-B397-3FB468005BAE}"/>
              </a:ext>
            </a:extLst>
          </p:cNvPr>
          <p:cNvSpPr txBox="1"/>
          <p:nvPr/>
        </p:nvSpPr>
        <p:spPr>
          <a:xfrm>
            <a:off x="1676400" y="3989338"/>
            <a:ext cx="5562600" cy="4401205"/>
          </a:xfrm>
          <a:prstGeom prst="rect">
            <a:avLst/>
          </a:prstGeom>
          <a:noFill/>
        </p:spPr>
        <p:txBody>
          <a:bodyPr wrap="square">
            <a:spAutoFit/>
          </a:bodyPr>
          <a:lstStyle/>
          <a:p>
            <a:pPr marL="0" lvl="0" indent="0">
              <a:buNone/>
            </a:pPr>
            <a:r>
              <a:rPr lang="es-PE" sz="2400" b="1" dirty="0">
                <a:solidFill>
                  <a:srgbClr val="A42F0F"/>
                </a:solidFill>
                <a:latin typeface="Futura Ultra-Bold"/>
              </a:rPr>
              <a:t>CATEO: </a:t>
            </a:r>
          </a:p>
          <a:p>
            <a:pPr marL="0" lvl="0" indent="0">
              <a:buNone/>
            </a:pPr>
            <a:endParaRPr lang="es-PE" sz="4000" b="1" dirty="0">
              <a:solidFill>
                <a:srgbClr val="A42F0F"/>
              </a:solidFill>
              <a:latin typeface="Futura Ultra-Bold"/>
            </a:endParaRPr>
          </a:p>
          <a:p>
            <a:pPr marL="342900" lvl="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Es la acción conducente a poner en evidencia indicios de mineralización por medio de labores mineras elementales.</a:t>
            </a:r>
          </a:p>
          <a:p>
            <a:pPr marL="342900" lvl="0" indent="-342900">
              <a:buFont typeface="Arial" panose="020B0604020202020204" pitchFamily="34" charset="0"/>
              <a:buChar char="•"/>
            </a:pPr>
            <a:r>
              <a:rPr lang="es-PE" sz="2400" b="1" dirty="0">
                <a:solidFill>
                  <a:srgbClr val="C32D2E"/>
                </a:solidFill>
                <a:latin typeface="Inter" panose="020B0604020202020204" charset="0"/>
                <a:ea typeface="Inter" panose="020B0604020202020204" charset="0"/>
                <a:cs typeface="Inter" panose="020B0604020202020204" charset="0"/>
              </a:rPr>
              <a:t>Comprende</a:t>
            </a:r>
            <a:r>
              <a:rPr lang="es-PE" sz="2400" dirty="0">
                <a:latin typeface="Inter" panose="020B0604020202020204" charset="0"/>
                <a:ea typeface="Inter" panose="020B0604020202020204" charset="0"/>
                <a:cs typeface="Inter" panose="020B0604020202020204" charset="0"/>
              </a:rPr>
              <a:t>: Estudios geofísicos preliminares, Cavar importa apertura y mover la tierra, abrir pozos o “calicatas”. Esta labor se realiza con pico, pala, barreno.</a:t>
            </a:r>
          </a:p>
        </p:txBody>
      </p:sp>
      <p:sp>
        <p:nvSpPr>
          <p:cNvPr id="12" name="CuadroTexto 11">
            <a:extLst>
              <a:ext uri="{FF2B5EF4-FFF2-40B4-BE49-F238E27FC236}">
                <a16:creationId xmlns:a16="http://schemas.microsoft.com/office/drawing/2014/main" xmlns="" id="{5C79BD6C-25D5-8049-5B57-1BC33635B0AA}"/>
              </a:ext>
            </a:extLst>
          </p:cNvPr>
          <p:cNvSpPr txBox="1"/>
          <p:nvPr/>
        </p:nvSpPr>
        <p:spPr>
          <a:xfrm>
            <a:off x="9711834" y="3989338"/>
            <a:ext cx="5943600" cy="4401205"/>
          </a:xfrm>
          <a:prstGeom prst="rect">
            <a:avLst/>
          </a:prstGeom>
          <a:noFill/>
        </p:spPr>
        <p:txBody>
          <a:bodyPr wrap="square">
            <a:spAutoFit/>
          </a:bodyPr>
          <a:lstStyle/>
          <a:p>
            <a:pPr marL="0" lvl="0" indent="0">
              <a:buNone/>
            </a:pPr>
            <a:r>
              <a:rPr lang="es-PE" sz="2400" b="1" dirty="0">
                <a:solidFill>
                  <a:srgbClr val="A42F0F"/>
                </a:solidFill>
                <a:latin typeface="Futura Ultra-Bold"/>
              </a:rPr>
              <a:t>PROSPECCIÓN:</a:t>
            </a:r>
          </a:p>
          <a:p>
            <a:pPr marL="0" lvl="0" indent="0">
              <a:buNone/>
            </a:pPr>
            <a:endParaRPr lang="es-PE" sz="4000" b="1" dirty="0">
              <a:solidFill>
                <a:srgbClr val="A42F0F"/>
              </a:solidFill>
              <a:latin typeface="Futura Ultra-Bold"/>
            </a:endParaRPr>
          </a:p>
          <a:p>
            <a:pPr marL="342900" lvl="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Es la investigación conducente a determinar áreas de posible mineralización por medio de indicaciones químicas y físicas, medidas con instrumentos y técnicas de precisión.</a:t>
            </a:r>
          </a:p>
          <a:p>
            <a:pPr marL="342900" lvl="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Se toma muestras y se hacen estudios Geológicos, geofísicos, geoquímicas, geomagnéticos, etc. </a:t>
            </a:r>
          </a:p>
        </p:txBody>
      </p:sp>
      <p:grpSp>
        <p:nvGrpSpPr>
          <p:cNvPr id="3" name="Group 5">
            <a:extLst>
              <a:ext uri="{FF2B5EF4-FFF2-40B4-BE49-F238E27FC236}">
                <a16:creationId xmlns:a16="http://schemas.microsoft.com/office/drawing/2014/main" xmlns="" id="{CF092E20-E27B-F1B8-A716-89EAD293CCDC}"/>
              </a:ext>
            </a:extLst>
          </p:cNvPr>
          <p:cNvGrpSpPr/>
          <p:nvPr/>
        </p:nvGrpSpPr>
        <p:grpSpPr>
          <a:xfrm>
            <a:off x="8969283" y="8595490"/>
            <a:ext cx="7629069" cy="1796816"/>
            <a:chOff x="0" y="0"/>
            <a:chExt cx="752497" cy="177230"/>
          </a:xfrm>
        </p:grpSpPr>
        <p:sp>
          <p:nvSpPr>
            <p:cNvPr id="8" name="Freeform 6">
              <a:extLst>
                <a:ext uri="{FF2B5EF4-FFF2-40B4-BE49-F238E27FC236}">
                  <a16:creationId xmlns:a16="http://schemas.microsoft.com/office/drawing/2014/main" xmlns="" id="{7D39F803-7663-6167-28CC-991A79980C8E}"/>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0" name="TextBox 7">
              <a:extLst>
                <a:ext uri="{FF2B5EF4-FFF2-40B4-BE49-F238E27FC236}">
                  <a16:creationId xmlns:a16="http://schemas.microsoft.com/office/drawing/2014/main" xmlns="" id="{835AB53F-8F47-7FFC-3CE7-12080A9D3579}"/>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4236993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5CE63FD-2606-A6E1-B58B-F4E196C458F4}"/>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994ED322-4EBA-2973-1BB2-B096137C57E8}"/>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5910CF3E-9AE9-E13E-E924-4EF71DF45967}"/>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9C562715-9FB5-91D8-5987-FC1C6B19BC08}"/>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28A30628-1B12-330E-61A8-06D3368D7141}"/>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0548F0EB-774D-59BB-7D0A-20545229B091}"/>
              </a:ext>
            </a:extLst>
          </p:cNvPr>
          <p:cNvSpPr txBox="1"/>
          <p:nvPr/>
        </p:nvSpPr>
        <p:spPr>
          <a:xfrm>
            <a:off x="1219200" y="4034819"/>
            <a:ext cx="13724921" cy="4524315"/>
          </a:xfrm>
          <a:prstGeom prst="rect">
            <a:avLst/>
          </a:prstGeom>
          <a:noFill/>
        </p:spPr>
        <p:txBody>
          <a:bodyPr wrap="square">
            <a:spAutoFit/>
          </a:bodyPr>
          <a:lstStyle/>
          <a:p>
            <a:pPr marL="0" lvl="0" indent="0" algn="just">
              <a:buNone/>
            </a:pPr>
            <a:r>
              <a:rPr lang="es-PE" sz="2400" dirty="0">
                <a:latin typeface="Inter" panose="020B0604020202020204" charset="0"/>
                <a:ea typeface="Inter" panose="020B0604020202020204" charset="0"/>
                <a:cs typeface="Inter" panose="020B0604020202020204" charset="0"/>
              </a:rPr>
              <a:t>El </a:t>
            </a:r>
            <a:r>
              <a:rPr lang="es-PE" sz="2400" b="1" dirty="0">
                <a:solidFill>
                  <a:srgbClr val="C32D2E"/>
                </a:solidFill>
                <a:latin typeface="Inter" panose="020B0604020202020204" charset="0"/>
                <a:ea typeface="Inter" panose="020B0604020202020204" charset="0"/>
                <a:cs typeface="Inter" panose="020B0604020202020204" charset="0"/>
              </a:rPr>
              <a:t>cateo y la prospección es libre</a:t>
            </a:r>
            <a:r>
              <a:rPr lang="es-PE" sz="2400" b="1" dirty="0">
                <a:solidFill>
                  <a:srgbClr val="00B0F0"/>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en todo el territorio nacional, no está sujeto a concesión.</a:t>
            </a:r>
          </a:p>
          <a:p>
            <a:pPr marL="0" lvl="0" indent="0" algn="just">
              <a:buNone/>
            </a:pPr>
            <a:endParaRPr lang="es-PE" sz="2400" dirty="0">
              <a:latin typeface="Inter" panose="020B0604020202020204" charset="0"/>
              <a:ea typeface="Inter" panose="020B0604020202020204" charset="0"/>
              <a:cs typeface="Inter" panose="020B0604020202020204" charset="0"/>
            </a:endParaRPr>
          </a:p>
          <a:p>
            <a:pPr marL="0" lvl="0" indent="0" algn="just">
              <a:buNone/>
            </a:pPr>
            <a:r>
              <a:rPr lang="es-PE" sz="2400" b="1" dirty="0">
                <a:solidFill>
                  <a:srgbClr val="C32D2E"/>
                </a:solidFill>
                <a:latin typeface="Inter" panose="020B0604020202020204" charset="0"/>
                <a:ea typeface="Inter" panose="020B0604020202020204" charset="0"/>
                <a:cs typeface="Inter" panose="020B0604020202020204" charset="0"/>
              </a:rPr>
              <a:t>No se puede realizar </a:t>
            </a:r>
            <a:r>
              <a:rPr lang="es-PE" sz="2400" dirty="0">
                <a:latin typeface="Inter" panose="020B0604020202020204" charset="0"/>
                <a:ea typeface="Inter" panose="020B0604020202020204" charset="0"/>
                <a:cs typeface="Inter" panose="020B0604020202020204" charset="0"/>
              </a:rPr>
              <a:t>en áreas de:</a:t>
            </a:r>
          </a:p>
          <a:p>
            <a:pPr marL="0" lvl="0" indent="0" algn="just">
              <a:buNone/>
            </a:pPr>
            <a:endParaRPr lang="es-PE" sz="2400" dirty="0">
              <a:latin typeface="Inter" panose="020B0604020202020204" charset="0"/>
              <a:ea typeface="Inter" panose="020B0604020202020204" charset="0"/>
              <a:cs typeface="Inter" panose="020B0604020202020204" charset="0"/>
            </a:endParaRP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Por terceros en área de Concesiones otorgadas.</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En áreas de no admisión de petitorios.</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En terrenos cultivados o cercados, salvo autorización del titular o propietario del predio.</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En zonas urbanas o de expansión urbana.</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En zonas reservadas para la defensa nacional.</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En zonas arqueológicas.</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Sobre bienes de uso público, salvo autorización.</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En Áreas Naturales Protegidas.</a:t>
            </a:r>
          </a:p>
        </p:txBody>
      </p:sp>
      <p:sp>
        <p:nvSpPr>
          <p:cNvPr id="2" name="TextBox 10">
            <a:extLst>
              <a:ext uri="{FF2B5EF4-FFF2-40B4-BE49-F238E27FC236}">
                <a16:creationId xmlns:a16="http://schemas.microsoft.com/office/drawing/2014/main" xmlns="" id="{E7C007EC-829A-E77C-A5CD-09FD05CC9E50}"/>
              </a:ext>
            </a:extLst>
          </p:cNvPr>
          <p:cNvSpPr txBox="1"/>
          <p:nvPr/>
        </p:nvSpPr>
        <p:spPr>
          <a:xfrm>
            <a:off x="1219200" y="2686597"/>
            <a:ext cx="9982200" cy="615553"/>
          </a:xfrm>
          <a:prstGeom prst="rect">
            <a:avLst/>
          </a:prstGeom>
        </p:spPr>
        <p:txBody>
          <a:bodyPr wrap="square" lIns="0" tIns="0" rIns="0" bIns="0" rtlCol="0" anchor="t">
            <a:spAutoFit/>
          </a:bodyPr>
          <a:lstStyle/>
          <a:p>
            <a:pPr algn="l"/>
            <a:r>
              <a:rPr lang="es-PE" sz="4000" b="1" dirty="0">
                <a:solidFill>
                  <a:srgbClr val="A42F0F"/>
                </a:solidFill>
                <a:latin typeface="Futura Ultra-Bold"/>
                <a:sym typeface="Futura Ultra-Bold"/>
              </a:rPr>
              <a:t>1.2 ACTIVIDADES MINERAS LIBRES</a:t>
            </a:r>
          </a:p>
        </p:txBody>
      </p:sp>
      <p:grpSp>
        <p:nvGrpSpPr>
          <p:cNvPr id="3" name="Group 5">
            <a:extLst>
              <a:ext uri="{FF2B5EF4-FFF2-40B4-BE49-F238E27FC236}">
                <a16:creationId xmlns:a16="http://schemas.microsoft.com/office/drawing/2014/main" xmlns="" id="{6B0354AD-5A72-D899-9486-BA441B6115A9}"/>
              </a:ext>
            </a:extLst>
          </p:cNvPr>
          <p:cNvGrpSpPr/>
          <p:nvPr/>
        </p:nvGrpSpPr>
        <p:grpSpPr>
          <a:xfrm>
            <a:off x="8969283" y="8595490"/>
            <a:ext cx="7629069" cy="1796816"/>
            <a:chOff x="0" y="0"/>
            <a:chExt cx="752497" cy="177230"/>
          </a:xfrm>
        </p:grpSpPr>
        <p:sp>
          <p:nvSpPr>
            <p:cNvPr id="8" name="Freeform 6">
              <a:extLst>
                <a:ext uri="{FF2B5EF4-FFF2-40B4-BE49-F238E27FC236}">
                  <a16:creationId xmlns:a16="http://schemas.microsoft.com/office/drawing/2014/main" xmlns="" id="{64A67761-9FB3-CC52-C830-1932FCAC0A9B}"/>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9" name="TextBox 7">
              <a:extLst>
                <a:ext uri="{FF2B5EF4-FFF2-40B4-BE49-F238E27FC236}">
                  <a16:creationId xmlns:a16="http://schemas.microsoft.com/office/drawing/2014/main" xmlns="" id="{8A86FA63-E3A1-E459-930A-0F5C800924C5}"/>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3109292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372FB4-8B86-849C-D791-86CBA9D9BE10}"/>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8DC8120D-913A-5720-ECB8-F3E5AEA42D99}"/>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41BD5866-1A14-ABD4-A46B-20881441ABA0}"/>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5A6E7794-23D5-A117-2999-288DF979448C}"/>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43C0EC92-68E7-6701-9A89-80550EF6C9C2}"/>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9" name="TextBox 9">
            <a:extLst>
              <a:ext uri="{FF2B5EF4-FFF2-40B4-BE49-F238E27FC236}">
                <a16:creationId xmlns:a16="http://schemas.microsoft.com/office/drawing/2014/main" xmlns="" id="{25D63C37-78D8-5898-5EB2-F9211E36DEB8}"/>
              </a:ext>
            </a:extLst>
          </p:cNvPr>
          <p:cNvSpPr txBox="1"/>
          <p:nvPr/>
        </p:nvSpPr>
        <p:spPr>
          <a:xfrm>
            <a:off x="1219200" y="3924300"/>
            <a:ext cx="12904493" cy="3693319"/>
          </a:xfrm>
          <a:prstGeom prst="rect">
            <a:avLst/>
          </a:prstGeom>
        </p:spPr>
        <p:txBody>
          <a:bodyPr wrap="square" lIns="0" tIns="0" rIns="0" bIns="0" rtlCol="0" anchor="t">
            <a:spAutoFit/>
          </a:bodyPr>
          <a:lstStyle/>
          <a:p>
            <a:pPr marL="0" lvl="0" indent="0" algn="just">
              <a:buNone/>
            </a:pPr>
            <a:r>
              <a:rPr lang="es-PE" sz="2400" b="1" dirty="0">
                <a:solidFill>
                  <a:srgbClr val="A42F0F"/>
                </a:solidFill>
                <a:latin typeface="Futura Ultra-Bold"/>
              </a:rPr>
              <a:t>COMERCIALIZACIÓN: </a:t>
            </a:r>
          </a:p>
          <a:p>
            <a:pPr marL="0" lvl="0" indent="0" algn="just">
              <a:buNone/>
            </a:pPr>
            <a:endParaRPr lang="es-PE" sz="2400" b="1" dirty="0">
              <a:solidFill>
                <a:srgbClr val="C32D2E"/>
              </a:solidFill>
              <a:latin typeface="Inter" panose="020B0604020202020204" charset="0"/>
              <a:ea typeface="Inter" panose="020B0604020202020204" charset="0"/>
              <a:cs typeface="Inter" panose="020B0604020202020204" charset="0"/>
            </a:endParaRPr>
          </a:p>
          <a:p>
            <a:pPr marL="0" lvl="0" indent="0" algn="just">
              <a:buNone/>
            </a:pPr>
            <a:r>
              <a:rPr lang="es-PE" sz="2400" dirty="0">
                <a:latin typeface="Inter" panose="020B0604020202020204" charset="0"/>
                <a:ea typeface="Inter" panose="020B0604020202020204" charset="0"/>
                <a:cs typeface="Inter" panose="020B0604020202020204" charset="0"/>
              </a:rPr>
              <a:t>Es Libre el comercio de productos minerales, interna y externamente. Su ejercicio no se requiere el otorgamiento de una concesión. (art. 3 del TUO LGM)</a:t>
            </a:r>
          </a:p>
          <a:p>
            <a:pPr lvl="1" algn="just"/>
            <a:endParaRPr lang="es-PE" sz="2400" dirty="0">
              <a:latin typeface="Inter" panose="020B0604020202020204" charset="0"/>
              <a:ea typeface="Inter" panose="020B0604020202020204" charset="0"/>
              <a:cs typeface="Inter" panose="020B0604020202020204" charset="0"/>
            </a:endParaRP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No son reivindicables los productos minerales comprados a personas autorizadas.</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La compra de minerales a personas no autorizadas acarrea responsabilidad.</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El comprador debe verificar el origen de las sustancias minerales. </a:t>
            </a:r>
          </a:p>
          <a:p>
            <a:pPr marL="800100" lvl="1" indent="-342900" algn="just">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Debe de identificar el derecho minero del cual ha sido extraído y/o especificado. En caso de ser producto metalúrgico, el certificado de Planta de beneficio.</a:t>
            </a:r>
          </a:p>
        </p:txBody>
      </p:sp>
      <p:sp>
        <p:nvSpPr>
          <p:cNvPr id="3" name="TextBox 10">
            <a:extLst>
              <a:ext uri="{FF2B5EF4-FFF2-40B4-BE49-F238E27FC236}">
                <a16:creationId xmlns:a16="http://schemas.microsoft.com/office/drawing/2014/main" xmlns="" id="{FD40FC9F-FCEA-2291-5F90-B92CE0320168}"/>
              </a:ext>
            </a:extLst>
          </p:cNvPr>
          <p:cNvSpPr txBox="1"/>
          <p:nvPr/>
        </p:nvSpPr>
        <p:spPr>
          <a:xfrm>
            <a:off x="1219200" y="2686597"/>
            <a:ext cx="9982200" cy="615553"/>
          </a:xfrm>
          <a:prstGeom prst="rect">
            <a:avLst/>
          </a:prstGeom>
        </p:spPr>
        <p:txBody>
          <a:bodyPr wrap="square" lIns="0" tIns="0" rIns="0" bIns="0" rtlCol="0" anchor="t">
            <a:spAutoFit/>
          </a:bodyPr>
          <a:lstStyle/>
          <a:p>
            <a:pPr algn="l"/>
            <a:r>
              <a:rPr lang="es-PE" sz="4000" b="1" dirty="0">
                <a:solidFill>
                  <a:srgbClr val="A42F0F"/>
                </a:solidFill>
                <a:latin typeface="Futura Ultra-Bold"/>
                <a:sym typeface="Futura Ultra-Bold"/>
              </a:rPr>
              <a:t>1.2 ACTIVIDADES MINERAS LIBRES</a:t>
            </a:r>
          </a:p>
        </p:txBody>
      </p:sp>
      <p:grpSp>
        <p:nvGrpSpPr>
          <p:cNvPr id="2" name="Group 5">
            <a:extLst>
              <a:ext uri="{FF2B5EF4-FFF2-40B4-BE49-F238E27FC236}">
                <a16:creationId xmlns:a16="http://schemas.microsoft.com/office/drawing/2014/main" xmlns="" id="{3C92C213-2B5E-8B35-9756-FC0BDF751AB9}"/>
              </a:ext>
            </a:extLst>
          </p:cNvPr>
          <p:cNvGrpSpPr/>
          <p:nvPr/>
        </p:nvGrpSpPr>
        <p:grpSpPr>
          <a:xfrm>
            <a:off x="8969283" y="8595490"/>
            <a:ext cx="7629069" cy="1796816"/>
            <a:chOff x="0" y="0"/>
            <a:chExt cx="752497" cy="177230"/>
          </a:xfrm>
        </p:grpSpPr>
        <p:sp>
          <p:nvSpPr>
            <p:cNvPr id="8" name="Freeform 6">
              <a:extLst>
                <a:ext uri="{FF2B5EF4-FFF2-40B4-BE49-F238E27FC236}">
                  <a16:creationId xmlns:a16="http://schemas.microsoft.com/office/drawing/2014/main" xmlns="" id="{49286EA6-2BE8-8EAE-EAD1-EB76EA560823}"/>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0" name="TextBox 7">
              <a:extLst>
                <a:ext uri="{FF2B5EF4-FFF2-40B4-BE49-F238E27FC236}">
                  <a16:creationId xmlns:a16="http://schemas.microsoft.com/office/drawing/2014/main" xmlns="" id="{D1CCB572-1104-DB37-3463-AFA407923BFB}"/>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3542639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9DB8B9-2FC3-5AAB-D526-0D90EB8316EC}"/>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8C604135-84DD-A025-8532-8AD19816322C}"/>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1B4C99A5-6BD7-83A2-CA4E-904274BD2CAF}"/>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FDB687E2-9912-1183-1338-12D1A3434FBB}"/>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6F71D5D1-1416-D57D-A893-894E69A76F5A}"/>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9" name="TextBox 9">
            <a:extLst>
              <a:ext uri="{FF2B5EF4-FFF2-40B4-BE49-F238E27FC236}">
                <a16:creationId xmlns:a16="http://schemas.microsoft.com/office/drawing/2014/main" xmlns="" id="{105BF70D-5318-2F7A-759C-122DF574606A}"/>
              </a:ext>
            </a:extLst>
          </p:cNvPr>
          <p:cNvSpPr txBox="1"/>
          <p:nvPr/>
        </p:nvSpPr>
        <p:spPr>
          <a:xfrm>
            <a:off x="1219201" y="4098939"/>
            <a:ext cx="12801600" cy="3657411"/>
          </a:xfrm>
          <a:prstGeom prst="rect">
            <a:avLst/>
          </a:prstGeom>
        </p:spPr>
        <p:txBody>
          <a:bodyPr wrap="square" lIns="0" tIns="0" rIns="0" bIns="0" rtlCol="0" anchor="t">
            <a:spAutoFit/>
          </a:bodyPr>
          <a:lstStyle/>
          <a:p>
            <a:pPr marL="0" lvl="0" indent="0">
              <a:buNone/>
            </a:pPr>
            <a:r>
              <a:rPr lang="es-PE" sz="2400" b="1" dirty="0">
                <a:solidFill>
                  <a:srgbClr val="A42F0F"/>
                </a:solidFill>
                <a:latin typeface="Futura Ultra-Bold"/>
              </a:rPr>
              <a:t>DEPÓSITOS DE CONCENTRADOS MINEROS. </a:t>
            </a:r>
          </a:p>
          <a:p>
            <a:pPr marL="0" lvl="0" indent="0">
              <a:buNone/>
            </a:pPr>
            <a:endParaRPr lang="es-PE" sz="2400" b="1" dirty="0">
              <a:latin typeface="Inter" panose="020B0604020202020204" charset="0"/>
              <a:ea typeface="Inter" panose="020B0604020202020204" charset="0"/>
              <a:cs typeface="Inter" panose="020B0604020202020204" charset="0"/>
            </a:endParaRPr>
          </a:p>
          <a:p>
            <a:pPr marL="95246" indent="0">
              <a:buNone/>
            </a:pPr>
            <a:r>
              <a:rPr lang="es-PE" sz="2400" dirty="0">
                <a:latin typeface="Inter" panose="020B0604020202020204" charset="0"/>
                <a:ea typeface="Inter" panose="020B0604020202020204" charset="0"/>
                <a:cs typeface="Inter" panose="020B0604020202020204" charset="0"/>
              </a:rPr>
              <a:t>El almacenamiento de concentrados de minerales en depósitos ubicados fuera de las áreas de las operaciones mineras, constituye una actividad del sector minero que no se realiza bajo el sistema de concesiones</a:t>
            </a:r>
            <a:r>
              <a:rPr lang="es-PE" sz="2400" dirty="0">
                <a:solidFill>
                  <a:srgbClr val="C00000"/>
                </a:solidFill>
                <a:latin typeface="Inter" panose="020B0604020202020204" charset="0"/>
                <a:ea typeface="Inter" panose="020B0604020202020204" charset="0"/>
                <a:cs typeface="Inter" panose="020B0604020202020204" charset="0"/>
              </a:rPr>
              <a:t>. (D. Legislativo 1048)</a:t>
            </a:r>
          </a:p>
          <a:p>
            <a:pPr marL="95246" lvl="1" indent="0">
              <a:spcBef>
                <a:spcPts val="1200"/>
              </a:spcBef>
              <a:spcAft>
                <a:spcPts val="200"/>
              </a:spcAft>
              <a:buSzPct val="100000"/>
              <a:buNone/>
            </a:pPr>
            <a:r>
              <a:rPr lang="es-PE" sz="2400" dirty="0">
                <a:latin typeface="Inter" panose="020B0604020202020204" charset="0"/>
                <a:ea typeface="Inter" panose="020B0604020202020204" charset="0"/>
                <a:cs typeface="Inter" panose="020B0604020202020204" charset="0"/>
              </a:rPr>
              <a:t>Encontrándose regulada por las normas y procedimientos previstos por el Ministerio de Energía y Minas, así como por las disposiciones vigentes en materia ambiental, y de seguridad e higiene minera, en los aspectos que le resulten aplicables. </a:t>
            </a:r>
          </a:p>
          <a:p>
            <a:pPr marL="95246" lvl="1" indent="0">
              <a:spcBef>
                <a:spcPts val="1200"/>
              </a:spcBef>
              <a:spcAft>
                <a:spcPts val="200"/>
              </a:spcAft>
              <a:buSzPct val="100000"/>
              <a:buNone/>
            </a:pPr>
            <a:r>
              <a:rPr lang="es-PE" sz="2400" dirty="0">
                <a:latin typeface="Inter" panose="020B0604020202020204" charset="0"/>
                <a:ea typeface="Inter" panose="020B0604020202020204" charset="0"/>
                <a:cs typeface="Inter" panose="020B0604020202020204" charset="0"/>
              </a:rPr>
              <a:t>Fiscalizados por OSINERGMIN y OEFA</a:t>
            </a:r>
          </a:p>
        </p:txBody>
      </p:sp>
      <p:sp>
        <p:nvSpPr>
          <p:cNvPr id="3" name="TextBox 10">
            <a:extLst>
              <a:ext uri="{FF2B5EF4-FFF2-40B4-BE49-F238E27FC236}">
                <a16:creationId xmlns:a16="http://schemas.microsoft.com/office/drawing/2014/main" xmlns="" id="{C1AC2B0D-0205-BBD6-07D3-CB92206D74EE}"/>
              </a:ext>
            </a:extLst>
          </p:cNvPr>
          <p:cNvSpPr txBox="1"/>
          <p:nvPr/>
        </p:nvSpPr>
        <p:spPr>
          <a:xfrm>
            <a:off x="1219200" y="2686597"/>
            <a:ext cx="9982200" cy="615553"/>
          </a:xfrm>
          <a:prstGeom prst="rect">
            <a:avLst/>
          </a:prstGeom>
        </p:spPr>
        <p:txBody>
          <a:bodyPr wrap="square" lIns="0" tIns="0" rIns="0" bIns="0" rtlCol="0" anchor="t">
            <a:spAutoFit/>
          </a:bodyPr>
          <a:lstStyle/>
          <a:p>
            <a:pPr algn="l"/>
            <a:r>
              <a:rPr lang="es-PE" sz="4000" b="1" dirty="0">
                <a:solidFill>
                  <a:srgbClr val="A42F0F"/>
                </a:solidFill>
                <a:latin typeface="Futura Ultra-Bold"/>
                <a:sym typeface="Futura Ultra-Bold"/>
              </a:rPr>
              <a:t>1.2 ACTIVIDADES MINERAS LIBRES</a:t>
            </a:r>
          </a:p>
        </p:txBody>
      </p:sp>
      <p:grpSp>
        <p:nvGrpSpPr>
          <p:cNvPr id="2" name="Group 5">
            <a:extLst>
              <a:ext uri="{FF2B5EF4-FFF2-40B4-BE49-F238E27FC236}">
                <a16:creationId xmlns:a16="http://schemas.microsoft.com/office/drawing/2014/main" xmlns="" id="{24C1F5C1-5902-6293-9B3C-9F74E982BCBD}"/>
              </a:ext>
            </a:extLst>
          </p:cNvPr>
          <p:cNvGrpSpPr/>
          <p:nvPr/>
        </p:nvGrpSpPr>
        <p:grpSpPr>
          <a:xfrm>
            <a:off x="8969283" y="8595490"/>
            <a:ext cx="7629069" cy="1796816"/>
            <a:chOff x="0" y="0"/>
            <a:chExt cx="752497" cy="177230"/>
          </a:xfrm>
        </p:grpSpPr>
        <p:sp>
          <p:nvSpPr>
            <p:cNvPr id="8" name="Freeform 6">
              <a:extLst>
                <a:ext uri="{FF2B5EF4-FFF2-40B4-BE49-F238E27FC236}">
                  <a16:creationId xmlns:a16="http://schemas.microsoft.com/office/drawing/2014/main" xmlns="" id="{3B116454-7E2C-2FFC-3140-B357F2C064F7}"/>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0" name="TextBox 7">
              <a:extLst>
                <a:ext uri="{FF2B5EF4-FFF2-40B4-BE49-F238E27FC236}">
                  <a16:creationId xmlns:a16="http://schemas.microsoft.com/office/drawing/2014/main" xmlns="" id="{D44D4519-AB23-788A-BBAD-6569CECFFA76}"/>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4236728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1762C01-7873-2D81-98A2-AE3A9E3358C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DBE19FDD-0B98-0175-2F71-0D04183C28DA}"/>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FF891362-08D4-68E7-67A1-96CBDFD5F681}"/>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DD571497-0283-7815-7EAA-1ED0C5A272E9}"/>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8C63F2FC-3DDA-42F8-5892-81A58E158F8C}"/>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9" name="TextBox 9">
            <a:extLst>
              <a:ext uri="{FF2B5EF4-FFF2-40B4-BE49-F238E27FC236}">
                <a16:creationId xmlns:a16="http://schemas.microsoft.com/office/drawing/2014/main" xmlns="" id="{96EE11CF-04D1-5569-3D53-D8E140BEEE61}"/>
              </a:ext>
            </a:extLst>
          </p:cNvPr>
          <p:cNvSpPr txBox="1"/>
          <p:nvPr/>
        </p:nvSpPr>
        <p:spPr>
          <a:xfrm>
            <a:off x="945354" y="3815246"/>
            <a:ext cx="7360446" cy="4062651"/>
          </a:xfrm>
          <a:prstGeom prst="rect">
            <a:avLst/>
          </a:prstGeom>
        </p:spPr>
        <p:txBody>
          <a:bodyPr wrap="square" lIns="0" tIns="0" rIns="0" bIns="0" rtlCol="0" anchor="t">
            <a:spAutoFit/>
          </a:bodyPr>
          <a:lstStyle/>
          <a:p>
            <a:r>
              <a:rPr lang="es-PE" sz="2400" b="1" dirty="0">
                <a:latin typeface="Inter" panose="020B0604020202020204" charset="0"/>
                <a:ea typeface="Inter" panose="020B0604020202020204" charset="0"/>
                <a:cs typeface="Inter" panose="020B0604020202020204" charset="0"/>
              </a:rPr>
              <a:t>CONCESIÓN</a:t>
            </a:r>
            <a:r>
              <a:rPr lang="es-PE" sz="2400" dirty="0">
                <a:latin typeface="Inter" panose="020B0604020202020204" charset="0"/>
                <a:ea typeface="Inter" panose="020B0604020202020204" charset="0"/>
                <a:cs typeface="Inter" panose="020B0604020202020204" charset="0"/>
              </a:rPr>
              <a:t>: </a:t>
            </a:r>
          </a:p>
          <a:p>
            <a:endParaRPr lang="es-PE" sz="2400" dirty="0">
              <a:latin typeface="Inter" panose="020B0604020202020204" charset="0"/>
              <a:ea typeface="Inter" panose="020B0604020202020204" charset="0"/>
              <a:cs typeface="Inter" panose="020B0604020202020204" charset="0"/>
            </a:endParaRPr>
          </a:p>
          <a:p>
            <a:pPr marL="34290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Es el </a:t>
            </a:r>
            <a:r>
              <a:rPr lang="es-PE" sz="2400" b="1" dirty="0">
                <a:latin typeface="Inter" panose="020B0604020202020204" charset="0"/>
                <a:ea typeface="Inter" panose="020B0604020202020204" charset="0"/>
                <a:cs typeface="Inter" panose="020B0604020202020204" charset="0"/>
              </a:rPr>
              <a:t>derecho que otorga el Estado </a:t>
            </a:r>
            <a:r>
              <a:rPr lang="es-PE" sz="2400" dirty="0">
                <a:latin typeface="Inter" panose="020B0604020202020204" charset="0"/>
                <a:ea typeface="Inter" panose="020B0604020202020204" charset="0"/>
                <a:cs typeface="Inter" panose="020B0604020202020204" charset="0"/>
              </a:rPr>
              <a:t>a personas naturales o jurídicas a fin que administre y explote en su provecho, en forma regular y continua, por tiempo </a:t>
            </a:r>
            <a:r>
              <a:rPr lang="es-PE" sz="2400" dirty="0">
                <a:solidFill>
                  <a:srgbClr val="C00000"/>
                </a:solidFill>
                <a:latin typeface="Inter" panose="020B0604020202020204" charset="0"/>
                <a:ea typeface="Inter" panose="020B0604020202020204" charset="0"/>
                <a:cs typeface="Inter" panose="020B0604020202020204" charset="0"/>
              </a:rPr>
              <a:t>indeterminado, </a:t>
            </a:r>
            <a:r>
              <a:rPr lang="es-PE" sz="2400" dirty="0">
                <a:latin typeface="Inter" panose="020B0604020202020204" charset="0"/>
                <a:ea typeface="Inter" panose="020B0604020202020204" charset="0"/>
                <a:cs typeface="Inter" panose="020B0604020202020204" charset="0"/>
              </a:rPr>
              <a:t>bienes o recursos de dominio del Estado o servicios públicos, para la satisfacción de un interés colectivo, autorizado mediante ley y aprobado por Resolución. </a:t>
            </a:r>
          </a:p>
          <a:p>
            <a:pPr marL="34290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Las concesiones otorgadas son </a:t>
            </a:r>
            <a:r>
              <a:rPr lang="es-PE" sz="2400" dirty="0">
                <a:solidFill>
                  <a:srgbClr val="C00000"/>
                </a:solidFill>
                <a:latin typeface="Inter" panose="020B0604020202020204" charset="0"/>
                <a:ea typeface="Inter" panose="020B0604020202020204" charset="0"/>
                <a:cs typeface="Inter" panose="020B0604020202020204" charset="0"/>
              </a:rPr>
              <a:t>Irrevocables.</a:t>
            </a:r>
          </a:p>
        </p:txBody>
      </p:sp>
      <p:sp>
        <p:nvSpPr>
          <p:cNvPr id="2" name="TextBox 8">
            <a:extLst>
              <a:ext uri="{FF2B5EF4-FFF2-40B4-BE49-F238E27FC236}">
                <a16:creationId xmlns:a16="http://schemas.microsoft.com/office/drawing/2014/main" xmlns="" id="{00C8C577-0F19-2E9C-2360-776A757B0F0A}"/>
              </a:ext>
            </a:extLst>
          </p:cNvPr>
          <p:cNvSpPr txBox="1"/>
          <p:nvPr/>
        </p:nvSpPr>
        <p:spPr>
          <a:xfrm>
            <a:off x="945354" y="2723963"/>
            <a:ext cx="162758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1.3 ACTIVIDADES MINERAS POR SISTEMAS DE CONCESIONES</a:t>
            </a:r>
          </a:p>
        </p:txBody>
      </p:sp>
      <p:sp>
        <p:nvSpPr>
          <p:cNvPr id="8" name="CuadroTexto 7">
            <a:extLst>
              <a:ext uri="{FF2B5EF4-FFF2-40B4-BE49-F238E27FC236}">
                <a16:creationId xmlns:a16="http://schemas.microsoft.com/office/drawing/2014/main" xmlns="" id="{A89C26EE-91BA-D7B0-74D3-483299AC16CD}"/>
              </a:ext>
            </a:extLst>
          </p:cNvPr>
          <p:cNvSpPr txBox="1"/>
          <p:nvPr/>
        </p:nvSpPr>
        <p:spPr>
          <a:xfrm>
            <a:off x="9144000" y="4457700"/>
            <a:ext cx="6781800" cy="3323987"/>
          </a:xfrm>
          <a:prstGeom prst="rect">
            <a:avLst/>
          </a:prstGeom>
          <a:noFill/>
        </p:spPr>
        <p:txBody>
          <a:bodyPr wrap="square">
            <a:spAutoFit/>
          </a:bodyPr>
          <a:lstStyle/>
          <a:p>
            <a:pPr marL="480060" indent="-325756" algn="just">
              <a:buFont typeface="+mj-lt"/>
              <a:buAutoNum type="arabicPeriod"/>
            </a:pPr>
            <a:r>
              <a:rPr lang="es-PE" sz="3000" b="1" dirty="0">
                <a:solidFill>
                  <a:schemeClr val="accent2">
                    <a:lumMod val="50000"/>
                  </a:schemeClr>
                </a:solidFill>
                <a:latin typeface="Inter" panose="020B0604020202020204" charset="0"/>
                <a:ea typeface="Inter" panose="020B0604020202020204" charset="0"/>
                <a:cs typeface="Inter" panose="020B0604020202020204" charset="0"/>
              </a:rPr>
              <a:t>Concesión Minera</a:t>
            </a:r>
          </a:p>
          <a:p>
            <a:pPr marL="480060" indent="-325756" algn="just">
              <a:buFont typeface="+mj-lt"/>
              <a:buAutoNum type="arabicPeriod"/>
            </a:pPr>
            <a:endParaRPr lang="es-PE" sz="3000" dirty="0">
              <a:solidFill>
                <a:schemeClr val="accent2">
                  <a:lumMod val="50000"/>
                </a:schemeClr>
              </a:solidFill>
              <a:latin typeface="Inter" panose="020B0604020202020204" charset="0"/>
              <a:ea typeface="Inter" panose="020B0604020202020204" charset="0"/>
              <a:cs typeface="Inter" panose="020B0604020202020204" charset="0"/>
            </a:endParaRPr>
          </a:p>
          <a:p>
            <a:pPr marL="480060" indent="-325756" algn="just">
              <a:buFont typeface="+mj-lt"/>
              <a:buAutoNum type="arabicPeriod"/>
            </a:pPr>
            <a:r>
              <a:rPr lang="es-PE" sz="3000" b="1" dirty="0">
                <a:solidFill>
                  <a:schemeClr val="accent2">
                    <a:lumMod val="50000"/>
                  </a:schemeClr>
                </a:solidFill>
                <a:latin typeface="Inter" panose="020B0604020202020204" charset="0"/>
                <a:ea typeface="Inter" panose="020B0604020202020204" charset="0"/>
                <a:cs typeface="Inter" panose="020B0604020202020204" charset="0"/>
              </a:rPr>
              <a:t>Concesión de Beneficio</a:t>
            </a:r>
          </a:p>
          <a:p>
            <a:pPr marL="480060" indent="-325756" algn="just">
              <a:buFont typeface="+mj-lt"/>
              <a:buAutoNum type="arabicPeriod"/>
            </a:pPr>
            <a:endParaRPr lang="es-PE" sz="3000" dirty="0">
              <a:solidFill>
                <a:schemeClr val="accent2">
                  <a:lumMod val="50000"/>
                </a:schemeClr>
              </a:solidFill>
              <a:latin typeface="Inter" panose="020B0604020202020204" charset="0"/>
              <a:ea typeface="Inter" panose="020B0604020202020204" charset="0"/>
              <a:cs typeface="Inter" panose="020B0604020202020204" charset="0"/>
            </a:endParaRPr>
          </a:p>
          <a:p>
            <a:pPr marL="480060" indent="-325756" algn="just">
              <a:buFont typeface="+mj-lt"/>
              <a:buAutoNum type="arabicPeriod"/>
            </a:pPr>
            <a:r>
              <a:rPr lang="es-PE" sz="3000" b="1" dirty="0">
                <a:solidFill>
                  <a:schemeClr val="accent2">
                    <a:lumMod val="50000"/>
                  </a:schemeClr>
                </a:solidFill>
                <a:latin typeface="Inter" panose="020B0604020202020204" charset="0"/>
                <a:ea typeface="Inter" panose="020B0604020202020204" charset="0"/>
                <a:cs typeface="Inter" panose="020B0604020202020204" charset="0"/>
              </a:rPr>
              <a:t>Concesión de Labor General</a:t>
            </a:r>
          </a:p>
          <a:p>
            <a:pPr marL="480060" indent="-325756" algn="just">
              <a:buFont typeface="+mj-lt"/>
              <a:buAutoNum type="arabicPeriod"/>
            </a:pPr>
            <a:endParaRPr lang="es-PE" sz="3000" dirty="0">
              <a:solidFill>
                <a:schemeClr val="accent2">
                  <a:lumMod val="50000"/>
                </a:schemeClr>
              </a:solidFill>
              <a:latin typeface="Inter" panose="020B0604020202020204" charset="0"/>
              <a:ea typeface="Inter" panose="020B0604020202020204" charset="0"/>
              <a:cs typeface="Inter" panose="020B0604020202020204" charset="0"/>
            </a:endParaRPr>
          </a:p>
          <a:p>
            <a:pPr marL="480060" indent="-325756" algn="just">
              <a:buFont typeface="+mj-lt"/>
              <a:buAutoNum type="arabicPeriod"/>
            </a:pPr>
            <a:r>
              <a:rPr lang="es-PE" sz="3000" b="1" dirty="0">
                <a:solidFill>
                  <a:schemeClr val="accent2">
                    <a:lumMod val="50000"/>
                  </a:schemeClr>
                </a:solidFill>
                <a:latin typeface="Inter" panose="020B0604020202020204" charset="0"/>
                <a:ea typeface="Inter" panose="020B0604020202020204" charset="0"/>
                <a:cs typeface="Inter" panose="020B0604020202020204" charset="0"/>
              </a:rPr>
              <a:t>Concesión de Transporte</a:t>
            </a:r>
            <a:endParaRPr lang="es-PE" sz="3000" dirty="0">
              <a:solidFill>
                <a:schemeClr val="accent2">
                  <a:lumMod val="50000"/>
                </a:schemeClr>
              </a:solidFill>
              <a:latin typeface="Inter" panose="020B0604020202020204" charset="0"/>
              <a:ea typeface="Inter" panose="020B0604020202020204" charset="0"/>
              <a:cs typeface="Inter" panose="020B0604020202020204" charset="0"/>
            </a:endParaRPr>
          </a:p>
        </p:txBody>
      </p:sp>
      <p:grpSp>
        <p:nvGrpSpPr>
          <p:cNvPr id="3" name="Group 5">
            <a:extLst>
              <a:ext uri="{FF2B5EF4-FFF2-40B4-BE49-F238E27FC236}">
                <a16:creationId xmlns:a16="http://schemas.microsoft.com/office/drawing/2014/main" xmlns="" id="{5C9842B1-8F81-4033-E5F2-0046B339AC08}"/>
              </a:ext>
            </a:extLst>
          </p:cNvPr>
          <p:cNvGrpSpPr/>
          <p:nvPr/>
        </p:nvGrpSpPr>
        <p:grpSpPr>
          <a:xfrm>
            <a:off x="8969283" y="8595490"/>
            <a:ext cx="7629069" cy="1796816"/>
            <a:chOff x="0" y="0"/>
            <a:chExt cx="752497" cy="177230"/>
          </a:xfrm>
        </p:grpSpPr>
        <p:sp>
          <p:nvSpPr>
            <p:cNvPr id="10" name="Freeform 6">
              <a:extLst>
                <a:ext uri="{FF2B5EF4-FFF2-40B4-BE49-F238E27FC236}">
                  <a16:creationId xmlns:a16="http://schemas.microsoft.com/office/drawing/2014/main" xmlns="" id="{DDD54DB5-DD0D-F11C-A755-EE6882FE2B35}"/>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1" name="TextBox 7">
              <a:extLst>
                <a:ext uri="{FF2B5EF4-FFF2-40B4-BE49-F238E27FC236}">
                  <a16:creationId xmlns:a16="http://schemas.microsoft.com/office/drawing/2014/main" xmlns="" id="{B9A83C80-F476-8D31-6524-29BD9D2FB51D}"/>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497897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p:cNvGrpSpPr/>
          <p:nvPr/>
        </p:nvGrpSpPr>
        <p:grpSpPr>
          <a:xfrm>
            <a:off x="3733800" y="235864"/>
            <a:ext cx="10116046" cy="2253857"/>
            <a:chOff x="0" y="0"/>
            <a:chExt cx="1438895" cy="320586"/>
          </a:xfrm>
        </p:grpSpPr>
        <p:sp>
          <p:nvSpPr>
            <p:cNvPr id="7" name="Freeform 7"/>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9" name="TextBox 9"/>
          <p:cNvSpPr txBox="1"/>
          <p:nvPr/>
        </p:nvSpPr>
        <p:spPr>
          <a:xfrm>
            <a:off x="945354" y="3695700"/>
            <a:ext cx="13075446" cy="5473871"/>
          </a:xfrm>
          <a:prstGeom prst="rect">
            <a:avLst/>
          </a:prstGeom>
        </p:spPr>
        <p:txBody>
          <a:bodyPr wrap="square" lIns="0" tIns="0" rIns="0" bIns="0" rtlCol="0" anchor="t">
            <a:spAutoFit/>
          </a:bodyPr>
          <a:lstStyle/>
          <a:p>
            <a:pPr marL="365111" indent="-182556">
              <a:lnSpc>
                <a:spcPct val="150000"/>
              </a:lnSpc>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La concesión otorga el aprovechamiento es </a:t>
            </a:r>
            <a:r>
              <a:rPr lang="es-PE" sz="2400" b="1" dirty="0">
                <a:solidFill>
                  <a:schemeClr val="accent2">
                    <a:lumMod val="50000"/>
                  </a:schemeClr>
                </a:solidFill>
                <a:latin typeface="Inter" panose="020B0604020202020204" charset="0"/>
                <a:ea typeface="Inter" panose="020B0604020202020204" charset="0"/>
                <a:cs typeface="Inter" panose="020B0604020202020204" charset="0"/>
              </a:rPr>
              <a:t>exclusivo</a:t>
            </a:r>
            <a:r>
              <a:rPr lang="es-PE" sz="2400" dirty="0">
                <a:latin typeface="Inter" panose="020B0604020202020204" charset="0"/>
                <a:ea typeface="Inter" panose="020B0604020202020204" charset="0"/>
                <a:cs typeface="Inter" panose="020B0604020202020204" charset="0"/>
              </a:rPr>
              <a:t>, es </a:t>
            </a:r>
            <a:r>
              <a:rPr lang="es-PE" sz="2400" b="1" dirty="0">
                <a:solidFill>
                  <a:schemeClr val="accent2">
                    <a:lumMod val="50000"/>
                  </a:schemeClr>
                </a:solidFill>
                <a:latin typeface="Inter" panose="020B0604020202020204" charset="0"/>
                <a:ea typeface="Inter" panose="020B0604020202020204" charset="0"/>
                <a:cs typeface="Inter" panose="020B0604020202020204" charset="0"/>
              </a:rPr>
              <a:t>irrevocable</a:t>
            </a:r>
            <a:r>
              <a:rPr lang="es-PE" sz="2400" dirty="0">
                <a:latin typeface="Inter" panose="020B0604020202020204" charset="0"/>
                <a:ea typeface="Inter" panose="020B0604020202020204" charset="0"/>
                <a:cs typeface="Inter" panose="020B0604020202020204" charset="0"/>
              </a:rPr>
              <a:t> e </a:t>
            </a:r>
            <a:r>
              <a:rPr lang="es-PE" sz="2400" b="1" dirty="0">
                <a:solidFill>
                  <a:schemeClr val="accent2">
                    <a:lumMod val="50000"/>
                  </a:schemeClr>
                </a:solidFill>
                <a:latin typeface="Inter" panose="020B0604020202020204" charset="0"/>
                <a:ea typeface="Inter" panose="020B0604020202020204" charset="0"/>
                <a:cs typeface="Inter" panose="020B0604020202020204" charset="0"/>
              </a:rPr>
              <a:t>indeterminado</a:t>
            </a:r>
            <a:r>
              <a:rPr lang="es-PE" sz="2400" dirty="0">
                <a:solidFill>
                  <a:schemeClr val="accent2">
                    <a:lumMod val="50000"/>
                  </a:schemeClr>
                </a:solidFill>
                <a:latin typeface="Inter" panose="020B0604020202020204" charset="0"/>
                <a:ea typeface="Inter" panose="020B0604020202020204" charset="0"/>
                <a:cs typeface="Inter" panose="020B0604020202020204" charset="0"/>
              </a:rPr>
              <a:t>.</a:t>
            </a:r>
          </a:p>
          <a:p>
            <a:pPr marL="365111" indent="-182556">
              <a:lnSpc>
                <a:spcPct val="150000"/>
              </a:lnSpc>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El concesionario se convierte en propietario de los minerales extraídos, que tiene la calidad legal de productos.</a:t>
            </a:r>
          </a:p>
          <a:p>
            <a:pPr marL="365111" indent="-182556">
              <a:lnSpc>
                <a:spcPct val="150000"/>
              </a:lnSpc>
              <a:buFont typeface="Arial" panose="020B0604020202020204" pitchFamily="34" charset="0"/>
              <a:buChar char="•"/>
            </a:pPr>
            <a:r>
              <a:rPr lang="es-PE" sz="2400" b="1" dirty="0">
                <a:latin typeface="Inter" panose="020B0604020202020204" charset="0"/>
                <a:ea typeface="Inter" panose="020B0604020202020204" charset="0"/>
                <a:cs typeface="Inter" panose="020B0604020202020204" charset="0"/>
              </a:rPr>
              <a:t>La Concesión es un inmueble distinto y separado del predio en donde se encuentre ubicada</a:t>
            </a:r>
            <a:r>
              <a:rPr lang="es-PE" sz="2400" dirty="0">
                <a:latin typeface="Inter" panose="020B0604020202020204" charset="0"/>
                <a:ea typeface="Inter" panose="020B0604020202020204" charset="0"/>
                <a:cs typeface="Inter" panose="020B0604020202020204" charset="0"/>
              </a:rPr>
              <a:t> (art.9). </a:t>
            </a:r>
            <a:r>
              <a:rPr lang="es-PE" sz="2400" i="1" dirty="0">
                <a:solidFill>
                  <a:schemeClr val="accent2">
                    <a:lumMod val="50000"/>
                  </a:schemeClr>
                </a:solidFill>
                <a:latin typeface="Inter" panose="020B0604020202020204" charset="0"/>
                <a:ea typeface="Inter" panose="020B0604020202020204" charset="0"/>
                <a:cs typeface="Inter" panose="020B0604020202020204" charset="0"/>
              </a:rPr>
              <a:t>(distinción legal)</a:t>
            </a:r>
          </a:p>
          <a:p>
            <a:pPr marL="365111" indent="-182556">
              <a:lnSpc>
                <a:spcPct val="150000"/>
              </a:lnSpc>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Las partes integrantes y accesorias de la concesión siguen la condición de inmuebles, aunque estén fuera de la concesión</a:t>
            </a:r>
            <a:r>
              <a:rPr lang="es-PE" sz="2400" i="1" dirty="0">
                <a:solidFill>
                  <a:schemeClr val="accent2">
                    <a:lumMod val="50000"/>
                  </a:schemeClr>
                </a:solidFill>
                <a:latin typeface="Inter" panose="020B0604020202020204" charset="0"/>
                <a:ea typeface="Inter" panose="020B0604020202020204" charset="0"/>
                <a:cs typeface="Inter" panose="020B0604020202020204" charset="0"/>
              </a:rPr>
              <a:t>.(para concesión minera)</a:t>
            </a:r>
          </a:p>
          <a:p>
            <a:pPr marL="365111" indent="-182556">
              <a:lnSpc>
                <a:spcPct val="150000"/>
              </a:lnSpc>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El concesionario no es propietario del suelo ni del subsuelo, pero es propietario de los bienes, equipos, maquinarias, construcciones, etc.</a:t>
            </a:r>
          </a:p>
          <a:p>
            <a:pPr marL="365111" indent="-182556">
              <a:lnSpc>
                <a:spcPct val="150000"/>
              </a:lnSpc>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La nueva concesión adquiere sin costo alguno las labores mineras ejecutadas.</a:t>
            </a:r>
          </a:p>
        </p:txBody>
      </p:sp>
      <p:sp>
        <p:nvSpPr>
          <p:cNvPr id="8" name="TextBox 8">
            <a:extLst>
              <a:ext uri="{FF2B5EF4-FFF2-40B4-BE49-F238E27FC236}">
                <a16:creationId xmlns:a16="http://schemas.microsoft.com/office/drawing/2014/main" xmlns="" id="{0A2B53A7-4541-8172-FF6E-F6D96803F33A}"/>
              </a:ext>
            </a:extLst>
          </p:cNvPr>
          <p:cNvSpPr txBox="1"/>
          <p:nvPr/>
        </p:nvSpPr>
        <p:spPr>
          <a:xfrm>
            <a:off x="945354" y="2723963"/>
            <a:ext cx="162758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1.3 ACTIVIDADES MINERAS POR SISTEMAS DE CONCESIONES</a:t>
            </a:r>
          </a:p>
        </p:txBody>
      </p:sp>
      <p:grpSp>
        <p:nvGrpSpPr>
          <p:cNvPr id="3" name="Group 5">
            <a:extLst>
              <a:ext uri="{FF2B5EF4-FFF2-40B4-BE49-F238E27FC236}">
                <a16:creationId xmlns:a16="http://schemas.microsoft.com/office/drawing/2014/main" xmlns="" id="{E7472655-1237-2417-F2CE-492A3BF12812}"/>
              </a:ext>
            </a:extLst>
          </p:cNvPr>
          <p:cNvGrpSpPr/>
          <p:nvPr/>
        </p:nvGrpSpPr>
        <p:grpSpPr>
          <a:xfrm>
            <a:off x="8969283" y="8595490"/>
            <a:ext cx="7629069" cy="1796816"/>
            <a:chOff x="0" y="0"/>
            <a:chExt cx="752497" cy="177230"/>
          </a:xfrm>
        </p:grpSpPr>
        <p:sp>
          <p:nvSpPr>
            <p:cNvPr id="10" name="Freeform 6">
              <a:extLst>
                <a:ext uri="{FF2B5EF4-FFF2-40B4-BE49-F238E27FC236}">
                  <a16:creationId xmlns:a16="http://schemas.microsoft.com/office/drawing/2014/main" xmlns="" id="{F7AA8E46-F25E-EBD7-586E-99D05CB55544}"/>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1" name="TextBox 7">
              <a:extLst>
                <a:ext uri="{FF2B5EF4-FFF2-40B4-BE49-F238E27FC236}">
                  <a16:creationId xmlns:a16="http://schemas.microsoft.com/office/drawing/2014/main" xmlns="" id="{D9296291-E5FF-A378-6304-86BE4BE97FC7}"/>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931924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32480F-29FD-5382-0249-F72724BBDA52}"/>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F0531433-2ED7-5324-353C-F4F0A4DDF8BA}"/>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E951E83C-7F88-EB6E-B085-0ACE4649003D}"/>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B8E3A14E-09DE-1A7D-6420-8ECC285AF9B2}"/>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7D0FB6E9-29C2-B832-8187-80C804FDB2E7}"/>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9" name="TextBox 9">
            <a:extLst>
              <a:ext uri="{FF2B5EF4-FFF2-40B4-BE49-F238E27FC236}">
                <a16:creationId xmlns:a16="http://schemas.microsoft.com/office/drawing/2014/main" xmlns="" id="{314BF028-53EA-D68E-3020-7F598C0613FE}"/>
              </a:ext>
            </a:extLst>
          </p:cNvPr>
          <p:cNvSpPr txBox="1"/>
          <p:nvPr/>
        </p:nvSpPr>
        <p:spPr>
          <a:xfrm>
            <a:off x="945354" y="3958842"/>
            <a:ext cx="6674646" cy="4801314"/>
          </a:xfrm>
          <a:prstGeom prst="rect">
            <a:avLst/>
          </a:prstGeom>
        </p:spPr>
        <p:txBody>
          <a:bodyPr wrap="square" lIns="0" tIns="0" rIns="0" bIns="0" rtlCol="0" anchor="t">
            <a:spAutoFit/>
          </a:bodyPr>
          <a:lstStyle/>
          <a:p>
            <a:r>
              <a:rPr lang="es-PE" sz="2400" b="1" dirty="0">
                <a:solidFill>
                  <a:schemeClr val="accent2">
                    <a:lumMod val="75000"/>
                  </a:schemeClr>
                </a:solidFill>
                <a:latin typeface="Inter" panose="020B0604020202020204" charset="0"/>
                <a:ea typeface="Inter" panose="020B0604020202020204" charset="0"/>
                <a:cs typeface="Inter" panose="020B0604020202020204" charset="0"/>
              </a:rPr>
              <a:t>ACTIVIDADES DE LA CONCESIÓN MINERA</a:t>
            </a:r>
          </a:p>
          <a:p>
            <a:endParaRPr lang="es-PE" sz="2400" b="1" dirty="0">
              <a:solidFill>
                <a:srgbClr val="0000CC"/>
              </a:solidFill>
              <a:latin typeface="Inter" panose="020B0604020202020204" charset="0"/>
              <a:ea typeface="Inter" panose="020B0604020202020204" charset="0"/>
              <a:cs typeface="Inter" panose="020B0604020202020204" charset="0"/>
            </a:endParaRPr>
          </a:p>
          <a:p>
            <a:r>
              <a:rPr lang="es-PE" sz="2400" b="1" dirty="0">
                <a:solidFill>
                  <a:schemeClr val="tx1"/>
                </a:solidFill>
                <a:latin typeface="Inter" panose="020B0604020202020204" charset="0"/>
                <a:ea typeface="Inter" panose="020B0604020202020204" charset="0"/>
                <a:cs typeface="Inter" panose="020B0604020202020204" charset="0"/>
              </a:rPr>
              <a:t>EXPLORACIÓN</a:t>
            </a:r>
            <a:r>
              <a:rPr lang="es-PE" sz="2400" dirty="0">
                <a:solidFill>
                  <a:schemeClr val="tx1"/>
                </a:solidFill>
                <a:latin typeface="Inter" panose="020B0604020202020204" charset="0"/>
                <a:ea typeface="Inter" panose="020B0604020202020204" charset="0"/>
                <a:cs typeface="Inter" panose="020B0604020202020204" charset="0"/>
              </a:rPr>
              <a:t>: Es la actividad minera tendiente a demostrar las dimensiones, posición, características mineralógicas, reservas y valores de los yacimientos minerales.</a:t>
            </a:r>
          </a:p>
          <a:p>
            <a:r>
              <a:rPr lang="es-PE" sz="2400" b="1" dirty="0">
                <a:solidFill>
                  <a:schemeClr val="tx1"/>
                </a:solidFill>
                <a:latin typeface="Inter" panose="020B0604020202020204" charset="0"/>
                <a:ea typeface="Inter" panose="020B0604020202020204" charset="0"/>
                <a:cs typeface="Inter" panose="020B0604020202020204" charset="0"/>
              </a:rPr>
              <a:t>EXPLOTACIÓN</a:t>
            </a:r>
            <a:r>
              <a:rPr lang="es-PE" sz="2400" dirty="0">
                <a:solidFill>
                  <a:schemeClr val="tx1"/>
                </a:solidFill>
                <a:latin typeface="Inter" panose="020B0604020202020204" charset="0"/>
                <a:ea typeface="Inter" panose="020B0604020202020204" charset="0"/>
                <a:cs typeface="Inter" panose="020B0604020202020204" charset="0"/>
              </a:rPr>
              <a:t>: Es la actividad de extracción de los minerales contenidos en un yacimiento</a:t>
            </a:r>
          </a:p>
          <a:p>
            <a:endParaRPr lang="es-PE" sz="2400" dirty="0">
              <a:latin typeface="Inter" panose="020B0604020202020204" charset="0"/>
              <a:ea typeface="Inter" panose="020B0604020202020204" charset="0"/>
              <a:cs typeface="Inter" panose="020B0604020202020204" charset="0"/>
            </a:endParaRPr>
          </a:p>
          <a:p>
            <a:pPr lvl="1"/>
            <a:r>
              <a:rPr lang="es-PE" sz="2400" dirty="0">
                <a:solidFill>
                  <a:schemeClr val="tx1"/>
                </a:solidFill>
                <a:latin typeface="Inter" panose="020B0604020202020204" charset="0"/>
                <a:ea typeface="Inter" panose="020B0604020202020204" charset="0"/>
                <a:cs typeface="Inter" panose="020B0604020202020204" charset="0"/>
              </a:rPr>
              <a:t>DESARROLLO Y PREPARACIÓN: Es el conjunto de actividades que se realizan para hacer posible la explotación minera. </a:t>
            </a:r>
          </a:p>
        </p:txBody>
      </p:sp>
      <p:sp>
        <p:nvSpPr>
          <p:cNvPr id="3" name="TextBox 8">
            <a:extLst>
              <a:ext uri="{FF2B5EF4-FFF2-40B4-BE49-F238E27FC236}">
                <a16:creationId xmlns:a16="http://schemas.microsoft.com/office/drawing/2014/main" xmlns="" id="{729C6E9E-AF0C-0616-F096-5601419340F7}"/>
              </a:ext>
            </a:extLst>
          </p:cNvPr>
          <p:cNvSpPr txBox="1"/>
          <p:nvPr/>
        </p:nvSpPr>
        <p:spPr>
          <a:xfrm>
            <a:off x="945354" y="2723963"/>
            <a:ext cx="149042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1.4 CONCESIÓN MINERA </a:t>
            </a:r>
          </a:p>
        </p:txBody>
      </p:sp>
      <p:sp>
        <p:nvSpPr>
          <p:cNvPr id="10" name="CuadroTexto 9">
            <a:extLst>
              <a:ext uri="{FF2B5EF4-FFF2-40B4-BE49-F238E27FC236}">
                <a16:creationId xmlns:a16="http://schemas.microsoft.com/office/drawing/2014/main" xmlns="" id="{AC7F4BCB-5408-FB9F-BDE4-D139AA88A17E}"/>
              </a:ext>
            </a:extLst>
          </p:cNvPr>
          <p:cNvSpPr txBox="1"/>
          <p:nvPr/>
        </p:nvSpPr>
        <p:spPr>
          <a:xfrm>
            <a:off x="8458201" y="3958842"/>
            <a:ext cx="7184534" cy="4524315"/>
          </a:xfrm>
          <a:prstGeom prst="rect">
            <a:avLst/>
          </a:prstGeom>
          <a:noFill/>
        </p:spPr>
        <p:txBody>
          <a:bodyPr wrap="square">
            <a:spAutoFit/>
          </a:bodyPr>
          <a:lstStyle/>
          <a:p>
            <a:pPr marL="342900"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cs typeface="Inter" panose="020B0604020202020204" charset="0"/>
              </a:rPr>
              <a:t>Las CONCESIONES MINERAS son otorgadas por el INGEMMET y el Gobierno Regional (DREM o GREM)</a:t>
            </a:r>
          </a:p>
          <a:p>
            <a:pPr marL="342900"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cs typeface="Inter" panose="020B0604020202020204" charset="0"/>
              </a:rPr>
              <a:t>Las concesiones mineras se otorgan por sustancias mineras : metálicas o no metálicas</a:t>
            </a:r>
          </a:p>
          <a:p>
            <a:pPr marL="342900"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cs typeface="Inter" panose="020B0604020202020204" charset="0"/>
              </a:rPr>
              <a:t>Las actividades de exploración y de explotación se realizan luego de ser autorizadas  mediante los procedimientos de AUTORIZACIÓN DE EXPLORACIÓN y de AUTORIZACIÓN DE ACTIVIDADES DE EXPLOTACIÓN, por la Dirección General de Minería del MINEM o el Gobierno Regional.</a:t>
            </a:r>
          </a:p>
        </p:txBody>
      </p:sp>
      <p:grpSp>
        <p:nvGrpSpPr>
          <p:cNvPr id="8" name="Group 5">
            <a:extLst>
              <a:ext uri="{FF2B5EF4-FFF2-40B4-BE49-F238E27FC236}">
                <a16:creationId xmlns:a16="http://schemas.microsoft.com/office/drawing/2014/main" xmlns="" id="{288B1506-4416-D6BB-AA9F-75185E23F052}"/>
              </a:ext>
            </a:extLst>
          </p:cNvPr>
          <p:cNvGrpSpPr/>
          <p:nvPr/>
        </p:nvGrpSpPr>
        <p:grpSpPr>
          <a:xfrm>
            <a:off x="8969283" y="8595490"/>
            <a:ext cx="7629069" cy="1796816"/>
            <a:chOff x="0" y="0"/>
            <a:chExt cx="752497" cy="177230"/>
          </a:xfrm>
        </p:grpSpPr>
        <p:sp>
          <p:nvSpPr>
            <p:cNvPr id="11" name="Freeform 6">
              <a:extLst>
                <a:ext uri="{FF2B5EF4-FFF2-40B4-BE49-F238E27FC236}">
                  <a16:creationId xmlns:a16="http://schemas.microsoft.com/office/drawing/2014/main" xmlns="" id="{F8ECB197-1965-5FE6-0E86-986D7876AB2B}"/>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2" name="TextBox 7">
              <a:extLst>
                <a:ext uri="{FF2B5EF4-FFF2-40B4-BE49-F238E27FC236}">
                  <a16:creationId xmlns:a16="http://schemas.microsoft.com/office/drawing/2014/main" xmlns="" id="{E45797F0-7D94-1FC6-DCF0-DB3CE3C5034C}"/>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183927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p:cNvGrpSpPr/>
          <p:nvPr/>
        </p:nvGrpSpPr>
        <p:grpSpPr>
          <a:xfrm>
            <a:off x="3733800" y="235864"/>
            <a:ext cx="10116046" cy="2253857"/>
            <a:chOff x="0" y="0"/>
            <a:chExt cx="1438895" cy="320586"/>
          </a:xfrm>
        </p:grpSpPr>
        <p:sp>
          <p:nvSpPr>
            <p:cNvPr id="7" name="Freeform 7"/>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9" name="TextBox 9"/>
          <p:cNvSpPr txBox="1"/>
          <p:nvPr/>
        </p:nvSpPr>
        <p:spPr>
          <a:xfrm>
            <a:off x="762000" y="3447958"/>
            <a:ext cx="7010400" cy="5909310"/>
          </a:xfrm>
          <a:prstGeom prst="rect">
            <a:avLst/>
          </a:prstGeom>
        </p:spPr>
        <p:txBody>
          <a:bodyPr wrap="square" lIns="0" tIns="0" rIns="0" bIns="0" rtlCol="0" anchor="t">
            <a:spAutoFit/>
          </a:bodyPr>
          <a:lstStyle/>
          <a:p>
            <a:r>
              <a:rPr lang="es-PE" sz="2400" b="1" dirty="0">
                <a:solidFill>
                  <a:schemeClr val="accent2">
                    <a:lumMod val="75000"/>
                  </a:schemeClr>
                </a:solidFill>
                <a:latin typeface="Inter" panose="020B0604020202020204" charset="0"/>
                <a:ea typeface="Inter" panose="020B0604020202020204" charset="0"/>
                <a:cs typeface="Inter" panose="020B0604020202020204" charset="0"/>
              </a:rPr>
              <a:t>ACTIVIDAD DE BENEFICIO</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 </a:t>
            </a:r>
          </a:p>
          <a:p>
            <a:r>
              <a:rPr lang="es-PE" sz="2400" dirty="0">
                <a:latin typeface="Inter" panose="020B0604020202020204" charset="0"/>
                <a:ea typeface="Inter" panose="020B0604020202020204" charset="0"/>
                <a:cs typeface="Inter" panose="020B0604020202020204" charset="0"/>
              </a:rPr>
              <a:t>La actividad de benéfico minero es el conjunto de procesos físicos, químicos y/o físico-químico que se realizan para extraer o concentrar las partes valiosas de un agregado de mineral y/o para purificar, fundir metales. Comprende: </a:t>
            </a:r>
          </a:p>
          <a:p>
            <a:r>
              <a:rPr lang="es-PE" sz="2400" b="1" dirty="0">
                <a:solidFill>
                  <a:schemeClr val="accent2">
                    <a:lumMod val="75000"/>
                  </a:schemeClr>
                </a:solidFill>
                <a:latin typeface="Inter" panose="020B0604020202020204" charset="0"/>
                <a:ea typeface="Inter" panose="020B0604020202020204" charset="0"/>
                <a:cs typeface="Inter" panose="020B0604020202020204" charset="0"/>
              </a:rPr>
              <a:t>Preparación Mecánica</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Proceso mediante el cual se reduce de tamaño, se clasifica y/o lava un mineral.</a:t>
            </a:r>
          </a:p>
          <a:p>
            <a:r>
              <a:rPr lang="es-PE" sz="2400" b="1" dirty="0">
                <a:solidFill>
                  <a:schemeClr val="accent2">
                    <a:lumMod val="75000"/>
                  </a:schemeClr>
                </a:solidFill>
                <a:latin typeface="Inter" panose="020B0604020202020204" charset="0"/>
                <a:ea typeface="Inter" panose="020B0604020202020204" charset="0"/>
                <a:cs typeface="Inter" panose="020B0604020202020204" charset="0"/>
              </a:rPr>
              <a:t>Metalurgia</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Conjunto de procesos físicos,  químicos, y/o físico-químico que se realiza para concentrar y/o extraer las sustancias valiosas de los minerales. </a:t>
            </a:r>
          </a:p>
          <a:p>
            <a:r>
              <a:rPr lang="es-PE" sz="2400" b="1" dirty="0">
                <a:solidFill>
                  <a:schemeClr val="accent2">
                    <a:lumMod val="75000"/>
                  </a:schemeClr>
                </a:solidFill>
                <a:latin typeface="Inter" panose="020B0604020202020204" charset="0"/>
                <a:ea typeface="Inter" panose="020B0604020202020204" charset="0"/>
                <a:cs typeface="Inter" panose="020B0604020202020204" charset="0"/>
              </a:rPr>
              <a:t>Refinación</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Procesos para purificar los metales de los productos obtenidos de los procedimientos metalúrgicos anteriores.</a:t>
            </a:r>
          </a:p>
        </p:txBody>
      </p:sp>
      <p:sp>
        <p:nvSpPr>
          <p:cNvPr id="2" name="TextBox 8">
            <a:extLst>
              <a:ext uri="{FF2B5EF4-FFF2-40B4-BE49-F238E27FC236}">
                <a16:creationId xmlns:a16="http://schemas.microsoft.com/office/drawing/2014/main" xmlns="" id="{A52C29A0-4B61-32B5-2D77-F70A62854963}"/>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1.5 CONCESIÓN DE BENEFICIO </a:t>
            </a:r>
          </a:p>
        </p:txBody>
      </p:sp>
      <p:sp>
        <p:nvSpPr>
          <p:cNvPr id="8" name="CuadroTexto 7">
            <a:extLst>
              <a:ext uri="{FF2B5EF4-FFF2-40B4-BE49-F238E27FC236}">
                <a16:creationId xmlns:a16="http://schemas.microsoft.com/office/drawing/2014/main" xmlns="" id="{3816AFD3-9165-F728-DC86-5C3ECB1F551D}"/>
              </a:ext>
            </a:extLst>
          </p:cNvPr>
          <p:cNvSpPr txBox="1"/>
          <p:nvPr/>
        </p:nvSpPr>
        <p:spPr>
          <a:xfrm>
            <a:off x="8001000" y="3339516"/>
            <a:ext cx="7189493" cy="6001643"/>
          </a:xfrm>
          <a:prstGeom prst="rect">
            <a:avLst/>
          </a:prstGeom>
          <a:noFill/>
        </p:spPr>
        <p:txBody>
          <a:bodyPr wrap="square">
            <a:spAutoFit/>
          </a:bodyPr>
          <a:lstStyle/>
          <a:p>
            <a:pPr marL="0" indent="0">
              <a:buNone/>
            </a:pPr>
            <a:r>
              <a:rPr lang="es-PE" sz="2400" b="0" i="0" u="none" strike="noStrike" baseline="0" dirty="0">
                <a:latin typeface="Inter" panose="020B0604020202020204" charset="0"/>
                <a:ea typeface="Inter" panose="020B0604020202020204" charset="0"/>
                <a:cs typeface="Inter" panose="020B0604020202020204" charset="0"/>
              </a:rPr>
              <a:t>La </a:t>
            </a:r>
            <a:r>
              <a:rPr lang="es-PE" sz="2400" b="1" i="0" u="none" strike="noStrike" baseline="0" dirty="0">
                <a:solidFill>
                  <a:schemeClr val="accent2">
                    <a:lumMod val="75000"/>
                  </a:schemeClr>
                </a:solidFill>
                <a:latin typeface="Inter" panose="020B0604020202020204" charset="0"/>
                <a:ea typeface="Inter" panose="020B0604020202020204" charset="0"/>
                <a:cs typeface="Inter" panose="020B0604020202020204" charset="0"/>
              </a:rPr>
              <a:t>concesión de beneficio </a:t>
            </a:r>
            <a:r>
              <a:rPr lang="es-PE" sz="2400" b="0" i="0" u="none" strike="noStrike" baseline="0" dirty="0">
                <a:latin typeface="Inter" panose="020B0604020202020204" charset="0"/>
                <a:ea typeface="Inter" panose="020B0604020202020204" charset="0"/>
                <a:cs typeface="Inter" panose="020B0604020202020204" charset="0"/>
              </a:rPr>
              <a:t>otorga a su titular el derecho a extraer o concentrar la parte valiosa de un agregado de minerales desarraigados y/o a fundir, purificar o refinar metales, ya sea mediante un conjunto de procesos físicos, químicos y/o físico-químicos.</a:t>
            </a:r>
          </a:p>
          <a:p>
            <a:r>
              <a:rPr lang="es-PE" sz="2400" dirty="0">
                <a:latin typeface="Inter" panose="020B0604020202020204" charset="0"/>
                <a:ea typeface="Inter" panose="020B0604020202020204" charset="0"/>
                <a:cs typeface="Inter" panose="020B0604020202020204" charset="0"/>
              </a:rPr>
              <a:t>La Dirección General de Minería o el Gobierno Regional otorgan la </a:t>
            </a:r>
            <a:r>
              <a:rPr lang="es-PE" sz="2400" b="1" dirty="0">
                <a:latin typeface="Inter" panose="020B0604020202020204" charset="0"/>
                <a:ea typeface="Inter" panose="020B0604020202020204" charset="0"/>
                <a:cs typeface="Inter" panose="020B0604020202020204" charset="0"/>
              </a:rPr>
              <a:t>CONCESIÓN DE BENEFICIO y </a:t>
            </a:r>
            <a:r>
              <a:rPr lang="es-PE" sz="2400" dirty="0">
                <a:latin typeface="Inter" panose="020B0604020202020204" charset="0"/>
                <a:ea typeface="Inter" panose="020B0604020202020204" charset="0"/>
                <a:cs typeface="Inter" panose="020B0604020202020204" charset="0"/>
              </a:rPr>
              <a:t>AUTORIZA LA CONSTRUCCIÓN de la planta de beneficio y sus componentes</a:t>
            </a:r>
            <a:endParaRPr lang="es-PE" sz="2400" b="1"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Posteriormente, mediante el procedimiento de AUTORIZACIÓN DE FUNCIONAMIENTO, se ordena la inspección de la culminación de las obras de construcción, y con el Informe favorable se </a:t>
            </a:r>
            <a:r>
              <a:rPr lang="es-PE" sz="2400" b="1" dirty="0">
                <a:latin typeface="Inter" panose="020B0604020202020204" charset="0"/>
                <a:ea typeface="Inter" panose="020B0604020202020204" charset="0"/>
                <a:cs typeface="Inter" panose="020B0604020202020204" charset="0"/>
              </a:rPr>
              <a:t>autoriza el funcionamiento </a:t>
            </a:r>
            <a:r>
              <a:rPr lang="es-PE" sz="2400" dirty="0">
                <a:latin typeface="Inter" panose="020B0604020202020204" charset="0"/>
                <a:ea typeface="Inter" panose="020B0604020202020204" charset="0"/>
                <a:cs typeface="Inter" panose="020B0604020202020204" charset="0"/>
              </a:rPr>
              <a:t>de la planta de beneficio y sus componentes.</a:t>
            </a:r>
          </a:p>
        </p:txBody>
      </p:sp>
      <p:grpSp>
        <p:nvGrpSpPr>
          <p:cNvPr id="3" name="Group 5">
            <a:extLst>
              <a:ext uri="{FF2B5EF4-FFF2-40B4-BE49-F238E27FC236}">
                <a16:creationId xmlns:a16="http://schemas.microsoft.com/office/drawing/2014/main" xmlns="" id="{FDED0E1F-8A6F-3061-9670-91B06420FD68}"/>
              </a:ext>
            </a:extLst>
          </p:cNvPr>
          <p:cNvGrpSpPr/>
          <p:nvPr/>
        </p:nvGrpSpPr>
        <p:grpSpPr>
          <a:xfrm>
            <a:off x="8969283" y="8595490"/>
            <a:ext cx="7629069" cy="1796816"/>
            <a:chOff x="0" y="0"/>
            <a:chExt cx="752497" cy="177230"/>
          </a:xfrm>
        </p:grpSpPr>
        <p:sp>
          <p:nvSpPr>
            <p:cNvPr id="10" name="Freeform 6">
              <a:extLst>
                <a:ext uri="{FF2B5EF4-FFF2-40B4-BE49-F238E27FC236}">
                  <a16:creationId xmlns:a16="http://schemas.microsoft.com/office/drawing/2014/main" xmlns="" id="{541F78CB-6C0B-A125-ED96-21BAC5914625}"/>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1" name="TextBox 7">
              <a:extLst>
                <a:ext uri="{FF2B5EF4-FFF2-40B4-BE49-F238E27FC236}">
                  <a16:creationId xmlns:a16="http://schemas.microsoft.com/office/drawing/2014/main" xmlns="" id="{D17A7786-31C9-900F-53F9-331FFF814470}"/>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4280481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0B9D4E-C793-7FC8-6915-80A86CA0B124}"/>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E4D374D5-056B-DC89-D6E9-4583D40106BD}"/>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5F649348-5693-A2AB-D5E6-0F82025B0A3B}"/>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4F53ECE7-30AB-BDE9-C551-96C676315F93}"/>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73C4CCF1-4C7E-7489-4EAA-6EA9E1ED3A93}"/>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9" name="TextBox 9">
            <a:extLst>
              <a:ext uri="{FF2B5EF4-FFF2-40B4-BE49-F238E27FC236}">
                <a16:creationId xmlns:a16="http://schemas.microsoft.com/office/drawing/2014/main" xmlns="" id="{2792CB19-973C-E1EA-5AA3-F0A82F5ADD5D}"/>
              </a:ext>
            </a:extLst>
          </p:cNvPr>
          <p:cNvSpPr txBox="1"/>
          <p:nvPr/>
        </p:nvSpPr>
        <p:spPr>
          <a:xfrm>
            <a:off x="1082277" y="3958842"/>
            <a:ext cx="5303046" cy="4062651"/>
          </a:xfrm>
          <a:prstGeom prst="rect">
            <a:avLst/>
          </a:prstGeom>
        </p:spPr>
        <p:txBody>
          <a:bodyPr wrap="square" lIns="0" tIns="0" rIns="0" bIns="0" rtlCol="0" anchor="t">
            <a:spAutoFit/>
          </a:bodyPr>
          <a:lstStyle/>
          <a:p>
            <a:r>
              <a:rPr lang="es-PE" sz="2400" b="1" dirty="0">
                <a:solidFill>
                  <a:schemeClr val="accent2">
                    <a:lumMod val="75000"/>
                  </a:schemeClr>
                </a:solidFill>
                <a:latin typeface="Inter" panose="020B0604020202020204" charset="0"/>
                <a:ea typeface="Inter" panose="020B0604020202020204" charset="0"/>
                <a:cs typeface="Inter" panose="020B0604020202020204" charset="0"/>
              </a:rPr>
              <a:t>ACTIVIDAD DE LABOR GENERAL</a:t>
            </a:r>
          </a:p>
          <a:p>
            <a:endParaRPr lang="es-PE" sz="2400" b="1"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Es toda actividad minera que presta servicios auxiliares, tales como </a:t>
            </a:r>
            <a:r>
              <a:rPr lang="es-PE" sz="2400" b="1" dirty="0">
                <a:latin typeface="Inter" panose="020B0604020202020204" charset="0"/>
                <a:ea typeface="Inter" panose="020B0604020202020204" charset="0"/>
                <a:cs typeface="Inter" panose="020B0604020202020204" charset="0"/>
              </a:rPr>
              <a:t>ventilación</a:t>
            </a:r>
            <a:r>
              <a:rPr lang="es-PE" sz="2400" dirty="0">
                <a:latin typeface="Inter" panose="020B0604020202020204" charset="0"/>
                <a:ea typeface="Inter" panose="020B0604020202020204" charset="0"/>
                <a:cs typeface="Inter" panose="020B0604020202020204" charset="0"/>
              </a:rPr>
              <a:t>, </a:t>
            </a:r>
            <a:r>
              <a:rPr lang="es-PE" sz="2400" b="1" dirty="0">
                <a:latin typeface="Inter" panose="020B0604020202020204" charset="0"/>
                <a:ea typeface="Inter" panose="020B0604020202020204" charset="0"/>
                <a:cs typeface="Inter" panose="020B0604020202020204" charset="0"/>
              </a:rPr>
              <a:t>desagüe</a:t>
            </a:r>
            <a:r>
              <a:rPr lang="es-PE" sz="2400" dirty="0">
                <a:latin typeface="Inter" panose="020B0604020202020204" charset="0"/>
                <a:ea typeface="Inter" panose="020B0604020202020204" charset="0"/>
                <a:cs typeface="Inter" panose="020B0604020202020204" charset="0"/>
              </a:rPr>
              <a:t>, </a:t>
            </a:r>
            <a:r>
              <a:rPr lang="es-PE" sz="2400" b="1" dirty="0">
                <a:latin typeface="Inter" panose="020B0604020202020204" charset="0"/>
                <a:ea typeface="Inter" panose="020B0604020202020204" charset="0"/>
                <a:cs typeface="Inter" panose="020B0604020202020204" charset="0"/>
              </a:rPr>
              <a:t>izaje</a:t>
            </a:r>
            <a:r>
              <a:rPr lang="es-PE" sz="2400" dirty="0">
                <a:latin typeface="Inter" panose="020B0604020202020204" charset="0"/>
                <a:ea typeface="Inter" panose="020B0604020202020204" charset="0"/>
                <a:cs typeface="Inter" panose="020B0604020202020204" charset="0"/>
              </a:rPr>
              <a:t> o </a:t>
            </a:r>
            <a:r>
              <a:rPr lang="es-PE" sz="2400" b="1" dirty="0">
                <a:latin typeface="Inter" panose="020B0604020202020204" charset="0"/>
                <a:ea typeface="Inter" panose="020B0604020202020204" charset="0"/>
                <a:cs typeface="Inter" panose="020B0604020202020204" charset="0"/>
              </a:rPr>
              <a:t>extracción</a:t>
            </a:r>
            <a:r>
              <a:rPr lang="es-PE" sz="2400" dirty="0">
                <a:latin typeface="Inter" panose="020B0604020202020204" charset="0"/>
                <a:ea typeface="Inter" panose="020B0604020202020204" charset="0"/>
                <a:cs typeface="Inter" panose="020B0604020202020204" charset="0"/>
              </a:rPr>
              <a:t> a dos o más concesiones de distintos concesionarios.</a:t>
            </a:r>
          </a:p>
          <a:p>
            <a:endParaRPr lang="es-PE" sz="2400" dirty="0">
              <a:latin typeface="Inter" panose="020B0604020202020204" charset="0"/>
              <a:ea typeface="Inter" panose="020B0604020202020204" charset="0"/>
              <a:cs typeface="Inter" panose="020B0604020202020204" charset="0"/>
            </a:endParaRPr>
          </a:p>
          <a:p>
            <a:r>
              <a:rPr lang="es-PE" sz="2400" b="1" i="1" dirty="0">
                <a:solidFill>
                  <a:schemeClr val="accent2">
                    <a:lumMod val="75000"/>
                  </a:schemeClr>
                </a:solidFill>
                <a:latin typeface="Inter" panose="020B0604020202020204" charset="0"/>
                <a:ea typeface="Inter" panose="020B0604020202020204" charset="0"/>
                <a:cs typeface="Inter" panose="020B0604020202020204" charset="0"/>
              </a:rPr>
              <a:t>(Actividad relacionada con las actividades mineras de explotación minera). </a:t>
            </a:r>
          </a:p>
        </p:txBody>
      </p:sp>
      <p:sp>
        <p:nvSpPr>
          <p:cNvPr id="2" name="TextBox 8">
            <a:extLst>
              <a:ext uri="{FF2B5EF4-FFF2-40B4-BE49-F238E27FC236}">
                <a16:creationId xmlns:a16="http://schemas.microsoft.com/office/drawing/2014/main" xmlns="" id="{EB735108-7AEE-40F4-04A2-8721F5B7DA85}"/>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1.6 CONCESIÓN DE LABOR GENERAL</a:t>
            </a:r>
          </a:p>
        </p:txBody>
      </p:sp>
      <p:sp>
        <p:nvSpPr>
          <p:cNvPr id="8" name="CuadroTexto 7">
            <a:extLst>
              <a:ext uri="{FF2B5EF4-FFF2-40B4-BE49-F238E27FC236}">
                <a16:creationId xmlns:a16="http://schemas.microsoft.com/office/drawing/2014/main" xmlns="" id="{6311E869-AEEB-3E0E-D5F3-45FE9B889BF5}"/>
              </a:ext>
            </a:extLst>
          </p:cNvPr>
          <p:cNvSpPr txBox="1"/>
          <p:nvPr/>
        </p:nvSpPr>
        <p:spPr>
          <a:xfrm>
            <a:off x="7620000" y="3880337"/>
            <a:ext cx="6705600" cy="4893647"/>
          </a:xfrm>
          <a:prstGeom prst="rect">
            <a:avLst/>
          </a:prstGeom>
          <a:noFill/>
        </p:spPr>
        <p:txBody>
          <a:bodyPr wrap="square">
            <a:spAutoFit/>
          </a:bodyPr>
          <a:lstStyle/>
          <a:p>
            <a:r>
              <a:rPr lang="es-PE" sz="2400" dirty="0">
                <a:latin typeface="Inter" panose="020B0604020202020204" charset="0"/>
                <a:ea typeface="Inter" panose="020B0604020202020204" charset="0"/>
                <a:cs typeface="Inter" panose="020B0604020202020204" charset="0"/>
              </a:rPr>
              <a:t>La </a:t>
            </a:r>
            <a:r>
              <a:rPr lang="es-PE" sz="2400" b="1" dirty="0">
                <a:solidFill>
                  <a:schemeClr val="accent2">
                    <a:lumMod val="75000"/>
                  </a:schemeClr>
                </a:solidFill>
                <a:latin typeface="Inter" panose="020B0604020202020204" charset="0"/>
                <a:ea typeface="Inter" panose="020B0604020202020204" charset="0"/>
                <a:cs typeface="Inter" panose="020B0604020202020204" charset="0"/>
              </a:rPr>
              <a:t>CONCESIÓN DE LABOR GENERAL </a:t>
            </a:r>
            <a:r>
              <a:rPr lang="es-PE" sz="2400" dirty="0">
                <a:latin typeface="Inter" panose="020B0604020202020204" charset="0"/>
                <a:ea typeface="Inter" panose="020B0604020202020204" charset="0"/>
                <a:cs typeface="Inter" panose="020B0604020202020204" charset="0"/>
              </a:rPr>
              <a:t>otorga a su titular el derecho de prestar servicios auxiliares a dos o mas concesiones mineras.</a:t>
            </a:r>
          </a:p>
          <a:p>
            <a:r>
              <a:rPr lang="es-PE" sz="2400" dirty="0">
                <a:latin typeface="Inter" panose="020B0604020202020204" charset="0"/>
                <a:ea typeface="Inter" panose="020B0604020202020204" charset="0"/>
                <a:cs typeface="Inter" panose="020B0604020202020204" charset="0"/>
              </a:rPr>
              <a:t>En el caso de que la labor general lumbre aguas que contengan materias minerales utilizables, el aprovechamiento de estas corresponde al concesionario de la labor general, salvo pacto en contrario.</a:t>
            </a:r>
          </a:p>
          <a:p>
            <a:r>
              <a:rPr lang="es-PE" sz="2400" dirty="0">
                <a:latin typeface="Inter" panose="020B0604020202020204" charset="0"/>
                <a:ea typeface="Inter" panose="020B0604020202020204" charset="0"/>
                <a:cs typeface="Inter" panose="020B0604020202020204" charset="0"/>
              </a:rPr>
              <a:t>La Dirección General de Minería o el Gobierno Regional otorgan, </a:t>
            </a:r>
            <a:r>
              <a:rPr lang="es-PE" sz="2400" dirty="0">
                <a:effectLst/>
                <a:latin typeface="Inter" panose="020B0604020202020204" charset="0"/>
                <a:ea typeface="Inter" panose="020B0604020202020204" charset="0"/>
                <a:cs typeface="Inter" panose="020B0604020202020204" charset="0"/>
              </a:rPr>
              <a:t>previa aprobación de la ejecución de obras por la Junta de Concesionarios, otorga el </a:t>
            </a:r>
            <a:r>
              <a:rPr lang="es-PE" sz="2400" b="1" dirty="0">
                <a:effectLst/>
                <a:latin typeface="Inter" panose="020B0604020202020204" charset="0"/>
                <a:ea typeface="Inter" panose="020B0604020202020204" charset="0"/>
                <a:cs typeface="Inter" panose="020B0604020202020204" charset="0"/>
              </a:rPr>
              <a:t>título de concesión de labor general</a:t>
            </a:r>
            <a:r>
              <a:rPr lang="es-PE" sz="2400" dirty="0">
                <a:effectLst/>
                <a:latin typeface="Inter" panose="020B0604020202020204" charset="0"/>
                <a:ea typeface="Inter" panose="020B0604020202020204" charset="0"/>
                <a:cs typeface="Inter" panose="020B0604020202020204" charset="0"/>
              </a:rPr>
              <a:t>.</a:t>
            </a:r>
            <a:endParaRPr lang="es-PE" sz="2400" dirty="0">
              <a:latin typeface="Inter" panose="020B0604020202020204" charset="0"/>
              <a:ea typeface="Inter" panose="020B0604020202020204" charset="0"/>
              <a:cs typeface="Inter" panose="020B0604020202020204" charset="0"/>
            </a:endParaRPr>
          </a:p>
        </p:txBody>
      </p:sp>
      <p:grpSp>
        <p:nvGrpSpPr>
          <p:cNvPr id="3" name="Group 5">
            <a:extLst>
              <a:ext uri="{FF2B5EF4-FFF2-40B4-BE49-F238E27FC236}">
                <a16:creationId xmlns:a16="http://schemas.microsoft.com/office/drawing/2014/main" xmlns="" id="{CE139004-98A9-52F9-4727-9073DC03F26E}"/>
              </a:ext>
            </a:extLst>
          </p:cNvPr>
          <p:cNvGrpSpPr/>
          <p:nvPr/>
        </p:nvGrpSpPr>
        <p:grpSpPr>
          <a:xfrm>
            <a:off x="8969283" y="8595490"/>
            <a:ext cx="7629069" cy="1796816"/>
            <a:chOff x="0" y="0"/>
            <a:chExt cx="752497" cy="177230"/>
          </a:xfrm>
        </p:grpSpPr>
        <p:sp>
          <p:nvSpPr>
            <p:cNvPr id="10" name="Freeform 6">
              <a:extLst>
                <a:ext uri="{FF2B5EF4-FFF2-40B4-BE49-F238E27FC236}">
                  <a16:creationId xmlns:a16="http://schemas.microsoft.com/office/drawing/2014/main" xmlns="" id="{2BF10F64-A222-9663-5DBE-CF240B924FC1}"/>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1" name="TextBox 7">
              <a:extLst>
                <a:ext uri="{FF2B5EF4-FFF2-40B4-BE49-F238E27FC236}">
                  <a16:creationId xmlns:a16="http://schemas.microsoft.com/office/drawing/2014/main" xmlns="" id="{83A6B8A9-27BE-72A3-50FA-45EE16146A90}"/>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4041150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p:cNvGrpSpPr/>
          <p:nvPr/>
        </p:nvGrpSpPr>
        <p:grpSpPr>
          <a:xfrm>
            <a:off x="3733800" y="235864"/>
            <a:ext cx="10116046" cy="2253857"/>
            <a:chOff x="0" y="0"/>
            <a:chExt cx="1438895" cy="320586"/>
          </a:xfrm>
        </p:grpSpPr>
        <p:sp>
          <p:nvSpPr>
            <p:cNvPr id="7" name="Freeform 7"/>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1FFC8CD5-1565-1751-C0A9-E3D97CF05E22}"/>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1.7 CONCESIÓN DE TRANSPORTE MINERO</a:t>
            </a:r>
          </a:p>
        </p:txBody>
      </p:sp>
      <p:sp>
        <p:nvSpPr>
          <p:cNvPr id="9" name="CuadroTexto 8">
            <a:extLst>
              <a:ext uri="{FF2B5EF4-FFF2-40B4-BE49-F238E27FC236}">
                <a16:creationId xmlns:a16="http://schemas.microsoft.com/office/drawing/2014/main" xmlns="" id="{3086ED5F-00D5-43C6-BFF6-78EAE26C5441}"/>
              </a:ext>
            </a:extLst>
          </p:cNvPr>
          <p:cNvSpPr txBox="1"/>
          <p:nvPr/>
        </p:nvSpPr>
        <p:spPr>
          <a:xfrm>
            <a:off x="945354" y="3880337"/>
            <a:ext cx="6522246" cy="5299912"/>
          </a:xfrm>
          <a:prstGeom prst="rect">
            <a:avLst/>
          </a:prstGeom>
          <a:noFill/>
        </p:spPr>
        <p:txBody>
          <a:bodyPr wrap="square">
            <a:spAutoFit/>
          </a:bodyPr>
          <a:lstStyle/>
          <a:p>
            <a:pPr>
              <a:lnSpc>
                <a:spcPct val="110000"/>
              </a:lnSpc>
            </a:pPr>
            <a:r>
              <a:rPr lang="es-PE" sz="2400" b="1" dirty="0">
                <a:latin typeface="Inter" panose="020B0604020202020204" charset="0"/>
                <a:ea typeface="Inter" panose="020B0604020202020204" charset="0"/>
                <a:cs typeface="Inter" panose="020B0604020202020204" charset="0"/>
              </a:rPr>
              <a:t>ACTIVIDAD DE TRANSPORTE MINERO</a:t>
            </a:r>
          </a:p>
          <a:p>
            <a:pPr>
              <a:lnSpc>
                <a:spcPct val="100000"/>
              </a:lnSpc>
            </a:pPr>
            <a:r>
              <a:rPr lang="es-PE" sz="2400" dirty="0">
                <a:latin typeface="Inter" panose="020B0604020202020204" charset="0"/>
                <a:ea typeface="Inter" panose="020B0604020202020204" charset="0"/>
                <a:cs typeface="Inter" panose="020B0604020202020204" charset="0"/>
              </a:rPr>
              <a:t>La actividad de transporte minero, es todo sistema utilizado para el transporte masivo continuo de productos minerales, por métodos no convencionales. Los sistemas a utilizar son:</a:t>
            </a:r>
          </a:p>
          <a:p>
            <a:pPr>
              <a:lnSpc>
                <a:spcPct val="100000"/>
              </a:lnSpc>
            </a:pPr>
            <a:endParaRPr lang="es-PE" sz="2400" dirty="0">
              <a:latin typeface="Inter" panose="020B0604020202020204" charset="0"/>
              <a:ea typeface="Inter" panose="020B0604020202020204" charset="0"/>
              <a:cs typeface="Inter" panose="020B0604020202020204" charset="0"/>
            </a:endParaRPr>
          </a:p>
          <a:p>
            <a:pPr marL="685800" lvl="1" indent="-228600">
              <a:buChar char="•"/>
            </a:pPr>
            <a:r>
              <a:rPr lang="es-PE" sz="2400" dirty="0">
                <a:latin typeface="Inter" panose="020B0604020202020204" charset="0"/>
                <a:ea typeface="Inter" panose="020B0604020202020204" charset="0"/>
                <a:cs typeface="Inter" panose="020B0604020202020204" charset="0"/>
              </a:rPr>
              <a:t>Fajas transportadoras</a:t>
            </a:r>
          </a:p>
          <a:p>
            <a:pPr marL="685800" lvl="1" indent="-228600">
              <a:buChar char="•"/>
            </a:pPr>
            <a:r>
              <a:rPr lang="es-PE" sz="2400" dirty="0">
                <a:latin typeface="Inter" panose="020B0604020202020204" charset="0"/>
                <a:ea typeface="Inter" panose="020B0604020202020204" charset="0"/>
                <a:cs typeface="Inter" panose="020B0604020202020204" charset="0"/>
              </a:rPr>
              <a:t>Tuberías</a:t>
            </a:r>
          </a:p>
          <a:p>
            <a:pPr marL="685800" lvl="1" indent="-228600">
              <a:buChar char="•"/>
            </a:pPr>
            <a:r>
              <a:rPr lang="es-PE" sz="2400" dirty="0">
                <a:latin typeface="Inter" panose="020B0604020202020204" charset="0"/>
                <a:ea typeface="Inter" panose="020B0604020202020204" charset="0"/>
                <a:cs typeface="Inter" panose="020B0604020202020204" charset="0"/>
              </a:rPr>
              <a:t>Cable carriles</a:t>
            </a:r>
          </a:p>
          <a:p>
            <a:pPr marL="685800" lvl="1" indent="-228600">
              <a:buChar char="•"/>
            </a:pPr>
            <a:endParaRPr lang="es-PE" sz="2400" dirty="0">
              <a:latin typeface="Inter" panose="020B0604020202020204" charset="0"/>
              <a:ea typeface="Inter" panose="020B0604020202020204" charset="0"/>
              <a:cs typeface="Inter" panose="020B0604020202020204" charset="0"/>
            </a:endParaRPr>
          </a:p>
          <a:p>
            <a:pPr>
              <a:lnSpc>
                <a:spcPct val="100000"/>
              </a:lnSpc>
            </a:pPr>
            <a:r>
              <a:rPr lang="es-PE" sz="2400" dirty="0">
                <a:latin typeface="Inter" panose="020B0604020202020204" charset="0"/>
                <a:ea typeface="Inter" panose="020B0604020202020204" charset="0"/>
                <a:cs typeface="Inter" panose="020B0604020202020204" charset="0"/>
              </a:rPr>
              <a:t>La DGM puede agregar nuevos sistemas, previo informe favorable del MTC y opinión del Consejo de Minería.</a:t>
            </a:r>
          </a:p>
        </p:txBody>
      </p:sp>
      <p:sp>
        <p:nvSpPr>
          <p:cNvPr id="11" name="CuadroTexto 10">
            <a:extLst>
              <a:ext uri="{FF2B5EF4-FFF2-40B4-BE49-F238E27FC236}">
                <a16:creationId xmlns:a16="http://schemas.microsoft.com/office/drawing/2014/main" xmlns="" id="{91DB9B9D-6FA3-3D0A-1AA7-A370F5E36D1F}"/>
              </a:ext>
            </a:extLst>
          </p:cNvPr>
          <p:cNvSpPr txBox="1"/>
          <p:nvPr/>
        </p:nvSpPr>
        <p:spPr>
          <a:xfrm>
            <a:off x="8382000" y="3880337"/>
            <a:ext cx="6789132" cy="5262979"/>
          </a:xfrm>
          <a:prstGeom prst="rect">
            <a:avLst/>
          </a:prstGeom>
          <a:noFill/>
        </p:spPr>
        <p:txBody>
          <a:bodyPr wrap="square">
            <a:spAutoFit/>
          </a:bodyPr>
          <a:lstStyle/>
          <a:p>
            <a:pPr marL="0" indent="0">
              <a:buNone/>
            </a:pPr>
            <a:r>
              <a:rPr lang="es-PE" sz="2400" dirty="0">
                <a:latin typeface="Inter" panose="020B0604020202020204" charset="0"/>
                <a:ea typeface="Inter" panose="020B0604020202020204" charset="0"/>
                <a:cs typeface="Inter" panose="020B0604020202020204" charset="0"/>
              </a:rPr>
              <a:t>La </a:t>
            </a:r>
            <a:r>
              <a:rPr lang="es-PE" sz="2400" b="1" dirty="0">
                <a:latin typeface="Inter" panose="020B0604020202020204" charset="0"/>
                <a:ea typeface="Inter" panose="020B0604020202020204" charset="0"/>
                <a:cs typeface="Inter" panose="020B0604020202020204" charset="0"/>
              </a:rPr>
              <a:t>CONCESIÓN DE TRANSPORTE MINERO </a:t>
            </a:r>
            <a:r>
              <a:rPr lang="es-PE" sz="2400" dirty="0">
                <a:latin typeface="Inter" panose="020B0604020202020204" charset="0"/>
                <a:ea typeface="Inter" panose="020B0604020202020204" charset="0"/>
                <a:cs typeface="Inter" panose="020B0604020202020204" charset="0"/>
              </a:rPr>
              <a:t>confiere a su titular el derecho de instalar y operar un sistema de transporte masivo de minerales entre uno o varios centros mineros, puertos, planta de beneficio, refinería.</a:t>
            </a:r>
          </a:p>
          <a:p>
            <a:pPr marL="0" indent="0">
              <a:buNone/>
            </a:pPr>
            <a:endParaRPr lang="es-PE" sz="2400" dirty="0">
              <a:latin typeface="Inter" panose="020B0604020202020204" charset="0"/>
              <a:ea typeface="Inter" panose="020B0604020202020204" charset="0"/>
              <a:cs typeface="Inter" panose="020B0604020202020204" charset="0"/>
            </a:endParaRPr>
          </a:p>
          <a:p>
            <a:pPr marL="0" indent="0">
              <a:buNone/>
            </a:pPr>
            <a:r>
              <a:rPr lang="es-PE" sz="2400" dirty="0">
                <a:latin typeface="Inter" panose="020B0604020202020204" charset="0"/>
                <a:ea typeface="Inter" panose="020B0604020202020204" charset="0"/>
                <a:cs typeface="Inter" panose="020B0604020202020204" charset="0"/>
              </a:rPr>
              <a:t>Dirección General de Minería o Gobierno Regional luego de evaluar los aspectos técnicos legales de la solicitud, expide el acto administrativo que aprueba el proyecto de la concesión de transporte minero, autoriza la construcción del sistema de transporte, otorga el </a:t>
            </a:r>
            <a:r>
              <a:rPr lang="es-PE" sz="2400" b="1" dirty="0">
                <a:latin typeface="Inter" panose="020B0604020202020204" charset="0"/>
                <a:ea typeface="Inter" panose="020B0604020202020204" charset="0"/>
                <a:cs typeface="Inter" panose="020B0604020202020204" charset="0"/>
              </a:rPr>
              <a:t>titulo de concesión de transporte</a:t>
            </a:r>
            <a:r>
              <a:rPr lang="es-PE" sz="2400" dirty="0">
                <a:latin typeface="Inter" panose="020B0604020202020204" charset="0"/>
                <a:ea typeface="Inter" panose="020B0604020202020204" charset="0"/>
                <a:cs typeface="Inter" panose="020B0604020202020204" charset="0"/>
              </a:rPr>
              <a:t> y </a:t>
            </a:r>
            <a:r>
              <a:rPr lang="es-PE" sz="2400" b="1" dirty="0">
                <a:latin typeface="Inter" panose="020B0604020202020204" charset="0"/>
                <a:ea typeface="Inter" panose="020B0604020202020204" charset="0"/>
                <a:cs typeface="Inter" panose="020B0604020202020204" charset="0"/>
              </a:rPr>
              <a:t>autoriza su funcionamiento</a:t>
            </a:r>
            <a:r>
              <a:rPr lang="es-PE" sz="2400" dirty="0">
                <a:latin typeface="Inter" panose="020B0604020202020204" charset="0"/>
                <a:ea typeface="Inter" panose="020B0604020202020204" charset="0"/>
                <a:cs typeface="Inter" panose="020B0604020202020204" charset="0"/>
              </a:rPr>
              <a:t>.</a:t>
            </a:r>
          </a:p>
        </p:txBody>
      </p:sp>
      <p:grpSp>
        <p:nvGrpSpPr>
          <p:cNvPr id="3" name="Group 5">
            <a:extLst>
              <a:ext uri="{FF2B5EF4-FFF2-40B4-BE49-F238E27FC236}">
                <a16:creationId xmlns:a16="http://schemas.microsoft.com/office/drawing/2014/main" xmlns="" id="{C5C9AA5E-5946-D5C9-87FB-3BCD5C8EB703}"/>
              </a:ext>
            </a:extLst>
          </p:cNvPr>
          <p:cNvGrpSpPr/>
          <p:nvPr/>
        </p:nvGrpSpPr>
        <p:grpSpPr>
          <a:xfrm>
            <a:off x="8969283" y="8595490"/>
            <a:ext cx="7629069" cy="1796816"/>
            <a:chOff x="0" y="0"/>
            <a:chExt cx="752497" cy="177230"/>
          </a:xfrm>
        </p:grpSpPr>
        <p:sp>
          <p:nvSpPr>
            <p:cNvPr id="8" name="Freeform 6">
              <a:extLst>
                <a:ext uri="{FF2B5EF4-FFF2-40B4-BE49-F238E27FC236}">
                  <a16:creationId xmlns:a16="http://schemas.microsoft.com/office/drawing/2014/main" xmlns="" id="{3C6BA5CF-39CA-1F60-5F9C-766EF1B42190}"/>
                </a:ext>
              </a:extLst>
            </p:cNvPr>
            <p:cNvSpPr/>
            <p:nvPr/>
          </p:nvSpPr>
          <p:spPr>
            <a:xfrm>
              <a:off x="0" y="0"/>
              <a:ext cx="752497" cy="177230"/>
            </a:xfrm>
            <a:custGeom>
              <a:avLst/>
              <a:gdLst/>
              <a:ahLst/>
              <a:cxnLst/>
              <a:rect l="l" t="t" r="r" b="b"/>
              <a:pathLst>
                <a:path w="752497" h="177230">
                  <a:moveTo>
                    <a:pt x="203200" y="0"/>
                  </a:moveTo>
                  <a:lnTo>
                    <a:pt x="752497" y="0"/>
                  </a:lnTo>
                  <a:lnTo>
                    <a:pt x="549297" y="177230"/>
                  </a:lnTo>
                  <a:lnTo>
                    <a:pt x="0" y="177230"/>
                  </a:lnTo>
                  <a:lnTo>
                    <a:pt x="203200" y="0"/>
                  </a:lnTo>
                  <a:close/>
                </a:path>
              </a:pathLst>
            </a:custGeom>
            <a:solidFill>
              <a:srgbClr val="E38C26">
                <a:alpha val="14902"/>
              </a:srgbClr>
            </a:solidFill>
          </p:spPr>
        </p:sp>
        <p:sp>
          <p:nvSpPr>
            <p:cNvPr id="10" name="TextBox 7">
              <a:extLst>
                <a:ext uri="{FF2B5EF4-FFF2-40B4-BE49-F238E27FC236}">
                  <a16:creationId xmlns:a16="http://schemas.microsoft.com/office/drawing/2014/main" xmlns="" id="{D9F605EA-CBA4-899F-FA5E-C81DD85F58A0}"/>
                </a:ext>
              </a:extLst>
            </p:cNvPr>
            <p:cNvSpPr txBox="1"/>
            <p:nvPr/>
          </p:nvSpPr>
          <p:spPr>
            <a:xfrm>
              <a:off x="101600" y="-47625"/>
              <a:ext cx="549297" cy="224855"/>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288868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26"/>
          <p:cNvSpPr/>
          <p:nvPr/>
        </p:nvSpPr>
        <p:spPr>
          <a:xfrm flipV="1">
            <a:off x="0" y="7699442"/>
            <a:ext cx="8542589"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s-PE" dirty="0"/>
          </a:p>
        </p:txBody>
      </p:sp>
      <p:grpSp>
        <p:nvGrpSpPr>
          <p:cNvPr id="2" name="Group 2"/>
          <p:cNvGrpSpPr/>
          <p:nvPr/>
        </p:nvGrpSpPr>
        <p:grpSpPr>
          <a:xfrm>
            <a:off x="8233660" y="3924164"/>
            <a:ext cx="12164805" cy="121648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157"/>
                </a:lnSpc>
              </a:pPr>
              <a:endParaRPr dirty="0"/>
            </a:p>
          </p:txBody>
        </p:sp>
      </p:grpSp>
      <p:grpSp>
        <p:nvGrpSpPr>
          <p:cNvPr id="5" name="Group 5"/>
          <p:cNvGrpSpPr>
            <a:grpSpLocks noChangeAspect="1"/>
          </p:cNvGrpSpPr>
          <p:nvPr/>
        </p:nvGrpSpPr>
        <p:grpSpPr>
          <a:xfrm>
            <a:off x="13521479" y="1337352"/>
            <a:ext cx="4007035" cy="7928607"/>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31263" r="-31263"/>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6" name="Group 16"/>
          <p:cNvGrpSpPr>
            <a:grpSpLocks noChangeAspect="1"/>
          </p:cNvGrpSpPr>
          <p:nvPr/>
        </p:nvGrpSpPr>
        <p:grpSpPr>
          <a:xfrm>
            <a:off x="9449760" y="4214498"/>
            <a:ext cx="3594241" cy="7111823"/>
            <a:chOff x="0" y="0"/>
            <a:chExt cx="2620010" cy="5184140"/>
          </a:xfrm>
        </p:grpSpPr>
        <p:sp>
          <p:nvSpPr>
            <p:cNvPr id="17" name="Freeform 1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8" name="Freeform 18"/>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126900" r="-126900"/>
              </a:stretch>
            </a:blipFill>
          </p:spPr>
        </p:sp>
        <p:sp>
          <p:nvSpPr>
            <p:cNvPr id="19" name="Freeform 1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20" name="Freeform 20"/>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1" name="Freeform 2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2" name="Freeform 2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3" name="Freeform 2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4" name="Freeform 2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5" name="Freeform 2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8" name="Freeform 28"/>
          <p:cNvSpPr/>
          <p:nvPr/>
        </p:nvSpPr>
        <p:spPr>
          <a:xfrm>
            <a:off x="0"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6"/>
            <a:stretch>
              <a:fillRect/>
            </a:stretch>
          </a:blipFill>
        </p:spPr>
      </p:sp>
      <p:sp>
        <p:nvSpPr>
          <p:cNvPr id="29" name="TextBox 29"/>
          <p:cNvSpPr txBox="1"/>
          <p:nvPr/>
        </p:nvSpPr>
        <p:spPr>
          <a:xfrm>
            <a:off x="2396908" y="2985633"/>
            <a:ext cx="5204970" cy="3693319"/>
          </a:xfrm>
          <a:prstGeom prst="rect">
            <a:avLst/>
          </a:prstGeom>
        </p:spPr>
        <p:txBody>
          <a:bodyPr wrap="square" lIns="0" tIns="0" rIns="0" bIns="0" rtlCol="0" anchor="t">
            <a:spAutoFit/>
          </a:bodyPr>
          <a:lstStyle/>
          <a:p>
            <a:pPr algn="ctr">
              <a:lnSpc>
                <a:spcPts val="4800"/>
              </a:lnSpc>
            </a:pPr>
            <a:r>
              <a:rPr lang="es-PE" sz="4800" b="1" dirty="0">
                <a:solidFill>
                  <a:srgbClr val="303030"/>
                </a:solidFill>
                <a:latin typeface="Futura Std Book" panose="020B0802020204020204" pitchFamily="34" charset="0"/>
                <a:ea typeface="Montserrat Bold"/>
                <a:cs typeface="Montserrat Bold"/>
                <a:sym typeface="Montserrat Bold"/>
              </a:rPr>
              <a:t>TEMA 02: </a:t>
            </a:r>
          </a:p>
          <a:p>
            <a:pPr algn="ctr">
              <a:lnSpc>
                <a:spcPts val="4800"/>
              </a:lnSpc>
            </a:pPr>
            <a:endParaRPr lang="es-PE" sz="4800" b="1" dirty="0">
              <a:solidFill>
                <a:srgbClr val="303030"/>
              </a:solidFill>
              <a:latin typeface="Futura Std Book" panose="020B0802020204020204" pitchFamily="34" charset="0"/>
              <a:sym typeface="Montserrat Bold"/>
            </a:endParaRPr>
          </a:p>
          <a:p>
            <a:pPr algn="ctr">
              <a:lnSpc>
                <a:spcPts val="4800"/>
              </a:lnSpc>
            </a:pPr>
            <a:r>
              <a:rPr lang="es-PE" sz="4800" b="1" dirty="0">
                <a:solidFill>
                  <a:srgbClr val="303030"/>
                </a:solidFill>
                <a:latin typeface="Futura Std Book" panose="020B0802020204020204" pitchFamily="34" charset="0"/>
                <a:sym typeface="Montserrat Bold"/>
              </a:rPr>
              <a:t>NATURALEZA DE LA CONCESIÓN MINERA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p:cNvGrpSpPr/>
          <p:nvPr/>
        </p:nvGrpSpPr>
        <p:grpSpPr>
          <a:xfrm>
            <a:off x="4211735" y="233243"/>
            <a:ext cx="10116046" cy="2253857"/>
            <a:chOff x="0" y="0"/>
            <a:chExt cx="1438895" cy="320586"/>
          </a:xfrm>
        </p:grpSpPr>
        <p:sp>
          <p:nvSpPr>
            <p:cNvPr id="9" name="Freeform 9"/>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2" name="CuadroTexto 11">
            <a:extLst>
              <a:ext uri="{FF2B5EF4-FFF2-40B4-BE49-F238E27FC236}">
                <a16:creationId xmlns:a16="http://schemas.microsoft.com/office/drawing/2014/main" xmlns="" id="{774706A8-506B-4003-97C2-27BC5BC25FCB}"/>
              </a:ext>
            </a:extLst>
          </p:cNvPr>
          <p:cNvSpPr txBox="1"/>
          <p:nvPr/>
        </p:nvSpPr>
        <p:spPr>
          <a:xfrm>
            <a:off x="945354" y="4130678"/>
            <a:ext cx="11932446" cy="3785652"/>
          </a:xfrm>
          <a:prstGeom prst="rect">
            <a:avLst/>
          </a:prstGeom>
          <a:noFill/>
        </p:spPr>
        <p:txBody>
          <a:bodyPr wrap="square">
            <a:spAutoFit/>
          </a:bodyPr>
          <a:lstStyle/>
          <a:p>
            <a:r>
              <a:rPr lang="es-PE" sz="2400" b="1" dirty="0">
                <a:solidFill>
                  <a:schemeClr val="accent2">
                    <a:lumMod val="75000"/>
                  </a:schemeClr>
                </a:solidFill>
                <a:latin typeface="Inter" panose="020B0604020202020204" charset="0"/>
                <a:ea typeface="Inter" panose="020B0604020202020204" charset="0"/>
                <a:cs typeface="Inter" panose="020B0604020202020204" charset="0"/>
              </a:rPr>
              <a:t>YACIMIENTO</a:t>
            </a:r>
          </a:p>
          <a:p>
            <a:endParaRPr lang="es-PE" sz="2400" b="1" dirty="0">
              <a:latin typeface="Inter" panose="020B0604020202020204" charset="0"/>
              <a:ea typeface="Inter" panose="020B0604020202020204" charset="0"/>
              <a:cs typeface="Inter" panose="020B0604020202020204" charset="0"/>
            </a:endParaRPr>
          </a:p>
          <a:p>
            <a:r>
              <a:rPr lang="es-PE" sz="2400" b="1" dirty="0">
                <a:latin typeface="Inter" panose="020B0604020202020204" charset="0"/>
                <a:ea typeface="Inter" panose="020B0604020202020204" charset="0"/>
                <a:cs typeface="Inter" panose="020B0604020202020204" charset="0"/>
              </a:rPr>
              <a:t>Definición</a:t>
            </a:r>
            <a:r>
              <a:rPr lang="es-PE" sz="2400" dirty="0">
                <a:latin typeface="Inter" panose="020B0604020202020204" charset="0"/>
                <a:ea typeface="Inter" panose="020B0604020202020204" charset="0"/>
                <a:cs typeface="Inter" panose="020B0604020202020204" charset="0"/>
              </a:rPr>
              <a:t>.- Sector de la corteza terrestre que puede utilizarse económicamente, dada su calidad, cantidad y condiciones que permitan su explotación.</a:t>
            </a:r>
          </a:p>
          <a:p>
            <a:endParaRPr lang="es-PE" sz="2400" dirty="0">
              <a:latin typeface="Inter" panose="020B0604020202020204" charset="0"/>
              <a:ea typeface="Inter" panose="020B0604020202020204" charset="0"/>
              <a:cs typeface="Inter" panose="020B0604020202020204" charset="0"/>
            </a:endParaRPr>
          </a:p>
          <a:p>
            <a:r>
              <a:rPr lang="es-PE" sz="2400" b="1" dirty="0">
                <a:latin typeface="Inter" panose="020B0604020202020204" charset="0"/>
                <a:ea typeface="Inter" panose="020B0604020202020204" charset="0"/>
                <a:cs typeface="Inter" panose="020B0604020202020204" charset="0"/>
              </a:rPr>
              <a:t>Clasificación</a:t>
            </a:r>
            <a:r>
              <a:rPr lang="es-PE" sz="2400" dirty="0">
                <a:latin typeface="Inter" panose="020B0604020202020204" charset="0"/>
                <a:ea typeface="Inter" panose="020B0604020202020204" charset="0"/>
                <a:cs typeface="Inter" panose="020B0604020202020204" charset="0"/>
              </a:rPr>
              <a:t>.- Metálicos y no metálicos; dan lugar a la minería metálica y no metálica. </a:t>
            </a:r>
          </a:p>
          <a:p>
            <a:endParaRPr lang="es-PE" sz="2400"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En el Perú, la minería metálica está mucho más desarrollada en la producción o economía, con sus implicancias sociales y en aspectos tecnológicos </a:t>
            </a:r>
          </a:p>
        </p:txBody>
      </p:sp>
      <p:sp>
        <p:nvSpPr>
          <p:cNvPr id="10" name="TextBox 8">
            <a:extLst>
              <a:ext uri="{FF2B5EF4-FFF2-40B4-BE49-F238E27FC236}">
                <a16:creationId xmlns:a16="http://schemas.microsoft.com/office/drawing/2014/main" xmlns="" id="{F3D965AB-35CC-F4C5-16F6-4B0F16609701}"/>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2.1 LA CONCESIÓN MINERA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p:cNvGrpSpPr/>
          <p:nvPr/>
        </p:nvGrpSpPr>
        <p:grpSpPr>
          <a:xfrm>
            <a:off x="4211735" y="233243"/>
            <a:ext cx="10116046" cy="2253857"/>
            <a:chOff x="0" y="0"/>
            <a:chExt cx="1438895" cy="320586"/>
          </a:xfrm>
        </p:grpSpPr>
        <p:sp>
          <p:nvSpPr>
            <p:cNvPr id="9" name="Freeform 9"/>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0" name="TextBox 10"/>
          <p:cNvSpPr txBox="1"/>
          <p:nvPr/>
        </p:nvSpPr>
        <p:spPr>
          <a:xfrm>
            <a:off x="945354" y="4184579"/>
            <a:ext cx="15056647" cy="3693319"/>
          </a:xfrm>
          <a:prstGeom prst="rect">
            <a:avLst/>
          </a:prstGeom>
        </p:spPr>
        <p:txBody>
          <a:bodyPr wrap="square" lIns="0" tIns="0" rIns="0" bIns="0" rtlCol="0" anchor="t">
            <a:spAutoFit/>
          </a:bodyPr>
          <a:lstStyle/>
          <a:p>
            <a:r>
              <a:rPr lang="es-PE" sz="2400" b="1" dirty="0">
                <a:latin typeface="Inter" panose="020B0604020202020204" charset="0"/>
                <a:ea typeface="Inter" panose="020B0604020202020204" charset="0"/>
                <a:cs typeface="Inter" panose="020B0604020202020204" charset="0"/>
              </a:rPr>
              <a:t>Minería metálica</a:t>
            </a:r>
            <a:r>
              <a:rPr lang="es-PE" sz="2400" dirty="0">
                <a:latin typeface="Inter" panose="020B0604020202020204" charset="0"/>
                <a:ea typeface="Inter" panose="020B0604020202020204" charset="0"/>
                <a:cs typeface="Inter" panose="020B0604020202020204" charset="0"/>
              </a:rPr>
              <a:t>.- </a:t>
            </a:r>
          </a:p>
          <a:p>
            <a:endParaRPr lang="es-PE" sz="2400" dirty="0">
              <a:latin typeface="Inter" panose="020B0604020202020204" charset="0"/>
              <a:ea typeface="Inter" panose="020B0604020202020204" charset="0"/>
              <a:cs typeface="Inter" panose="020B0604020202020204" charset="0"/>
            </a:endParaRPr>
          </a:p>
          <a:p>
            <a:pPr marL="34290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Su finalidad es obtener los metales para la industria, arte o atesoramiento </a:t>
            </a:r>
          </a:p>
          <a:p>
            <a:pPr marL="342900" indent="-342900">
              <a:buFont typeface="Arial" panose="020B0604020202020204" pitchFamily="34" charset="0"/>
              <a:buChar char="•"/>
            </a:pPr>
            <a:endParaRPr lang="es-PE" sz="2400" dirty="0">
              <a:latin typeface="Inter" panose="020B0604020202020204" charset="0"/>
              <a:ea typeface="Inter" panose="020B0604020202020204" charset="0"/>
              <a:cs typeface="Inter" panose="020B0604020202020204" charset="0"/>
            </a:endParaRPr>
          </a:p>
          <a:p>
            <a:pPr marL="34290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Productos Principales: Cu, Au, Zn, Ag, Fe, Sn, Pb </a:t>
            </a:r>
          </a:p>
          <a:p>
            <a:pPr marL="342900" indent="-342900">
              <a:buFont typeface="Arial" panose="020B0604020202020204" pitchFamily="34" charset="0"/>
              <a:buChar char="•"/>
            </a:pPr>
            <a:endParaRPr lang="es-PE" sz="2400" dirty="0">
              <a:latin typeface="Inter" panose="020B0604020202020204" charset="0"/>
              <a:ea typeface="Inter" panose="020B0604020202020204" charset="0"/>
              <a:cs typeface="Inter" panose="020B0604020202020204" charset="0"/>
            </a:endParaRPr>
          </a:p>
          <a:p>
            <a:pPr marL="34290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Subproductos: Mo, Bi, In, Cd, As, Sb, Te, Se, (Hg) </a:t>
            </a:r>
          </a:p>
          <a:p>
            <a:pPr marL="342900" indent="-342900">
              <a:buFont typeface="Arial" panose="020B0604020202020204" pitchFamily="34" charset="0"/>
              <a:buChar char="•"/>
            </a:pPr>
            <a:endParaRPr lang="es-PE" sz="2400" dirty="0">
              <a:latin typeface="Inter" panose="020B0604020202020204" charset="0"/>
              <a:ea typeface="Inter" panose="020B0604020202020204" charset="0"/>
              <a:cs typeface="Inter" panose="020B0604020202020204" charset="0"/>
            </a:endParaRPr>
          </a:p>
          <a:p>
            <a:pPr marL="34290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Contaminantes: Algunos productos tóxicos; la parte no recuperada, acumulada en relaves y desmontes</a:t>
            </a:r>
          </a:p>
        </p:txBody>
      </p:sp>
      <p:sp>
        <p:nvSpPr>
          <p:cNvPr id="6" name="TextBox 8">
            <a:extLst>
              <a:ext uri="{FF2B5EF4-FFF2-40B4-BE49-F238E27FC236}">
                <a16:creationId xmlns:a16="http://schemas.microsoft.com/office/drawing/2014/main" xmlns="" id="{BECDDEEC-BECB-FA53-46A6-423653CCB0CE}"/>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2.1 LA CONCESIÓN MINERA</a:t>
            </a:r>
          </a:p>
        </p:txBody>
      </p:sp>
    </p:spTree>
    <p:extLst>
      <p:ext uri="{BB962C8B-B14F-4D97-AF65-F5344CB8AC3E}">
        <p14:creationId xmlns:p14="http://schemas.microsoft.com/office/powerpoint/2010/main" val="2046245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5F24DED-F0DF-52A0-0E58-D8133DD7851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0D5282D5-FC96-D1F2-8500-EE2A569E1FF5}"/>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F3511B14-906F-66BF-EA5A-5E3AC1941896}"/>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A1453E97-551F-F396-40D5-DC8F947E9EA5}"/>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A646718D-9DD3-CFC2-B724-6320A36AD8C3}"/>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DB60FB7F-D2F6-3613-0E4C-589230259AD7}"/>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10494948-A267-C61E-AE49-6DE39422ED8B}"/>
              </a:ext>
            </a:extLst>
          </p:cNvPr>
          <p:cNvGrpSpPr/>
          <p:nvPr/>
        </p:nvGrpSpPr>
        <p:grpSpPr>
          <a:xfrm>
            <a:off x="4211735" y="233243"/>
            <a:ext cx="10116046" cy="2253857"/>
            <a:chOff x="0" y="0"/>
            <a:chExt cx="1438895" cy="320586"/>
          </a:xfrm>
        </p:grpSpPr>
        <p:sp>
          <p:nvSpPr>
            <p:cNvPr id="9" name="Freeform 9">
              <a:extLst>
                <a:ext uri="{FF2B5EF4-FFF2-40B4-BE49-F238E27FC236}">
                  <a16:creationId xmlns:a16="http://schemas.microsoft.com/office/drawing/2014/main" xmlns="" id="{CFE2D66E-4388-BE81-9CA0-B180225B8B4B}"/>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2" name="CuadroTexto 11">
            <a:extLst>
              <a:ext uri="{FF2B5EF4-FFF2-40B4-BE49-F238E27FC236}">
                <a16:creationId xmlns:a16="http://schemas.microsoft.com/office/drawing/2014/main" xmlns="" id="{E96A1DF8-F5B9-8427-45B3-45430BF482D0}"/>
              </a:ext>
            </a:extLst>
          </p:cNvPr>
          <p:cNvSpPr txBox="1"/>
          <p:nvPr/>
        </p:nvSpPr>
        <p:spPr>
          <a:xfrm>
            <a:off x="945354" y="3470145"/>
            <a:ext cx="11475246" cy="461665"/>
          </a:xfrm>
          <a:prstGeom prst="rect">
            <a:avLst/>
          </a:prstGeom>
          <a:noFill/>
        </p:spPr>
        <p:txBody>
          <a:bodyPr wrap="square">
            <a:spAutoFit/>
          </a:bodyPr>
          <a:lstStyle/>
          <a:p>
            <a:r>
              <a:rPr lang="es-PE" sz="2400" b="1" dirty="0">
                <a:latin typeface="Inter" panose="020B0604020202020204" charset="0"/>
                <a:ea typeface="Inter" panose="020B0604020202020204" charset="0"/>
                <a:cs typeface="Inter" panose="020B0604020202020204" charset="0"/>
              </a:rPr>
              <a:t>Minería No metálica</a:t>
            </a:r>
            <a:r>
              <a:rPr lang="es-PE" sz="2400" dirty="0">
                <a:latin typeface="Inter" panose="020B0604020202020204" charset="0"/>
                <a:ea typeface="Inter" panose="020B0604020202020204" charset="0"/>
                <a:cs typeface="Inter" panose="020B0604020202020204" charset="0"/>
              </a:rPr>
              <a:t>.- Extrae minerales para ser usados por sus propiedades: </a:t>
            </a:r>
          </a:p>
        </p:txBody>
      </p:sp>
      <p:pic>
        <p:nvPicPr>
          <p:cNvPr id="6" name="Picture 2">
            <a:extLst>
              <a:ext uri="{FF2B5EF4-FFF2-40B4-BE49-F238E27FC236}">
                <a16:creationId xmlns:a16="http://schemas.microsoft.com/office/drawing/2014/main" xmlns="" id="{F30B5DCC-0DF7-25D4-9A4A-C2EDEB7A6EA4}"/>
              </a:ext>
            </a:extLst>
          </p:cNvPr>
          <p:cNvPicPr>
            <a:picLocks noChangeAspect="1" noChangeArrowheads="1"/>
          </p:cNvPicPr>
          <p:nvPr/>
        </p:nvPicPr>
        <p:blipFill>
          <a:blip r:embed="rId6" cstate="print"/>
          <a:srcRect l="16876" t="10454" r="33315" b="11782"/>
          <a:stretch>
            <a:fillRect/>
          </a:stretch>
        </p:blipFill>
        <p:spPr bwMode="auto">
          <a:xfrm>
            <a:off x="3586992" y="3919760"/>
            <a:ext cx="8407175" cy="6354232"/>
          </a:xfrm>
          <a:prstGeom prst="rect">
            <a:avLst/>
          </a:prstGeom>
          <a:noFill/>
          <a:ln w="9525">
            <a:noFill/>
            <a:miter lim="800000"/>
            <a:headEnd/>
            <a:tailEnd/>
          </a:ln>
        </p:spPr>
      </p:pic>
      <p:sp>
        <p:nvSpPr>
          <p:cNvPr id="10" name="TextBox 8">
            <a:extLst>
              <a:ext uri="{FF2B5EF4-FFF2-40B4-BE49-F238E27FC236}">
                <a16:creationId xmlns:a16="http://schemas.microsoft.com/office/drawing/2014/main" xmlns="" id="{4409BC32-772B-1385-4E66-8AAD1D8073A1}"/>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2.1 LA CONCESIÓN MINERA</a:t>
            </a:r>
          </a:p>
        </p:txBody>
      </p:sp>
    </p:spTree>
    <p:extLst>
      <p:ext uri="{BB962C8B-B14F-4D97-AF65-F5344CB8AC3E}">
        <p14:creationId xmlns:p14="http://schemas.microsoft.com/office/powerpoint/2010/main" val="2462785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p:cNvGrpSpPr/>
          <p:nvPr/>
        </p:nvGrpSpPr>
        <p:grpSpPr>
          <a:xfrm>
            <a:off x="4211735" y="233243"/>
            <a:ext cx="10116046" cy="2253857"/>
            <a:chOff x="0" y="0"/>
            <a:chExt cx="1438895" cy="320586"/>
          </a:xfrm>
        </p:grpSpPr>
        <p:sp>
          <p:nvSpPr>
            <p:cNvPr id="9" name="Freeform 9"/>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0" name="TextBox 10"/>
          <p:cNvSpPr txBox="1"/>
          <p:nvPr/>
        </p:nvSpPr>
        <p:spPr>
          <a:xfrm>
            <a:off x="945354" y="4984162"/>
            <a:ext cx="6261139" cy="3323987"/>
          </a:xfrm>
          <a:prstGeom prst="rect">
            <a:avLst/>
          </a:prstGeom>
        </p:spPr>
        <p:txBody>
          <a:bodyPr wrap="square" lIns="0" tIns="0" rIns="0" bIns="0" rtlCol="0" anchor="t">
            <a:spAutoFit/>
          </a:bodyPr>
          <a:lstStyle/>
          <a:p>
            <a:pPr marL="0" indent="0">
              <a:buNone/>
            </a:pPr>
            <a:r>
              <a:rPr lang="es-PE" sz="2400" kern="100" dirty="0">
                <a:effectLst/>
                <a:latin typeface="Inter" panose="020B0604020202020204" charset="0"/>
                <a:ea typeface="Inter" panose="020B0604020202020204" charset="0"/>
                <a:cs typeface="Inter" panose="020B0604020202020204" charset="0"/>
              </a:rPr>
              <a:t>La CONCESIÓN EN MINERÍA, es el conjunto de Derechos y Obligaciones que otorga el Estado (materializado en un título) y que confiere a una persona natural o jurídica, pública o privada, la facultad de desarrollar actividades mineras de exploración de las sustancias minerales otorgadas que se encuentren dentro del ámbito espacial concedido.</a:t>
            </a:r>
          </a:p>
        </p:txBody>
      </p:sp>
      <p:sp>
        <p:nvSpPr>
          <p:cNvPr id="6" name="TextBox 8">
            <a:extLst>
              <a:ext uri="{FF2B5EF4-FFF2-40B4-BE49-F238E27FC236}">
                <a16:creationId xmlns:a16="http://schemas.microsoft.com/office/drawing/2014/main" xmlns="" id="{3B06AB6D-2F3E-B4C9-FBE9-7F65B5C9A279}"/>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2.1 LA CONCESIÓN MINERA</a:t>
            </a:r>
          </a:p>
        </p:txBody>
      </p:sp>
      <p:sp>
        <p:nvSpPr>
          <p:cNvPr id="12" name="Título 1">
            <a:extLst>
              <a:ext uri="{FF2B5EF4-FFF2-40B4-BE49-F238E27FC236}">
                <a16:creationId xmlns:a16="http://schemas.microsoft.com/office/drawing/2014/main" xmlns="" id="{EAA6B8D2-75BD-3C2A-0A94-7FC245D8BCC1}"/>
              </a:ext>
            </a:extLst>
          </p:cNvPr>
          <p:cNvSpPr txBox="1">
            <a:spLocks/>
          </p:cNvSpPr>
          <p:nvPr/>
        </p:nvSpPr>
        <p:spPr>
          <a:xfrm>
            <a:off x="8984091" y="3208889"/>
            <a:ext cx="6503646" cy="491934"/>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PE" sz="2400" b="1" dirty="0">
                <a:latin typeface="Inter" panose="020B0604020202020204" charset="0"/>
                <a:ea typeface="Inter" panose="020B0604020202020204" charset="0"/>
                <a:cs typeface="Inter" panose="020B0604020202020204" charset="0"/>
              </a:rPr>
              <a:t>La naturaleza jurídica TRIDIMENSIONAL de la Concesión</a:t>
            </a:r>
          </a:p>
        </p:txBody>
      </p:sp>
      <p:grpSp>
        <p:nvGrpSpPr>
          <p:cNvPr id="13" name="Grupo 12">
            <a:extLst>
              <a:ext uri="{FF2B5EF4-FFF2-40B4-BE49-F238E27FC236}">
                <a16:creationId xmlns:a16="http://schemas.microsoft.com/office/drawing/2014/main" xmlns="" id="{9FD63986-E066-BF47-89D3-1D9F7D425A73}"/>
              </a:ext>
            </a:extLst>
          </p:cNvPr>
          <p:cNvGrpSpPr/>
          <p:nvPr/>
        </p:nvGrpSpPr>
        <p:grpSpPr>
          <a:xfrm>
            <a:off x="8052288" y="4381500"/>
            <a:ext cx="8305800" cy="4689858"/>
            <a:chOff x="755577" y="2239489"/>
            <a:chExt cx="7848872" cy="3873016"/>
          </a:xfrm>
        </p:grpSpPr>
        <p:sp>
          <p:nvSpPr>
            <p:cNvPr id="14" name="AutoShape 7">
              <a:extLst>
                <a:ext uri="{FF2B5EF4-FFF2-40B4-BE49-F238E27FC236}">
                  <a16:creationId xmlns:a16="http://schemas.microsoft.com/office/drawing/2014/main" xmlns="" id="{91805FCB-DEF4-AC78-4771-641B1BC3FC74}"/>
                </a:ext>
              </a:extLst>
            </p:cNvPr>
            <p:cNvSpPr>
              <a:spLocks noChangeArrowheads="1"/>
            </p:cNvSpPr>
            <p:nvPr/>
          </p:nvSpPr>
          <p:spPr bwMode="auto">
            <a:xfrm>
              <a:off x="3175862" y="3380598"/>
              <a:ext cx="3066374" cy="2409771"/>
            </a:xfrm>
            <a:prstGeom prst="triangle">
              <a:avLst>
                <a:gd name="adj" fmla="val 50000"/>
              </a:avLst>
            </a:prstGeom>
            <a:solidFill>
              <a:srgbClr val="CCFF99"/>
            </a:solidFill>
            <a:ln w="28575">
              <a:solidFill>
                <a:schemeClr val="hlink"/>
              </a:solidFill>
              <a:miter lim="800000"/>
              <a:headEnd/>
              <a:tailEnd/>
            </a:ln>
            <a:effectLst/>
          </p:spPr>
          <p:txBody>
            <a:bodyPr wrap="none" anchor="ctr"/>
            <a:lstStyle/>
            <a:p>
              <a:pPr algn="ctr"/>
              <a:r>
                <a:rPr lang="es-ES" sz="2400" b="1" dirty="0">
                  <a:effectLst>
                    <a:outerShdw blurRad="38100" dist="38100" dir="2700000" algn="tl">
                      <a:srgbClr val="FFFFFF"/>
                    </a:outerShdw>
                  </a:effectLst>
                  <a:latin typeface="Arial" pitchFamily="34" charset="0"/>
                  <a:cs typeface="Arial" pitchFamily="34" charset="0"/>
                </a:rPr>
                <a:t>Concesión</a:t>
              </a:r>
              <a:endParaRPr lang="es-ES" b="1" dirty="0">
                <a:effectLst>
                  <a:outerShdw blurRad="38100" dist="38100" dir="2700000" algn="tl">
                    <a:srgbClr val="FFFFFF"/>
                  </a:outerShdw>
                </a:effectLst>
                <a:latin typeface="Arial" pitchFamily="34" charset="0"/>
                <a:cs typeface="Arial" pitchFamily="34" charset="0"/>
              </a:endParaRPr>
            </a:p>
          </p:txBody>
        </p:sp>
        <p:sp>
          <p:nvSpPr>
            <p:cNvPr id="15" name="Text Box 9">
              <a:extLst>
                <a:ext uri="{FF2B5EF4-FFF2-40B4-BE49-F238E27FC236}">
                  <a16:creationId xmlns:a16="http://schemas.microsoft.com/office/drawing/2014/main" xmlns="" id="{F92DECB0-B218-5E09-363A-DEC889BF0803}"/>
                </a:ext>
              </a:extLst>
            </p:cNvPr>
            <p:cNvSpPr txBox="1">
              <a:spLocks noChangeArrowheads="1"/>
            </p:cNvSpPr>
            <p:nvPr/>
          </p:nvSpPr>
          <p:spPr bwMode="auto">
            <a:xfrm>
              <a:off x="3454624" y="2561737"/>
              <a:ext cx="2508851" cy="705623"/>
            </a:xfrm>
            <a:prstGeom prst="rect">
              <a:avLst/>
            </a:prstGeom>
            <a:noFill/>
            <a:ln w="9525">
              <a:noFill/>
              <a:miter lim="800000"/>
              <a:headEnd/>
              <a:tailEnd/>
            </a:ln>
            <a:effectLst/>
          </p:spPr>
          <p:txBody>
            <a:bodyPr>
              <a:spAutoFit/>
            </a:bodyPr>
            <a:lstStyle/>
            <a:p>
              <a:pPr algn="ctr">
                <a:spcBef>
                  <a:spcPct val="50000"/>
                </a:spcBef>
              </a:pPr>
              <a:r>
                <a:rPr lang="es-ES" sz="2000" dirty="0">
                  <a:solidFill>
                    <a:srgbClr val="0033CC"/>
                  </a:solidFill>
                  <a:latin typeface="Arial" pitchFamily="34" charset="0"/>
                  <a:cs typeface="Arial" pitchFamily="34" charset="0"/>
                </a:rPr>
                <a:t>Acto jurídico administrativo</a:t>
              </a:r>
            </a:p>
          </p:txBody>
        </p:sp>
        <p:sp>
          <p:nvSpPr>
            <p:cNvPr id="16" name="Text Box 10">
              <a:extLst>
                <a:ext uri="{FF2B5EF4-FFF2-40B4-BE49-F238E27FC236}">
                  <a16:creationId xmlns:a16="http://schemas.microsoft.com/office/drawing/2014/main" xmlns="" id="{AD4EACE1-FC3D-E7FC-CE68-546CA327FCEB}"/>
                </a:ext>
              </a:extLst>
            </p:cNvPr>
            <p:cNvSpPr txBox="1">
              <a:spLocks noChangeArrowheads="1"/>
            </p:cNvSpPr>
            <p:nvPr/>
          </p:nvSpPr>
          <p:spPr bwMode="auto">
            <a:xfrm>
              <a:off x="1224535" y="5387673"/>
              <a:ext cx="1951329" cy="724832"/>
            </a:xfrm>
            <a:prstGeom prst="rect">
              <a:avLst/>
            </a:prstGeom>
            <a:noFill/>
            <a:ln w="9525">
              <a:noFill/>
              <a:miter lim="800000"/>
              <a:headEnd/>
              <a:tailEnd/>
            </a:ln>
            <a:effectLst/>
          </p:spPr>
          <p:txBody>
            <a:bodyPr wrap="square">
              <a:spAutoFit/>
            </a:bodyPr>
            <a:lstStyle/>
            <a:p>
              <a:pPr algn="ctr">
                <a:spcBef>
                  <a:spcPct val="50000"/>
                </a:spcBef>
              </a:pPr>
              <a:r>
                <a:rPr lang="es-ES" sz="2000" dirty="0">
                  <a:solidFill>
                    <a:srgbClr val="008000"/>
                  </a:solidFill>
                  <a:latin typeface="Arial" pitchFamily="34" charset="0"/>
                  <a:cs typeface="Arial" pitchFamily="34" charset="0"/>
                </a:rPr>
                <a:t>Derecho real (Inmueble)</a:t>
              </a:r>
            </a:p>
          </p:txBody>
        </p:sp>
        <p:sp>
          <p:nvSpPr>
            <p:cNvPr id="17" name="Text Box 11">
              <a:extLst>
                <a:ext uri="{FF2B5EF4-FFF2-40B4-BE49-F238E27FC236}">
                  <a16:creationId xmlns:a16="http://schemas.microsoft.com/office/drawing/2014/main" xmlns="" id="{BE0B9569-E391-1B91-D2C1-FEAD1FEFE7E2}"/>
                </a:ext>
              </a:extLst>
            </p:cNvPr>
            <p:cNvSpPr txBox="1">
              <a:spLocks noChangeArrowheads="1"/>
            </p:cNvSpPr>
            <p:nvPr/>
          </p:nvSpPr>
          <p:spPr bwMode="auto">
            <a:xfrm>
              <a:off x="6242236" y="5387673"/>
              <a:ext cx="1672569" cy="661804"/>
            </a:xfrm>
            <a:prstGeom prst="rect">
              <a:avLst/>
            </a:prstGeom>
            <a:noFill/>
            <a:ln w="9525">
              <a:noFill/>
              <a:miter lim="800000"/>
              <a:headEnd/>
              <a:tailEnd/>
            </a:ln>
            <a:effectLst/>
          </p:spPr>
          <p:txBody>
            <a:bodyPr wrap="square">
              <a:spAutoFit/>
            </a:bodyPr>
            <a:lstStyle/>
            <a:p>
              <a:pPr algn="ctr">
                <a:spcBef>
                  <a:spcPct val="50000"/>
                </a:spcBef>
              </a:pPr>
              <a:r>
                <a:rPr lang="es-ES" dirty="0">
                  <a:solidFill>
                    <a:srgbClr val="FF0000"/>
                  </a:solidFill>
                  <a:latin typeface="Arial" pitchFamily="34" charset="0"/>
                  <a:cs typeface="Arial" pitchFamily="34" charset="0"/>
                </a:rPr>
                <a:t>Sólido de profundidad</a:t>
              </a:r>
            </a:p>
          </p:txBody>
        </p:sp>
        <p:sp>
          <p:nvSpPr>
            <p:cNvPr id="18" name="Text Box 12">
              <a:extLst>
                <a:ext uri="{FF2B5EF4-FFF2-40B4-BE49-F238E27FC236}">
                  <a16:creationId xmlns:a16="http://schemas.microsoft.com/office/drawing/2014/main" xmlns="" id="{F23A6ABB-1A75-E0A6-C1DD-59440D88BA62}"/>
                </a:ext>
              </a:extLst>
            </p:cNvPr>
            <p:cNvSpPr txBox="1">
              <a:spLocks noChangeArrowheads="1"/>
            </p:cNvSpPr>
            <p:nvPr/>
          </p:nvSpPr>
          <p:spPr bwMode="auto">
            <a:xfrm rot="1243569">
              <a:off x="5912660" y="2276905"/>
              <a:ext cx="1383643" cy="346659"/>
            </a:xfrm>
            <a:prstGeom prst="rect">
              <a:avLst/>
            </a:prstGeom>
            <a:noFill/>
            <a:ln w="9525">
              <a:noFill/>
              <a:miter lim="800000"/>
              <a:headEnd/>
              <a:tailEnd/>
            </a:ln>
            <a:effectLst/>
          </p:spPr>
          <p:txBody>
            <a:bodyPr>
              <a:spAutoFit/>
            </a:bodyPr>
            <a:lstStyle/>
            <a:p>
              <a:pPr>
                <a:spcBef>
                  <a:spcPct val="50000"/>
                </a:spcBef>
              </a:pPr>
              <a:r>
                <a:rPr lang="es-ES" sz="1600" dirty="0">
                  <a:latin typeface="Arial" pitchFamily="34" charset="0"/>
                  <a:cs typeface="Arial" pitchFamily="34" charset="0"/>
                </a:rPr>
                <a:t>D. Público</a:t>
              </a:r>
            </a:p>
          </p:txBody>
        </p:sp>
        <p:sp>
          <p:nvSpPr>
            <p:cNvPr id="19" name="Text Box 13">
              <a:extLst>
                <a:ext uri="{FF2B5EF4-FFF2-40B4-BE49-F238E27FC236}">
                  <a16:creationId xmlns:a16="http://schemas.microsoft.com/office/drawing/2014/main" xmlns="" id="{E15BA853-BF08-7EE0-1E52-8B5C6CC77BBB}"/>
                </a:ext>
              </a:extLst>
            </p:cNvPr>
            <p:cNvSpPr txBox="1">
              <a:spLocks noChangeArrowheads="1"/>
            </p:cNvSpPr>
            <p:nvPr/>
          </p:nvSpPr>
          <p:spPr bwMode="auto">
            <a:xfrm rot="20294255">
              <a:off x="755577" y="4456463"/>
              <a:ext cx="1422843" cy="346659"/>
            </a:xfrm>
            <a:prstGeom prst="rect">
              <a:avLst/>
            </a:prstGeom>
            <a:noFill/>
            <a:ln w="9525">
              <a:noFill/>
              <a:miter lim="800000"/>
              <a:headEnd/>
              <a:tailEnd/>
            </a:ln>
            <a:effectLst/>
          </p:spPr>
          <p:txBody>
            <a:bodyPr>
              <a:spAutoFit/>
            </a:bodyPr>
            <a:lstStyle/>
            <a:p>
              <a:pPr>
                <a:spcBef>
                  <a:spcPct val="50000"/>
                </a:spcBef>
              </a:pPr>
              <a:r>
                <a:rPr lang="es-ES" sz="1600" dirty="0">
                  <a:latin typeface="Arial" pitchFamily="34" charset="0"/>
                  <a:cs typeface="Arial" pitchFamily="34" charset="0"/>
                </a:rPr>
                <a:t>D. Privado</a:t>
              </a:r>
            </a:p>
          </p:txBody>
        </p:sp>
        <p:sp>
          <p:nvSpPr>
            <p:cNvPr id="20" name="Text Box 14">
              <a:extLst>
                <a:ext uri="{FF2B5EF4-FFF2-40B4-BE49-F238E27FC236}">
                  <a16:creationId xmlns:a16="http://schemas.microsoft.com/office/drawing/2014/main" xmlns="" id="{AFACB6FC-479C-69C1-EA52-9D7158727125}"/>
                </a:ext>
              </a:extLst>
            </p:cNvPr>
            <p:cNvSpPr txBox="1">
              <a:spLocks noChangeArrowheads="1"/>
            </p:cNvSpPr>
            <p:nvPr/>
          </p:nvSpPr>
          <p:spPr bwMode="auto">
            <a:xfrm rot="1696522">
              <a:off x="7095944" y="4835323"/>
              <a:ext cx="1508505" cy="359016"/>
            </a:xfrm>
            <a:prstGeom prst="rect">
              <a:avLst/>
            </a:prstGeom>
            <a:noFill/>
            <a:ln w="9525">
              <a:noFill/>
              <a:miter lim="800000"/>
              <a:headEnd/>
              <a:tailEnd/>
            </a:ln>
            <a:effectLst/>
          </p:spPr>
          <p:txBody>
            <a:bodyPr>
              <a:spAutoFit/>
            </a:bodyPr>
            <a:lstStyle/>
            <a:p>
              <a:pPr>
                <a:spcBef>
                  <a:spcPct val="50000"/>
                </a:spcBef>
              </a:pPr>
              <a:r>
                <a:rPr lang="es-ES" sz="1400" dirty="0">
                  <a:latin typeface="Arial" pitchFamily="34" charset="0"/>
                  <a:cs typeface="Arial" pitchFamily="34" charset="0"/>
                </a:rPr>
                <a:t>D. Especial</a:t>
              </a:r>
            </a:p>
          </p:txBody>
        </p:sp>
        <p:cxnSp>
          <p:nvCxnSpPr>
            <p:cNvPr id="21" name="AutoShape 15">
              <a:extLst>
                <a:ext uri="{FF2B5EF4-FFF2-40B4-BE49-F238E27FC236}">
                  <a16:creationId xmlns:a16="http://schemas.microsoft.com/office/drawing/2014/main" xmlns="" id="{109CFA38-019F-B71A-6ACF-807B607BF205}"/>
                </a:ext>
              </a:extLst>
            </p:cNvPr>
            <p:cNvCxnSpPr>
              <a:cxnSpLocks noChangeShapeType="1"/>
              <a:stCxn id="18" idx="1"/>
              <a:endCxn id="15" idx="0"/>
            </p:cNvCxnSpPr>
            <p:nvPr/>
          </p:nvCxnSpPr>
          <p:spPr bwMode="auto">
            <a:xfrm rot="10800000" flipV="1">
              <a:off x="4709051" y="2239489"/>
              <a:ext cx="1248382" cy="322247"/>
            </a:xfrm>
            <a:prstGeom prst="bentConnector2">
              <a:avLst/>
            </a:prstGeom>
            <a:noFill/>
            <a:ln w="9525">
              <a:solidFill>
                <a:schemeClr val="tx1"/>
              </a:solidFill>
              <a:miter lim="800000"/>
              <a:headEnd/>
              <a:tailEnd type="triangle" w="med" len="med"/>
            </a:ln>
            <a:effectLst/>
          </p:spPr>
        </p:cxnSp>
        <p:cxnSp>
          <p:nvCxnSpPr>
            <p:cNvPr id="22" name="AutoShape 16">
              <a:extLst>
                <a:ext uri="{FF2B5EF4-FFF2-40B4-BE49-F238E27FC236}">
                  <a16:creationId xmlns:a16="http://schemas.microsoft.com/office/drawing/2014/main" xmlns="" id="{699956FB-534A-A9A0-73EF-B2E0B510393F}"/>
                </a:ext>
              </a:extLst>
            </p:cNvPr>
            <p:cNvCxnSpPr>
              <a:cxnSpLocks noChangeShapeType="1"/>
              <a:stCxn id="19" idx="3"/>
              <a:endCxn id="16" idx="0"/>
            </p:cNvCxnSpPr>
            <p:nvPr/>
          </p:nvCxnSpPr>
          <p:spPr bwMode="auto">
            <a:xfrm>
              <a:off x="2127717" y="4402756"/>
              <a:ext cx="72483" cy="984917"/>
            </a:xfrm>
            <a:prstGeom prst="bentConnector2">
              <a:avLst/>
            </a:prstGeom>
            <a:noFill/>
            <a:ln w="9525">
              <a:solidFill>
                <a:schemeClr val="tx1"/>
              </a:solidFill>
              <a:miter lim="800000"/>
              <a:headEnd/>
              <a:tailEnd type="triangle" w="med" len="med"/>
            </a:ln>
            <a:effectLst/>
          </p:spPr>
        </p:cxnSp>
        <p:cxnSp>
          <p:nvCxnSpPr>
            <p:cNvPr id="23" name="AutoShape 19">
              <a:extLst>
                <a:ext uri="{FF2B5EF4-FFF2-40B4-BE49-F238E27FC236}">
                  <a16:creationId xmlns:a16="http://schemas.microsoft.com/office/drawing/2014/main" xmlns="" id="{44D1B47D-C20F-6B87-B977-4E13ED973A6C}"/>
                </a:ext>
              </a:extLst>
            </p:cNvPr>
            <p:cNvCxnSpPr>
              <a:cxnSpLocks noChangeShapeType="1"/>
              <a:stCxn id="20" idx="1"/>
              <a:endCxn id="17" idx="0"/>
            </p:cNvCxnSpPr>
            <p:nvPr/>
          </p:nvCxnSpPr>
          <p:spPr bwMode="auto">
            <a:xfrm rot="10800000" flipV="1">
              <a:off x="7078522" y="4707288"/>
              <a:ext cx="107421" cy="680385"/>
            </a:xfrm>
            <a:prstGeom prst="bentConnector2">
              <a:avLst/>
            </a:prstGeom>
            <a:noFill/>
            <a:ln w="9525">
              <a:solidFill>
                <a:schemeClr val="tx1"/>
              </a:solidFill>
              <a:miter lim="800000"/>
              <a:headEnd/>
              <a:tailEnd type="triangle" w="med" len="med"/>
            </a:ln>
            <a:effectLst/>
          </p:spPr>
        </p:cxnSp>
      </p:grpSp>
    </p:spTree>
    <p:extLst>
      <p:ext uri="{BB962C8B-B14F-4D97-AF65-F5344CB8AC3E}">
        <p14:creationId xmlns:p14="http://schemas.microsoft.com/office/powerpoint/2010/main" val="2998977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2B82DCE-7C47-1E8F-0DBA-FC40BC401A0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6B634DFC-5A35-B714-76DC-4C7817F63CBF}"/>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A94CF4BC-DDC5-197A-D3A1-A52A91D3D20A}"/>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F3B46C52-5B97-D053-3213-3233E0523C7A}"/>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EC0B109E-DE19-3652-7515-B472BE01F105}"/>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91A1F072-F072-D34F-BC36-A298FEA7A69B}"/>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19A10A1D-0BC9-3D27-232F-03B5C8981EC6}"/>
              </a:ext>
            </a:extLst>
          </p:cNvPr>
          <p:cNvGrpSpPr/>
          <p:nvPr/>
        </p:nvGrpSpPr>
        <p:grpSpPr>
          <a:xfrm>
            <a:off x="4211735" y="233243"/>
            <a:ext cx="10116046" cy="2253857"/>
            <a:chOff x="0" y="0"/>
            <a:chExt cx="1438895" cy="320586"/>
          </a:xfrm>
        </p:grpSpPr>
        <p:sp>
          <p:nvSpPr>
            <p:cNvPr id="9" name="Freeform 9">
              <a:extLst>
                <a:ext uri="{FF2B5EF4-FFF2-40B4-BE49-F238E27FC236}">
                  <a16:creationId xmlns:a16="http://schemas.microsoft.com/office/drawing/2014/main" xmlns="" id="{102C5789-2AE4-07A1-1D15-EA25B2664025}"/>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0" name="TextBox 10">
            <a:extLst>
              <a:ext uri="{FF2B5EF4-FFF2-40B4-BE49-F238E27FC236}">
                <a16:creationId xmlns:a16="http://schemas.microsoft.com/office/drawing/2014/main" xmlns="" id="{C002AEA5-CF22-D35A-1BB4-14EF58D6C1C0}"/>
              </a:ext>
            </a:extLst>
          </p:cNvPr>
          <p:cNvSpPr txBox="1"/>
          <p:nvPr/>
        </p:nvSpPr>
        <p:spPr>
          <a:xfrm>
            <a:off x="945354" y="4319648"/>
            <a:ext cx="12465846" cy="3693319"/>
          </a:xfrm>
          <a:prstGeom prst="rect">
            <a:avLst/>
          </a:prstGeom>
        </p:spPr>
        <p:txBody>
          <a:bodyPr wrap="square" lIns="0" tIns="0" rIns="0" bIns="0" rtlCol="0" anchor="t">
            <a:spAutoFit/>
          </a:bodyPr>
          <a:lstStyle/>
          <a:p>
            <a:r>
              <a:rPr lang="es-PE" sz="2400" dirty="0">
                <a:latin typeface="Inter" panose="020B0604020202020204" charset="0"/>
                <a:ea typeface="Inter" panose="020B0604020202020204" charset="0"/>
                <a:cs typeface="Inter" panose="020B0604020202020204" charset="0"/>
              </a:rPr>
              <a:t>La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concesión minera </a:t>
            </a:r>
            <a:r>
              <a:rPr lang="es-PE" sz="2400" dirty="0">
                <a:latin typeface="Inter" panose="020B0604020202020204" charset="0"/>
                <a:ea typeface="Inter" panose="020B0604020202020204" charset="0"/>
                <a:cs typeface="Inter" panose="020B0604020202020204" charset="0"/>
              </a:rPr>
              <a:t>proviene de un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acto administrativo</a:t>
            </a:r>
            <a:r>
              <a:rPr lang="es-PE" sz="2400" dirty="0">
                <a:latin typeface="Inter" panose="020B0604020202020204" charset="0"/>
                <a:ea typeface="Inter" panose="020B0604020202020204" charset="0"/>
                <a:cs typeface="Inter" panose="020B0604020202020204" charset="0"/>
              </a:rPr>
              <a:t>, emanado de la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autoridad competente</a:t>
            </a:r>
            <a:r>
              <a:rPr lang="es-PE" sz="2400" dirty="0">
                <a:latin typeface="Inter" panose="020B0604020202020204" charset="0"/>
                <a:ea typeface="Inter" panose="020B0604020202020204" charset="0"/>
                <a:cs typeface="Inter" panose="020B0604020202020204" charset="0"/>
              </a:rPr>
              <a:t>, que autoriza a realizar una actividad minera.</a:t>
            </a:r>
          </a:p>
          <a:p>
            <a:endParaRPr lang="es-PE" sz="2400"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El acto jurídico administrativo, es la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manifestación de voluntad de la administración</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que </a:t>
            </a:r>
            <a:r>
              <a:rPr lang="es-PE" sz="2400" u="sng" dirty="0">
                <a:latin typeface="Inter" panose="020B0604020202020204" charset="0"/>
                <a:ea typeface="Inter" panose="020B0604020202020204" charset="0"/>
                <a:cs typeface="Inter" panose="020B0604020202020204" charset="0"/>
              </a:rPr>
              <a:t>crea, extingue o modifica</a:t>
            </a:r>
            <a:r>
              <a:rPr lang="es-PE" sz="2400" dirty="0">
                <a:latin typeface="Inter" panose="020B0604020202020204" charset="0"/>
                <a:ea typeface="Inter" panose="020B0604020202020204" charset="0"/>
                <a:cs typeface="Inter" panose="020B0604020202020204" charset="0"/>
              </a:rPr>
              <a:t> derechos a favor de particulares o a favor de las empresas del Estado.</a:t>
            </a:r>
          </a:p>
          <a:p>
            <a:endParaRPr lang="es-PE" sz="2400"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Es una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declaración especial de voluntad</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de un órgano de gobierno, enmarcada dentro de requisitos formales muy particulares, que otorga determinados derechos para satisfacer un </a:t>
            </a:r>
            <a:r>
              <a:rPr lang="es-PE" sz="2400" u="sng"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interés  público</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así como </a:t>
            </a:r>
            <a:r>
              <a:rPr lang="es-PE" sz="2400" u="sng"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interés privado</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a:t>
            </a:r>
            <a:endParaRPr lang="es-PE" sz="3600" dirty="0">
              <a:solidFill>
                <a:schemeClr val="accent2">
                  <a:lumMod val="75000"/>
                </a:schemeClr>
              </a:solidFill>
              <a:latin typeface="Inter" panose="020B0604020202020204" charset="0"/>
              <a:ea typeface="Inter" panose="020B0604020202020204" charset="0"/>
              <a:cs typeface="Inter" panose="020B0604020202020204" charset="0"/>
            </a:endParaRPr>
          </a:p>
        </p:txBody>
      </p:sp>
      <p:sp>
        <p:nvSpPr>
          <p:cNvPr id="11" name="TextBox 8">
            <a:extLst>
              <a:ext uri="{FF2B5EF4-FFF2-40B4-BE49-F238E27FC236}">
                <a16:creationId xmlns:a16="http://schemas.microsoft.com/office/drawing/2014/main" xmlns="" id="{204ECCF4-A04A-5CEA-C682-A531BAEC7DE8}"/>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2.2 LA CONCESIÓN MINERA – ACTO ADMINISTRATIVO</a:t>
            </a:r>
          </a:p>
        </p:txBody>
      </p:sp>
    </p:spTree>
    <p:extLst>
      <p:ext uri="{BB962C8B-B14F-4D97-AF65-F5344CB8AC3E}">
        <p14:creationId xmlns:p14="http://schemas.microsoft.com/office/powerpoint/2010/main" val="2591842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p:cNvGrpSpPr/>
          <p:nvPr/>
        </p:nvGrpSpPr>
        <p:grpSpPr>
          <a:xfrm>
            <a:off x="4211735" y="233243"/>
            <a:ext cx="10116046" cy="2253857"/>
            <a:chOff x="0" y="0"/>
            <a:chExt cx="1438895" cy="320586"/>
          </a:xfrm>
        </p:grpSpPr>
        <p:sp>
          <p:nvSpPr>
            <p:cNvPr id="9" name="Freeform 9"/>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0" name="TextBox 10"/>
          <p:cNvSpPr txBox="1"/>
          <p:nvPr/>
        </p:nvSpPr>
        <p:spPr>
          <a:xfrm>
            <a:off x="945354" y="3958842"/>
            <a:ext cx="12542046" cy="3693319"/>
          </a:xfrm>
          <a:prstGeom prst="rect">
            <a:avLst/>
          </a:prstGeom>
        </p:spPr>
        <p:txBody>
          <a:bodyPr wrap="square" lIns="0" tIns="0" rIns="0" bIns="0" rtlCol="0" anchor="t">
            <a:spAutoFit/>
          </a:bodyPr>
          <a:lstStyle/>
          <a:p>
            <a:r>
              <a:rPr lang="es-PE" sz="2400" dirty="0">
                <a:latin typeface="Inter" panose="020B0604020202020204" charset="0"/>
                <a:ea typeface="Inter" panose="020B0604020202020204" charset="0"/>
                <a:cs typeface="Inter" panose="020B0604020202020204" charset="0"/>
              </a:rPr>
              <a:t>Es un </a:t>
            </a:r>
            <a:r>
              <a:rPr lang="es-PE" sz="2400" b="1" dirty="0">
                <a:solidFill>
                  <a:schemeClr val="accent2">
                    <a:lumMod val="75000"/>
                  </a:schemeClr>
                </a:solidFill>
                <a:latin typeface="Inter" panose="020B0604020202020204" charset="0"/>
                <a:ea typeface="Inter" panose="020B0604020202020204" charset="0"/>
                <a:cs typeface="Inter" panose="020B0604020202020204" charset="0"/>
              </a:rPr>
              <a:t>inmueble distinto </a:t>
            </a:r>
            <a:r>
              <a:rPr lang="es-PE" sz="2400" dirty="0">
                <a:latin typeface="Inter" panose="020B0604020202020204" charset="0"/>
                <a:ea typeface="Inter" panose="020B0604020202020204" charset="0"/>
                <a:cs typeface="Inter" panose="020B0604020202020204" charset="0"/>
              </a:rPr>
              <a:t>y</a:t>
            </a:r>
            <a:r>
              <a:rPr lang="es-PE" sz="2400" b="1" dirty="0">
                <a:solidFill>
                  <a:schemeClr val="accent2">
                    <a:lumMod val="75000"/>
                  </a:schemeClr>
                </a:solidFill>
                <a:latin typeface="Inter" panose="020B0604020202020204" charset="0"/>
                <a:ea typeface="Inter" panose="020B0604020202020204" charset="0"/>
                <a:cs typeface="Inter" panose="020B0604020202020204" charset="0"/>
              </a:rPr>
              <a:t> separado </a:t>
            </a:r>
            <a:r>
              <a:rPr lang="es-PE" sz="2400" dirty="0">
                <a:latin typeface="Inter" panose="020B0604020202020204" charset="0"/>
                <a:ea typeface="Inter" panose="020B0604020202020204" charset="0"/>
                <a:cs typeface="Inter" panose="020B0604020202020204" charset="0"/>
              </a:rPr>
              <a:t>del predio en donde se encuentre ubicada (art.9). </a:t>
            </a:r>
            <a:r>
              <a:rPr lang="es-PE" sz="2400" i="1" dirty="0">
                <a:solidFill>
                  <a:schemeClr val="accent2">
                    <a:lumMod val="75000"/>
                  </a:schemeClr>
                </a:solidFill>
                <a:latin typeface="Inter" panose="020B0604020202020204" charset="0"/>
                <a:ea typeface="Inter" panose="020B0604020202020204" charset="0"/>
                <a:cs typeface="Inter" panose="020B0604020202020204" charset="0"/>
              </a:rPr>
              <a:t>(distinción legal)</a:t>
            </a:r>
          </a:p>
          <a:p>
            <a:endParaRPr lang="es-PE" sz="2400" i="1" dirty="0">
              <a:solidFill>
                <a:srgbClr val="0066FF"/>
              </a:solidFill>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Las </a:t>
            </a:r>
            <a:r>
              <a:rPr lang="es-PE" sz="2400" b="1" dirty="0">
                <a:solidFill>
                  <a:schemeClr val="accent2">
                    <a:lumMod val="75000"/>
                  </a:schemeClr>
                </a:solidFill>
                <a:latin typeface="Inter" panose="020B0604020202020204" charset="0"/>
                <a:ea typeface="Inter" panose="020B0604020202020204" charset="0"/>
                <a:cs typeface="Inter" panose="020B0604020202020204" charset="0"/>
              </a:rPr>
              <a:t>partes</a:t>
            </a:r>
            <a:r>
              <a:rPr lang="es-PE" sz="2400" dirty="0">
                <a:latin typeface="Inter" panose="020B0604020202020204" charset="0"/>
                <a:ea typeface="Inter" panose="020B0604020202020204" charset="0"/>
                <a:cs typeface="Inter" panose="020B0604020202020204" charset="0"/>
              </a:rPr>
              <a:t> </a:t>
            </a:r>
            <a:r>
              <a:rPr lang="es-PE" sz="2400" b="1" dirty="0">
                <a:solidFill>
                  <a:schemeClr val="accent2">
                    <a:lumMod val="75000"/>
                  </a:schemeClr>
                </a:solidFill>
                <a:latin typeface="Inter" panose="020B0604020202020204" charset="0"/>
                <a:ea typeface="Inter" panose="020B0604020202020204" charset="0"/>
                <a:cs typeface="Inter" panose="020B0604020202020204" charset="0"/>
              </a:rPr>
              <a:t>integrantes</a:t>
            </a:r>
            <a:r>
              <a:rPr lang="es-PE" sz="2400" dirty="0">
                <a:latin typeface="Inter" panose="020B0604020202020204" charset="0"/>
                <a:ea typeface="Inter" panose="020B0604020202020204" charset="0"/>
                <a:cs typeface="Inter" panose="020B0604020202020204" charset="0"/>
              </a:rPr>
              <a:t> y </a:t>
            </a:r>
            <a:r>
              <a:rPr lang="es-PE" sz="2400" b="1" dirty="0">
                <a:solidFill>
                  <a:schemeClr val="accent2">
                    <a:lumMod val="75000"/>
                  </a:schemeClr>
                </a:solidFill>
                <a:latin typeface="Inter" panose="020B0604020202020204" charset="0"/>
                <a:ea typeface="Inter" panose="020B0604020202020204" charset="0"/>
                <a:cs typeface="Inter" panose="020B0604020202020204" charset="0"/>
              </a:rPr>
              <a:t>accesorias</a:t>
            </a:r>
            <a:r>
              <a:rPr lang="es-PE" sz="2400" dirty="0">
                <a:latin typeface="Inter" panose="020B0604020202020204" charset="0"/>
                <a:ea typeface="Inter" panose="020B0604020202020204" charset="0"/>
                <a:cs typeface="Inter" panose="020B0604020202020204" charset="0"/>
              </a:rPr>
              <a:t> de la concesión siguen la condición de inmuebles, aunque estén fuera de la concesión.</a:t>
            </a:r>
          </a:p>
          <a:p>
            <a:endParaRPr lang="es-PE" sz="2400"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El concesionario </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no es propietario del suelo ni del subsuelo</a:t>
            </a:r>
            <a:r>
              <a:rPr lang="es-PE" sz="2400" dirty="0">
                <a:latin typeface="Inter" panose="020B0604020202020204" charset="0"/>
                <a:ea typeface="Inter" panose="020B0604020202020204" charset="0"/>
                <a:cs typeface="Inter" panose="020B0604020202020204" charset="0"/>
              </a:rPr>
              <a:t>, pero es propietario de los bienes, equipos, maquinarias, construcciones, etc.</a:t>
            </a:r>
          </a:p>
          <a:p>
            <a:endParaRPr lang="es-PE" sz="2400"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La nueva concesión adquiere, sin costo alguno las labores mineras ejecutadas.</a:t>
            </a:r>
          </a:p>
        </p:txBody>
      </p:sp>
      <p:sp>
        <p:nvSpPr>
          <p:cNvPr id="11" name="TextBox 8">
            <a:extLst>
              <a:ext uri="{FF2B5EF4-FFF2-40B4-BE49-F238E27FC236}">
                <a16:creationId xmlns:a16="http://schemas.microsoft.com/office/drawing/2014/main" xmlns="" id="{9336A200-8903-DB1C-3A1D-470B6F53BAB6}"/>
              </a:ext>
            </a:extLst>
          </p:cNvPr>
          <p:cNvSpPr txBox="1"/>
          <p:nvPr/>
        </p:nvSpPr>
        <p:spPr>
          <a:xfrm>
            <a:off x="945354" y="2723963"/>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2.3 LA CONCESIÓN MINERA – DERECHO REAL</a:t>
            </a:r>
          </a:p>
        </p:txBody>
      </p:sp>
    </p:spTree>
    <p:extLst>
      <p:ext uri="{BB962C8B-B14F-4D97-AF65-F5344CB8AC3E}">
        <p14:creationId xmlns:p14="http://schemas.microsoft.com/office/powerpoint/2010/main" val="1695385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p:cNvGrpSpPr/>
          <p:nvPr/>
        </p:nvGrpSpPr>
        <p:grpSpPr>
          <a:xfrm>
            <a:off x="4211735" y="233243"/>
            <a:ext cx="10116046" cy="2253857"/>
            <a:chOff x="0" y="0"/>
            <a:chExt cx="1438895" cy="320586"/>
          </a:xfrm>
        </p:grpSpPr>
        <p:sp>
          <p:nvSpPr>
            <p:cNvPr id="9" name="Freeform 9"/>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0" name="TextBox 10"/>
          <p:cNvSpPr txBox="1"/>
          <p:nvPr/>
        </p:nvSpPr>
        <p:spPr>
          <a:xfrm>
            <a:off x="2047099" y="5016336"/>
            <a:ext cx="5828826" cy="406265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Un objeto tridimensional (Largo – Ancho -Profundidad)</a:t>
            </a:r>
          </a:p>
          <a:p>
            <a:pPr marL="342900" indent="-342900">
              <a:buFont typeface="Arial" panose="020B0604020202020204" pitchFamily="34" charset="0"/>
              <a:buChar char="•"/>
            </a:pPr>
            <a:endParaRPr lang="es-PE" sz="2400" dirty="0">
              <a:latin typeface="Inter" panose="020B0604020202020204" charset="0"/>
              <a:ea typeface="Inter" panose="020B0604020202020204" charset="0"/>
              <a:cs typeface="Inter" panose="020B0604020202020204" charset="0"/>
            </a:endParaRPr>
          </a:p>
          <a:p>
            <a:pPr marL="342900" indent="-3429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Limitados por planos verticales correspondientes a los lados del un cuadrado o rectángulo o poligonal cerrada, cuyos vértices están referidos a coordenadas UTM (Universal Transversal Mercator) Datum WGS84 </a:t>
            </a:r>
            <a:r>
              <a:rPr lang="es-PE" sz="2400" b="1" dirty="0">
                <a:solidFill>
                  <a:srgbClr val="F29000"/>
                </a:solidFill>
                <a:latin typeface="Inter" panose="020B0604020202020204" charset="0"/>
                <a:ea typeface="Inter" panose="020B0604020202020204" charset="0"/>
                <a:cs typeface="Inter" panose="020B0604020202020204" charset="0"/>
              </a:rPr>
              <a:t>(</a:t>
            </a:r>
            <a:r>
              <a:rPr lang="es-PE" sz="2400" b="1" i="1" dirty="0">
                <a:solidFill>
                  <a:srgbClr val="F29000"/>
                </a:solidFill>
                <a:effectLst/>
                <a:highlight>
                  <a:srgbClr val="FFFFFF"/>
                </a:highlight>
                <a:latin typeface="Inter" panose="020B0604020202020204" charset="0"/>
                <a:ea typeface="Inter" panose="020B0604020202020204" charset="0"/>
                <a:cs typeface="Inter" panose="020B0604020202020204" charset="0"/>
              </a:rPr>
              <a:t>World Geodetic System 1984</a:t>
            </a:r>
            <a:endParaRPr lang="es-PE" sz="2400" b="1" dirty="0">
              <a:solidFill>
                <a:srgbClr val="F29000"/>
              </a:solidFill>
              <a:latin typeface="Inter" panose="020B0604020202020204" charset="0"/>
              <a:ea typeface="Inter" panose="020B0604020202020204" charset="0"/>
              <a:cs typeface="Inter" panose="020B0604020202020204" charset="0"/>
            </a:endParaRPr>
          </a:p>
        </p:txBody>
      </p:sp>
      <p:sp>
        <p:nvSpPr>
          <p:cNvPr id="11" name="TextBox 8">
            <a:extLst>
              <a:ext uri="{FF2B5EF4-FFF2-40B4-BE49-F238E27FC236}">
                <a16:creationId xmlns:a16="http://schemas.microsoft.com/office/drawing/2014/main" xmlns="" id="{EA602348-2DEA-2E58-4B85-998F29AF38FE}"/>
              </a:ext>
            </a:extLst>
          </p:cNvPr>
          <p:cNvSpPr txBox="1"/>
          <p:nvPr/>
        </p:nvSpPr>
        <p:spPr>
          <a:xfrm>
            <a:off x="876774" y="2933700"/>
            <a:ext cx="10800772" cy="1231106"/>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2.4 LA CONCESIÓN MINERA – SÓLIDO DE PROFUNDIDAD INDEFINIDO </a:t>
            </a:r>
          </a:p>
        </p:txBody>
      </p:sp>
      <p:grpSp>
        <p:nvGrpSpPr>
          <p:cNvPr id="6" name="26 Grupo">
            <a:extLst>
              <a:ext uri="{FF2B5EF4-FFF2-40B4-BE49-F238E27FC236}">
                <a16:creationId xmlns:a16="http://schemas.microsoft.com/office/drawing/2014/main" xmlns="" id="{2B479683-745D-FBE5-494E-F383F8D5F460}"/>
              </a:ext>
            </a:extLst>
          </p:cNvPr>
          <p:cNvGrpSpPr/>
          <p:nvPr/>
        </p:nvGrpSpPr>
        <p:grpSpPr>
          <a:xfrm>
            <a:off x="9153513" y="3758229"/>
            <a:ext cx="5174268" cy="6064144"/>
            <a:chOff x="5715000" y="1905000"/>
            <a:chExt cx="3124200" cy="4038600"/>
          </a:xfrm>
        </p:grpSpPr>
        <p:sp>
          <p:nvSpPr>
            <p:cNvPr id="12" name="Line 11">
              <a:extLst>
                <a:ext uri="{FF2B5EF4-FFF2-40B4-BE49-F238E27FC236}">
                  <a16:creationId xmlns:a16="http://schemas.microsoft.com/office/drawing/2014/main" xmlns="" id="{FA86BBD6-A735-792F-B480-3251CC68C251}"/>
                </a:ext>
              </a:extLst>
            </p:cNvPr>
            <p:cNvSpPr>
              <a:spLocks noChangeShapeType="1"/>
            </p:cNvSpPr>
            <p:nvPr/>
          </p:nvSpPr>
          <p:spPr bwMode="auto">
            <a:xfrm flipV="1">
              <a:off x="6172200" y="2743200"/>
              <a:ext cx="1219200" cy="228600"/>
            </a:xfrm>
            <a:prstGeom prst="line">
              <a:avLst/>
            </a:prstGeom>
            <a:noFill/>
            <a:ln w="38100">
              <a:solidFill>
                <a:schemeClr val="tx1"/>
              </a:solidFill>
              <a:miter lim="800000"/>
              <a:headEnd/>
              <a:tailEnd/>
            </a:ln>
            <a:effectLst/>
          </p:spPr>
          <p:txBody>
            <a:bodyPr wrap="none"/>
            <a:lstStyle/>
            <a:p>
              <a:endParaRPr lang="es-MX" dirty="0"/>
            </a:p>
          </p:txBody>
        </p:sp>
        <p:sp>
          <p:nvSpPr>
            <p:cNvPr id="13" name="Line 12">
              <a:extLst>
                <a:ext uri="{FF2B5EF4-FFF2-40B4-BE49-F238E27FC236}">
                  <a16:creationId xmlns:a16="http://schemas.microsoft.com/office/drawing/2014/main" xmlns="" id="{38C42AE1-D637-926E-1B40-9EBA1AF125C7}"/>
                </a:ext>
              </a:extLst>
            </p:cNvPr>
            <p:cNvSpPr>
              <a:spLocks noChangeShapeType="1"/>
            </p:cNvSpPr>
            <p:nvPr/>
          </p:nvSpPr>
          <p:spPr bwMode="auto">
            <a:xfrm>
              <a:off x="6172200" y="2971800"/>
              <a:ext cx="1447800" cy="152400"/>
            </a:xfrm>
            <a:prstGeom prst="line">
              <a:avLst/>
            </a:prstGeom>
            <a:noFill/>
            <a:ln w="38100">
              <a:solidFill>
                <a:schemeClr val="tx1"/>
              </a:solidFill>
              <a:miter lim="800000"/>
              <a:headEnd/>
              <a:tailEnd/>
            </a:ln>
            <a:effectLst/>
          </p:spPr>
          <p:txBody>
            <a:bodyPr wrap="none"/>
            <a:lstStyle/>
            <a:p>
              <a:endParaRPr lang="es-MX" dirty="0"/>
            </a:p>
          </p:txBody>
        </p:sp>
        <p:sp>
          <p:nvSpPr>
            <p:cNvPr id="14" name="Line 13">
              <a:extLst>
                <a:ext uri="{FF2B5EF4-FFF2-40B4-BE49-F238E27FC236}">
                  <a16:creationId xmlns:a16="http://schemas.microsoft.com/office/drawing/2014/main" xmlns="" id="{7BB2AA72-4CEF-6552-61A0-8D2CF71C8993}"/>
                </a:ext>
              </a:extLst>
            </p:cNvPr>
            <p:cNvSpPr>
              <a:spLocks noChangeShapeType="1"/>
            </p:cNvSpPr>
            <p:nvPr/>
          </p:nvSpPr>
          <p:spPr bwMode="auto">
            <a:xfrm>
              <a:off x="7391400" y="2743200"/>
              <a:ext cx="1447800" cy="152400"/>
            </a:xfrm>
            <a:prstGeom prst="line">
              <a:avLst/>
            </a:prstGeom>
            <a:noFill/>
            <a:ln w="38100">
              <a:solidFill>
                <a:schemeClr val="tx1"/>
              </a:solidFill>
              <a:miter lim="800000"/>
              <a:headEnd/>
              <a:tailEnd/>
            </a:ln>
            <a:effectLst/>
          </p:spPr>
          <p:txBody>
            <a:bodyPr wrap="none"/>
            <a:lstStyle/>
            <a:p>
              <a:endParaRPr lang="es-MX" dirty="0"/>
            </a:p>
          </p:txBody>
        </p:sp>
        <p:sp>
          <p:nvSpPr>
            <p:cNvPr id="15" name="Line 14">
              <a:extLst>
                <a:ext uri="{FF2B5EF4-FFF2-40B4-BE49-F238E27FC236}">
                  <a16:creationId xmlns:a16="http://schemas.microsoft.com/office/drawing/2014/main" xmlns="" id="{5BD8483F-7FC4-C4BE-6990-5F006863D9D8}"/>
                </a:ext>
              </a:extLst>
            </p:cNvPr>
            <p:cNvSpPr>
              <a:spLocks noChangeShapeType="1"/>
            </p:cNvSpPr>
            <p:nvPr/>
          </p:nvSpPr>
          <p:spPr bwMode="auto">
            <a:xfrm flipV="1">
              <a:off x="7620000" y="2895600"/>
              <a:ext cx="1219200" cy="228600"/>
            </a:xfrm>
            <a:prstGeom prst="line">
              <a:avLst/>
            </a:prstGeom>
            <a:noFill/>
            <a:ln w="38100">
              <a:solidFill>
                <a:schemeClr val="tx1"/>
              </a:solidFill>
              <a:miter lim="800000"/>
              <a:headEnd/>
              <a:tailEnd/>
            </a:ln>
            <a:effectLst/>
          </p:spPr>
          <p:txBody>
            <a:bodyPr wrap="none"/>
            <a:lstStyle/>
            <a:p>
              <a:endParaRPr lang="es-MX" dirty="0"/>
            </a:p>
          </p:txBody>
        </p:sp>
        <p:sp>
          <p:nvSpPr>
            <p:cNvPr id="16" name="Line 15">
              <a:extLst>
                <a:ext uri="{FF2B5EF4-FFF2-40B4-BE49-F238E27FC236}">
                  <a16:creationId xmlns:a16="http://schemas.microsoft.com/office/drawing/2014/main" xmlns="" id="{0D04B8AB-34D4-FB79-CB31-BA1F0F20A954}"/>
                </a:ext>
              </a:extLst>
            </p:cNvPr>
            <p:cNvSpPr>
              <a:spLocks noChangeShapeType="1"/>
            </p:cNvSpPr>
            <p:nvPr/>
          </p:nvSpPr>
          <p:spPr bwMode="auto">
            <a:xfrm>
              <a:off x="6172200" y="2971800"/>
              <a:ext cx="1295400" cy="2971800"/>
            </a:xfrm>
            <a:prstGeom prst="line">
              <a:avLst/>
            </a:prstGeom>
            <a:noFill/>
            <a:ln w="38100">
              <a:solidFill>
                <a:schemeClr val="tx1"/>
              </a:solidFill>
              <a:miter lim="800000"/>
              <a:headEnd/>
              <a:tailEnd/>
            </a:ln>
            <a:effectLst/>
          </p:spPr>
          <p:txBody>
            <a:bodyPr wrap="none"/>
            <a:lstStyle/>
            <a:p>
              <a:endParaRPr lang="es-MX" dirty="0"/>
            </a:p>
          </p:txBody>
        </p:sp>
        <p:sp>
          <p:nvSpPr>
            <p:cNvPr id="17" name="Line 16">
              <a:extLst>
                <a:ext uri="{FF2B5EF4-FFF2-40B4-BE49-F238E27FC236}">
                  <a16:creationId xmlns:a16="http://schemas.microsoft.com/office/drawing/2014/main" xmlns="" id="{70BE8B51-D628-9556-40EE-C8D1A98C7D46}"/>
                </a:ext>
              </a:extLst>
            </p:cNvPr>
            <p:cNvSpPr>
              <a:spLocks noChangeShapeType="1"/>
            </p:cNvSpPr>
            <p:nvPr/>
          </p:nvSpPr>
          <p:spPr bwMode="auto">
            <a:xfrm flipH="1">
              <a:off x="7467600" y="3124200"/>
              <a:ext cx="152400" cy="2819400"/>
            </a:xfrm>
            <a:prstGeom prst="line">
              <a:avLst/>
            </a:prstGeom>
            <a:noFill/>
            <a:ln w="38100">
              <a:solidFill>
                <a:schemeClr val="tx1"/>
              </a:solidFill>
              <a:miter lim="800000"/>
              <a:headEnd/>
              <a:tailEnd/>
            </a:ln>
            <a:effectLst/>
          </p:spPr>
          <p:txBody>
            <a:bodyPr wrap="none"/>
            <a:lstStyle/>
            <a:p>
              <a:endParaRPr lang="es-MX" dirty="0"/>
            </a:p>
          </p:txBody>
        </p:sp>
        <p:sp>
          <p:nvSpPr>
            <p:cNvPr id="18" name="Line 17">
              <a:extLst>
                <a:ext uri="{FF2B5EF4-FFF2-40B4-BE49-F238E27FC236}">
                  <a16:creationId xmlns:a16="http://schemas.microsoft.com/office/drawing/2014/main" xmlns="" id="{CFE9C943-C468-0F87-DBD1-B7F308412942}"/>
                </a:ext>
              </a:extLst>
            </p:cNvPr>
            <p:cNvSpPr>
              <a:spLocks noChangeShapeType="1"/>
            </p:cNvSpPr>
            <p:nvPr/>
          </p:nvSpPr>
          <p:spPr bwMode="auto">
            <a:xfrm flipH="1">
              <a:off x="7467600" y="2895600"/>
              <a:ext cx="1371600" cy="3048000"/>
            </a:xfrm>
            <a:prstGeom prst="line">
              <a:avLst/>
            </a:prstGeom>
            <a:noFill/>
            <a:ln w="38100">
              <a:solidFill>
                <a:schemeClr val="tx1"/>
              </a:solidFill>
              <a:miter lim="800000"/>
              <a:headEnd/>
              <a:tailEnd/>
            </a:ln>
            <a:effectLst/>
          </p:spPr>
          <p:txBody>
            <a:bodyPr wrap="none"/>
            <a:lstStyle/>
            <a:p>
              <a:endParaRPr lang="es-MX" dirty="0"/>
            </a:p>
          </p:txBody>
        </p:sp>
        <p:sp>
          <p:nvSpPr>
            <p:cNvPr id="19" name="Line 19">
              <a:extLst>
                <a:ext uri="{FF2B5EF4-FFF2-40B4-BE49-F238E27FC236}">
                  <a16:creationId xmlns:a16="http://schemas.microsoft.com/office/drawing/2014/main" xmlns="" id="{9B97F10F-4DFC-0D06-FF3E-1ECE0F5964B5}"/>
                </a:ext>
              </a:extLst>
            </p:cNvPr>
            <p:cNvSpPr>
              <a:spLocks noChangeShapeType="1"/>
            </p:cNvSpPr>
            <p:nvPr/>
          </p:nvSpPr>
          <p:spPr bwMode="auto">
            <a:xfrm>
              <a:off x="5715000" y="2971800"/>
              <a:ext cx="381000" cy="0"/>
            </a:xfrm>
            <a:prstGeom prst="line">
              <a:avLst/>
            </a:prstGeom>
            <a:noFill/>
            <a:ln w="9525">
              <a:solidFill>
                <a:srgbClr val="FF0000"/>
              </a:solidFill>
              <a:miter lim="800000"/>
              <a:headEnd/>
              <a:tailEnd/>
            </a:ln>
            <a:effectLst/>
          </p:spPr>
          <p:txBody>
            <a:bodyPr wrap="none"/>
            <a:lstStyle/>
            <a:p>
              <a:endParaRPr lang="es-MX" dirty="0"/>
            </a:p>
          </p:txBody>
        </p:sp>
        <p:sp>
          <p:nvSpPr>
            <p:cNvPr id="20" name="Line 20">
              <a:extLst>
                <a:ext uri="{FF2B5EF4-FFF2-40B4-BE49-F238E27FC236}">
                  <a16:creationId xmlns:a16="http://schemas.microsoft.com/office/drawing/2014/main" xmlns="" id="{4459E0DA-6E64-40AF-BA94-5AAF71FFB102}"/>
                </a:ext>
              </a:extLst>
            </p:cNvPr>
            <p:cNvSpPr>
              <a:spLocks noChangeShapeType="1"/>
            </p:cNvSpPr>
            <p:nvPr/>
          </p:nvSpPr>
          <p:spPr bwMode="auto">
            <a:xfrm>
              <a:off x="5715000" y="5943600"/>
              <a:ext cx="1676400" cy="0"/>
            </a:xfrm>
            <a:prstGeom prst="line">
              <a:avLst/>
            </a:prstGeom>
            <a:noFill/>
            <a:ln w="9525">
              <a:solidFill>
                <a:srgbClr val="FF0000"/>
              </a:solidFill>
              <a:miter lim="800000"/>
              <a:headEnd/>
              <a:tailEnd/>
            </a:ln>
            <a:effectLst/>
          </p:spPr>
          <p:txBody>
            <a:bodyPr wrap="none"/>
            <a:lstStyle/>
            <a:p>
              <a:endParaRPr lang="es-MX" dirty="0"/>
            </a:p>
          </p:txBody>
        </p:sp>
        <p:sp>
          <p:nvSpPr>
            <p:cNvPr id="21" name="Line 21">
              <a:extLst>
                <a:ext uri="{FF2B5EF4-FFF2-40B4-BE49-F238E27FC236}">
                  <a16:creationId xmlns:a16="http://schemas.microsoft.com/office/drawing/2014/main" xmlns="" id="{719078D4-4BC9-D73A-BC40-F8C863288D38}"/>
                </a:ext>
              </a:extLst>
            </p:cNvPr>
            <p:cNvSpPr>
              <a:spLocks noChangeShapeType="1"/>
            </p:cNvSpPr>
            <p:nvPr/>
          </p:nvSpPr>
          <p:spPr bwMode="auto">
            <a:xfrm>
              <a:off x="5943600" y="2971800"/>
              <a:ext cx="0" cy="2971800"/>
            </a:xfrm>
            <a:prstGeom prst="line">
              <a:avLst/>
            </a:prstGeom>
            <a:noFill/>
            <a:ln w="9525">
              <a:solidFill>
                <a:schemeClr val="folHlink"/>
              </a:solidFill>
              <a:miter lim="800000"/>
              <a:headEnd type="arrow" w="med" len="med"/>
              <a:tailEnd type="arrow" w="med" len="med"/>
            </a:ln>
            <a:effectLst/>
          </p:spPr>
          <p:txBody>
            <a:bodyPr wrap="none"/>
            <a:lstStyle/>
            <a:p>
              <a:endParaRPr lang="es-MX" dirty="0"/>
            </a:p>
          </p:txBody>
        </p:sp>
        <p:sp>
          <p:nvSpPr>
            <p:cNvPr id="22" name="Text Box 22">
              <a:extLst>
                <a:ext uri="{FF2B5EF4-FFF2-40B4-BE49-F238E27FC236}">
                  <a16:creationId xmlns:a16="http://schemas.microsoft.com/office/drawing/2014/main" xmlns="" id="{C569BF5F-70B6-274E-F0D9-9A1B123EABA6}"/>
                </a:ext>
              </a:extLst>
            </p:cNvPr>
            <p:cNvSpPr txBox="1">
              <a:spLocks noChangeArrowheads="1"/>
            </p:cNvSpPr>
            <p:nvPr/>
          </p:nvSpPr>
          <p:spPr bwMode="auto">
            <a:xfrm>
              <a:off x="6553200" y="1905000"/>
              <a:ext cx="1676400" cy="307460"/>
            </a:xfrm>
            <a:prstGeom prst="rect">
              <a:avLst/>
            </a:prstGeom>
            <a:noFill/>
            <a:ln w="9525">
              <a:noFill/>
              <a:miter lim="800000"/>
              <a:headEnd/>
              <a:tailEnd/>
            </a:ln>
            <a:effectLst/>
          </p:spPr>
          <p:txBody>
            <a:bodyPr>
              <a:spAutoFit/>
            </a:bodyPr>
            <a:lstStyle/>
            <a:p>
              <a:pPr>
                <a:spcBef>
                  <a:spcPct val="50000"/>
                </a:spcBef>
              </a:pPr>
              <a:r>
                <a:rPr lang="es-ES" sz="2400" b="1" dirty="0"/>
                <a:t>Cara superior</a:t>
              </a:r>
            </a:p>
          </p:txBody>
        </p:sp>
        <p:sp>
          <p:nvSpPr>
            <p:cNvPr id="23" name="Line 25">
              <a:extLst>
                <a:ext uri="{FF2B5EF4-FFF2-40B4-BE49-F238E27FC236}">
                  <a16:creationId xmlns:a16="http://schemas.microsoft.com/office/drawing/2014/main" xmlns="" id="{0586A09A-E766-5CCD-A8A4-62D3AC7A6B23}"/>
                </a:ext>
              </a:extLst>
            </p:cNvPr>
            <p:cNvSpPr>
              <a:spLocks noChangeShapeType="1"/>
            </p:cNvSpPr>
            <p:nvPr/>
          </p:nvSpPr>
          <p:spPr bwMode="auto">
            <a:xfrm>
              <a:off x="6172200" y="2590800"/>
              <a:ext cx="0" cy="381000"/>
            </a:xfrm>
            <a:prstGeom prst="line">
              <a:avLst/>
            </a:prstGeom>
            <a:noFill/>
            <a:ln w="9525">
              <a:solidFill>
                <a:srgbClr val="FF0000"/>
              </a:solidFill>
              <a:miter lim="800000"/>
              <a:headEnd/>
              <a:tailEnd/>
            </a:ln>
            <a:effectLst/>
          </p:spPr>
          <p:txBody>
            <a:bodyPr wrap="none"/>
            <a:lstStyle/>
            <a:p>
              <a:endParaRPr lang="es-MX" dirty="0"/>
            </a:p>
          </p:txBody>
        </p:sp>
        <p:sp>
          <p:nvSpPr>
            <p:cNvPr id="24" name="Line 26">
              <a:extLst>
                <a:ext uri="{FF2B5EF4-FFF2-40B4-BE49-F238E27FC236}">
                  <a16:creationId xmlns:a16="http://schemas.microsoft.com/office/drawing/2014/main" xmlns="" id="{E5F582ED-6ED9-6B28-04EC-F7B2E9075341}"/>
                </a:ext>
              </a:extLst>
            </p:cNvPr>
            <p:cNvSpPr>
              <a:spLocks noChangeShapeType="1"/>
            </p:cNvSpPr>
            <p:nvPr/>
          </p:nvSpPr>
          <p:spPr bwMode="auto">
            <a:xfrm>
              <a:off x="7391400" y="2362200"/>
              <a:ext cx="0" cy="381000"/>
            </a:xfrm>
            <a:prstGeom prst="line">
              <a:avLst/>
            </a:prstGeom>
            <a:noFill/>
            <a:ln w="9525">
              <a:solidFill>
                <a:srgbClr val="FF0000"/>
              </a:solidFill>
              <a:miter lim="800000"/>
              <a:headEnd/>
              <a:tailEnd/>
            </a:ln>
            <a:effectLst/>
          </p:spPr>
          <p:txBody>
            <a:bodyPr wrap="none"/>
            <a:lstStyle/>
            <a:p>
              <a:endParaRPr lang="es-MX" dirty="0"/>
            </a:p>
          </p:txBody>
        </p:sp>
        <p:sp>
          <p:nvSpPr>
            <p:cNvPr id="25" name="Line 27">
              <a:extLst>
                <a:ext uri="{FF2B5EF4-FFF2-40B4-BE49-F238E27FC236}">
                  <a16:creationId xmlns:a16="http://schemas.microsoft.com/office/drawing/2014/main" xmlns="" id="{C43704FB-6ECE-8B17-F67B-E11C67433371}"/>
                </a:ext>
              </a:extLst>
            </p:cNvPr>
            <p:cNvSpPr>
              <a:spLocks noChangeShapeType="1"/>
            </p:cNvSpPr>
            <p:nvPr/>
          </p:nvSpPr>
          <p:spPr bwMode="auto">
            <a:xfrm>
              <a:off x="8839200" y="2514600"/>
              <a:ext cx="0" cy="381000"/>
            </a:xfrm>
            <a:prstGeom prst="line">
              <a:avLst/>
            </a:prstGeom>
            <a:noFill/>
            <a:ln w="9525">
              <a:solidFill>
                <a:srgbClr val="FF0000"/>
              </a:solidFill>
              <a:miter lim="800000"/>
              <a:headEnd/>
              <a:tailEnd/>
            </a:ln>
            <a:effectLst/>
          </p:spPr>
          <p:txBody>
            <a:bodyPr wrap="none"/>
            <a:lstStyle/>
            <a:p>
              <a:endParaRPr lang="es-MX" dirty="0"/>
            </a:p>
          </p:txBody>
        </p:sp>
        <p:sp>
          <p:nvSpPr>
            <p:cNvPr id="26" name="Line 28">
              <a:extLst>
                <a:ext uri="{FF2B5EF4-FFF2-40B4-BE49-F238E27FC236}">
                  <a16:creationId xmlns:a16="http://schemas.microsoft.com/office/drawing/2014/main" xmlns="" id="{54A239D7-E96B-0241-F42F-90C74160AD16}"/>
                </a:ext>
              </a:extLst>
            </p:cNvPr>
            <p:cNvSpPr>
              <a:spLocks noChangeShapeType="1"/>
            </p:cNvSpPr>
            <p:nvPr/>
          </p:nvSpPr>
          <p:spPr bwMode="auto">
            <a:xfrm flipV="1">
              <a:off x="6172200" y="2514600"/>
              <a:ext cx="1219200" cy="228600"/>
            </a:xfrm>
            <a:prstGeom prst="line">
              <a:avLst/>
            </a:prstGeom>
            <a:noFill/>
            <a:ln w="9525">
              <a:solidFill>
                <a:schemeClr val="folHlink"/>
              </a:solidFill>
              <a:miter lim="800000"/>
              <a:headEnd type="arrow" w="med" len="med"/>
              <a:tailEnd type="arrow" w="med" len="med"/>
            </a:ln>
            <a:effectLst/>
          </p:spPr>
          <p:txBody>
            <a:bodyPr wrap="none"/>
            <a:lstStyle/>
            <a:p>
              <a:endParaRPr lang="es-MX" dirty="0"/>
            </a:p>
          </p:txBody>
        </p:sp>
        <p:sp>
          <p:nvSpPr>
            <p:cNvPr id="27" name="Line 29">
              <a:extLst>
                <a:ext uri="{FF2B5EF4-FFF2-40B4-BE49-F238E27FC236}">
                  <a16:creationId xmlns:a16="http://schemas.microsoft.com/office/drawing/2014/main" xmlns="" id="{131A155E-F8AF-73A4-E8E4-966E6A406AD6}"/>
                </a:ext>
              </a:extLst>
            </p:cNvPr>
            <p:cNvSpPr>
              <a:spLocks noChangeShapeType="1"/>
            </p:cNvSpPr>
            <p:nvPr/>
          </p:nvSpPr>
          <p:spPr bwMode="auto">
            <a:xfrm>
              <a:off x="7391400" y="2514600"/>
              <a:ext cx="1447800" cy="152400"/>
            </a:xfrm>
            <a:prstGeom prst="line">
              <a:avLst/>
            </a:prstGeom>
            <a:noFill/>
            <a:ln w="9525">
              <a:solidFill>
                <a:schemeClr val="folHlink"/>
              </a:solidFill>
              <a:miter lim="800000"/>
              <a:headEnd type="arrow" w="med" len="med"/>
              <a:tailEnd type="arrow" w="med" len="med"/>
            </a:ln>
            <a:effectLst/>
          </p:spPr>
          <p:txBody>
            <a:bodyPr wrap="none"/>
            <a:lstStyle/>
            <a:p>
              <a:endParaRPr lang="es-MX" dirty="0"/>
            </a:p>
          </p:txBody>
        </p:sp>
        <p:sp>
          <p:nvSpPr>
            <p:cNvPr id="28" name="Text Box 31">
              <a:extLst>
                <a:ext uri="{FF2B5EF4-FFF2-40B4-BE49-F238E27FC236}">
                  <a16:creationId xmlns:a16="http://schemas.microsoft.com/office/drawing/2014/main" xmlns="" id="{ABD0510D-C3BC-1616-095C-64886A0E0300}"/>
                </a:ext>
              </a:extLst>
            </p:cNvPr>
            <p:cNvSpPr txBox="1">
              <a:spLocks noChangeArrowheads="1"/>
            </p:cNvSpPr>
            <p:nvPr/>
          </p:nvSpPr>
          <p:spPr bwMode="auto">
            <a:xfrm>
              <a:off x="6629400" y="2438400"/>
              <a:ext cx="304800" cy="304800"/>
            </a:xfrm>
            <a:prstGeom prst="rect">
              <a:avLst/>
            </a:prstGeom>
            <a:solidFill>
              <a:schemeClr val="bg1"/>
            </a:solidFill>
            <a:ln w="9525">
              <a:noFill/>
              <a:miter lim="800000"/>
              <a:headEnd/>
              <a:tailEnd/>
            </a:ln>
            <a:effectLst/>
          </p:spPr>
          <p:txBody>
            <a:bodyPr>
              <a:spAutoFit/>
            </a:bodyPr>
            <a:lstStyle/>
            <a:p>
              <a:pPr>
                <a:spcBef>
                  <a:spcPct val="50000"/>
                </a:spcBef>
              </a:pPr>
              <a:r>
                <a:rPr lang="es-ES" sz="1400" b="1" dirty="0"/>
                <a:t>L</a:t>
              </a:r>
            </a:p>
          </p:txBody>
        </p:sp>
        <p:sp>
          <p:nvSpPr>
            <p:cNvPr id="29" name="Text Box 32">
              <a:extLst>
                <a:ext uri="{FF2B5EF4-FFF2-40B4-BE49-F238E27FC236}">
                  <a16:creationId xmlns:a16="http://schemas.microsoft.com/office/drawing/2014/main" xmlns="" id="{051BD4C9-FAD5-9D7B-0562-04670C1F2625}"/>
                </a:ext>
              </a:extLst>
            </p:cNvPr>
            <p:cNvSpPr txBox="1">
              <a:spLocks noChangeArrowheads="1"/>
            </p:cNvSpPr>
            <p:nvPr/>
          </p:nvSpPr>
          <p:spPr bwMode="auto">
            <a:xfrm>
              <a:off x="7924800" y="2438400"/>
              <a:ext cx="304800" cy="304800"/>
            </a:xfrm>
            <a:prstGeom prst="rect">
              <a:avLst/>
            </a:prstGeom>
            <a:solidFill>
              <a:schemeClr val="bg1"/>
            </a:solidFill>
            <a:ln w="9525">
              <a:noFill/>
              <a:miter lim="800000"/>
              <a:headEnd/>
              <a:tailEnd/>
            </a:ln>
            <a:effectLst/>
          </p:spPr>
          <p:txBody>
            <a:bodyPr>
              <a:spAutoFit/>
            </a:bodyPr>
            <a:lstStyle/>
            <a:p>
              <a:pPr>
                <a:spcBef>
                  <a:spcPct val="50000"/>
                </a:spcBef>
              </a:pPr>
              <a:r>
                <a:rPr lang="es-ES" sz="1400" b="1" dirty="0"/>
                <a:t>A</a:t>
              </a:r>
            </a:p>
          </p:txBody>
        </p:sp>
        <p:sp>
          <p:nvSpPr>
            <p:cNvPr id="30" name="Text Box 33">
              <a:extLst>
                <a:ext uri="{FF2B5EF4-FFF2-40B4-BE49-F238E27FC236}">
                  <a16:creationId xmlns:a16="http://schemas.microsoft.com/office/drawing/2014/main" xmlns="" id="{07EB68AC-A915-35C8-0D3F-11208845F5D2}"/>
                </a:ext>
              </a:extLst>
            </p:cNvPr>
            <p:cNvSpPr txBox="1">
              <a:spLocks noChangeArrowheads="1"/>
            </p:cNvSpPr>
            <p:nvPr/>
          </p:nvSpPr>
          <p:spPr bwMode="auto">
            <a:xfrm>
              <a:off x="5791200" y="4191000"/>
              <a:ext cx="304800" cy="304800"/>
            </a:xfrm>
            <a:prstGeom prst="rect">
              <a:avLst/>
            </a:prstGeom>
            <a:solidFill>
              <a:schemeClr val="bg1"/>
            </a:solidFill>
            <a:ln w="9525">
              <a:noFill/>
              <a:miter lim="800000"/>
              <a:headEnd/>
              <a:tailEnd/>
            </a:ln>
            <a:effectLst/>
          </p:spPr>
          <p:txBody>
            <a:bodyPr>
              <a:spAutoFit/>
            </a:bodyPr>
            <a:lstStyle/>
            <a:p>
              <a:pPr>
                <a:spcBef>
                  <a:spcPct val="50000"/>
                </a:spcBef>
              </a:pPr>
              <a:r>
                <a:rPr lang="es-ES" sz="1400" b="1" dirty="0"/>
                <a:t>P</a:t>
              </a:r>
            </a:p>
          </p:txBody>
        </p:sp>
      </p:grpSp>
    </p:spTree>
    <p:extLst>
      <p:ext uri="{BB962C8B-B14F-4D97-AF65-F5344CB8AC3E}">
        <p14:creationId xmlns:p14="http://schemas.microsoft.com/office/powerpoint/2010/main" val="2139539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DD3B77-642A-1C5E-8184-8B4E91C5C6F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F7B7CD4B-089D-2F32-D0EE-0925A9334EDC}"/>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7A44542D-3B05-993A-F8FD-1EA28273C3D9}"/>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7F9851BF-5DD9-C7CE-3F57-AB51C4D5E1AA}"/>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DC9E162B-2B50-2609-D883-70267475BF89}"/>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80568BFA-9E05-B7B9-16D3-6C11279F794D}"/>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pic>
        <p:nvPicPr>
          <p:cNvPr id="6" name="Picture 3">
            <a:extLst>
              <a:ext uri="{FF2B5EF4-FFF2-40B4-BE49-F238E27FC236}">
                <a16:creationId xmlns:a16="http://schemas.microsoft.com/office/drawing/2014/main" xmlns="" id="{A818BF66-5F31-E001-EE4D-2D8B60C1B504}"/>
              </a:ext>
            </a:extLst>
          </p:cNvPr>
          <p:cNvPicPr>
            <a:picLocks noChangeAspect="1" noChangeArrowheads="1"/>
          </p:cNvPicPr>
          <p:nvPr/>
        </p:nvPicPr>
        <p:blipFill>
          <a:blip r:embed="rId5" cstate="print"/>
          <a:srcRect l="27862" t="10626" r="28970" b="4719"/>
          <a:stretch>
            <a:fillRect/>
          </a:stretch>
        </p:blipFill>
        <p:spPr bwMode="auto">
          <a:xfrm>
            <a:off x="2057400" y="224888"/>
            <a:ext cx="8922132" cy="9837223"/>
          </a:xfrm>
          <a:prstGeom prst="rect">
            <a:avLst/>
          </a:prstGeom>
          <a:noFill/>
          <a:ln w="9525">
            <a:solidFill>
              <a:schemeClr val="accent1">
                <a:lumMod val="50000"/>
              </a:schemeClr>
            </a:solidFill>
            <a:miter lim="800000"/>
            <a:headEnd/>
            <a:tailEnd/>
          </a:ln>
        </p:spPr>
      </p:pic>
    </p:spTree>
    <p:extLst>
      <p:ext uri="{BB962C8B-B14F-4D97-AF65-F5344CB8AC3E}">
        <p14:creationId xmlns:p14="http://schemas.microsoft.com/office/powerpoint/2010/main" val="2526143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1BB5C1-8A68-22CB-4FE0-F61FFB31122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5E40241C-2315-11B1-F5F4-687AEB7B8FD4}"/>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CF7CE2B8-7143-C65D-ABA3-401C87223C59}"/>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E9F8CD49-9244-7EF2-48CB-C26C0392679D}"/>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270A6B23-AEA2-E55F-9EC9-BAE4C59139EF}"/>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CBF90C1E-F448-1945-1EAD-6ABF4A0A3E36}"/>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02258703-0776-0B84-4842-2809501D8630}"/>
              </a:ext>
            </a:extLst>
          </p:cNvPr>
          <p:cNvGrpSpPr/>
          <p:nvPr/>
        </p:nvGrpSpPr>
        <p:grpSpPr>
          <a:xfrm>
            <a:off x="4211735" y="233243"/>
            <a:ext cx="10116046" cy="2253857"/>
            <a:chOff x="0" y="0"/>
            <a:chExt cx="1438895" cy="320586"/>
          </a:xfrm>
        </p:grpSpPr>
        <p:sp>
          <p:nvSpPr>
            <p:cNvPr id="9" name="Freeform 9">
              <a:extLst>
                <a:ext uri="{FF2B5EF4-FFF2-40B4-BE49-F238E27FC236}">
                  <a16:creationId xmlns:a16="http://schemas.microsoft.com/office/drawing/2014/main" xmlns="" id="{09CEBA3E-1207-C374-FADD-18CD881D50AC}"/>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0" name="TextBox 10">
            <a:extLst>
              <a:ext uri="{FF2B5EF4-FFF2-40B4-BE49-F238E27FC236}">
                <a16:creationId xmlns:a16="http://schemas.microsoft.com/office/drawing/2014/main" xmlns="" id="{1076EF4C-F0C1-DA97-A1B0-EF57EDCD2808}"/>
              </a:ext>
            </a:extLst>
          </p:cNvPr>
          <p:cNvSpPr txBox="1"/>
          <p:nvPr/>
        </p:nvSpPr>
        <p:spPr>
          <a:xfrm>
            <a:off x="876774" y="4301832"/>
            <a:ext cx="11337011" cy="4062651"/>
          </a:xfrm>
          <a:prstGeom prst="rect">
            <a:avLst/>
          </a:prstGeom>
        </p:spPr>
        <p:txBody>
          <a:bodyPr wrap="square" lIns="0" tIns="0" rIns="0" bIns="0" rtlCol="0" anchor="t">
            <a:spAutoFit/>
          </a:bodyPr>
          <a:lstStyle/>
          <a:p>
            <a:r>
              <a:rPr lang="es-PE" sz="2400" dirty="0">
                <a:latin typeface="Inter" panose="020B0604020202020204" charset="0"/>
                <a:ea typeface="Inter" panose="020B0604020202020204" charset="0"/>
                <a:cs typeface="Inter" panose="020B0604020202020204" charset="0"/>
              </a:rPr>
              <a:t>Por el </a:t>
            </a:r>
            <a:r>
              <a:rPr lang="es-PE" sz="2400" b="1"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TÍTULO DE CONCESIÓN MINERA</a:t>
            </a:r>
            <a:r>
              <a:rPr lang="es-PE" sz="2400" b="1" dirty="0">
                <a:solidFill>
                  <a:schemeClr val="accent2">
                    <a:lumMod val="75000"/>
                  </a:schemeClr>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el Estado otorga al concesionario el derecho de ejercer exclusivamente dentro de una superficie delimitada, las actividades inherentes a la concesión. (art. 127) </a:t>
            </a:r>
          </a:p>
          <a:p>
            <a:endParaRPr lang="es-PE" sz="2400" dirty="0">
              <a:latin typeface="Inter" panose="020B0604020202020204" charset="0"/>
              <a:ea typeface="Inter" panose="020B0604020202020204" charset="0"/>
              <a:cs typeface="Inter" panose="020B0604020202020204" charset="0"/>
            </a:endParaRPr>
          </a:p>
          <a:p>
            <a:pPr marL="182563" lvl="1" indent="-182563"/>
            <a:r>
              <a:rPr lang="es-PE" sz="2400" dirty="0">
                <a:latin typeface="Inter" panose="020B0604020202020204" charset="0"/>
                <a:ea typeface="Inter" panose="020B0604020202020204" charset="0"/>
                <a:cs typeface="Inter" panose="020B0604020202020204" charset="0"/>
              </a:rPr>
              <a:t>La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EXPLORACIÓN</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el desarrollo y la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EXPLOTACIÓN</a:t>
            </a:r>
            <a:r>
              <a:rPr lang="es-PE" sz="2400" dirty="0">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es previo otorgamiento de autorización de la Dirección General de Minería.</a:t>
            </a:r>
          </a:p>
          <a:p>
            <a:pPr marL="182563" lvl="1" indent="-182563"/>
            <a:endParaRPr lang="es-PE" sz="2400"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El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APROVECHAMIENTO</a:t>
            </a:r>
            <a:r>
              <a:rPr lang="es-PE" sz="2400" dirty="0">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es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EXCLUSIVO</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a:t>
            </a:r>
          </a:p>
          <a:p>
            <a:endParaRPr lang="es-PE" sz="2400" dirty="0">
              <a:latin typeface="Inter" panose="020B0604020202020204" charset="0"/>
              <a:ea typeface="Inter" panose="020B0604020202020204" charset="0"/>
              <a:cs typeface="Inter" panose="020B0604020202020204" charset="0"/>
            </a:endParaRPr>
          </a:p>
          <a:p>
            <a:r>
              <a:rPr lang="es-PE" sz="2400" dirty="0">
                <a:latin typeface="Inter" panose="020B0604020202020204" charset="0"/>
                <a:ea typeface="Inter" panose="020B0604020202020204" charset="0"/>
                <a:cs typeface="Inter" panose="020B0604020202020204" charset="0"/>
              </a:rPr>
              <a:t>El concesionario se convierte en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PROPIETARIO</a:t>
            </a:r>
            <a:r>
              <a:rPr lang="es-PE" sz="2400" dirty="0">
                <a:latin typeface="Inter" panose="020B0604020202020204" charset="0"/>
                <a:ea typeface="Inter" panose="020B0604020202020204" charset="0"/>
                <a:cs typeface="Inter" panose="020B0604020202020204" charset="0"/>
              </a:rPr>
              <a:t> de los </a:t>
            </a:r>
            <a:r>
              <a:rPr lang="es-PE" sz="2400" dirty="0">
                <a:solidFill>
                  <a:schemeClr val="accent2">
                    <a:lumMod val="75000"/>
                  </a:schemeClr>
                </a:solidFill>
                <a:effectLst>
                  <a:outerShdw blurRad="38100" dist="38100" dir="2700000" algn="tl">
                    <a:srgbClr val="000000">
                      <a:alpha val="43137"/>
                    </a:srgbClr>
                  </a:outerShdw>
                </a:effectLst>
                <a:latin typeface="Inter" panose="020B0604020202020204" charset="0"/>
                <a:ea typeface="Inter" panose="020B0604020202020204" charset="0"/>
                <a:cs typeface="Inter" panose="020B0604020202020204" charset="0"/>
              </a:rPr>
              <a:t>MINERALES EXTRAÍDOS</a:t>
            </a:r>
            <a:r>
              <a:rPr lang="es-PE" sz="2400" dirty="0">
                <a:solidFill>
                  <a:schemeClr val="accent2">
                    <a:lumMod val="75000"/>
                  </a:schemeClr>
                </a:solidFill>
                <a:latin typeface="Inter" panose="020B0604020202020204" charset="0"/>
                <a:ea typeface="Inter" panose="020B0604020202020204" charset="0"/>
                <a:cs typeface="Inter" panose="020B0604020202020204" charset="0"/>
              </a:rPr>
              <a:t>, </a:t>
            </a:r>
            <a:r>
              <a:rPr lang="es-PE" sz="2400" dirty="0">
                <a:latin typeface="Inter" panose="020B0604020202020204" charset="0"/>
                <a:ea typeface="Inter" panose="020B0604020202020204" charset="0"/>
                <a:cs typeface="Inter" panose="020B0604020202020204" charset="0"/>
              </a:rPr>
              <a:t>que tiene la calidad legal de productos.</a:t>
            </a:r>
          </a:p>
        </p:txBody>
      </p:sp>
      <p:sp>
        <p:nvSpPr>
          <p:cNvPr id="11" name="TextBox 8">
            <a:extLst>
              <a:ext uri="{FF2B5EF4-FFF2-40B4-BE49-F238E27FC236}">
                <a16:creationId xmlns:a16="http://schemas.microsoft.com/office/drawing/2014/main" xmlns="" id="{257C8CFF-57F2-E97C-7E33-7C1E7AFE127D}"/>
              </a:ext>
            </a:extLst>
          </p:cNvPr>
          <p:cNvSpPr txBox="1"/>
          <p:nvPr/>
        </p:nvSpPr>
        <p:spPr>
          <a:xfrm>
            <a:off x="876774" y="2933700"/>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2.5 </a:t>
            </a:r>
            <a:r>
              <a:rPr lang="es-PE" dirty="0"/>
              <a:t>DERECHO</a:t>
            </a:r>
            <a:r>
              <a:rPr lang="es-PE" sz="4000" dirty="0">
                <a:solidFill>
                  <a:srgbClr val="0066FF"/>
                </a:solidFill>
              </a:rPr>
              <a:t> </a:t>
            </a:r>
            <a:r>
              <a:rPr lang="es-PE" dirty="0"/>
              <a:t>DE EXPLORAR, DESARROLLO Y EXPLOTAR</a:t>
            </a:r>
            <a:endParaRPr lang="es-PE" dirty="0">
              <a:sym typeface="Futura Ultra-Bold"/>
            </a:endParaRPr>
          </a:p>
        </p:txBody>
      </p:sp>
    </p:spTree>
    <p:extLst>
      <p:ext uri="{BB962C8B-B14F-4D97-AF65-F5344CB8AC3E}">
        <p14:creationId xmlns:p14="http://schemas.microsoft.com/office/powerpoint/2010/main" val="3786812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573BA8-F2DE-20C8-CA28-12033F2D2E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FAC3A7E8-F36F-3727-D3CE-D4ADDD93A723}"/>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B7852DAD-541D-8304-9FC0-327DDB010E7D}"/>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B741DE13-2ACE-5137-C942-2853F190D378}"/>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DB6C6E2E-AFFA-14DC-7D9C-FA1FD73315D2}"/>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D0D8CF3C-BC4A-0622-1859-406EE3E15919}"/>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2251BF23-678C-777A-7E60-AA6F3D8AE541}"/>
              </a:ext>
            </a:extLst>
          </p:cNvPr>
          <p:cNvGrpSpPr/>
          <p:nvPr/>
        </p:nvGrpSpPr>
        <p:grpSpPr>
          <a:xfrm>
            <a:off x="4211735" y="233243"/>
            <a:ext cx="10116046" cy="2253857"/>
            <a:chOff x="0" y="0"/>
            <a:chExt cx="1438895" cy="320586"/>
          </a:xfrm>
        </p:grpSpPr>
        <p:sp>
          <p:nvSpPr>
            <p:cNvPr id="9" name="Freeform 9">
              <a:extLst>
                <a:ext uri="{FF2B5EF4-FFF2-40B4-BE49-F238E27FC236}">
                  <a16:creationId xmlns:a16="http://schemas.microsoft.com/office/drawing/2014/main" xmlns="" id="{B207DAD3-EE4F-4D0B-8140-07DBD705B95E}"/>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0" name="TextBox 10">
            <a:extLst>
              <a:ext uri="{FF2B5EF4-FFF2-40B4-BE49-F238E27FC236}">
                <a16:creationId xmlns:a16="http://schemas.microsoft.com/office/drawing/2014/main" xmlns="" id="{111BBBBC-B351-37DD-C12F-21F4941AE8BB}"/>
              </a:ext>
            </a:extLst>
          </p:cNvPr>
          <p:cNvSpPr txBox="1"/>
          <p:nvPr/>
        </p:nvSpPr>
        <p:spPr>
          <a:xfrm>
            <a:off x="876774" y="3927537"/>
            <a:ext cx="8495826" cy="4431983"/>
          </a:xfrm>
          <a:prstGeom prst="rect">
            <a:avLst/>
          </a:prstGeom>
        </p:spPr>
        <p:txBody>
          <a:bodyPr wrap="square" lIns="0" tIns="0" rIns="0" bIns="0" rtlCol="0" anchor="t">
            <a:spAutoFit/>
          </a:bodyPr>
          <a:lstStyle/>
          <a:p>
            <a:pPr>
              <a:buFont typeface="Wingdings" pitchFamily="2" charset="2"/>
              <a:buNone/>
            </a:pPr>
            <a:r>
              <a:rPr lang="es-PE" sz="2400" dirty="0">
                <a:latin typeface="Inter" panose="020B0604020202020204" charset="0"/>
                <a:ea typeface="Inter" panose="020B0604020202020204" charset="0"/>
                <a:cs typeface="Inter" panose="020B0604020202020204" charset="0"/>
              </a:rPr>
              <a:t>Son parte accesoria de las concesiones</a:t>
            </a:r>
          </a:p>
          <a:p>
            <a:r>
              <a:rPr lang="es-PE" sz="2400" dirty="0">
                <a:solidFill>
                  <a:schemeClr val="accent2">
                    <a:lumMod val="50000"/>
                  </a:schemeClr>
                </a:solidFill>
                <a:latin typeface="Inter" panose="020B0604020202020204" charset="0"/>
                <a:ea typeface="Inter" panose="020B0604020202020204" charset="0"/>
                <a:cs typeface="Inter" panose="020B0604020202020204" charset="0"/>
              </a:rPr>
              <a:t>DESMONTES: </a:t>
            </a:r>
            <a:r>
              <a:rPr lang="es-PE" sz="2400" dirty="0">
                <a:latin typeface="Inter" panose="020B0604020202020204" charset="0"/>
                <a:ea typeface="Inter" panose="020B0604020202020204" charset="0"/>
                <a:cs typeface="Inter" panose="020B0604020202020204" charset="0"/>
              </a:rPr>
              <a:t>son los deshechos que provienen de la actividad minera de explotación, con minerales de baja ley “ganga”. </a:t>
            </a:r>
          </a:p>
          <a:p>
            <a:endParaRPr lang="es-PE" sz="2400" dirty="0">
              <a:latin typeface="Inter" panose="020B0604020202020204" charset="0"/>
              <a:ea typeface="Inter" panose="020B0604020202020204" charset="0"/>
              <a:cs typeface="Inter" panose="020B0604020202020204" charset="0"/>
            </a:endParaRPr>
          </a:p>
          <a:p>
            <a:r>
              <a:rPr lang="es-PE" sz="2400" dirty="0">
                <a:solidFill>
                  <a:schemeClr val="accent2">
                    <a:lumMod val="50000"/>
                  </a:schemeClr>
                </a:solidFill>
                <a:latin typeface="Inter" panose="020B0604020202020204" charset="0"/>
                <a:ea typeface="Inter" panose="020B0604020202020204" charset="0"/>
                <a:cs typeface="Inter" panose="020B0604020202020204" charset="0"/>
              </a:rPr>
              <a:t>RELAVES: </a:t>
            </a:r>
            <a:r>
              <a:rPr lang="es-PE" sz="2400" dirty="0">
                <a:latin typeface="Inter" panose="020B0604020202020204" charset="0"/>
                <a:ea typeface="Inter" panose="020B0604020202020204" charset="0"/>
                <a:cs typeface="Inter" panose="020B0604020202020204" charset="0"/>
              </a:rPr>
              <a:t>Residuos que provienen de un método de beneficio en el que se emplea grandes cantidades de agua.</a:t>
            </a:r>
          </a:p>
          <a:p>
            <a:endParaRPr lang="es-PE" sz="2400" dirty="0">
              <a:latin typeface="Inter" panose="020B0604020202020204" charset="0"/>
              <a:ea typeface="Inter" panose="020B0604020202020204" charset="0"/>
              <a:cs typeface="Inter" panose="020B0604020202020204" charset="0"/>
            </a:endParaRPr>
          </a:p>
          <a:p>
            <a:r>
              <a:rPr lang="es-PE" sz="2400" dirty="0">
                <a:solidFill>
                  <a:schemeClr val="accent2">
                    <a:lumMod val="50000"/>
                  </a:schemeClr>
                </a:solidFill>
                <a:latin typeface="Inter" panose="020B0604020202020204" charset="0"/>
                <a:ea typeface="Inter" panose="020B0604020202020204" charset="0"/>
                <a:cs typeface="Inter" panose="020B0604020202020204" charset="0"/>
              </a:rPr>
              <a:t>ESCORIALES: </a:t>
            </a:r>
            <a:r>
              <a:rPr lang="es-PE" sz="2400" dirty="0">
                <a:latin typeface="Inter" panose="020B0604020202020204" charset="0"/>
                <a:ea typeface="Inter" panose="020B0604020202020204" charset="0"/>
                <a:cs typeface="Inter" panose="020B0604020202020204" charset="0"/>
              </a:rPr>
              <a:t>Desechos provenientes proveniente de la Refinación, en el que se utiliza el fuego de manera predominante.</a:t>
            </a:r>
          </a:p>
        </p:txBody>
      </p:sp>
      <p:sp>
        <p:nvSpPr>
          <p:cNvPr id="11" name="TextBox 8">
            <a:extLst>
              <a:ext uri="{FF2B5EF4-FFF2-40B4-BE49-F238E27FC236}">
                <a16:creationId xmlns:a16="http://schemas.microsoft.com/office/drawing/2014/main" xmlns="" id="{3A0F80FB-2535-B042-2338-FE220A8554E0}"/>
              </a:ext>
            </a:extLst>
          </p:cNvPr>
          <p:cNvSpPr txBox="1"/>
          <p:nvPr/>
        </p:nvSpPr>
        <p:spPr>
          <a:xfrm>
            <a:off x="876774" y="2933700"/>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2.6 </a:t>
            </a:r>
            <a:r>
              <a:rPr lang="es-PE" dirty="0"/>
              <a:t>DESMONTES, RELAVES Y ESCORIALES</a:t>
            </a:r>
            <a:endParaRPr lang="es-PE" dirty="0">
              <a:sym typeface="Futura Ultra-Bold"/>
            </a:endParaRPr>
          </a:p>
        </p:txBody>
      </p:sp>
      <p:pic>
        <p:nvPicPr>
          <p:cNvPr id="6" name="Imagen 5">
            <a:extLst>
              <a:ext uri="{FF2B5EF4-FFF2-40B4-BE49-F238E27FC236}">
                <a16:creationId xmlns:a16="http://schemas.microsoft.com/office/drawing/2014/main" xmlns="" id="{C5FF85C1-E3BB-3C26-E5CB-8F6924732E32}"/>
              </a:ext>
            </a:extLst>
          </p:cNvPr>
          <p:cNvPicPr>
            <a:picLocks noChangeAspect="1"/>
          </p:cNvPicPr>
          <p:nvPr/>
        </p:nvPicPr>
        <p:blipFill rotWithShape="1">
          <a:blip r:embed="rId6"/>
          <a:srcRect l="3818" t="19394" r="59091" b="41818"/>
          <a:stretch/>
        </p:blipFill>
        <p:spPr>
          <a:xfrm>
            <a:off x="11934304" y="3031384"/>
            <a:ext cx="3686695" cy="2168646"/>
          </a:xfrm>
          <a:prstGeom prst="rect">
            <a:avLst/>
          </a:prstGeom>
        </p:spPr>
      </p:pic>
      <p:pic>
        <p:nvPicPr>
          <p:cNvPr id="12" name="Picture 2" descr="ICMM publica guía de gestión de relaves para ejecutivos y operarios">
            <a:extLst>
              <a:ext uri="{FF2B5EF4-FFF2-40B4-BE49-F238E27FC236}">
                <a16:creationId xmlns:a16="http://schemas.microsoft.com/office/drawing/2014/main" xmlns="" id="{C243C22C-22BB-274C-E0C7-4E846136AE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47523" y="4969280"/>
            <a:ext cx="3686695" cy="206454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Escoria oro fotografías e imágenes de alta resolución - Alamy">
            <a:extLst>
              <a:ext uri="{FF2B5EF4-FFF2-40B4-BE49-F238E27FC236}">
                <a16:creationId xmlns:a16="http://schemas.microsoft.com/office/drawing/2014/main" xmlns="" id="{B875125C-DF1F-D951-0246-A741C926F297}"/>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765" r="11811" b="11609"/>
          <a:stretch/>
        </p:blipFill>
        <p:spPr bwMode="auto">
          <a:xfrm>
            <a:off x="12541340" y="6486913"/>
            <a:ext cx="3149735" cy="2292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56698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F0E0375-6BF7-B89F-09F1-3E80E567E70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E5C22154-0966-3887-6F11-D3995307EFD3}"/>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62D99E97-839B-F9B4-8449-58D7C3D53B57}"/>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AC7D0979-3BDE-34CD-2ABE-408A3733FD80}"/>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65E1CD99-8B44-FC7F-7924-0DE7F2DA78A5}"/>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8055A7E6-A66F-6A72-74E0-C81C76C4B712}"/>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F88DC0D5-FDA2-3613-81FF-DB17EFCAC5F7}"/>
              </a:ext>
            </a:extLst>
          </p:cNvPr>
          <p:cNvGrpSpPr/>
          <p:nvPr/>
        </p:nvGrpSpPr>
        <p:grpSpPr>
          <a:xfrm>
            <a:off x="4211735" y="233243"/>
            <a:ext cx="10116046" cy="2253857"/>
            <a:chOff x="0" y="0"/>
            <a:chExt cx="1438895" cy="320586"/>
          </a:xfrm>
        </p:grpSpPr>
        <p:sp>
          <p:nvSpPr>
            <p:cNvPr id="9" name="Freeform 9">
              <a:extLst>
                <a:ext uri="{FF2B5EF4-FFF2-40B4-BE49-F238E27FC236}">
                  <a16:creationId xmlns:a16="http://schemas.microsoft.com/office/drawing/2014/main" xmlns="" id="{D6A2F583-604F-C7E8-CFDA-2882D8FE4C9A}"/>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0" name="TextBox 10">
            <a:extLst>
              <a:ext uri="{FF2B5EF4-FFF2-40B4-BE49-F238E27FC236}">
                <a16:creationId xmlns:a16="http://schemas.microsoft.com/office/drawing/2014/main" xmlns="" id="{D6275537-1E1E-2009-12E5-BE090993EEB4}"/>
              </a:ext>
            </a:extLst>
          </p:cNvPr>
          <p:cNvSpPr txBox="1"/>
          <p:nvPr/>
        </p:nvSpPr>
        <p:spPr>
          <a:xfrm>
            <a:off x="864074" y="4552171"/>
            <a:ext cx="14668026" cy="2954655"/>
          </a:xfrm>
          <a:prstGeom prst="rect">
            <a:avLst/>
          </a:prstGeom>
        </p:spPr>
        <p:txBody>
          <a:bodyPr wrap="square" lIns="0" tIns="0" rIns="0" bIns="0" rtlCol="0" anchor="t">
            <a:spAutoFit/>
          </a:bodyPr>
          <a:lstStyle/>
          <a:p>
            <a:pPr marL="0" indent="0">
              <a:buNone/>
            </a:pPr>
            <a:r>
              <a:rPr lang="es-PE" sz="2400" dirty="0">
                <a:latin typeface="Inter" panose="020B0604020202020204" charset="0"/>
                <a:ea typeface="Inter" panose="020B0604020202020204" charset="0"/>
                <a:cs typeface="Inter" panose="020B0604020202020204" charset="0"/>
              </a:rPr>
              <a:t>No podrá establecerse concesiones mineras no metálicas ni prorrogas de concesiones no metálicas, sobre:</a:t>
            </a:r>
          </a:p>
          <a:p>
            <a:pPr lvl="1"/>
            <a:endParaRPr lang="es-PE" sz="2400" dirty="0">
              <a:latin typeface="Inter" panose="020B0604020202020204" charset="0"/>
              <a:ea typeface="Inter" panose="020B0604020202020204" charset="0"/>
              <a:cs typeface="Inter" panose="020B0604020202020204" charset="0"/>
            </a:endParaRPr>
          </a:p>
          <a:p>
            <a:pPr marL="914400" lvl="1" indent="-4572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Áreas agrícolas intangibles </a:t>
            </a:r>
          </a:p>
          <a:p>
            <a:pPr marL="914400" lvl="1" indent="-457200">
              <a:buFont typeface="Arial" panose="020B0604020202020204" pitchFamily="34" charset="0"/>
              <a:buChar char="•"/>
            </a:pPr>
            <a:endParaRPr lang="es-PE" sz="2400" dirty="0">
              <a:latin typeface="Inter" panose="020B0604020202020204" charset="0"/>
              <a:ea typeface="Inter" panose="020B0604020202020204" charset="0"/>
              <a:cs typeface="Inter" panose="020B0604020202020204" charset="0"/>
            </a:endParaRPr>
          </a:p>
          <a:p>
            <a:pPr marL="914400" lvl="1" indent="-4572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Ni en tierras rústicas de uso agrícola, </a:t>
            </a:r>
          </a:p>
          <a:p>
            <a:pPr marL="914400" lvl="1" indent="-457200">
              <a:buFont typeface="Arial" panose="020B0604020202020204" pitchFamily="34" charset="0"/>
              <a:buChar char="•"/>
            </a:pPr>
            <a:endParaRPr lang="es-PE" sz="2400" dirty="0">
              <a:latin typeface="Inter" panose="020B0604020202020204" charset="0"/>
              <a:ea typeface="Inter" panose="020B0604020202020204" charset="0"/>
              <a:cs typeface="Inter" panose="020B0604020202020204" charset="0"/>
            </a:endParaRPr>
          </a:p>
          <a:p>
            <a:pPr marL="914400" lvl="1" indent="-457200">
              <a:buFont typeface="Arial" panose="020B0604020202020204" pitchFamily="34" charset="0"/>
              <a:buChar char="•"/>
            </a:pPr>
            <a:r>
              <a:rPr lang="es-PE" sz="2400" dirty="0">
                <a:latin typeface="Inter" panose="020B0604020202020204" charset="0"/>
                <a:ea typeface="Inter" panose="020B0604020202020204" charset="0"/>
                <a:cs typeface="Inter" panose="020B0604020202020204" charset="0"/>
              </a:rPr>
              <a:t>No se considera entre éstas últimas a los pastos naturales. </a:t>
            </a:r>
          </a:p>
        </p:txBody>
      </p:sp>
      <p:sp>
        <p:nvSpPr>
          <p:cNvPr id="11" name="TextBox 8">
            <a:extLst>
              <a:ext uri="{FF2B5EF4-FFF2-40B4-BE49-F238E27FC236}">
                <a16:creationId xmlns:a16="http://schemas.microsoft.com/office/drawing/2014/main" xmlns="" id="{D6EF36C8-4014-CD51-B574-520E26882AB6}"/>
              </a:ext>
            </a:extLst>
          </p:cNvPr>
          <p:cNvSpPr txBox="1"/>
          <p:nvPr/>
        </p:nvSpPr>
        <p:spPr>
          <a:xfrm>
            <a:off x="876774" y="2933700"/>
            <a:ext cx="16352046" cy="615553"/>
          </a:xfrm>
          <a:prstGeom prst="rect">
            <a:avLst/>
          </a:prstGeom>
        </p:spPr>
        <p:txBody>
          <a:bodyPr wrap="square" lIns="0" tIns="0" rIns="0" bIns="0" rtlCol="0" anchor="t">
            <a:spAutoFit/>
          </a:bodyPr>
          <a:lstStyle>
            <a:defPPr>
              <a:defRPr lang="en-US"/>
            </a:defPPr>
            <a:lvl1pPr>
              <a:defRPr sz="4000" b="1">
                <a:solidFill>
                  <a:srgbClr val="A42F0F"/>
                </a:solidFill>
                <a:latin typeface="Futura Ultra-Bold"/>
              </a:defRPr>
            </a:lvl1pPr>
          </a:lstStyle>
          <a:p>
            <a:r>
              <a:rPr lang="es-PE" dirty="0">
                <a:sym typeface="Futura Ultra-Bold"/>
              </a:rPr>
              <a:t>2.7 </a:t>
            </a:r>
            <a:r>
              <a:rPr lang="es-PE" dirty="0"/>
              <a:t>CONCESIONES MINERAS NO METÁLICAS</a:t>
            </a:r>
            <a:endParaRPr lang="es-PE" dirty="0">
              <a:sym typeface="Futura Ultra-Bold"/>
            </a:endParaRPr>
          </a:p>
        </p:txBody>
      </p:sp>
    </p:spTree>
    <p:extLst>
      <p:ext uri="{BB962C8B-B14F-4D97-AF65-F5344CB8AC3E}">
        <p14:creationId xmlns:p14="http://schemas.microsoft.com/office/powerpoint/2010/main" val="3859279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26"/>
          <p:cNvSpPr/>
          <p:nvPr/>
        </p:nvSpPr>
        <p:spPr>
          <a:xfrm flipV="1">
            <a:off x="1" y="7700772"/>
            <a:ext cx="8621468"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2" name="Group 2"/>
          <p:cNvGrpSpPr/>
          <p:nvPr/>
        </p:nvGrpSpPr>
        <p:grpSpPr>
          <a:xfrm>
            <a:off x="8233660" y="3843226"/>
            <a:ext cx="12164805" cy="12164805"/>
            <a:chOff x="0" y="0"/>
            <a:chExt cx="812800" cy="812800"/>
          </a:xfrm>
          <a:solidFill>
            <a:schemeClr val="tx1"/>
          </a:solidFill>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p:spPr>
        </p:sp>
        <p:sp>
          <p:nvSpPr>
            <p:cNvPr id="4" name="TextBox 4"/>
            <p:cNvSpPr txBox="1"/>
            <p:nvPr/>
          </p:nvSpPr>
          <p:spPr>
            <a:xfrm>
              <a:off x="76200" y="76200"/>
              <a:ext cx="660400" cy="660400"/>
            </a:xfrm>
            <a:prstGeom prst="rect">
              <a:avLst/>
            </a:prstGeom>
            <a:grpFill/>
          </p:spPr>
          <p:txBody>
            <a:bodyPr lIns="50800" tIns="50800" rIns="50800" bIns="50800" rtlCol="0" anchor="ctr"/>
            <a:lstStyle/>
            <a:p>
              <a:pPr algn="ctr">
                <a:lnSpc>
                  <a:spcPts val="2157"/>
                </a:lnSpc>
              </a:pPr>
              <a:endParaRPr dirty="0"/>
            </a:p>
          </p:txBody>
        </p:sp>
      </p:grpSp>
      <p:grpSp>
        <p:nvGrpSpPr>
          <p:cNvPr id="5" name="Group 5"/>
          <p:cNvGrpSpPr>
            <a:grpSpLocks noChangeAspect="1"/>
          </p:cNvGrpSpPr>
          <p:nvPr/>
        </p:nvGrpSpPr>
        <p:grpSpPr>
          <a:xfrm>
            <a:off x="13679673" y="1485900"/>
            <a:ext cx="4007035" cy="7928607"/>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94468" r="-9446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6" name="Group 16"/>
          <p:cNvGrpSpPr>
            <a:grpSpLocks noChangeAspect="1"/>
          </p:cNvGrpSpPr>
          <p:nvPr/>
        </p:nvGrpSpPr>
        <p:grpSpPr>
          <a:xfrm>
            <a:off x="9223797" y="4115820"/>
            <a:ext cx="4009751" cy="7933981"/>
            <a:chOff x="0" y="0"/>
            <a:chExt cx="2620010" cy="5184140"/>
          </a:xfrm>
        </p:grpSpPr>
        <p:sp>
          <p:nvSpPr>
            <p:cNvPr id="17" name="Freeform 1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8" name="Freeform 18"/>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86825" r="-138431"/>
              </a:stretch>
            </a:blipFill>
          </p:spPr>
        </p:sp>
        <p:sp>
          <p:nvSpPr>
            <p:cNvPr id="19" name="Freeform 1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20" name="Freeform 20"/>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1" name="Freeform 2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2" name="Freeform 2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3" name="Freeform 2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4" name="Freeform 2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5" name="Freeform 2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7" name="Freeform 27"/>
          <p:cNvSpPr/>
          <p:nvPr/>
        </p:nvSpPr>
        <p:spPr>
          <a:xfrm>
            <a:off x="0"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6"/>
            <a:stretch>
              <a:fillRect/>
            </a:stretch>
          </a:blipFill>
        </p:spPr>
      </p:sp>
      <p:sp>
        <p:nvSpPr>
          <p:cNvPr id="28" name="TextBox 28"/>
          <p:cNvSpPr txBox="1"/>
          <p:nvPr/>
        </p:nvSpPr>
        <p:spPr>
          <a:xfrm>
            <a:off x="863301" y="3667500"/>
            <a:ext cx="7659788" cy="3077766"/>
          </a:xfrm>
          <a:prstGeom prst="rect">
            <a:avLst/>
          </a:prstGeom>
        </p:spPr>
        <p:txBody>
          <a:bodyPr wrap="square" lIns="0" tIns="0" rIns="0" bIns="0" rtlCol="0" anchor="t">
            <a:spAutoFit/>
          </a:bodyPr>
          <a:lstStyle/>
          <a:p>
            <a:pPr algn="ctr">
              <a:lnSpc>
                <a:spcPts val="4800"/>
              </a:lnSpc>
            </a:pPr>
            <a:r>
              <a:rPr lang="es-PE" sz="4800" b="1" dirty="0">
                <a:solidFill>
                  <a:srgbClr val="303030"/>
                </a:solidFill>
                <a:latin typeface="Futura Std Book" panose="020B0802020204020204" pitchFamily="34" charset="0"/>
                <a:ea typeface="Montserrat Bold"/>
                <a:cs typeface="Montserrat Bold"/>
                <a:sym typeface="Montserrat Bold"/>
              </a:rPr>
              <a:t>TEMA 03:</a:t>
            </a:r>
          </a:p>
          <a:p>
            <a:pPr algn="ctr">
              <a:lnSpc>
                <a:spcPts val="4800"/>
              </a:lnSpc>
            </a:pPr>
            <a:endParaRPr lang="es-PE" sz="4800" b="1" dirty="0">
              <a:solidFill>
                <a:srgbClr val="303030"/>
              </a:solidFill>
              <a:latin typeface="Futura Std Book" panose="020B0802020204020204" pitchFamily="34" charset="0"/>
              <a:ea typeface="Montserrat Bold"/>
              <a:cs typeface="Montserrat Bold"/>
              <a:sym typeface="Montserrat Bold"/>
            </a:endParaRPr>
          </a:p>
          <a:p>
            <a:pPr algn="ctr">
              <a:lnSpc>
                <a:spcPts val="4800"/>
              </a:lnSpc>
            </a:pPr>
            <a:r>
              <a:rPr lang="es-PE" sz="4800" b="1" dirty="0">
                <a:solidFill>
                  <a:srgbClr val="303030"/>
                </a:solidFill>
                <a:latin typeface="Futura Std Book" panose="020B0802020204020204" pitchFamily="34" charset="0"/>
                <a:ea typeface="Montserrat Bold"/>
                <a:cs typeface="Montserrat Bold"/>
                <a:sym typeface="Montserrat Bold"/>
              </a:rPr>
              <a:t> </a:t>
            </a:r>
            <a:r>
              <a:rPr lang="es-PE" sz="4800" b="1" dirty="0">
                <a:solidFill>
                  <a:srgbClr val="303030"/>
                </a:solidFill>
                <a:latin typeface="Futura Std Book" panose="020B0802020204020204" pitchFamily="34" charset="0"/>
              </a:rPr>
              <a:t>PROCEDIMIENTO DE OTORGAMIENTO DE CONCESIÓN MINERA</a:t>
            </a:r>
            <a:endParaRPr lang="es-PE" sz="4800" b="1" dirty="0">
              <a:solidFill>
                <a:srgbClr val="303030"/>
              </a:solidFill>
              <a:latin typeface="Futura Std Book" panose="020B0802020204020204" pitchFamily="34" charset="0"/>
              <a:sym typeface="Montserrat 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6" name="TextBox 6"/>
          <p:cNvSpPr txBox="1"/>
          <p:nvPr/>
        </p:nvSpPr>
        <p:spPr>
          <a:xfrm>
            <a:off x="921543" y="3168257"/>
            <a:ext cx="13432258" cy="1978106"/>
          </a:xfrm>
          <a:prstGeom prst="rect">
            <a:avLst/>
          </a:prstGeom>
        </p:spPr>
        <p:txBody>
          <a:bodyPr wrap="square" lIns="0" tIns="0" rIns="0" bIns="0" rtlCol="0" anchor="t">
            <a:spAutoFit/>
          </a:bodyPr>
          <a:lstStyle/>
          <a:p>
            <a:pPr algn="l">
              <a:lnSpc>
                <a:spcPts val="5039"/>
              </a:lnSpc>
            </a:pPr>
            <a:endParaRPr lang="es-PE" sz="3999" b="1" dirty="0">
              <a:solidFill>
                <a:srgbClr val="A42F0F"/>
              </a:solidFill>
              <a:latin typeface="Futura Ultra-Bold"/>
              <a:ea typeface="Futura Ultra-Bold"/>
              <a:cs typeface="Futura Ultra-Bold"/>
              <a:sym typeface="Futura Ultra-Bold"/>
            </a:endParaRPr>
          </a:p>
          <a:p>
            <a:pPr algn="l">
              <a:lnSpc>
                <a:spcPts val="5039"/>
              </a:lnSpc>
            </a:pPr>
            <a:endParaRPr lang="es-PE" sz="3999" b="1" dirty="0">
              <a:solidFill>
                <a:srgbClr val="A42F0F"/>
              </a:solidFill>
              <a:latin typeface="Futura Ultra-Bold"/>
              <a:ea typeface="Futura Ultra-Bold"/>
              <a:cs typeface="Futura Ultra-Bold"/>
              <a:sym typeface="Futura Ultra-Bold"/>
            </a:endParaRPr>
          </a:p>
          <a:p>
            <a:pPr algn="l">
              <a:lnSpc>
                <a:spcPts val="6300"/>
              </a:lnSpc>
            </a:pPr>
            <a:endParaRPr lang="es-PE" sz="3999" b="1" dirty="0">
              <a:solidFill>
                <a:srgbClr val="A42F0F"/>
              </a:solidFill>
              <a:latin typeface="Futura Ultra-Bold"/>
              <a:ea typeface="Futura Ultra-Bold"/>
              <a:cs typeface="Futura Ultra-Bold"/>
              <a:sym typeface="Futura Ultra-Bold"/>
            </a:endParaRPr>
          </a:p>
        </p:txBody>
      </p:sp>
      <p:sp>
        <p:nvSpPr>
          <p:cNvPr id="7" name="Freeform 7"/>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p:cNvGrpSpPr/>
          <p:nvPr/>
        </p:nvGrpSpPr>
        <p:grpSpPr>
          <a:xfrm>
            <a:off x="3886200" y="226738"/>
            <a:ext cx="10116046" cy="2253857"/>
            <a:chOff x="0" y="0"/>
            <a:chExt cx="1438895" cy="320586"/>
          </a:xfrm>
        </p:grpSpPr>
        <p:sp>
          <p:nvSpPr>
            <p:cNvPr id="9" name="Freeform 9"/>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2" name="CuadroTexto 11">
            <a:extLst>
              <a:ext uri="{FF2B5EF4-FFF2-40B4-BE49-F238E27FC236}">
                <a16:creationId xmlns:a16="http://schemas.microsoft.com/office/drawing/2014/main" xmlns="" id="{6168971A-64BC-55F4-3D29-F9C6EC78BB44}"/>
              </a:ext>
            </a:extLst>
          </p:cNvPr>
          <p:cNvSpPr txBox="1"/>
          <p:nvPr/>
        </p:nvSpPr>
        <p:spPr>
          <a:xfrm>
            <a:off x="921543" y="3051479"/>
            <a:ext cx="13716000"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3.1 PROCEDIMIENTO DE CONCESIÓN MINERA</a:t>
            </a:r>
            <a:endParaRPr lang="es-PE" sz="4000" b="1" dirty="0">
              <a:solidFill>
                <a:srgbClr val="A42F0F"/>
              </a:solidFill>
              <a:latin typeface="Futura Ultra-Bold"/>
            </a:endParaRPr>
          </a:p>
        </p:txBody>
      </p:sp>
      <p:grpSp>
        <p:nvGrpSpPr>
          <p:cNvPr id="11" name="Grupo 10">
            <a:extLst>
              <a:ext uri="{FF2B5EF4-FFF2-40B4-BE49-F238E27FC236}">
                <a16:creationId xmlns:a16="http://schemas.microsoft.com/office/drawing/2014/main" xmlns="" id="{AED0AF51-3E93-523F-9B44-93D119012B74}"/>
              </a:ext>
            </a:extLst>
          </p:cNvPr>
          <p:cNvGrpSpPr/>
          <p:nvPr/>
        </p:nvGrpSpPr>
        <p:grpSpPr>
          <a:xfrm>
            <a:off x="1065548" y="4223455"/>
            <a:ext cx="14631651" cy="4496858"/>
            <a:chOff x="969215" y="4029135"/>
            <a:chExt cx="9981741" cy="1680853"/>
          </a:xfrm>
        </p:grpSpPr>
        <p:sp>
          <p:nvSpPr>
            <p:cNvPr id="13" name="Rectángulo 12">
              <a:extLst>
                <a:ext uri="{FF2B5EF4-FFF2-40B4-BE49-F238E27FC236}">
                  <a16:creationId xmlns:a16="http://schemas.microsoft.com/office/drawing/2014/main" xmlns="" id="{F31BC8DD-20FC-C021-B778-FB96C5A21CAB}"/>
                </a:ext>
              </a:extLst>
            </p:cNvPr>
            <p:cNvSpPr/>
            <p:nvPr/>
          </p:nvSpPr>
          <p:spPr>
            <a:xfrm>
              <a:off x="969215" y="4029135"/>
              <a:ext cx="3704589" cy="3106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s-PE" sz="2400" b="1" dirty="0">
                  <a:latin typeface="Inter" panose="020B0604020202020204" charset="0"/>
                  <a:ea typeface="Inter" panose="020B0604020202020204" charset="0"/>
                </a:rPr>
                <a:t>Ley General de Minería </a:t>
              </a:r>
            </a:p>
            <a:p>
              <a:r>
                <a:rPr lang="es-PE" sz="2400" dirty="0">
                  <a:latin typeface="Inter" panose="020B0604020202020204" charset="0"/>
                  <a:ea typeface="Inter" panose="020B0604020202020204" charset="0"/>
                </a:rPr>
                <a:t>Decreto Legislativo N° 109 (1981)</a:t>
              </a:r>
            </a:p>
          </p:txBody>
        </p:sp>
        <p:sp>
          <p:nvSpPr>
            <p:cNvPr id="14" name="Rectángulo 13">
              <a:extLst>
                <a:ext uri="{FF2B5EF4-FFF2-40B4-BE49-F238E27FC236}">
                  <a16:creationId xmlns:a16="http://schemas.microsoft.com/office/drawing/2014/main" xmlns="" id="{EA96450D-ECC1-8CA6-0734-93C4D499E75C}"/>
                </a:ext>
              </a:extLst>
            </p:cNvPr>
            <p:cNvSpPr/>
            <p:nvPr/>
          </p:nvSpPr>
          <p:spPr>
            <a:xfrm>
              <a:off x="969215" y="5123274"/>
              <a:ext cx="3704589" cy="58671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s-PE" sz="2400" b="1" dirty="0">
                  <a:latin typeface="Inter" panose="020B0604020202020204" charset="0"/>
                  <a:ea typeface="Inter" panose="020B0604020202020204" charset="0"/>
                </a:rPr>
                <a:t>Ley de Promoción de Inversiones en el Sector Minero</a:t>
              </a:r>
              <a:r>
                <a:rPr lang="es-PE" sz="2400" dirty="0">
                  <a:latin typeface="Inter" panose="020B0604020202020204" charset="0"/>
                  <a:ea typeface="Inter" panose="020B0604020202020204" charset="0"/>
                </a:rPr>
                <a:t> </a:t>
              </a:r>
            </a:p>
            <a:p>
              <a:r>
                <a:rPr lang="es-PE" sz="2400" dirty="0">
                  <a:latin typeface="Inter" panose="020B0604020202020204" charset="0"/>
                  <a:ea typeface="Inter" panose="020B0604020202020204" charset="0"/>
                </a:rPr>
                <a:t>Decreto Legislativo N° 708 (1991)</a:t>
              </a:r>
            </a:p>
          </p:txBody>
        </p:sp>
        <p:sp>
          <p:nvSpPr>
            <p:cNvPr id="15" name="Rectángulo 14">
              <a:extLst>
                <a:ext uri="{FF2B5EF4-FFF2-40B4-BE49-F238E27FC236}">
                  <a16:creationId xmlns:a16="http://schemas.microsoft.com/office/drawing/2014/main" xmlns="" id="{B01954E6-5282-3CF1-B336-082EA7A35CA9}"/>
                </a:ext>
              </a:extLst>
            </p:cNvPr>
            <p:cNvSpPr/>
            <p:nvPr/>
          </p:nvSpPr>
          <p:spPr>
            <a:xfrm>
              <a:off x="7345179" y="4484027"/>
              <a:ext cx="3605777" cy="58671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s-PE" sz="2400" b="1" dirty="0">
                  <a:latin typeface="Inter" panose="020B0604020202020204" charset="0"/>
                  <a:ea typeface="Inter" panose="020B0604020202020204" charset="0"/>
                </a:rPr>
                <a:t>Texto Único Ordenado de la Ley General de Minería </a:t>
              </a:r>
            </a:p>
            <a:p>
              <a:r>
                <a:rPr lang="es-PE" sz="2400" dirty="0">
                  <a:latin typeface="Inter" panose="020B0604020202020204" charset="0"/>
                  <a:ea typeface="Inter" panose="020B0604020202020204" charset="0"/>
                </a:rPr>
                <a:t>Decreto Supremo N° 014-92-EM</a:t>
              </a:r>
            </a:p>
          </p:txBody>
        </p:sp>
        <p:sp>
          <p:nvSpPr>
            <p:cNvPr id="16" name="Cheurón 11">
              <a:extLst>
                <a:ext uri="{FF2B5EF4-FFF2-40B4-BE49-F238E27FC236}">
                  <a16:creationId xmlns:a16="http://schemas.microsoft.com/office/drawing/2014/main" xmlns="" id="{019E9503-08A7-9A6B-E9E6-FC573477CC64}"/>
                </a:ext>
              </a:extLst>
            </p:cNvPr>
            <p:cNvSpPr/>
            <p:nvPr/>
          </p:nvSpPr>
          <p:spPr>
            <a:xfrm>
              <a:off x="5103772" y="4278711"/>
              <a:ext cx="1965428" cy="1229197"/>
            </a:xfrm>
            <a:prstGeom prst="chevron">
              <a:avLst/>
            </a:prstGeom>
            <a:solidFill>
              <a:schemeClr val="accent2">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400" dirty="0">
                <a:solidFill>
                  <a:schemeClr val="tx1"/>
                </a:solidFill>
                <a:latin typeface="Inter" panose="020B0604020202020204" charset="0"/>
                <a:ea typeface="Inter" panose="020B0604020202020204"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p:cNvGrpSpPr/>
          <p:nvPr/>
        </p:nvGrpSpPr>
        <p:grpSpPr>
          <a:xfrm>
            <a:off x="3886200" y="226738"/>
            <a:ext cx="10116046" cy="2253857"/>
            <a:chOff x="0" y="0"/>
            <a:chExt cx="1438895" cy="320586"/>
          </a:xfrm>
        </p:grpSpPr>
        <p:sp>
          <p:nvSpPr>
            <p:cNvPr id="9" name="Freeform 9"/>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B8A82A81-DBF6-3002-F27D-09206A65ECBF}"/>
              </a:ext>
            </a:extLst>
          </p:cNvPr>
          <p:cNvSpPr txBox="1"/>
          <p:nvPr/>
        </p:nvSpPr>
        <p:spPr>
          <a:xfrm>
            <a:off x="914400" y="2577212"/>
            <a:ext cx="13716000"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3.1 PROCEDIMIENTO DE CONCESIÓN MINERA</a:t>
            </a:r>
            <a:endParaRPr lang="es-PE" sz="4000" b="1" dirty="0">
              <a:solidFill>
                <a:srgbClr val="A42F0F"/>
              </a:solidFill>
              <a:latin typeface="Futura Ultra-Bold"/>
            </a:endParaRPr>
          </a:p>
        </p:txBody>
      </p:sp>
      <p:grpSp>
        <p:nvGrpSpPr>
          <p:cNvPr id="37" name="Grupo 36">
            <a:extLst>
              <a:ext uri="{FF2B5EF4-FFF2-40B4-BE49-F238E27FC236}">
                <a16:creationId xmlns:a16="http://schemas.microsoft.com/office/drawing/2014/main" xmlns="" id="{08C7702A-543D-2C30-83AC-5F0BA96B889B}"/>
              </a:ext>
            </a:extLst>
          </p:cNvPr>
          <p:cNvGrpSpPr/>
          <p:nvPr/>
        </p:nvGrpSpPr>
        <p:grpSpPr>
          <a:xfrm>
            <a:off x="1476169" y="3619472"/>
            <a:ext cx="14066167" cy="6194220"/>
            <a:chOff x="1476169" y="3619472"/>
            <a:chExt cx="9693770" cy="5545496"/>
          </a:xfrm>
          <a:solidFill>
            <a:schemeClr val="accent2">
              <a:lumMod val="20000"/>
              <a:lumOff val="80000"/>
            </a:schemeClr>
          </a:solidFill>
        </p:grpSpPr>
        <p:sp>
          <p:nvSpPr>
            <p:cNvPr id="12" name="Título 1">
              <a:extLst>
                <a:ext uri="{FF2B5EF4-FFF2-40B4-BE49-F238E27FC236}">
                  <a16:creationId xmlns:a16="http://schemas.microsoft.com/office/drawing/2014/main" xmlns="" id="{DBB02278-F3D5-EFEE-BC70-EEFB3000AF71}"/>
                </a:ext>
              </a:extLst>
            </p:cNvPr>
            <p:cNvSpPr txBox="1">
              <a:spLocks/>
            </p:cNvSpPr>
            <p:nvPr/>
          </p:nvSpPr>
          <p:spPr>
            <a:xfrm>
              <a:off x="1476170" y="3619472"/>
              <a:ext cx="9693769" cy="670563"/>
            </a:xfrm>
            <a:prstGeom prst="rect">
              <a:avLst/>
            </a:prstGeom>
            <a:grpFill/>
            <a:ln w="28575" cap="flat" cmpd="sng" algn="ctr">
              <a:solidFill>
                <a:schemeClr val="accent2"/>
              </a:solidFill>
              <a:prstDash val="solid"/>
            </a:ln>
          </p:spPr>
          <p:style>
            <a:lnRef idx="1">
              <a:schemeClr val="accent4"/>
            </a:lnRef>
            <a:fillRef idx="2">
              <a:schemeClr val="accent4"/>
            </a:fillRef>
            <a:effectRef idx="1">
              <a:schemeClr val="accent4"/>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sz="3000" b="1" dirty="0">
                  <a:latin typeface="Inter" panose="020B0604020202020204" charset="0"/>
                  <a:ea typeface="Inter" panose="020B0604020202020204" charset="0"/>
                </a:rPr>
                <a:t>TUO DE LA LEY GENERAL DE MINERÍA - D.S. 014-94-EM </a:t>
              </a:r>
            </a:p>
          </p:txBody>
        </p:sp>
        <p:sp>
          <p:nvSpPr>
            <p:cNvPr id="13" name="CuadroTexto 12">
              <a:extLst>
                <a:ext uri="{FF2B5EF4-FFF2-40B4-BE49-F238E27FC236}">
                  <a16:creationId xmlns:a16="http://schemas.microsoft.com/office/drawing/2014/main" xmlns="" id="{207F3923-BC75-C36C-49A9-24E118B6D17A}"/>
                </a:ext>
              </a:extLst>
            </p:cNvPr>
            <p:cNvSpPr txBox="1"/>
            <p:nvPr/>
          </p:nvSpPr>
          <p:spPr>
            <a:xfrm>
              <a:off x="2104620" y="4517268"/>
              <a:ext cx="6036697" cy="413315"/>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Reglamento de Procedimientos Mineros</a:t>
              </a:r>
            </a:p>
          </p:txBody>
        </p:sp>
        <p:sp>
          <p:nvSpPr>
            <p:cNvPr id="14" name="CuadroTexto 13">
              <a:extLst>
                <a:ext uri="{FF2B5EF4-FFF2-40B4-BE49-F238E27FC236}">
                  <a16:creationId xmlns:a16="http://schemas.microsoft.com/office/drawing/2014/main" xmlns="" id="{44AE970D-53DC-AC26-3FC6-27AA88861DC0}"/>
                </a:ext>
              </a:extLst>
            </p:cNvPr>
            <p:cNvSpPr txBox="1"/>
            <p:nvPr/>
          </p:nvSpPr>
          <p:spPr>
            <a:xfrm>
              <a:off x="2104621" y="5065991"/>
              <a:ext cx="6036697" cy="413315"/>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Reglamento de Diversos Títulos del TUO de la LGM</a:t>
              </a:r>
            </a:p>
          </p:txBody>
        </p:sp>
        <p:sp>
          <p:nvSpPr>
            <p:cNvPr id="15" name="CuadroTexto 14">
              <a:extLst>
                <a:ext uri="{FF2B5EF4-FFF2-40B4-BE49-F238E27FC236}">
                  <a16:creationId xmlns:a16="http://schemas.microsoft.com/office/drawing/2014/main" xmlns="" id="{7B41BB30-96E2-A5DD-3766-73C86D1A5D7A}"/>
                </a:ext>
              </a:extLst>
            </p:cNvPr>
            <p:cNvSpPr txBox="1"/>
            <p:nvPr/>
          </p:nvSpPr>
          <p:spPr>
            <a:xfrm>
              <a:off x="2104621" y="5604329"/>
              <a:ext cx="6036697" cy="743966"/>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Reglamento sobre garantías y Promoción de la Inversión Minera</a:t>
              </a:r>
            </a:p>
          </p:txBody>
        </p:sp>
        <p:sp>
          <p:nvSpPr>
            <p:cNvPr id="16" name="CuadroTexto 15">
              <a:extLst>
                <a:ext uri="{FF2B5EF4-FFF2-40B4-BE49-F238E27FC236}">
                  <a16:creationId xmlns:a16="http://schemas.microsoft.com/office/drawing/2014/main" xmlns="" id="{CEA8257A-5BB8-BBBD-124D-A69F22E8F321}"/>
                </a:ext>
              </a:extLst>
            </p:cNvPr>
            <p:cNvSpPr txBox="1"/>
            <p:nvPr/>
          </p:nvSpPr>
          <p:spPr>
            <a:xfrm>
              <a:off x="2104621" y="6392838"/>
              <a:ext cx="6036697" cy="1405269"/>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Reglamento de Protección y Gestión Ambiental Para actividades de Explotación, beneficio, labor general , transporte y almacenamiento minero</a:t>
              </a:r>
            </a:p>
          </p:txBody>
        </p:sp>
        <p:sp>
          <p:nvSpPr>
            <p:cNvPr id="17" name="CuadroTexto 16">
              <a:extLst>
                <a:ext uri="{FF2B5EF4-FFF2-40B4-BE49-F238E27FC236}">
                  <a16:creationId xmlns:a16="http://schemas.microsoft.com/office/drawing/2014/main" xmlns="" id="{EF294A17-C2BD-23E0-10E4-49174A964B96}"/>
                </a:ext>
              </a:extLst>
            </p:cNvPr>
            <p:cNvSpPr txBox="1"/>
            <p:nvPr/>
          </p:nvSpPr>
          <p:spPr>
            <a:xfrm>
              <a:off x="2104621" y="7546165"/>
              <a:ext cx="6036697" cy="743966"/>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Reglamento de Protección Ambiental para Actividades de Exploración Minera</a:t>
              </a:r>
            </a:p>
          </p:txBody>
        </p:sp>
        <p:sp>
          <p:nvSpPr>
            <p:cNvPr id="18" name="CuadroTexto 17">
              <a:extLst>
                <a:ext uri="{FF2B5EF4-FFF2-40B4-BE49-F238E27FC236}">
                  <a16:creationId xmlns:a16="http://schemas.microsoft.com/office/drawing/2014/main" xmlns="" id="{147B4D3A-A0F5-D8C2-6AB3-DD869AA46CA6}"/>
                </a:ext>
              </a:extLst>
            </p:cNvPr>
            <p:cNvSpPr txBox="1"/>
            <p:nvPr/>
          </p:nvSpPr>
          <p:spPr>
            <a:xfrm>
              <a:off x="2104621" y="8421002"/>
              <a:ext cx="6036697" cy="743966"/>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Reglamento de Seguridad y Salud Ocupacional en Minería</a:t>
              </a:r>
            </a:p>
          </p:txBody>
        </p:sp>
        <p:sp>
          <p:nvSpPr>
            <p:cNvPr id="19" name="CuadroTexto 18">
              <a:extLst>
                <a:ext uri="{FF2B5EF4-FFF2-40B4-BE49-F238E27FC236}">
                  <a16:creationId xmlns:a16="http://schemas.microsoft.com/office/drawing/2014/main" xmlns="" id="{17D766CE-12BC-E972-9D16-7E23A782C68E}"/>
                </a:ext>
              </a:extLst>
            </p:cNvPr>
            <p:cNvSpPr txBox="1"/>
            <p:nvPr/>
          </p:nvSpPr>
          <p:spPr>
            <a:xfrm>
              <a:off x="9110577" y="4514137"/>
              <a:ext cx="2059362" cy="413315"/>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D.S. 020-2020-EM</a:t>
              </a:r>
            </a:p>
          </p:txBody>
        </p:sp>
        <p:sp>
          <p:nvSpPr>
            <p:cNvPr id="20" name="CuadroTexto 19">
              <a:extLst>
                <a:ext uri="{FF2B5EF4-FFF2-40B4-BE49-F238E27FC236}">
                  <a16:creationId xmlns:a16="http://schemas.microsoft.com/office/drawing/2014/main" xmlns="" id="{F8A0C540-B2FE-13EE-30FD-F8F7D1AC077C}"/>
                </a:ext>
              </a:extLst>
            </p:cNvPr>
            <p:cNvSpPr txBox="1"/>
            <p:nvPr/>
          </p:nvSpPr>
          <p:spPr>
            <a:xfrm>
              <a:off x="9110578" y="5228403"/>
              <a:ext cx="2059355" cy="413315"/>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D.S. 003-94-EM</a:t>
              </a:r>
            </a:p>
          </p:txBody>
        </p:sp>
        <p:sp>
          <p:nvSpPr>
            <p:cNvPr id="21" name="CuadroTexto 20">
              <a:extLst>
                <a:ext uri="{FF2B5EF4-FFF2-40B4-BE49-F238E27FC236}">
                  <a16:creationId xmlns:a16="http://schemas.microsoft.com/office/drawing/2014/main" xmlns="" id="{12A51751-515B-6E51-DE18-FE833F4B5095}"/>
                </a:ext>
              </a:extLst>
            </p:cNvPr>
            <p:cNvSpPr txBox="1"/>
            <p:nvPr/>
          </p:nvSpPr>
          <p:spPr>
            <a:xfrm>
              <a:off x="9110578" y="5778878"/>
              <a:ext cx="2059355" cy="413315"/>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D.S. 024-93-EM</a:t>
              </a:r>
            </a:p>
          </p:txBody>
        </p:sp>
        <p:sp>
          <p:nvSpPr>
            <p:cNvPr id="22" name="CuadroTexto 21">
              <a:extLst>
                <a:ext uri="{FF2B5EF4-FFF2-40B4-BE49-F238E27FC236}">
                  <a16:creationId xmlns:a16="http://schemas.microsoft.com/office/drawing/2014/main" xmlns="" id="{4C174B48-F7DA-CF9F-A880-0ADE089FD912}"/>
                </a:ext>
              </a:extLst>
            </p:cNvPr>
            <p:cNvSpPr txBox="1"/>
            <p:nvPr/>
          </p:nvSpPr>
          <p:spPr>
            <a:xfrm>
              <a:off x="9112276" y="6887813"/>
              <a:ext cx="2057657" cy="413315"/>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D.S. 040-2014-EM</a:t>
              </a:r>
            </a:p>
          </p:txBody>
        </p:sp>
        <p:sp>
          <p:nvSpPr>
            <p:cNvPr id="23" name="CuadroTexto 22">
              <a:extLst>
                <a:ext uri="{FF2B5EF4-FFF2-40B4-BE49-F238E27FC236}">
                  <a16:creationId xmlns:a16="http://schemas.microsoft.com/office/drawing/2014/main" xmlns="" id="{C4DADFE1-48E1-E0AA-217D-BD41C04FA193}"/>
                </a:ext>
              </a:extLst>
            </p:cNvPr>
            <p:cNvSpPr txBox="1"/>
            <p:nvPr/>
          </p:nvSpPr>
          <p:spPr>
            <a:xfrm>
              <a:off x="9110578" y="7724829"/>
              <a:ext cx="2059355" cy="413315"/>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D.S. 042-2017-EM</a:t>
              </a:r>
            </a:p>
          </p:txBody>
        </p:sp>
        <p:sp>
          <p:nvSpPr>
            <p:cNvPr id="24" name="CuadroTexto 23">
              <a:extLst>
                <a:ext uri="{FF2B5EF4-FFF2-40B4-BE49-F238E27FC236}">
                  <a16:creationId xmlns:a16="http://schemas.microsoft.com/office/drawing/2014/main" xmlns="" id="{4170B1FB-0361-4B4A-DEA1-1FEF5BD8D3C9}"/>
                </a:ext>
              </a:extLst>
            </p:cNvPr>
            <p:cNvSpPr txBox="1"/>
            <p:nvPr/>
          </p:nvSpPr>
          <p:spPr>
            <a:xfrm>
              <a:off x="9050161" y="8586328"/>
              <a:ext cx="2059355" cy="413315"/>
            </a:xfrm>
            <a:prstGeom prst="rect">
              <a:avLst/>
            </a:prstGeom>
            <a:grpFill/>
            <a:ln w="28575">
              <a:solidFill>
                <a:schemeClr val="accent2"/>
              </a:solid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PE" sz="2400" dirty="0">
                  <a:latin typeface="Inter" panose="020B0604020202020204" charset="0"/>
                  <a:ea typeface="Inter" panose="020B0604020202020204" charset="0"/>
                </a:rPr>
                <a:t>D.S. 024-2016-EM</a:t>
              </a:r>
            </a:p>
          </p:txBody>
        </p:sp>
        <p:cxnSp>
          <p:nvCxnSpPr>
            <p:cNvPr id="25" name="Conector recto 24">
              <a:extLst>
                <a:ext uri="{FF2B5EF4-FFF2-40B4-BE49-F238E27FC236}">
                  <a16:creationId xmlns:a16="http://schemas.microsoft.com/office/drawing/2014/main" xmlns="" id="{805DAA19-BA53-12A2-65F3-C0E431D40739}"/>
                </a:ext>
              </a:extLst>
            </p:cNvPr>
            <p:cNvCxnSpPr>
              <a:cxnSpLocks/>
              <a:stCxn id="13" idx="3"/>
              <a:endCxn id="19" idx="1"/>
            </p:cNvCxnSpPr>
            <p:nvPr/>
          </p:nvCxnSpPr>
          <p:spPr>
            <a:xfrm flipV="1">
              <a:off x="8141317" y="4720795"/>
              <a:ext cx="969260" cy="3131"/>
            </a:xfrm>
            <a:prstGeom prst="line">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26" name="Conector recto 25">
              <a:extLst>
                <a:ext uri="{FF2B5EF4-FFF2-40B4-BE49-F238E27FC236}">
                  <a16:creationId xmlns:a16="http://schemas.microsoft.com/office/drawing/2014/main" xmlns="" id="{C59CBECC-4193-9E08-E47A-2610773FA660}"/>
                </a:ext>
              </a:extLst>
            </p:cNvPr>
            <p:cNvCxnSpPr>
              <a:cxnSpLocks/>
              <a:stCxn id="14" idx="3"/>
              <a:endCxn id="20" idx="1"/>
            </p:cNvCxnSpPr>
            <p:nvPr/>
          </p:nvCxnSpPr>
          <p:spPr>
            <a:xfrm flipV="1">
              <a:off x="8141318" y="5435061"/>
              <a:ext cx="969260" cy="2914"/>
            </a:xfrm>
            <a:prstGeom prst="line">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27" name="Conector recto 26">
              <a:extLst>
                <a:ext uri="{FF2B5EF4-FFF2-40B4-BE49-F238E27FC236}">
                  <a16:creationId xmlns:a16="http://schemas.microsoft.com/office/drawing/2014/main" xmlns="" id="{4E6B75A5-7E49-4742-18CF-2335625111F5}"/>
                </a:ext>
              </a:extLst>
            </p:cNvPr>
            <p:cNvCxnSpPr>
              <a:cxnSpLocks/>
              <a:stCxn id="15" idx="3"/>
              <a:endCxn id="21" idx="1"/>
            </p:cNvCxnSpPr>
            <p:nvPr/>
          </p:nvCxnSpPr>
          <p:spPr>
            <a:xfrm>
              <a:off x="8141318" y="5976313"/>
              <a:ext cx="969260" cy="9223"/>
            </a:xfrm>
            <a:prstGeom prst="line">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28" name="Conector recto 27">
              <a:extLst>
                <a:ext uri="{FF2B5EF4-FFF2-40B4-BE49-F238E27FC236}">
                  <a16:creationId xmlns:a16="http://schemas.microsoft.com/office/drawing/2014/main" xmlns="" id="{7080F586-A7A7-5689-3F13-CAB6AEF46434}"/>
                </a:ext>
              </a:extLst>
            </p:cNvPr>
            <p:cNvCxnSpPr>
              <a:cxnSpLocks/>
              <a:stCxn id="16" idx="3"/>
              <a:endCxn id="22" idx="1"/>
            </p:cNvCxnSpPr>
            <p:nvPr/>
          </p:nvCxnSpPr>
          <p:spPr>
            <a:xfrm flipV="1">
              <a:off x="8141318" y="7094471"/>
              <a:ext cx="970957" cy="1001"/>
            </a:xfrm>
            <a:prstGeom prst="line">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29" name="Conector recto 28">
              <a:extLst>
                <a:ext uri="{FF2B5EF4-FFF2-40B4-BE49-F238E27FC236}">
                  <a16:creationId xmlns:a16="http://schemas.microsoft.com/office/drawing/2014/main" xmlns="" id="{79B3F456-3E71-72A2-37EB-254D52598F4B}"/>
                </a:ext>
              </a:extLst>
            </p:cNvPr>
            <p:cNvCxnSpPr>
              <a:cxnSpLocks/>
              <a:stCxn id="17" idx="3"/>
              <a:endCxn id="23" idx="1"/>
            </p:cNvCxnSpPr>
            <p:nvPr/>
          </p:nvCxnSpPr>
          <p:spPr>
            <a:xfrm>
              <a:off x="8141318" y="7918149"/>
              <a:ext cx="969260" cy="13338"/>
            </a:xfrm>
            <a:prstGeom prst="line">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30" name="Conector recto 29">
              <a:extLst>
                <a:ext uri="{FF2B5EF4-FFF2-40B4-BE49-F238E27FC236}">
                  <a16:creationId xmlns:a16="http://schemas.microsoft.com/office/drawing/2014/main" xmlns="" id="{3B95A8B7-E0F3-44BB-4B79-5A976C7F47EA}"/>
                </a:ext>
              </a:extLst>
            </p:cNvPr>
            <p:cNvCxnSpPr>
              <a:cxnSpLocks/>
              <a:stCxn id="18" idx="3"/>
              <a:endCxn id="24" idx="1"/>
            </p:cNvCxnSpPr>
            <p:nvPr/>
          </p:nvCxnSpPr>
          <p:spPr>
            <a:xfrm>
              <a:off x="8141318" y="8792985"/>
              <a:ext cx="908843" cy="0"/>
            </a:xfrm>
            <a:prstGeom prst="line">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31" name="Conector: angular 30">
              <a:extLst>
                <a:ext uri="{FF2B5EF4-FFF2-40B4-BE49-F238E27FC236}">
                  <a16:creationId xmlns:a16="http://schemas.microsoft.com/office/drawing/2014/main" xmlns="" id="{440A5FAC-B3AF-4DA1-960A-8375F547538C}"/>
                </a:ext>
              </a:extLst>
            </p:cNvPr>
            <p:cNvCxnSpPr>
              <a:cxnSpLocks/>
              <a:stCxn id="12" idx="1"/>
              <a:endCxn id="13" idx="1"/>
            </p:cNvCxnSpPr>
            <p:nvPr/>
          </p:nvCxnSpPr>
          <p:spPr>
            <a:xfrm rot="10800000" flipH="1" flipV="1">
              <a:off x="1476169" y="3954753"/>
              <a:ext cx="628450" cy="769172"/>
            </a:xfrm>
            <a:prstGeom prst="bentConnector3">
              <a:avLst>
                <a:gd name="adj1" fmla="val -30543"/>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32" name="Conector: angular 31">
              <a:extLst>
                <a:ext uri="{FF2B5EF4-FFF2-40B4-BE49-F238E27FC236}">
                  <a16:creationId xmlns:a16="http://schemas.microsoft.com/office/drawing/2014/main" xmlns="" id="{64B5CDF6-A3F2-1829-FB9C-57DA3C8E77AB}"/>
                </a:ext>
              </a:extLst>
            </p:cNvPr>
            <p:cNvCxnSpPr>
              <a:cxnSpLocks/>
              <a:stCxn id="12" idx="1"/>
              <a:endCxn id="14" idx="1"/>
            </p:cNvCxnSpPr>
            <p:nvPr/>
          </p:nvCxnSpPr>
          <p:spPr>
            <a:xfrm rot="10800000" flipH="1" flipV="1">
              <a:off x="1476170" y="3954753"/>
              <a:ext cx="628451" cy="1483221"/>
            </a:xfrm>
            <a:prstGeom prst="bentConnector3">
              <a:avLst>
                <a:gd name="adj1" fmla="val -30543"/>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33" name="Conector: angular 32">
              <a:extLst>
                <a:ext uri="{FF2B5EF4-FFF2-40B4-BE49-F238E27FC236}">
                  <a16:creationId xmlns:a16="http://schemas.microsoft.com/office/drawing/2014/main" xmlns="" id="{82619FAF-BF60-C3B1-6716-5B9578F01F33}"/>
                </a:ext>
              </a:extLst>
            </p:cNvPr>
            <p:cNvCxnSpPr>
              <a:cxnSpLocks/>
              <a:stCxn id="12" idx="1"/>
              <a:endCxn id="15" idx="1"/>
            </p:cNvCxnSpPr>
            <p:nvPr/>
          </p:nvCxnSpPr>
          <p:spPr>
            <a:xfrm rot="10800000" flipH="1" flipV="1">
              <a:off x="1476170" y="3954753"/>
              <a:ext cx="628451" cy="2021559"/>
            </a:xfrm>
            <a:prstGeom prst="bentConnector3">
              <a:avLst>
                <a:gd name="adj1" fmla="val -30543"/>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34" name="Conector: angular 33">
              <a:extLst>
                <a:ext uri="{FF2B5EF4-FFF2-40B4-BE49-F238E27FC236}">
                  <a16:creationId xmlns:a16="http://schemas.microsoft.com/office/drawing/2014/main" xmlns="" id="{9A439B40-10C1-7161-3492-AE3CD5F2ABB4}"/>
                </a:ext>
              </a:extLst>
            </p:cNvPr>
            <p:cNvCxnSpPr>
              <a:cxnSpLocks/>
              <a:stCxn id="12" idx="1"/>
              <a:endCxn id="16" idx="1"/>
            </p:cNvCxnSpPr>
            <p:nvPr/>
          </p:nvCxnSpPr>
          <p:spPr>
            <a:xfrm rot="10800000" flipH="1" flipV="1">
              <a:off x="1476170" y="3954754"/>
              <a:ext cx="628451" cy="3140718"/>
            </a:xfrm>
            <a:prstGeom prst="bentConnector3">
              <a:avLst>
                <a:gd name="adj1" fmla="val -30543"/>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35" name="Conector: angular 34">
              <a:extLst>
                <a:ext uri="{FF2B5EF4-FFF2-40B4-BE49-F238E27FC236}">
                  <a16:creationId xmlns:a16="http://schemas.microsoft.com/office/drawing/2014/main" xmlns="" id="{3DD2D2E6-5077-A264-DDF3-C54FA231E77D}"/>
                </a:ext>
              </a:extLst>
            </p:cNvPr>
            <p:cNvCxnSpPr>
              <a:cxnSpLocks/>
              <a:stCxn id="12" idx="1"/>
              <a:endCxn id="17" idx="1"/>
            </p:cNvCxnSpPr>
            <p:nvPr/>
          </p:nvCxnSpPr>
          <p:spPr>
            <a:xfrm rot="10800000" flipH="1" flipV="1">
              <a:off x="1476170" y="3954753"/>
              <a:ext cx="628451" cy="3963394"/>
            </a:xfrm>
            <a:prstGeom prst="bentConnector3">
              <a:avLst>
                <a:gd name="adj1" fmla="val -30543"/>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36" name="Conector: angular 35">
              <a:extLst>
                <a:ext uri="{FF2B5EF4-FFF2-40B4-BE49-F238E27FC236}">
                  <a16:creationId xmlns:a16="http://schemas.microsoft.com/office/drawing/2014/main" xmlns="" id="{71DB23EF-B2F5-0E18-0469-5EF672B78515}"/>
                </a:ext>
              </a:extLst>
            </p:cNvPr>
            <p:cNvCxnSpPr>
              <a:cxnSpLocks/>
              <a:stCxn id="12" idx="1"/>
              <a:endCxn id="18" idx="1"/>
            </p:cNvCxnSpPr>
            <p:nvPr/>
          </p:nvCxnSpPr>
          <p:spPr>
            <a:xfrm rot="10800000" flipH="1" flipV="1">
              <a:off x="1476170" y="3954754"/>
              <a:ext cx="628451" cy="4838231"/>
            </a:xfrm>
            <a:prstGeom prst="bentConnector3">
              <a:avLst>
                <a:gd name="adj1" fmla="val -30543"/>
              </a:avLst>
            </a:prstGeom>
            <a:grpFill/>
            <a:ln>
              <a:solidFill>
                <a:schemeClr val="accent2"/>
              </a:solidFill>
            </a:ln>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p14="http://schemas.microsoft.com/office/powerpoint/2010/main" val="3922315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p:cNvGrpSpPr/>
          <p:nvPr/>
        </p:nvGrpSpPr>
        <p:grpSpPr>
          <a:xfrm>
            <a:off x="3886200" y="226738"/>
            <a:ext cx="10116046" cy="2253857"/>
            <a:chOff x="0" y="0"/>
            <a:chExt cx="1438895" cy="320586"/>
          </a:xfrm>
        </p:grpSpPr>
        <p:sp>
          <p:nvSpPr>
            <p:cNvPr id="9" name="Freeform 9"/>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317B6AA8-9732-C18E-8755-5B294C095693}"/>
              </a:ext>
            </a:extLst>
          </p:cNvPr>
          <p:cNvSpPr txBox="1"/>
          <p:nvPr/>
        </p:nvSpPr>
        <p:spPr>
          <a:xfrm>
            <a:off x="914400" y="2754383"/>
            <a:ext cx="13716000"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3.1 PROCEDIMIENTO DE CONCESIÓN MINERA</a:t>
            </a:r>
            <a:endParaRPr lang="es-PE" sz="4000" b="1" dirty="0">
              <a:solidFill>
                <a:srgbClr val="A42F0F"/>
              </a:solidFill>
              <a:latin typeface="Futura Ultra-Bold"/>
            </a:endParaRPr>
          </a:p>
        </p:txBody>
      </p:sp>
      <p:sp>
        <p:nvSpPr>
          <p:cNvPr id="12" name="CuadroTexto 11">
            <a:extLst>
              <a:ext uri="{FF2B5EF4-FFF2-40B4-BE49-F238E27FC236}">
                <a16:creationId xmlns:a16="http://schemas.microsoft.com/office/drawing/2014/main" xmlns="" id="{54C55F04-9BF4-2F75-02FC-BC3628610057}"/>
              </a:ext>
            </a:extLst>
          </p:cNvPr>
          <p:cNvSpPr txBox="1"/>
          <p:nvPr/>
        </p:nvSpPr>
        <p:spPr>
          <a:xfrm>
            <a:off x="914400" y="3869497"/>
            <a:ext cx="6096000" cy="830997"/>
          </a:xfrm>
          <a:prstGeom prst="rect">
            <a:avLst/>
          </a:prstGeom>
          <a:solidFill>
            <a:schemeClr val="accent2">
              <a:lumMod val="20000"/>
              <a:lumOff val="80000"/>
            </a:schemeClr>
          </a:solidFill>
          <a:ln w="28575">
            <a:solidFill>
              <a:schemeClr val="accent2">
                <a:lumMod val="75000"/>
              </a:schemeClr>
            </a:solidFill>
          </a:ln>
        </p:spPr>
        <p:style>
          <a:lnRef idx="2">
            <a:schemeClr val="accent4"/>
          </a:lnRef>
          <a:fillRef idx="1">
            <a:schemeClr val="lt1"/>
          </a:fillRef>
          <a:effectRef idx="0">
            <a:schemeClr val="accent4"/>
          </a:effectRef>
          <a:fontRef idx="minor">
            <a:schemeClr val="dk1"/>
          </a:fontRef>
        </p:style>
        <p:txBody>
          <a:bodyPr wrap="square">
            <a:spAutoFit/>
          </a:bodyPr>
          <a:lstStyle/>
          <a:p>
            <a:pPr marL="180975" indent="-180975" algn="just">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Ley 26615 </a:t>
            </a:r>
            <a:r>
              <a:rPr lang="es-PE" sz="2400" dirty="0">
                <a:solidFill>
                  <a:schemeClr val="tx1"/>
                </a:solidFill>
                <a:latin typeface="Inter" panose="020B0604020202020204" charset="0"/>
                <a:ea typeface="Inter" panose="020B0604020202020204" charset="0"/>
              </a:rPr>
              <a:t>- Ley del Catastro Minero Nacional</a:t>
            </a:r>
          </a:p>
        </p:txBody>
      </p:sp>
      <p:sp>
        <p:nvSpPr>
          <p:cNvPr id="13" name="CuadroTexto 12">
            <a:extLst>
              <a:ext uri="{FF2B5EF4-FFF2-40B4-BE49-F238E27FC236}">
                <a16:creationId xmlns:a16="http://schemas.microsoft.com/office/drawing/2014/main" xmlns="" id="{B34321E1-D82A-AFF4-EF54-191AA93D77DD}"/>
              </a:ext>
            </a:extLst>
          </p:cNvPr>
          <p:cNvSpPr txBox="1"/>
          <p:nvPr/>
        </p:nvSpPr>
        <p:spPr>
          <a:xfrm>
            <a:off x="914400" y="5260148"/>
            <a:ext cx="6096000" cy="3046988"/>
          </a:xfrm>
          <a:prstGeom prst="rect">
            <a:avLst/>
          </a:prstGeom>
          <a:solidFill>
            <a:schemeClr val="accent2">
              <a:lumMod val="20000"/>
              <a:lumOff val="80000"/>
            </a:schemeClr>
          </a:solidFill>
          <a:ln w="28575">
            <a:solidFill>
              <a:schemeClr val="accent2">
                <a:lumMod val="75000"/>
              </a:schemeClr>
            </a:solidFill>
          </a:ln>
        </p:spPr>
        <p:style>
          <a:lnRef idx="2">
            <a:schemeClr val="accent4"/>
          </a:lnRef>
          <a:fillRef idx="1">
            <a:schemeClr val="lt1"/>
          </a:fillRef>
          <a:effectRef idx="0">
            <a:schemeClr val="accent4"/>
          </a:effectRef>
          <a:fontRef idx="minor">
            <a:schemeClr val="dk1"/>
          </a:fontRef>
        </p:style>
        <p:txBody>
          <a:bodyPr wrap="square">
            <a:spAutoFit/>
          </a:bodyPr>
          <a:lstStyle/>
          <a:p>
            <a:pPr marL="180975" indent="-180975" algn="just">
              <a:lnSpc>
                <a:spcPct val="100000"/>
              </a:lnSpc>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Ley N° 27015</a:t>
            </a:r>
            <a:r>
              <a:rPr lang="es-PE" sz="2400" dirty="0">
                <a:solidFill>
                  <a:schemeClr val="tx1"/>
                </a:solidFill>
                <a:latin typeface="Inter" panose="020B0604020202020204" charset="0"/>
                <a:ea typeface="Inter" panose="020B0604020202020204" charset="0"/>
              </a:rPr>
              <a:t> se aprobó la Ley que Regula las Concesiones Mineras en Áreas Urbanas y de Expansión Urbana;</a:t>
            </a:r>
          </a:p>
          <a:p>
            <a:pPr marL="180975" indent="-180975" algn="just">
              <a:lnSpc>
                <a:spcPct val="100000"/>
              </a:lnSpc>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D.S. N° 008-2002-EM</a:t>
            </a:r>
            <a:r>
              <a:rPr lang="es-PE" sz="2400" dirty="0">
                <a:solidFill>
                  <a:schemeClr val="tx1"/>
                </a:solidFill>
                <a:latin typeface="Inter" panose="020B0604020202020204" charset="0"/>
                <a:ea typeface="Inter" panose="020B0604020202020204" charset="0"/>
              </a:rPr>
              <a:t> - Reglamento de la Ley Especial que Regula el Otorgamiento de Concesiones Mineras en Áreas Urbanas y de Expansión Urbana</a:t>
            </a:r>
          </a:p>
        </p:txBody>
      </p:sp>
      <p:sp>
        <p:nvSpPr>
          <p:cNvPr id="14" name="CuadroTexto 13">
            <a:extLst>
              <a:ext uri="{FF2B5EF4-FFF2-40B4-BE49-F238E27FC236}">
                <a16:creationId xmlns:a16="http://schemas.microsoft.com/office/drawing/2014/main" xmlns="" id="{7CA3C7DA-D589-2828-B50E-CF181EF3D2AC}"/>
              </a:ext>
            </a:extLst>
          </p:cNvPr>
          <p:cNvSpPr txBox="1"/>
          <p:nvPr/>
        </p:nvSpPr>
        <p:spPr>
          <a:xfrm>
            <a:off x="7597772" y="3869497"/>
            <a:ext cx="6804027" cy="2308324"/>
          </a:xfrm>
          <a:prstGeom prst="rect">
            <a:avLst/>
          </a:prstGeom>
          <a:solidFill>
            <a:schemeClr val="accent2">
              <a:lumMod val="20000"/>
              <a:lumOff val="80000"/>
            </a:schemeClr>
          </a:solidFill>
          <a:ln w="28575">
            <a:solidFill>
              <a:schemeClr val="accent2">
                <a:lumMod val="75000"/>
              </a:schemeClr>
            </a:solidFill>
          </a:ln>
        </p:spPr>
        <p:style>
          <a:lnRef idx="2">
            <a:schemeClr val="accent4"/>
          </a:lnRef>
          <a:fillRef idx="1">
            <a:schemeClr val="lt1"/>
          </a:fillRef>
          <a:effectRef idx="0">
            <a:schemeClr val="accent4"/>
          </a:effectRef>
          <a:fontRef idx="minor">
            <a:schemeClr val="dk1"/>
          </a:fontRef>
        </p:style>
        <p:txBody>
          <a:bodyPr wrap="square">
            <a:spAutoFit/>
          </a:bodyPr>
          <a:lstStyle/>
          <a:p>
            <a:pPr indent="-180975" algn="just"/>
            <a:r>
              <a:rPr lang="es-PE" sz="2400" b="1" dirty="0">
                <a:solidFill>
                  <a:schemeClr val="tx1"/>
                </a:solidFill>
                <a:latin typeface="Inter" panose="020B0604020202020204" charset="0"/>
                <a:ea typeface="Inter" panose="020B0604020202020204" charset="0"/>
              </a:rPr>
              <a:t>Ley N° 27651</a:t>
            </a:r>
            <a:r>
              <a:rPr lang="es-PE" sz="2400" dirty="0">
                <a:solidFill>
                  <a:schemeClr val="tx1"/>
                </a:solidFill>
                <a:latin typeface="Inter" panose="020B0604020202020204" charset="0"/>
                <a:ea typeface="Inter" panose="020B0604020202020204" charset="0"/>
              </a:rPr>
              <a:t> - Ley de Formalización y Promoción de la Pequeña Minería y la Minería Artesanal</a:t>
            </a:r>
          </a:p>
          <a:p>
            <a:pPr indent="-180975" algn="just"/>
            <a:r>
              <a:rPr lang="es-PE" sz="2400" b="1" dirty="0">
                <a:solidFill>
                  <a:schemeClr val="tx1"/>
                </a:solidFill>
                <a:latin typeface="Inter" panose="020B0604020202020204" charset="0"/>
                <a:ea typeface="Inter" panose="020B0604020202020204" charset="0"/>
              </a:rPr>
              <a:t>D.S. N° 013-2002-EM</a:t>
            </a:r>
            <a:r>
              <a:rPr lang="es-PE" sz="2400" dirty="0">
                <a:solidFill>
                  <a:schemeClr val="tx1"/>
                </a:solidFill>
                <a:latin typeface="Inter" panose="020B0604020202020204" charset="0"/>
                <a:ea typeface="Inter" panose="020B0604020202020204" charset="0"/>
              </a:rPr>
              <a:t> - Reglamento de la Ley de Formalización y Promoción de la Pequeña Minería y la Minería Artesanal.</a:t>
            </a:r>
          </a:p>
        </p:txBody>
      </p:sp>
      <p:sp>
        <p:nvSpPr>
          <p:cNvPr id="15" name="CuadroTexto 14">
            <a:extLst>
              <a:ext uri="{FF2B5EF4-FFF2-40B4-BE49-F238E27FC236}">
                <a16:creationId xmlns:a16="http://schemas.microsoft.com/office/drawing/2014/main" xmlns="" id="{20D425EA-37A4-43DF-6DE4-D9F5407686E0}"/>
              </a:ext>
            </a:extLst>
          </p:cNvPr>
          <p:cNvSpPr txBox="1"/>
          <p:nvPr/>
        </p:nvSpPr>
        <p:spPr>
          <a:xfrm>
            <a:off x="7597773" y="6772094"/>
            <a:ext cx="6804026" cy="1569660"/>
          </a:xfrm>
          <a:prstGeom prst="rect">
            <a:avLst/>
          </a:prstGeom>
          <a:solidFill>
            <a:schemeClr val="accent2">
              <a:lumMod val="20000"/>
              <a:lumOff val="80000"/>
            </a:schemeClr>
          </a:solidFill>
          <a:ln w="28575">
            <a:solidFill>
              <a:schemeClr val="accent2">
                <a:lumMod val="75000"/>
              </a:schemeClr>
            </a:solidFill>
          </a:ln>
        </p:spPr>
        <p:style>
          <a:lnRef idx="2">
            <a:schemeClr val="accent4"/>
          </a:lnRef>
          <a:fillRef idx="1">
            <a:schemeClr val="lt1"/>
          </a:fillRef>
          <a:effectRef idx="0">
            <a:schemeClr val="accent4"/>
          </a:effectRef>
          <a:fontRef idx="minor">
            <a:schemeClr val="dk1"/>
          </a:fontRef>
        </p:style>
        <p:txBody>
          <a:bodyPr wrap="square">
            <a:spAutoFit/>
          </a:bodyPr>
          <a:lstStyle/>
          <a:p>
            <a:pPr indent="-180975" algn="just"/>
            <a:r>
              <a:rPr lang="es-PE" sz="2400" b="1" dirty="0">
                <a:solidFill>
                  <a:schemeClr val="tx1"/>
                </a:solidFill>
                <a:latin typeface="Inter" panose="020B0604020202020204" charset="0"/>
                <a:ea typeface="Inter" panose="020B0604020202020204" charset="0"/>
              </a:rPr>
              <a:t>Ley N° 28271</a:t>
            </a:r>
            <a:r>
              <a:rPr lang="es-PE" sz="2400" dirty="0">
                <a:solidFill>
                  <a:schemeClr val="tx1"/>
                </a:solidFill>
                <a:latin typeface="Inter" panose="020B0604020202020204" charset="0"/>
                <a:ea typeface="Inter" panose="020B0604020202020204" charset="0"/>
              </a:rPr>
              <a:t> - Ley que regula los pasivos ambientales de la actividad minera</a:t>
            </a:r>
          </a:p>
          <a:p>
            <a:pPr indent="-180975" algn="just"/>
            <a:r>
              <a:rPr lang="es-PE" sz="2400" b="1" dirty="0">
                <a:solidFill>
                  <a:schemeClr val="tx1"/>
                </a:solidFill>
                <a:latin typeface="Inter" panose="020B0604020202020204" charset="0"/>
                <a:ea typeface="Inter" panose="020B0604020202020204" charset="0"/>
              </a:rPr>
              <a:t>D.S. N° 059-2005-EM</a:t>
            </a:r>
            <a:r>
              <a:rPr lang="es-PE" sz="2400" dirty="0">
                <a:solidFill>
                  <a:schemeClr val="tx1"/>
                </a:solidFill>
                <a:latin typeface="Inter" panose="020B0604020202020204" charset="0"/>
                <a:ea typeface="Inter" panose="020B0604020202020204" charset="0"/>
              </a:rPr>
              <a:t> - Reglamento de Pasivos Ambientales de la Actividad Minera</a:t>
            </a:r>
          </a:p>
        </p:txBody>
      </p:sp>
    </p:spTree>
    <p:extLst>
      <p:ext uri="{BB962C8B-B14F-4D97-AF65-F5344CB8AC3E}">
        <p14:creationId xmlns:p14="http://schemas.microsoft.com/office/powerpoint/2010/main" val="16905696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C8D0F9-6AB4-7DA9-4493-ABFE4D762F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2AF8DF36-218E-9F00-37A2-E011A7E6CE83}"/>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27C45378-413C-969B-E9FF-9EAF226CA321}"/>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312C5D5A-B1E8-29B1-726E-680848085D7A}"/>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79422F66-9321-B475-9985-09937E6C06BE}"/>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1897A350-5661-F44E-DA75-C1AD25980167}"/>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147AEE6C-9CD8-BB6F-F583-52DDFF35D9FA}"/>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4A72D21A-2110-FC56-377E-4DB5AC77CE05}"/>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FBE6806E-C8BB-61CF-B12F-1E7CC79FB8DB}"/>
              </a:ext>
            </a:extLst>
          </p:cNvPr>
          <p:cNvSpPr txBox="1"/>
          <p:nvPr/>
        </p:nvSpPr>
        <p:spPr>
          <a:xfrm>
            <a:off x="914400" y="2754383"/>
            <a:ext cx="13716000"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3.1 PROCEDIMIENTO DE CONCESIÓN MINERA</a:t>
            </a:r>
            <a:endParaRPr lang="es-PE" sz="4000" b="1" dirty="0">
              <a:solidFill>
                <a:srgbClr val="A42F0F"/>
              </a:solidFill>
              <a:latin typeface="Futura Ultra-Bold"/>
            </a:endParaRPr>
          </a:p>
        </p:txBody>
      </p:sp>
      <p:sp>
        <p:nvSpPr>
          <p:cNvPr id="6" name="Marcador de contenido 3">
            <a:extLst>
              <a:ext uri="{FF2B5EF4-FFF2-40B4-BE49-F238E27FC236}">
                <a16:creationId xmlns:a16="http://schemas.microsoft.com/office/drawing/2014/main" xmlns="" id="{E2EFBDD3-9A8B-CD91-8D6C-1C373DD4BEDB}"/>
              </a:ext>
            </a:extLst>
          </p:cNvPr>
          <p:cNvSpPr txBox="1">
            <a:spLocks/>
          </p:cNvSpPr>
          <p:nvPr/>
        </p:nvSpPr>
        <p:spPr>
          <a:xfrm>
            <a:off x="7342283" y="3908796"/>
            <a:ext cx="7604837" cy="2951877"/>
          </a:xfrm>
          <a:prstGeom prst="rect">
            <a:avLst/>
          </a:prstGeom>
          <a:solidFill>
            <a:schemeClr val="accent2">
              <a:lumMod val="20000"/>
              <a:lumOff val="80000"/>
            </a:schemeClr>
          </a:solidFill>
          <a:ln w="28575" cap="flat" cmpd="sng" algn="ctr">
            <a:solidFill>
              <a:schemeClr val="accent2"/>
            </a:solidFill>
            <a:prstDash val="solid"/>
          </a:ln>
        </p:spPr>
        <p:style>
          <a:lnRef idx="2">
            <a:schemeClr val="accent4"/>
          </a:lnRef>
          <a:fillRef idx="1">
            <a:schemeClr val="lt1"/>
          </a:fillRef>
          <a:effectRef idx="0">
            <a:schemeClr val="accent4"/>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just">
              <a:buFont typeface="Arial" pitchFamily="34" charset="0"/>
              <a:buNone/>
            </a:pPr>
            <a:r>
              <a:rPr lang="es-PE" sz="2400" b="1" dirty="0">
                <a:solidFill>
                  <a:schemeClr val="tx1"/>
                </a:solidFill>
                <a:latin typeface="Inter" panose="020B0604020202020204" charset="0"/>
                <a:ea typeface="Inter" panose="020B0604020202020204" charset="0"/>
              </a:rPr>
              <a:t>Ley N° 30327</a:t>
            </a:r>
            <a:r>
              <a:rPr lang="es-PE" sz="2400" dirty="0">
                <a:solidFill>
                  <a:schemeClr val="tx1"/>
                </a:solidFill>
                <a:latin typeface="Inter" panose="020B0604020202020204" charset="0"/>
                <a:ea typeface="Inter" panose="020B0604020202020204" charset="0"/>
              </a:rPr>
              <a:t> - Ley de Promoción de las Inversiones para el Crecimiento Económico y el Desarrollo Sostenible</a:t>
            </a:r>
          </a:p>
          <a:p>
            <a:pPr marL="0" indent="0" algn="just">
              <a:buFont typeface="Arial" pitchFamily="34" charset="0"/>
              <a:buNone/>
            </a:pPr>
            <a:r>
              <a:rPr lang="es-PE" sz="2400" b="1" dirty="0">
                <a:solidFill>
                  <a:schemeClr val="tx1"/>
                </a:solidFill>
                <a:latin typeface="Inter" panose="020B0604020202020204" charset="0"/>
                <a:ea typeface="Inter" panose="020B0604020202020204" charset="0"/>
              </a:rPr>
              <a:t>D.S. N° 002-2016-VIVIENDA</a:t>
            </a:r>
            <a:r>
              <a:rPr lang="es-PE" sz="2400" dirty="0">
                <a:solidFill>
                  <a:schemeClr val="tx1"/>
                </a:solidFill>
                <a:latin typeface="Inter" panose="020B0604020202020204" charset="0"/>
                <a:ea typeface="Inter" panose="020B0604020202020204" charset="0"/>
              </a:rPr>
              <a:t> - Reglamento del Capítulo I del Título IV de la Ley Nº 30327, Ley de Promoción de las Inversiones para el Crecimiento Económico y el Desarrollo Sostenible</a:t>
            </a:r>
          </a:p>
        </p:txBody>
      </p:sp>
      <p:sp>
        <p:nvSpPr>
          <p:cNvPr id="10" name="CuadroTexto 9">
            <a:extLst>
              <a:ext uri="{FF2B5EF4-FFF2-40B4-BE49-F238E27FC236}">
                <a16:creationId xmlns:a16="http://schemas.microsoft.com/office/drawing/2014/main" xmlns="" id="{E87A16F8-3A88-F721-B21E-C15299CC5000}"/>
              </a:ext>
            </a:extLst>
          </p:cNvPr>
          <p:cNvSpPr txBox="1"/>
          <p:nvPr/>
        </p:nvSpPr>
        <p:spPr>
          <a:xfrm>
            <a:off x="1035424" y="3908796"/>
            <a:ext cx="5670175" cy="2730076"/>
          </a:xfrm>
          <a:prstGeom prst="rect">
            <a:avLst/>
          </a:prstGeom>
          <a:solidFill>
            <a:schemeClr val="accent2">
              <a:lumMod val="20000"/>
              <a:lumOff val="80000"/>
            </a:schemeClr>
          </a:solidFill>
          <a:ln w="28575">
            <a:solidFill>
              <a:schemeClr val="accent2"/>
            </a:solidFill>
          </a:ln>
        </p:spPr>
        <p:style>
          <a:lnRef idx="2">
            <a:schemeClr val="accent4"/>
          </a:lnRef>
          <a:fillRef idx="1">
            <a:schemeClr val="lt1"/>
          </a:fillRef>
          <a:effectRef idx="0">
            <a:schemeClr val="accent4"/>
          </a:effectRef>
          <a:fontRef idx="minor">
            <a:schemeClr val="dk1"/>
          </a:fontRef>
        </p:style>
        <p:txBody>
          <a:bodyPr wrap="square">
            <a:spAutoFit/>
          </a:bodyPr>
          <a:lstStyle/>
          <a:p>
            <a:pPr marL="180975" indent="-180975" algn="just">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Ley 26505</a:t>
            </a:r>
            <a:r>
              <a:rPr lang="es-PE" sz="2400" dirty="0">
                <a:solidFill>
                  <a:schemeClr val="tx1"/>
                </a:solidFill>
                <a:latin typeface="Inter" panose="020B0604020202020204" charset="0"/>
                <a:ea typeface="Inter" panose="020B0604020202020204" charset="0"/>
              </a:rPr>
              <a:t> - Ley de la inversión privada en el desarrollo de las actividades económicas en las tierras del territorio nacional y de las comunidades campesinas y nativas.</a:t>
            </a:r>
          </a:p>
          <a:p>
            <a:pPr marL="180975" indent="-180975" algn="just">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DS N° 017-96-AG</a:t>
            </a:r>
            <a:r>
              <a:rPr lang="es-PE" sz="2400" dirty="0">
                <a:solidFill>
                  <a:schemeClr val="tx1"/>
                </a:solidFill>
                <a:latin typeface="Inter" panose="020B0604020202020204" charset="0"/>
                <a:ea typeface="Inter" panose="020B0604020202020204" charset="0"/>
              </a:rPr>
              <a:t> - Reglamento del Artículo 7 de la Ley Nº 26505</a:t>
            </a:r>
          </a:p>
        </p:txBody>
      </p:sp>
      <p:sp>
        <p:nvSpPr>
          <p:cNvPr id="16" name="CuadroTexto 15">
            <a:extLst>
              <a:ext uri="{FF2B5EF4-FFF2-40B4-BE49-F238E27FC236}">
                <a16:creationId xmlns:a16="http://schemas.microsoft.com/office/drawing/2014/main" xmlns="" id="{C0B71CD5-C0E3-455A-E4BE-4722C43EB9A4}"/>
              </a:ext>
            </a:extLst>
          </p:cNvPr>
          <p:cNvSpPr txBox="1"/>
          <p:nvPr/>
        </p:nvSpPr>
        <p:spPr>
          <a:xfrm>
            <a:off x="1035425" y="7354543"/>
            <a:ext cx="5670175" cy="1569660"/>
          </a:xfrm>
          <a:prstGeom prst="rect">
            <a:avLst/>
          </a:prstGeom>
          <a:solidFill>
            <a:schemeClr val="accent2">
              <a:lumMod val="20000"/>
              <a:lumOff val="80000"/>
            </a:schemeClr>
          </a:solidFill>
          <a:ln w="28575">
            <a:solidFill>
              <a:schemeClr val="accent2"/>
            </a:solidFill>
          </a:ln>
        </p:spPr>
        <p:style>
          <a:lnRef idx="2">
            <a:schemeClr val="accent4"/>
          </a:lnRef>
          <a:fillRef idx="1">
            <a:schemeClr val="lt1"/>
          </a:fillRef>
          <a:effectRef idx="0">
            <a:schemeClr val="accent4"/>
          </a:effectRef>
          <a:fontRef idx="minor">
            <a:schemeClr val="dk1"/>
          </a:fontRef>
        </p:style>
        <p:txBody>
          <a:bodyPr wrap="square">
            <a:spAutoFit/>
          </a:bodyPr>
          <a:lstStyle/>
          <a:p>
            <a:pPr marL="180975" indent="-180975" algn="just">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Ley 28090</a:t>
            </a:r>
            <a:r>
              <a:rPr lang="es-PE" sz="2400" dirty="0">
                <a:solidFill>
                  <a:schemeClr val="tx1"/>
                </a:solidFill>
                <a:latin typeface="Inter" panose="020B0604020202020204" charset="0"/>
                <a:ea typeface="Inter" panose="020B0604020202020204" charset="0"/>
              </a:rPr>
              <a:t> - Ley que regula el Cierre de Minas </a:t>
            </a:r>
          </a:p>
          <a:p>
            <a:pPr marL="180975" indent="-180975" algn="just">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D.S. N° 033-2005-EM</a:t>
            </a:r>
            <a:r>
              <a:rPr lang="es-PE" sz="2400" dirty="0">
                <a:solidFill>
                  <a:schemeClr val="tx1"/>
                </a:solidFill>
                <a:latin typeface="Inter" panose="020B0604020202020204" charset="0"/>
                <a:ea typeface="Inter" panose="020B0604020202020204" charset="0"/>
              </a:rPr>
              <a:t> - Reglamento para el Cierre de Minas</a:t>
            </a:r>
          </a:p>
        </p:txBody>
      </p:sp>
      <p:sp>
        <p:nvSpPr>
          <p:cNvPr id="17" name="CuadroTexto 16">
            <a:extLst>
              <a:ext uri="{FF2B5EF4-FFF2-40B4-BE49-F238E27FC236}">
                <a16:creationId xmlns:a16="http://schemas.microsoft.com/office/drawing/2014/main" xmlns="" id="{48D8BB34-1E93-ABB5-2F67-4565C97C4E45}"/>
              </a:ext>
            </a:extLst>
          </p:cNvPr>
          <p:cNvSpPr txBox="1"/>
          <p:nvPr/>
        </p:nvSpPr>
        <p:spPr>
          <a:xfrm>
            <a:off x="7342283" y="7502040"/>
            <a:ext cx="7591432" cy="1200329"/>
          </a:xfrm>
          <a:prstGeom prst="rect">
            <a:avLst/>
          </a:prstGeom>
          <a:solidFill>
            <a:schemeClr val="accent2">
              <a:lumMod val="20000"/>
              <a:lumOff val="80000"/>
            </a:schemeClr>
          </a:solidFill>
          <a:ln w="28575">
            <a:solidFill>
              <a:schemeClr val="accent2"/>
            </a:solidFill>
          </a:ln>
        </p:spPr>
        <p:style>
          <a:lnRef idx="2">
            <a:schemeClr val="accent4"/>
          </a:lnRef>
          <a:fillRef idx="1">
            <a:schemeClr val="lt1"/>
          </a:fillRef>
          <a:effectRef idx="0">
            <a:schemeClr val="accent4"/>
          </a:effectRef>
          <a:fontRef idx="minor">
            <a:schemeClr val="dk1"/>
          </a:fontRef>
        </p:style>
        <p:txBody>
          <a:bodyPr wrap="square">
            <a:spAutoFit/>
          </a:bodyPr>
          <a:lstStyle/>
          <a:p>
            <a:pPr marL="180975" indent="-180975" algn="just">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Ley 29785 </a:t>
            </a:r>
            <a:r>
              <a:rPr lang="es-PE" sz="2400" dirty="0">
                <a:solidFill>
                  <a:schemeClr val="tx1"/>
                </a:solidFill>
                <a:latin typeface="Inter" panose="020B0604020202020204" charset="0"/>
                <a:ea typeface="Inter" panose="020B0604020202020204" charset="0"/>
              </a:rPr>
              <a:t>- Ley del derecho de la consulta previa a los pueblos indígenas</a:t>
            </a:r>
          </a:p>
          <a:p>
            <a:pPr marL="180975" indent="-180975" algn="just">
              <a:buFont typeface="Arial" panose="020B0604020202020204" pitchFamily="34" charset="0"/>
              <a:buChar char="•"/>
            </a:pPr>
            <a:r>
              <a:rPr lang="es-PE" sz="2400" b="1" dirty="0">
                <a:solidFill>
                  <a:schemeClr val="tx1"/>
                </a:solidFill>
                <a:latin typeface="Inter" panose="020B0604020202020204" charset="0"/>
                <a:ea typeface="Inter" panose="020B0604020202020204" charset="0"/>
              </a:rPr>
              <a:t>DS 001-2012-MC </a:t>
            </a:r>
            <a:r>
              <a:rPr lang="es-PE" sz="2400" dirty="0">
                <a:solidFill>
                  <a:schemeClr val="tx1"/>
                </a:solidFill>
                <a:latin typeface="Inter" panose="020B0604020202020204" charset="0"/>
                <a:ea typeface="Inter" panose="020B0604020202020204" charset="0"/>
              </a:rPr>
              <a:t>- Reglamento de la Ley 29785</a:t>
            </a:r>
          </a:p>
        </p:txBody>
      </p:sp>
    </p:spTree>
    <p:extLst>
      <p:ext uri="{BB962C8B-B14F-4D97-AF65-F5344CB8AC3E}">
        <p14:creationId xmlns:p14="http://schemas.microsoft.com/office/powerpoint/2010/main" val="1925866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6F9FA1D-1A4F-AC7A-A71F-40F161A130C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A76836E3-6A9F-2816-C81C-641980C36E96}"/>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567DF9AA-E201-D801-73A9-B783839EC4E9}"/>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5D81EB79-09F7-3C13-60CA-40ABA6DB87BD}"/>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C3479164-5F69-F6A3-6475-79C0A0BC66FB}"/>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629A8CBB-BF9C-AD93-2737-E6B58DFDE928}"/>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3DDB0174-4EAD-53B8-40C4-597A6DCB81D5}"/>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5A238017-BF20-2B34-440F-197A4CE4A753}"/>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F406C6A5-9B46-63BB-A1E9-62B88910CDE5}"/>
              </a:ext>
            </a:extLst>
          </p:cNvPr>
          <p:cNvSpPr txBox="1"/>
          <p:nvPr/>
        </p:nvSpPr>
        <p:spPr>
          <a:xfrm>
            <a:off x="914400" y="2754383"/>
            <a:ext cx="17373600" cy="1304203"/>
          </a:xfrm>
          <a:prstGeom prst="rect">
            <a:avLst/>
          </a:prstGeom>
          <a:noFill/>
        </p:spPr>
        <p:txBody>
          <a:bodyPr wrap="square">
            <a:spAutoFit/>
          </a:bodyPr>
          <a:lstStyle/>
          <a:p>
            <a:pPr>
              <a:lnSpc>
                <a:spcPts val="5039"/>
              </a:lnSpc>
            </a:pPr>
            <a:r>
              <a:rPr lang="es-PE" sz="4000" b="1" dirty="0" smtClean="0">
                <a:solidFill>
                  <a:srgbClr val="A42F0F"/>
                </a:solidFill>
                <a:latin typeface="Futura Ultra-Bold"/>
                <a:ea typeface="Futura Ultra-Bold"/>
                <a:cs typeface="Futura Ultra-Bold"/>
                <a:sym typeface="Futura Ultra-Bold"/>
              </a:rPr>
              <a:t>3.2 PROCEDIMIENTO DE OTORGAMIENTO DE CONCESIÓN MINERA</a:t>
            </a:r>
            <a:endParaRPr lang="es-PE" sz="4000" b="1" dirty="0">
              <a:solidFill>
                <a:srgbClr val="A42F0F"/>
              </a:solidFill>
              <a:latin typeface="Futura Ultra-Bold"/>
            </a:endParaRPr>
          </a:p>
        </p:txBody>
      </p:sp>
      <p:sp>
        <p:nvSpPr>
          <p:cNvPr id="13" name="CuadroTexto 12">
            <a:extLst>
              <a:ext uri="{FF2B5EF4-FFF2-40B4-BE49-F238E27FC236}">
                <a16:creationId xmlns:a16="http://schemas.microsoft.com/office/drawing/2014/main" xmlns="" id="{AE2CB8B1-9029-E444-869E-EA7A99EFF517}"/>
              </a:ext>
            </a:extLst>
          </p:cNvPr>
          <p:cNvSpPr txBox="1"/>
          <p:nvPr/>
        </p:nvSpPr>
        <p:spPr>
          <a:xfrm>
            <a:off x="914400" y="4231742"/>
            <a:ext cx="13258800" cy="16882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PE" sz="2400" dirty="0">
                <a:latin typeface="Inter" panose="020B0604020202020204" charset="0"/>
                <a:ea typeface="Inter" panose="020B0604020202020204" charset="0"/>
              </a:rPr>
              <a:t>El petitorio minero es una solicitud de concesión minera.</a:t>
            </a:r>
          </a:p>
          <a:p>
            <a:pPr marL="285750" indent="-285750">
              <a:lnSpc>
                <a:spcPct val="150000"/>
              </a:lnSpc>
              <a:buFont typeface="Arial" panose="020B0604020202020204" pitchFamily="34" charset="0"/>
              <a:buChar char="•"/>
            </a:pPr>
            <a:r>
              <a:rPr lang="es-PE" sz="2400" dirty="0">
                <a:latin typeface="Inter" panose="020B0604020202020204" charset="0"/>
                <a:ea typeface="Inter" panose="020B0604020202020204" charset="0"/>
              </a:rPr>
              <a:t>Se presenta en la mesa de partes del INGEMMET.</a:t>
            </a:r>
          </a:p>
          <a:p>
            <a:pPr marL="285750" indent="-285750">
              <a:lnSpc>
                <a:spcPct val="150000"/>
              </a:lnSpc>
              <a:buFont typeface="Arial" panose="020B0604020202020204" pitchFamily="34" charset="0"/>
              <a:buChar char="•"/>
            </a:pPr>
            <a:r>
              <a:rPr lang="es-PE" sz="2400" dirty="0">
                <a:latin typeface="Inter" panose="020B0604020202020204" charset="0"/>
                <a:ea typeface="Inter" panose="020B0604020202020204" charset="0"/>
              </a:rPr>
              <a:t>Al momento que se recibe el petitorio se le asigna un código en forma automática</a:t>
            </a:r>
          </a:p>
        </p:txBody>
      </p:sp>
      <p:pic>
        <p:nvPicPr>
          <p:cNvPr id="24" name="Imagen 23">
            <a:extLst>
              <a:ext uri="{FF2B5EF4-FFF2-40B4-BE49-F238E27FC236}">
                <a16:creationId xmlns:a16="http://schemas.microsoft.com/office/drawing/2014/main" xmlns="" id="{02748B75-FACC-9675-D209-80D9DC1CE7C5}"/>
              </a:ext>
            </a:extLst>
          </p:cNvPr>
          <p:cNvPicPr>
            <a:picLocks noChangeAspect="1"/>
          </p:cNvPicPr>
          <p:nvPr/>
        </p:nvPicPr>
        <p:blipFill>
          <a:blip r:embed="rId6"/>
          <a:stretch>
            <a:fillRect/>
          </a:stretch>
        </p:blipFill>
        <p:spPr>
          <a:xfrm>
            <a:off x="4432791" y="6093117"/>
            <a:ext cx="6222018" cy="3713140"/>
          </a:xfrm>
          <a:prstGeom prst="rect">
            <a:avLst/>
          </a:prstGeom>
        </p:spPr>
      </p:pic>
      <p:pic>
        <p:nvPicPr>
          <p:cNvPr id="2050"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6593" t="24399" r="39968" b="16232"/>
          <a:stretch/>
        </p:blipFill>
        <p:spPr bwMode="auto">
          <a:xfrm>
            <a:off x="11044441" y="5936290"/>
            <a:ext cx="5915609" cy="3694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Rectángulo"/>
          <p:cNvSpPr/>
          <p:nvPr/>
        </p:nvSpPr>
        <p:spPr>
          <a:xfrm>
            <a:off x="11828354" y="4058586"/>
            <a:ext cx="5018425" cy="369332"/>
          </a:xfrm>
          <a:prstGeom prst="rect">
            <a:avLst/>
          </a:prstGeom>
        </p:spPr>
        <p:txBody>
          <a:bodyPr wrap="none">
            <a:spAutoFit/>
          </a:bodyPr>
          <a:lstStyle/>
          <a:p>
            <a:r>
              <a:rPr lang="es-PE" dirty="0"/>
              <a:t>https://www.youtube.com/watch?v=AAylWQrK2eU</a:t>
            </a:r>
          </a:p>
        </p:txBody>
      </p:sp>
    </p:spTree>
    <p:extLst>
      <p:ext uri="{BB962C8B-B14F-4D97-AF65-F5344CB8AC3E}">
        <p14:creationId xmlns:p14="http://schemas.microsoft.com/office/powerpoint/2010/main" val="1570048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DBFE76-E74E-B8C7-450A-F0D36D0F526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9940D5D2-E5C8-143E-1A1D-5F75E2377490}"/>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564A17C1-8586-22D9-D811-B0B9ACAE22DF}"/>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1E9EF67F-C31D-6B3F-7359-0A9E7CB41439}"/>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B9D436F0-95DC-3324-C1A8-469D6CC1AD73}"/>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BFC76763-D8DB-F060-0D26-57BC05C22032}"/>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1A9EAA9A-9ADD-AEA9-8D78-D43CC16233E2}"/>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F08CECC9-8994-DDEF-1A8A-83161811B0BC}"/>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EDC4622F-640D-BD26-24D8-9ACD00E5A3B2}"/>
              </a:ext>
            </a:extLst>
          </p:cNvPr>
          <p:cNvSpPr txBox="1"/>
          <p:nvPr/>
        </p:nvSpPr>
        <p:spPr>
          <a:xfrm>
            <a:off x="914400" y="2754383"/>
            <a:ext cx="11734800" cy="1304203"/>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3.2 PROCEDIMIENTO DE OTORGAMIENTO DE CONCESIÓN MINERA</a:t>
            </a:r>
            <a:endParaRPr lang="es-PE" sz="4000" b="1" dirty="0">
              <a:solidFill>
                <a:srgbClr val="A42F0F"/>
              </a:solidFill>
              <a:latin typeface="Futura Ultra-Bold"/>
            </a:endParaRPr>
          </a:p>
        </p:txBody>
      </p:sp>
      <p:sp>
        <p:nvSpPr>
          <p:cNvPr id="13" name="CuadroTexto 12">
            <a:extLst>
              <a:ext uri="{FF2B5EF4-FFF2-40B4-BE49-F238E27FC236}">
                <a16:creationId xmlns:a16="http://schemas.microsoft.com/office/drawing/2014/main" xmlns="" id="{B170AA61-47A4-F555-C843-71594622FB1B}"/>
              </a:ext>
            </a:extLst>
          </p:cNvPr>
          <p:cNvSpPr txBox="1"/>
          <p:nvPr/>
        </p:nvSpPr>
        <p:spPr>
          <a:xfrm>
            <a:off x="914400" y="4096501"/>
            <a:ext cx="6292093" cy="587148"/>
          </a:xfrm>
          <a:prstGeom prst="rect">
            <a:avLst/>
          </a:prstGeom>
          <a:noFill/>
        </p:spPr>
        <p:txBody>
          <a:bodyPr wrap="square">
            <a:spAutoFit/>
          </a:bodyPr>
          <a:lstStyle/>
          <a:p>
            <a:pPr>
              <a:lnSpc>
                <a:spcPct val="150000"/>
              </a:lnSpc>
            </a:pPr>
            <a:r>
              <a:rPr lang="es-PE" sz="2400" b="1" dirty="0">
                <a:solidFill>
                  <a:schemeClr val="accent2"/>
                </a:solidFill>
                <a:effectLst/>
                <a:latin typeface="+mn-lt"/>
                <a:ea typeface="Times New Roman" panose="02020603050405020304" pitchFamily="18" charset="0"/>
              </a:rPr>
              <a:t>Código único de petitorios de concesión minera</a:t>
            </a:r>
            <a:endParaRPr lang="es-PE" sz="2400" dirty="0">
              <a:solidFill>
                <a:schemeClr val="accent2"/>
              </a:solidFill>
              <a:latin typeface="Inter" panose="020B0604020202020204" charset="0"/>
              <a:ea typeface="Inter" panose="020B0604020202020204" charset="0"/>
            </a:endParaRPr>
          </a:p>
        </p:txBody>
      </p:sp>
      <p:sp>
        <p:nvSpPr>
          <p:cNvPr id="10" name="CuadroTexto 9">
            <a:extLst>
              <a:ext uri="{FF2B5EF4-FFF2-40B4-BE49-F238E27FC236}">
                <a16:creationId xmlns:a16="http://schemas.microsoft.com/office/drawing/2014/main" xmlns="" id="{2C6AAF2F-AA03-B8B9-3EBE-0B8BC659D1CD}"/>
              </a:ext>
            </a:extLst>
          </p:cNvPr>
          <p:cNvSpPr txBox="1"/>
          <p:nvPr/>
        </p:nvSpPr>
        <p:spPr>
          <a:xfrm>
            <a:off x="914400" y="5017714"/>
            <a:ext cx="6781800" cy="4154984"/>
          </a:xfrm>
          <a:prstGeom prst="rect">
            <a:avLst/>
          </a:prstGeom>
          <a:noFill/>
        </p:spPr>
        <p:txBody>
          <a:bodyPr wrap="square">
            <a:spAutoFit/>
          </a:bodyPr>
          <a:lstStyle/>
          <a:p>
            <a:pPr marL="0" indent="0">
              <a:buNone/>
            </a:pPr>
            <a:r>
              <a:rPr lang="es-PE" sz="2400" dirty="0">
                <a:effectLst/>
                <a:latin typeface="Inter" panose="020B0604020202020204" charset="0"/>
                <a:ea typeface="Inter" panose="020B0604020202020204" charset="0"/>
              </a:rPr>
              <a:t>El código único de petitorio de concesión minera está conformado por un conjunto de letras y/o números cuyos dos (2) primeros dígitos corresponden a la identificación del Gobierno Regional, los cinco (5) siguientes a números correlativos empezando del 00001 y los dos (2) últimos al año calendario.</a:t>
            </a:r>
          </a:p>
          <a:p>
            <a:pPr marL="0" indent="0">
              <a:buNone/>
            </a:pPr>
            <a:endParaRPr lang="es-PE" sz="2400" dirty="0">
              <a:effectLst/>
              <a:latin typeface="Inter" panose="020B0604020202020204" charset="0"/>
              <a:ea typeface="Inter" panose="020B0604020202020204" charset="0"/>
            </a:endParaRPr>
          </a:p>
          <a:p>
            <a:pPr marL="0" indent="0">
              <a:buNone/>
            </a:pPr>
            <a:r>
              <a:rPr lang="es-PE" sz="2400" dirty="0">
                <a:effectLst/>
                <a:latin typeface="Inter" panose="020B0604020202020204" charset="0"/>
                <a:ea typeface="Inter" panose="020B0604020202020204" charset="0"/>
              </a:rPr>
              <a:t>Los dos primeros dígitos del código único de petitorio de concesión minera para cada Gobierno Regional son los siguientes</a:t>
            </a:r>
            <a:endParaRPr lang="es-PE" sz="2400" dirty="0">
              <a:latin typeface="Inter" panose="020B0604020202020204" charset="0"/>
              <a:ea typeface="Inter" panose="020B0604020202020204" charset="0"/>
            </a:endParaRPr>
          </a:p>
        </p:txBody>
      </p:sp>
      <p:graphicFrame>
        <p:nvGraphicFramePr>
          <p:cNvPr id="12" name="Tabla 11">
            <a:extLst>
              <a:ext uri="{FF2B5EF4-FFF2-40B4-BE49-F238E27FC236}">
                <a16:creationId xmlns:a16="http://schemas.microsoft.com/office/drawing/2014/main" xmlns="" id="{3758995D-1201-26AA-68A2-9B01BDFDA7F5}"/>
              </a:ext>
            </a:extLst>
          </p:cNvPr>
          <p:cNvGraphicFramePr>
            <a:graphicFrameLocks noGrp="1"/>
          </p:cNvGraphicFramePr>
          <p:nvPr>
            <p:extLst>
              <p:ext uri="{D42A27DB-BD31-4B8C-83A1-F6EECF244321}">
                <p14:modId xmlns:p14="http://schemas.microsoft.com/office/powerpoint/2010/main" val="3794977362"/>
              </p:ext>
            </p:extLst>
          </p:nvPr>
        </p:nvGraphicFramePr>
        <p:xfrm>
          <a:off x="8534400" y="3667918"/>
          <a:ext cx="7699998" cy="6378026"/>
        </p:xfrm>
        <a:graphic>
          <a:graphicData uri="http://schemas.openxmlformats.org/drawingml/2006/table">
            <a:tbl>
              <a:tblPr firstRow="1" firstCol="1" bandRow="1">
                <a:tableStyleId>{5C22544A-7EE6-4342-B048-85BDC9FD1C3A}</a:tableStyleId>
              </a:tblPr>
              <a:tblGrid>
                <a:gridCol w="59343">
                  <a:extLst>
                    <a:ext uri="{9D8B030D-6E8A-4147-A177-3AD203B41FA5}">
                      <a16:colId xmlns:a16="http://schemas.microsoft.com/office/drawing/2014/main" xmlns="" val="2247731660"/>
                    </a:ext>
                  </a:extLst>
                </a:gridCol>
                <a:gridCol w="3031096">
                  <a:extLst>
                    <a:ext uri="{9D8B030D-6E8A-4147-A177-3AD203B41FA5}">
                      <a16:colId xmlns:a16="http://schemas.microsoft.com/office/drawing/2014/main" xmlns="" val="4218926869"/>
                    </a:ext>
                  </a:extLst>
                </a:gridCol>
                <a:gridCol w="896360">
                  <a:extLst>
                    <a:ext uri="{9D8B030D-6E8A-4147-A177-3AD203B41FA5}">
                      <a16:colId xmlns:a16="http://schemas.microsoft.com/office/drawing/2014/main" xmlns="" val="2182715949"/>
                    </a:ext>
                  </a:extLst>
                </a:gridCol>
                <a:gridCol w="3002469">
                  <a:extLst>
                    <a:ext uri="{9D8B030D-6E8A-4147-A177-3AD203B41FA5}">
                      <a16:colId xmlns:a16="http://schemas.microsoft.com/office/drawing/2014/main" xmlns="" val="1991317968"/>
                    </a:ext>
                  </a:extLst>
                </a:gridCol>
                <a:gridCol w="710730">
                  <a:extLst>
                    <a:ext uri="{9D8B030D-6E8A-4147-A177-3AD203B41FA5}">
                      <a16:colId xmlns:a16="http://schemas.microsoft.com/office/drawing/2014/main" xmlns="" val="2333725829"/>
                    </a:ext>
                  </a:extLst>
                </a:gridCol>
              </a:tblGrid>
              <a:tr h="433440">
                <a:tc gridSpan="5">
                  <a:txBody>
                    <a:bodyPr/>
                    <a:lstStyle/>
                    <a:p>
                      <a:pPr algn="just">
                        <a:lnSpc>
                          <a:spcPct val="115000"/>
                        </a:lnSpc>
                      </a:pPr>
                      <a:r>
                        <a:rPr lang="es-PE" sz="2400" b="1" kern="100" dirty="0">
                          <a:solidFill>
                            <a:schemeClr val="accent2">
                              <a:lumMod val="50000"/>
                            </a:schemeClr>
                          </a:solidFill>
                          <a:effectLst/>
                          <a:latin typeface="Inter" panose="020B0604020202020204" charset="0"/>
                          <a:ea typeface="Inter" panose="020B0604020202020204" charset="0"/>
                        </a:rPr>
                        <a:t>GOBIERNO REGIONAL (2) PRIMEROS DÍGITOS</a:t>
                      </a:r>
                      <a:endParaRPr lang="es-PE" sz="2400" b="1" kern="100" dirty="0">
                        <a:solidFill>
                          <a:schemeClr val="accent2">
                            <a:lumMod val="50000"/>
                          </a:schemeClr>
                        </a:solidFill>
                        <a:effectLst/>
                        <a:latin typeface="Inter" panose="020B0604020202020204" charset="0"/>
                        <a:ea typeface="Inter" panose="020B0604020202020204" charset="0"/>
                        <a:cs typeface="Times New Roman" panose="02020603050405020304" pitchFamily="18" charset="0"/>
                      </a:endParaRPr>
                    </a:p>
                  </a:txBody>
                  <a:tcPr marL="28575" marR="28575" marT="28575" marB="28575" anchor="ctr">
                    <a:gradFill>
                      <a:gsLst>
                        <a:gs pos="0">
                          <a:schemeClr val="accent2">
                            <a:lumMod val="75000"/>
                          </a:schemeClr>
                        </a:gs>
                        <a:gs pos="15000">
                          <a:schemeClr val="accent2">
                            <a:lumMod val="60000"/>
                            <a:lumOff val="40000"/>
                          </a:schemeClr>
                        </a:gs>
                        <a:gs pos="52000">
                          <a:schemeClr val="accent2">
                            <a:lumMod val="40000"/>
                            <a:lumOff val="60000"/>
                          </a:schemeClr>
                        </a:gs>
                        <a:gs pos="100000">
                          <a:schemeClr val="bg1"/>
                        </a:gs>
                      </a:gsLst>
                      <a:lin ang="5400000" scaled="1"/>
                    </a:gra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xmlns="" val="3151407516"/>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AMAZONAS</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51</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LAMBAYEQUE</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64</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4176119168"/>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ANCASH</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52</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LIMA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65</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1930293396"/>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APURÍMAC</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53</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LORETO</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66</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4084057735"/>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AREQUIPA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54</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MADRE DE DIOS</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67</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1088517647"/>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AYACUCHO</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55</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MOQUEGUA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68</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4170925375"/>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CAJAMARCA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56</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PASCO</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69</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1901385656"/>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CALLAO</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57</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PIURA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70</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2088283750"/>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CUSCO</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58</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PUNO</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71</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1951990472"/>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HUANCAVELICA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59</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SAN MARTÍN</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72</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3906164645"/>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HUÁNUCO</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60</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TACNA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73</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2623529640"/>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ICA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61</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TUMBES</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74</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4060794315"/>
                  </a:ext>
                </a:extLst>
              </a:tr>
              <a:tr h="433440">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JUNÍN</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62</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UCAYALI</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75</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179341622"/>
                  </a:ext>
                </a:extLst>
              </a:tr>
              <a:tr h="698972">
                <a:tc>
                  <a:txBody>
                    <a:bodyPr/>
                    <a:lstStyle/>
                    <a:p>
                      <a:pPr>
                        <a:lnSpc>
                          <a:spcPct val="107000"/>
                        </a:lnSpc>
                      </a:pPr>
                      <a:r>
                        <a:rPr lang="es-PE" sz="2000" kern="100" dirty="0">
                          <a:effectLst/>
                          <a:latin typeface="Inter" panose="020B0604020202020204" charset="0"/>
                          <a:ea typeface="Inter" panose="020B0604020202020204" charset="0"/>
                        </a:rPr>
                        <a:t> </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0" marR="0" marT="0" marB="0" anchor="ctr">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LA LIBERTAD</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63</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LIMA METROPOLITANA</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tc>
                  <a:txBody>
                    <a:bodyPr/>
                    <a:lstStyle/>
                    <a:p>
                      <a:pPr algn="just">
                        <a:lnSpc>
                          <a:spcPct val="115000"/>
                        </a:lnSpc>
                      </a:pPr>
                      <a:r>
                        <a:rPr lang="es-PE" sz="2000" kern="100" dirty="0">
                          <a:effectLst/>
                          <a:latin typeface="Inter" panose="020B0604020202020204" charset="0"/>
                          <a:ea typeface="Inter" panose="020B0604020202020204" charset="0"/>
                        </a:rPr>
                        <a:t>76</a:t>
                      </a:r>
                      <a:endParaRPr lang="es-PE" sz="2000" kern="100" dirty="0">
                        <a:effectLst/>
                        <a:latin typeface="Inter" panose="020B0604020202020204" charset="0"/>
                        <a:ea typeface="Inter" panose="020B0604020202020204" charset="0"/>
                        <a:cs typeface="Times New Roman" panose="02020603050405020304" pitchFamily="18" charset="0"/>
                      </a:endParaRPr>
                    </a:p>
                  </a:txBody>
                  <a:tcPr marL="28575" marR="28575" marT="28575" marB="28575">
                    <a:gradFill>
                      <a:gsLst>
                        <a:gs pos="0">
                          <a:schemeClr val="accent2">
                            <a:lumMod val="75000"/>
                          </a:schemeClr>
                        </a:gs>
                        <a:gs pos="33000">
                          <a:schemeClr val="accent2">
                            <a:lumMod val="60000"/>
                            <a:lumOff val="40000"/>
                          </a:schemeClr>
                        </a:gs>
                        <a:gs pos="71000">
                          <a:schemeClr val="accent2">
                            <a:lumMod val="40000"/>
                            <a:lumOff val="60000"/>
                          </a:schemeClr>
                        </a:gs>
                        <a:gs pos="100000">
                          <a:schemeClr val="bg1"/>
                        </a:gs>
                      </a:gsLst>
                      <a:lin ang="5400000" scaled="1"/>
                    </a:gradFill>
                  </a:tcPr>
                </a:tc>
                <a:extLst>
                  <a:ext uri="{0D108BD9-81ED-4DB2-BD59-A6C34878D82A}">
                    <a16:rowId xmlns:a16="http://schemas.microsoft.com/office/drawing/2014/main" xmlns="" val="3303994496"/>
                  </a:ext>
                </a:extLst>
              </a:tr>
            </a:tbl>
          </a:graphicData>
        </a:graphic>
      </p:graphicFrame>
    </p:spTree>
    <p:extLst>
      <p:ext uri="{BB962C8B-B14F-4D97-AF65-F5344CB8AC3E}">
        <p14:creationId xmlns:p14="http://schemas.microsoft.com/office/powerpoint/2010/main" val="3399994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367BF0-A26A-9F10-E54B-DCA7359D450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98FA93CD-BCE3-A595-8B85-311B42AE3951}"/>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85573BD9-9CF6-3193-270E-AF27BF80D46D}"/>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42659E51-AB8C-CE84-43BB-63AE0BE51781}"/>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A82F52EA-5C35-7AC3-66F3-E04F87D9CCAE}"/>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AC133B55-9124-C278-984E-AEF51CE75083}"/>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E0D00367-239A-CF66-B019-794E91D1CF06}"/>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4705A07E-FA4E-DC63-4476-E6EAB4CB5333}"/>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05CA59A6-EF28-00C1-B8BD-AEA0CDA725C4}"/>
              </a:ext>
            </a:extLst>
          </p:cNvPr>
          <p:cNvSpPr txBox="1"/>
          <p:nvPr/>
        </p:nvSpPr>
        <p:spPr>
          <a:xfrm>
            <a:off x="914400" y="2624889"/>
            <a:ext cx="11887200" cy="1304203"/>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3.2 PROCEDIMIENTO DE OTORGAMIENTO DE CONCESIÓN MINERA</a:t>
            </a:r>
            <a:endParaRPr lang="es-PE" sz="4000" b="1" dirty="0">
              <a:solidFill>
                <a:srgbClr val="A42F0F"/>
              </a:solidFill>
              <a:latin typeface="Futura Ultra-Bold"/>
            </a:endParaRPr>
          </a:p>
        </p:txBody>
      </p:sp>
      <p:sp>
        <p:nvSpPr>
          <p:cNvPr id="13" name="CuadroTexto 12">
            <a:extLst>
              <a:ext uri="{FF2B5EF4-FFF2-40B4-BE49-F238E27FC236}">
                <a16:creationId xmlns:a16="http://schemas.microsoft.com/office/drawing/2014/main" xmlns="" id="{09229FAB-CC94-D029-552C-22C9388C7EA9}"/>
              </a:ext>
            </a:extLst>
          </p:cNvPr>
          <p:cNvSpPr txBox="1"/>
          <p:nvPr/>
        </p:nvSpPr>
        <p:spPr>
          <a:xfrm>
            <a:off x="914400" y="3974162"/>
            <a:ext cx="6292093" cy="710900"/>
          </a:xfrm>
          <a:prstGeom prst="rect">
            <a:avLst/>
          </a:prstGeom>
          <a:noFill/>
        </p:spPr>
        <p:txBody>
          <a:bodyPr wrap="square">
            <a:spAutoFit/>
          </a:bodyPr>
          <a:lstStyle/>
          <a:p>
            <a:pPr>
              <a:lnSpc>
                <a:spcPct val="150000"/>
              </a:lnSpc>
            </a:pPr>
            <a:r>
              <a:rPr lang="es-PE" sz="3000" b="1" dirty="0">
                <a:solidFill>
                  <a:schemeClr val="accent2"/>
                </a:solidFill>
                <a:effectLst/>
                <a:latin typeface="+mn-lt"/>
                <a:ea typeface="Times New Roman" panose="02020603050405020304" pitchFamily="18" charset="0"/>
              </a:rPr>
              <a:t>PETITORIO MINERO – REQUISITOS </a:t>
            </a:r>
            <a:endParaRPr lang="es-PE" sz="3000" dirty="0">
              <a:solidFill>
                <a:schemeClr val="accent2"/>
              </a:solidFill>
              <a:latin typeface="Inter" panose="020B0604020202020204" charset="0"/>
              <a:ea typeface="Inter" panose="020B0604020202020204" charset="0"/>
            </a:endParaRPr>
          </a:p>
        </p:txBody>
      </p:sp>
      <p:sp>
        <p:nvSpPr>
          <p:cNvPr id="18" name="CuadroTexto 17">
            <a:extLst>
              <a:ext uri="{FF2B5EF4-FFF2-40B4-BE49-F238E27FC236}">
                <a16:creationId xmlns:a16="http://schemas.microsoft.com/office/drawing/2014/main" xmlns="" id="{5F4B35E0-DA27-7AF6-EFC5-DFFDC59BED57}"/>
              </a:ext>
            </a:extLst>
          </p:cNvPr>
          <p:cNvSpPr txBox="1"/>
          <p:nvPr/>
        </p:nvSpPr>
        <p:spPr>
          <a:xfrm>
            <a:off x="914400" y="4830901"/>
            <a:ext cx="12729358" cy="5262979"/>
          </a:xfrm>
          <a:prstGeom prst="rect">
            <a:avLst/>
          </a:prstGeom>
          <a:noFill/>
        </p:spPr>
        <p:txBody>
          <a:bodyPr wrap="square" numCol="1">
            <a:spAutoFit/>
          </a:bodyPr>
          <a:lstStyle/>
          <a:p>
            <a:pPr marL="0" indent="0">
              <a:buNone/>
            </a:pPr>
            <a:r>
              <a:rPr lang="es-PE" sz="2400" dirty="0">
                <a:highlight>
                  <a:srgbClr val="FFFFFF"/>
                </a:highlight>
                <a:latin typeface="Inter" panose="020B0604020202020204" charset="0"/>
                <a:ea typeface="Inter" panose="020B0604020202020204" charset="0"/>
              </a:rPr>
              <a:t>Solicitud de una concesión minera para la obtención de derechos sobre las sustancias minerales existentes en un área del territorio nacional y/o dominio marítimo delimitada por coordenadas UTM WGS84</a:t>
            </a:r>
          </a:p>
          <a:p>
            <a:pPr marL="0" indent="0">
              <a:buNone/>
            </a:pPr>
            <a:endParaRPr lang="es-PE" sz="2400" dirty="0">
              <a:highlight>
                <a:srgbClr val="FFFFFF"/>
              </a:highlight>
              <a:latin typeface="Inter" panose="020B0604020202020204" charset="0"/>
              <a:ea typeface="Inter" panose="020B0604020202020204" charset="0"/>
            </a:endParaRPr>
          </a:p>
          <a:p>
            <a:pPr marL="0" indent="0">
              <a:buNone/>
            </a:pPr>
            <a:r>
              <a:rPr lang="es-PE" sz="2400" b="1" i="0" dirty="0">
                <a:effectLst/>
                <a:highlight>
                  <a:srgbClr val="F0F0F0"/>
                </a:highlight>
                <a:latin typeface="Inter" panose="020B0604020202020204" charset="0"/>
                <a:ea typeface="Inter" panose="020B0604020202020204" charset="0"/>
              </a:rPr>
              <a:t>Requisitos</a:t>
            </a:r>
          </a:p>
          <a:p>
            <a:pPr marL="0" indent="0">
              <a:buNone/>
            </a:pPr>
            <a:endParaRPr lang="es-PE" sz="2400" b="1" i="0" dirty="0">
              <a:effectLst/>
              <a:highlight>
                <a:srgbClr val="F0F0F0"/>
              </a:highlight>
              <a:latin typeface="Inter" panose="020B0604020202020204" charset="0"/>
              <a:ea typeface="Inter" panose="020B0604020202020204" charset="0"/>
            </a:endParaRPr>
          </a:p>
          <a:p>
            <a:pPr>
              <a:buFont typeface="+mj-lt"/>
              <a:buAutoNum type="arabicPeriod"/>
            </a:pPr>
            <a:r>
              <a:rPr lang="es-PE" sz="2400" b="0" i="0" dirty="0">
                <a:effectLst/>
                <a:highlight>
                  <a:srgbClr val="FFFFFF"/>
                </a:highlight>
                <a:latin typeface="Inter" panose="020B0604020202020204" charset="0"/>
                <a:ea typeface="Inter" panose="020B0604020202020204" charset="0"/>
              </a:rPr>
              <a:t>(01) Una solicitud (formato de petitorio minero). Datos de inscripción de persona jurídica y representante legal cuando corresponda.</a:t>
            </a:r>
          </a:p>
          <a:p>
            <a:pPr>
              <a:buFont typeface="+mj-lt"/>
              <a:buAutoNum type="arabicPeriod"/>
            </a:pPr>
            <a:r>
              <a:rPr lang="es-PE" sz="2400" b="0" i="0" dirty="0">
                <a:effectLst/>
                <a:highlight>
                  <a:srgbClr val="FFFFFF"/>
                </a:highlight>
                <a:latin typeface="Inter" panose="020B0604020202020204" charset="0"/>
                <a:ea typeface="Inter" panose="020B0604020202020204" charset="0"/>
              </a:rPr>
              <a:t>Declaración Jurada de Compromiso Previo del peticionario (formato).</a:t>
            </a:r>
          </a:p>
          <a:p>
            <a:pPr>
              <a:buFont typeface="+mj-lt"/>
              <a:buAutoNum type="arabicPeriod"/>
            </a:pPr>
            <a:r>
              <a:rPr lang="es-PE" sz="2400" b="0" i="0" dirty="0">
                <a:effectLst/>
                <a:highlight>
                  <a:srgbClr val="FFFFFF"/>
                </a:highlight>
                <a:latin typeface="Inter" panose="020B0604020202020204" charset="0"/>
                <a:ea typeface="Inter" panose="020B0604020202020204" charset="0"/>
              </a:rPr>
              <a:t>Recibo original de pago de derecho de trámite.</a:t>
            </a:r>
          </a:p>
          <a:p>
            <a:pPr>
              <a:buFont typeface="+mj-lt"/>
              <a:buAutoNum type="arabicPeriod"/>
            </a:pPr>
            <a:r>
              <a:rPr lang="es-PE" sz="2400" b="0" i="0" dirty="0">
                <a:effectLst/>
                <a:highlight>
                  <a:srgbClr val="FFFFFF"/>
                </a:highlight>
                <a:latin typeface="Inter" panose="020B0604020202020204" charset="0"/>
                <a:ea typeface="Inter" panose="020B0604020202020204" charset="0"/>
              </a:rPr>
              <a:t>Recibo original de pago de derecho de vigencia.</a:t>
            </a:r>
          </a:p>
          <a:p>
            <a:pPr>
              <a:buFont typeface="+mj-lt"/>
              <a:buAutoNum type="arabicPeriod"/>
            </a:pPr>
            <a:r>
              <a:rPr lang="es-PE" sz="2400" b="0" i="0" dirty="0">
                <a:effectLst/>
                <a:highlight>
                  <a:srgbClr val="FFFFFF"/>
                </a:highlight>
                <a:latin typeface="Inter" panose="020B0604020202020204" charset="0"/>
                <a:ea typeface="Inter" panose="020B0604020202020204" charset="0"/>
              </a:rPr>
              <a:t>(01) Una copia de DNI o Carné de Extranjería de cada uno de los peticionarios y del representante legal o apoderado común.</a:t>
            </a:r>
          </a:p>
          <a:p>
            <a:pPr>
              <a:buFont typeface="+mj-lt"/>
              <a:buAutoNum type="arabicPeriod"/>
            </a:pPr>
            <a:endParaRPr lang="es-PE" sz="2400" dirty="0">
              <a:highlight>
                <a:srgbClr val="FFFFFF"/>
              </a:highlight>
              <a:latin typeface="Inter" panose="020B0604020202020204" charset="0"/>
              <a:ea typeface="Inter" panose="020B0604020202020204" charset="0"/>
            </a:endParaRPr>
          </a:p>
        </p:txBody>
      </p:sp>
    </p:spTree>
    <p:extLst>
      <p:ext uri="{BB962C8B-B14F-4D97-AF65-F5344CB8AC3E}">
        <p14:creationId xmlns:p14="http://schemas.microsoft.com/office/powerpoint/2010/main" val="597439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BA3EB6-23EA-3C41-FB5A-8438F32EB33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CA49BCC3-0D67-93BC-E34F-196F2182F94F}"/>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18041ECC-E93B-7489-66C1-C55D14CDAC68}"/>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C9295611-68BD-7170-6EE9-712FBEFD20F2}"/>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F669C421-3D84-9690-E202-57AE17E30E2F}"/>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66C20A7F-2C6A-7EAC-1ADE-9FC2C5AC9FDD}"/>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CE33E4F8-E259-90F3-364C-504B5DBB48F1}"/>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78F9E58E-FB49-3152-6250-45500EF86D20}"/>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6F7A8C8D-8F2B-BB46-E6E3-C8019651491B}"/>
              </a:ext>
            </a:extLst>
          </p:cNvPr>
          <p:cNvSpPr txBox="1"/>
          <p:nvPr/>
        </p:nvSpPr>
        <p:spPr>
          <a:xfrm>
            <a:off x="914400" y="2624889"/>
            <a:ext cx="11658600" cy="1304203"/>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3.2 PROCEDIMIENTO DE OTORGAMIENTO DE CONCESIÓN MINERA</a:t>
            </a:r>
            <a:endParaRPr lang="es-PE" sz="4000" b="1" dirty="0">
              <a:solidFill>
                <a:srgbClr val="A42F0F"/>
              </a:solidFill>
              <a:latin typeface="Futura Ultra-Bold"/>
            </a:endParaRPr>
          </a:p>
        </p:txBody>
      </p:sp>
      <p:sp>
        <p:nvSpPr>
          <p:cNvPr id="20" name="CuadroTexto 19">
            <a:extLst>
              <a:ext uri="{FF2B5EF4-FFF2-40B4-BE49-F238E27FC236}">
                <a16:creationId xmlns:a16="http://schemas.microsoft.com/office/drawing/2014/main" xmlns="" id="{F45FE450-8B98-0D3A-B123-50DD1339311A}"/>
              </a:ext>
            </a:extLst>
          </p:cNvPr>
          <p:cNvSpPr txBox="1"/>
          <p:nvPr/>
        </p:nvSpPr>
        <p:spPr>
          <a:xfrm>
            <a:off x="1028700" y="5142687"/>
            <a:ext cx="15049500" cy="3046988"/>
          </a:xfrm>
          <a:prstGeom prst="rect">
            <a:avLst/>
          </a:prstGeom>
          <a:noFill/>
        </p:spPr>
        <p:txBody>
          <a:bodyPr wrap="square">
            <a:spAutoFit/>
          </a:bodyPr>
          <a:lstStyle/>
          <a:p>
            <a:r>
              <a:rPr lang="es-PE" sz="2400" dirty="0">
                <a:highlight>
                  <a:srgbClr val="FFFFFF"/>
                </a:highlight>
                <a:latin typeface="Inter" panose="020B0604020202020204" charset="0"/>
                <a:ea typeface="Inter" panose="020B0604020202020204" charset="0"/>
              </a:rPr>
              <a:t>6. </a:t>
            </a:r>
            <a:r>
              <a:rPr lang="es-PE" sz="2400" b="0" i="0" dirty="0">
                <a:effectLst/>
                <a:highlight>
                  <a:srgbClr val="FFFFFF"/>
                </a:highlight>
                <a:latin typeface="Inter" panose="020B0604020202020204" charset="0"/>
                <a:ea typeface="Inter" panose="020B0604020202020204" charset="0"/>
              </a:rPr>
              <a:t>(01) Una copia de la Constancia de Pequeño Productor Minero o Productor Minero Artesanal, Declaración Jurada Bienal en caso de primer petitorio de Productor Minero Artesanal (petitorios ubicados en Lima Metropolitana).</a:t>
            </a:r>
          </a:p>
          <a:p>
            <a:r>
              <a:rPr lang="es-PE" sz="2400" b="0" i="0" dirty="0">
                <a:effectLst/>
                <a:highlight>
                  <a:srgbClr val="FFFFFF"/>
                </a:highlight>
                <a:latin typeface="Inter" panose="020B0604020202020204" charset="0"/>
                <a:ea typeface="Inter" panose="020B0604020202020204" charset="0"/>
              </a:rPr>
              <a:t>7. Plano de ubicación referencial, especificando los posibles perímetros escogidos para las instalaciones y explotación minera, señalando ubicación de viviendas, trazado de carreteras y caminos, líneas en alta y baja tensión, las áreas agrícolas cultivadas o de vocación agrícola y cuantos datos sirvan para localizar el yacimiento y caracterizar la explotación (en caso de ubicarse el petitorio minero en área de expansión urbana establecida de acuerdo a la Ley).</a:t>
            </a:r>
            <a:endParaRPr lang="es-PE" sz="2400" dirty="0">
              <a:latin typeface="Inter" panose="020B0604020202020204" charset="0"/>
              <a:ea typeface="Inter" panose="020B0604020202020204" charset="0"/>
            </a:endParaRPr>
          </a:p>
        </p:txBody>
      </p:sp>
      <p:sp>
        <p:nvSpPr>
          <p:cNvPr id="6" name="CuadroTexto 5">
            <a:extLst>
              <a:ext uri="{FF2B5EF4-FFF2-40B4-BE49-F238E27FC236}">
                <a16:creationId xmlns:a16="http://schemas.microsoft.com/office/drawing/2014/main" xmlns="" id="{6CF33706-3E67-64D2-C4DD-FC8530BF44F7}"/>
              </a:ext>
            </a:extLst>
          </p:cNvPr>
          <p:cNvSpPr txBox="1"/>
          <p:nvPr/>
        </p:nvSpPr>
        <p:spPr>
          <a:xfrm>
            <a:off x="896471" y="4019232"/>
            <a:ext cx="6292093" cy="710900"/>
          </a:xfrm>
          <a:prstGeom prst="rect">
            <a:avLst/>
          </a:prstGeom>
          <a:noFill/>
        </p:spPr>
        <p:txBody>
          <a:bodyPr wrap="square">
            <a:spAutoFit/>
          </a:bodyPr>
          <a:lstStyle/>
          <a:p>
            <a:pPr>
              <a:lnSpc>
                <a:spcPct val="150000"/>
              </a:lnSpc>
            </a:pPr>
            <a:r>
              <a:rPr lang="es-PE" sz="3000" b="1" dirty="0">
                <a:solidFill>
                  <a:schemeClr val="accent2"/>
                </a:solidFill>
                <a:effectLst/>
                <a:latin typeface="+mn-lt"/>
                <a:ea typeface="Times New Roman" panose="02020603050405020304" pitchFamily="18" charset="0"/>
              </a:rPr>
              <a:t>PETITORIO MINERO – REQUISITOS </a:t>
            </a:r>
            <a:endParaRPr lang="es-PE" sz="3000" dirty="0">
              <a:solidFill>
                <a:schemeClr val="accent2"/>
              </a:solidFill>
              <a:latin typeface="Inter" panose="020B0604020202020204" charset="0"/>
              <a:ea typeface="Inter" panose="020B0604020202020204" charset="0"/>
            </a:endParaRPr>
          </a:p>
        </p:txBody>
      </p:sp>
    </p:spTree>
    <p:extLst>
      <p:ext uri="{BB962C8B-B14F-4D97-AF65-F5344CB8AC3E}">
        <p14:creationId xmlns:p14="http://schemas.microsoft.com/office/powerpoint/2010/main" val="15536450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3285F-5E94-8841-8613-FA62D8996D0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2747108D-DE93-AC7C-5BE6-49CB611BBECC}"/>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FB82B9CD-AF76-0E53-04AB-975229A92B94}"/>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095C0D3B-1995-65EA-BAA4-E411BE15B4FC}"/>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DA900630-1484-279D-BD26-2411BD08774E}"/>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67368626-528E-DA70-04C9-974E4A098C4B}"/>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29576DC4-F909-166E-26DB-FE6C3E2F1C20}"/>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EE8CA77F-7A39-C031-7219-02AFF78BBD88}"/>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B577A5C9-DC4E-E496-9455-BAB575CD683C}"/>
              </a:ext>
            </a:extLst>
          </p:cNvPr>
          <p:cNvSpPr txBox="1"/>
          <p:nvPr/>
        </p:nvSpPr>
        <p:spPr>
          <a:xfrm>
            <a:off x="914400" y="2624889"/>
            <a:ext cx="11734800" cy="1304203"/>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3.2 PROCEDIMIENTO DE OTORGAMIENTO DE CONCESIÓN MINERA</a:t>
            </a:r>
            <a:endParaRPr lang="es-PE" sz="4000" b="1" dirty="0">
              <a:solidFill>
                <a:srgbClr val="A42F0F"/>
              </a:solidFill>
              <a:latin typeface="Futura Ultra-Bold"/>
            </a:endParaRPr>
          </a:p>
        </p:txBody>
      </p:sp>
      <p:sp>
        <p:nvSpPr>
          <p:cNvPr id="20" name="CuadroTexto 19">
            <a:extLst>
              <a:ext uri="{FF2B5EF4-FFF2-40B4-BE49-F238E27FC236}">
                <a16:creationId xmlns:a16="http://schemas.microsoft.com/office/drawing/2014/main" xmlns="" id="{1E49D150-F067-5F35-428B-A8051A036186}"/>
              </a:ext>
            </a:extLst>
          </p:cNvPr>
          <p:cNvSpPr txBox="1"/>
          <p:nvPr/>
        </p:nvSpPr>
        <p:spPr>
          <a:xfrm>
            <a:off x="914400" y="5102666"/>
            <a:ext cx="11315700" cy="3785652"/>
          </a:xfrm>
          <a:prstGeom prst="rect">
            <a:avLst/>
          </a:prstGeom>
          <a:noFill/>
        </p:spPr>
        <p:txBody>
          <a:bodyPr wrap="square">
            <a:spAutoFit/>
          </a:bodyPr>
          <a:lstStyle/>
          <a:p>
            <a:r>
              <a:rPr lang="es-PE" sz="2400" dirty="0">
                <a:latin typeface="Inter" panose="020B0604020202020204" charset="0"/>
                <a:ea typeface="Inter" panose="020B0604020202020204" charset="0"/>
              </a:rPr>
              <a:t>Es un formato aprobado por el INGEMMET, y tiene los siguientes datos:</a:t>
            </a:r>
          </a:p>
          <a:p>
            <a:pPr lvl="1"/>
            <a:r>
              <a:rPr lang="es-PE" sz="2400" b="1" dirty="0">
                <a:solidFill>
                  <a:schemeClr val="accent2"/>
                </a:solidFill>
                <a:latin typeface="Inter" panose="020B0604020202020204" charset="0"/>
                <a:ea typeface="Inter" panose="020B0604020202020204" charset="0"/>
              </a:rPr>
              <a:t>1.- Datos del petitorio</a:t>
            </a:r>
          </a:p>
          <a:p>
            <a:pPr lvl="2"/>
            <a:r>
              <a:rPr lang="es-PE" sz="2400" dirty="0">
                <a:latin typeface="Inter" panose="020B0604020202020204" charset="0"/>
                <a:ea typeface="Inter" panose="020B0604020202020204" charset="0"/>
              </a:rPr>
              <a:t>Nombre del petitorio</a:t>
            </a:r>
          </a:p>
          <a:p>
            <a:pPr lvl="2"/>
            <a:r>
              <a:rPr lang="es-PE" sz="2400" dirty="0">
                <a:latin typeface="Inter" panose="020B0604020202020204" charset="0"/>
                <a:ea typeface="Inter" panose="020B0604020202020204" charset="0"/>
              </a:rPr>
              <a:t>Sustancia: (metálica  o  no metálica)</a:t>
            </a:r>
          </a:p>
          <a:p>
            <a:pPr lvl="2"/>
            <a:r>
              <a:rPr lang="es-PE" sz="2400" dirty="0">
                <a:latin typeface="Inter" panose="020B0604020202020204" charset="0"/>
                <a:ea typeface="Inter" panose="020B0604020202020204" charset="0"/>
              </a:rPr>
              <a:t>Datos del área (distrito, provincia departamento)</a:t>
            </a:r>
          </a:p>
          <a:p>
            <a:pPr lvl="2"/>
            <a:r>
              <a:rPr lang="es-PE" sz="2400" dirty="0">
                <a:latin typeface="Inter" panose="020B0604020202020204" charset="0"/>
                <a:ea typeface="Inter" panose="020B0604020202020204" charset="0"/>
              </a:rPr>
              <a:t>Extensión: (En hectáreas)</a:t>
            </a:r>
          </a:p>
          <a:p>
            <a:pPr lvl="2"/>
            <a:r>
              <a:rPr lang="es-PE" sz="2400" dirty="0">
                <a:latin typeface="Inter" panose="020B0604020202020204" charset="0"/>
                <a:ea typeface="Inter" panose="020B0604020202020204" charset="0"/>
              </a:rPr>
              <a:t>N° de la Hoja IGN y Nombre de la Hoja</a:t>
            </a:r>
          </a:p>
          <a:p>
            <a:pPr lvl="2"/>
            <a:r>
              <a:rPr lang="es-PE" sz="2400" dirty="0">
                <a:latin typeface="Inter" panose="020B0604020202020204" charset="0"/>
                <a:ea typeface="Inter" panose="020B0604020202020204" charset="0"/>
              </a:rPr>
              <a:t>Zona (17 / 18 / 19) y Escala (1:10000)</a:t>
            </a:r>
          </a:p>
          <a:p>
            <a:pPr lvl="1"/>
            <a:r>
              <a:rPr lang="es-PE" sz="2400" b="1" dirty="0">
                <a:solidFill>
                  <a:schemeClr val="accent2"/>
                </a:solidFill>
                <a:latin typeface="Inter" panose="020B0604020202020204" charset="0"/>
                <a:ea typeface="Inter" panose="020B0604020202020204" charset="0"/>
              </a:rPr>
              <a:t>2.-</a:t>
            </a:r>
            <a:r>
              <a:rPr lang="es-PE" sz="2400" dirty="0">
                <a:solidFill>
                  <a:schemeClr val="accent2"/>
                </a:solidFill>
                <a:latin typeface="Inter" panose="020B0604020202020204" charset="0"/>
                <a:ea typeface="Inter" panose="020B0604020202020204" charset="0"/>
              </a:rPr>
              <a:t> </a:t>
            </a:r>
            <a:r>
              <a:rPr lang="es-PE" sz="2400" b="1" dirty="0">
                <a:solidFill>
                  <a:schemeClr val="accent2"/>
                </a:solidFill>
                <a:latin typeface="Inter" panose="020B0604020202020204" charset="0"/>
                <a:ea typeface="Inter" panose="020B0604020202020204" charset="0"/>
              </a:rPr>
              <a:t>Coordenadas UTM</a:t>
            </a:r>
            <a:r>
              <a:rPr lang="es-PE" sz="2400" dirty="0">
                <a:solidFill>
                  <a:schemeClr val="accent2"/>
                </a:solidFill>
                <a:latin typeface="Inter" panose="020B0604020202020204" charset="0"/>
                <a:ea typeface="Inter" panose="020B0604020202020204" charset="0"/>
              </a:rPr>
              <a:t> </a:t>
            </a:r>
          </a:p>
          <a:p>
            <a:pPr marL="457200" lvl="1" indent="0">
              <a:buNone/>
            </a:pPr>
            <a:r>
              <a:rPr lang="es-PE" sz="2400" dirty="0">
                <a:latin typeface="Inter" panose="020B0604020202020204" charset="0"/>
                <a:ea typeface="Inter" panose="020B0604020202020204" charset="0"/>
              </a:rPr>
              <a:t>         (Sistema geodésico WGS84) </a:t>
            </a:r>
          </a:p>
        </p:txBody>
      </p:sp>
      <p:sp>
        <p:nvSpPr>
          <p:cNvPr id="6" name="CuadroTexto 5">
            <a:extLst>
              <a:ext uri="{FF2B5EF4-FFF2-40B4-BE49-F238E27FC236}">
                <a16:creationId xmlns:a16="http://schemas.microsoft.com/office/drawing/2014/main" xmlns="" id="{CE645172-9ED1-1481-BE4A-2553905C732F}"/>
              </a:ext>
            </a:extLst>
          </p:cNvPr>
          <p:cNvSpPr txBox="1"/>
          <p:nvPr/>
        </p:nvSpPr>
        <p:spPr>
          <a:xfrm>
            <a:off x="896471" y="4019232"/>
            <a:ext cx="6292093" cy="710900"/>
          </a:xfrm>
          <a:prstGeom prst="rect">
            <a:avLst/>
          </a:prstGeom>
          <a:noFill/>
        </p:spPr>
        <p:txBody>
          <a:bodyPr wrap="square">
            <a:spAutoFit/>
          </a:bodyPr>
          <a:lstStyle/>
          <a:p>
            <a:pPr>
              <a:lnSpc>
                <a:spcPct val="150000"/>
              </a:lnSpc>
            </a:pPr>
            <a:r>
              <a:rPr lang="es-PE" sz="3000" b="1" dirty="0">
                <a:solidFill>
                  <a:schemeClr val="accent2"/>
                </a:solidFill>
                <a:effectLst/>
                <a:latin typeface="+mn-lt"/>
                <a:ea typeface="Times New Roman" panose="02020603050405020304" pitchFamily="18" charset="0"/>
              </a:rPr>
              <a:t>PETITORIO MINERO </a:t>
            </a:r>
            <a:endParaRPr lang="es-PE" sz="3000" dirty="0">
              <a:solidFill>
                <a:schemeClr val="accent2"/>
              </a:solidFill>
              <a:latin typeface="Inter" panose="020B0604020202020204" charset="0"/>
              <a:ea typeface="Inter" panose="020B0604020202020204" charset="0"/>
            </a:endParaRPr>
          </a:p>
        </p:txBody>
      </p:sp>
    </p:spTree>
    <p:extLst>
      <p:ext uri="{BB962C8B-B14F-4D97-AF65-F5344CB8AC3E}">
        <p14:creationId xmlns:p14="http://schemas.microsoft.com/office/powerpoint/2010/main" val="3371346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D669ABD-4271-AFF7-22AF-ED36079C9FA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24D88D01-2B91-E009-73AB-2FBB231566AC}"/>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B185FCC2-05ED-FF1E-B9E3-6FB6DA51C176}"/>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C31AA630-9742-5FCD-F2D2-3EFB765A2EF8}"/>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50CF823B-D2C7-2D01-FB34-9C9514E829E5}"/>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DDF94716-35CC-FF3B-9BF8-1AE2F32603AF}"/>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9144BB2C-06B2-2C72-3B7A-D744F5BA8F57}"/>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499A7275-9B8B-D86B-15D2-ED28E0E4BDDE}"/>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1CCF953C-CAE6-8F01-BA76-98352D6DCDF2}"/>
              </a:ext>
            </a:extLst>
          </p:cNvPr>
          <p:cNvSpPr txBox="1"/>
          <p:nvPr/>
        </p:nvSpPr>
        <p:spPr>
          <a:xfrm>
            <a:off x="914400" y="2624889"/>
            <a:ext cx="17373600" cy="1304203"/>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3.2 PROCEDIMIENTO DE OTORGAMIENTO DE CONCESIÓN MINERA</a:t>
            </a:r>
            <a:endParaRPr lang="es-PE" sz="4000" b="1" dirty="0">
              <a:solidFill>
                <a:srgbClr val="A42F0F"/>
              </a:solidFill>
              <a:latin typeface="Futura Ultra-Bold"/>
            </a:endParaRPr>
          </a:p>
        </p:txBody>
      </p:sp>
      <p:sp>
        <p:nvSpPr>
          <p:cNvPr id="20" name="CuadroTexto 19">
            <a:extLst>
              <a:ext uri="{FF2B5EF4-FFF2-40B4-BE49-F238E27FC236}">
                <a16:creationId xmlns:a16="http://schemas.microsoft.com/office/drawing/2014/main" xmlns="" id="{3471B2B2-B1BB-F62E-08C1-6D6F68262681}"/>
              </a:ext>
            </a:extLst>
          </p:cNvPr>
          <p:cNvSpPr txBox="1"/>
          <p:nvPr/>
        </p:nvSpPr>
        <p:spPr>
          <a:xfrm>
            <a:off x="601248" y="4224267"/>
            <a:ext cx="7925931" cy="5226046"/>
          </a:xfrm>
          <a:prstGeom prst="rect">
            <a:avLst/>
          </a:prstGeom>
          <a:noFill/>
        </p:spPr>
        <p:txBody>
          <a:bodyPr wrap="square">
            <a:spAutoFit/>
          </a:bodyPr>
          <a:lstStyle/>
          <a:p>
            <a:pPr marL="342900" indent="-342900">
              <a:lnSpc>
                <a:spcPct val="90000"/>
              </a:lnSpc>
              <a:buFont typeface="Wingdings" panose="05000000000000000000" pitchFamily="2" charset="2"/>
              <a:buChar char="q"/>
            </a:pPr>
            <a:r>
              <a:rPr lang="es-PE" sz="2400" b="1" dirty="0">
                <a:solidFill>
                  <a:schemeClr val="accent2"/>
                </a:solidFill>
                <a:latin typeface="Inter" panose="020B0604020202020204" charset="0"/>
                <a:ea typeface="Inter" panose="020B0604020202020204" charset="0"/>
              </a:rPr>
              <a:t>DATOS DEL PETICIONARIO: PERSONA NATURAL</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Participaciones (%)</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Apellidos (paterno y materno)</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Nombres </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Nacionalidad</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DNI o carné de Extranjería</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Nº de RUC</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Estado Civil (Soltero, casado, viudo y divorciado) </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Señalar datos de inscripción de Bienes separados.</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Firma</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Datos del Cónyuge</a:t>
            </a:r>
          </a:p>
          <a:p>
            <a:pPr marL="540000" lvl="1" indent="-342900">
              <a:buFont typeface="Arial" panose="020B0604020202020204" pitchFamily="34" charset="0"/>
              <a:buChar char="•"/>
            </a:pPr>
            <a:r>
              <a:rPr lang="es-PE" sz="2400" dirty="0">
                <a:latin typeface="Inter" panose="020B0604020202020204" charset="0"/>
                <a:ea typeface="Inter" panose="020B0604020202020204" charset="0"/>
              </a:rPr>
              <a:t>Domicilio (</a:t>
            </a:r>
            <a:r>
              <a:rPr lang="es-PE" sz="2400" i="1" dirty="0">
                <a:latin typeface="Inter" panose="020B0604020202020204" charset="0"/>
                <a:ea typeface="Inter" panose="020B0604020202020204" charset="0"/>
              </a:rPr>
              <a:t>En la ciudad donde se presenta el petitorio</a:t>
            </a:r>
            <a:r>
              <a:rPr lang="es-PE" sz="1800" dirty="0">
                <a:latin typeface="+mn-lt"/>
              </a:rPr>
              <a:t>) </a:t>
            </a:r>
            <a:endParaRPr lang="es-PE" dirty="0">
              <a:latin typeface="+mn-lt"/>
            </a:endParaRPr>
          </a:p>
        </p:txBody>
      </p:sp>
      <p:sp>
        <p:nvSpPr>
          <p:cNvPr id="6" name="CuadroTexto 5">
            <a:extLst>
              <a:ext uri="{FF2B5EF4-FFF2-40B4-BE49-F238E27FC236}">
                <a16:creationId xmlns:a16="http://schemas.microsoft.com/office/drawing/2014/main" xmlns="" id="{91494AE8-188D-44DA-0F29-2D372AF419F2}"/>
              </a:ext>
            </a:extLst>
          </p:cNvPr>
          <p:cNvSpPr txBox="1"/>
          <p:nvPr/>
        </p:nvSpPr>
        <p:spPr>
          <a:xfrm>
            <a:off x="6397409" y="3389474"/>
            <a:ext cx="3327625" cy="710900"/>
          </a:xfrm>
          <a:prstGeom prst="rect">
            <a:avLst/>
          </a:prstGeom>
          <a:noFill/>
        </p:spPr>
        <p:txBody>
          <a:bodyPr wrap="square">
            <a:spAutoFit/>
          </a:bodyPr>
          <a:lstStyle/>
          <a:p>
            <a:pPr>
              <a:lnSpc>
                <a:spcPct val="150000"/>
              </a:lnSpc>
            </a:pPr>
            <a:r>
              <a:rPr lang="es-PE" sz="3000" b="1" dirty="0">
                <a:solidFill>
                  <a:schemeClr val="accent2"/>
                </a:solidFill>
                <a:effectLst/>
                <a:latin typeface="+mn-lt"/>
                <a:ea typeface="Times New Roman" panose="02020603050405020304" pitchFamily="18" charset="0"/>
              </a:rPr>
              <a:t>PETITORIO MINERO </a:t>
            </a:r>
            <a:endParaRPr lang="es-PE" sz="3000" dirty="0">
              <a:solidFill>
                <a:schemeClr val="accent2"/>
              </a:solidFill>
              <a:latin typeface="Inter" panose="020B0604020202020204" charset="0"/>
              <a:ea typeface="Inter" panose="020B0604020202020204" charset="0"/>
            </a:endParaRPr>
          </a:p>
        </p:txBody>
      </p:sp>
      <p:sp>
        <p:nvSpPr>
          <p:cNvPr id="12" name="CuadroTexto 11">
            <a:extLst>
              <a:ext uri="{FF2B5EF4-FFF2-40B4-BE49-F238E27FC236}">
                <a16:creationId xmlns:a16="http://schemas.microsoft.com/office/drawing/2014/main" xmlns="" id="{390158D8-0F53-06AF-39A2-8176017D9B32}"/>
              </a:ext>
            </a:extLst>
          </p:cNvPr>
          <p:cNvSpPr txBox="1"/>
          <p:nvPr/>
        </p:nvSpPr>
        <p:spPr>
          <a:xfrm>
            <a:off x="8271940" y="4224267"/>
            <a:ext cx="7605119" cy="5189113"/>
          </a:xfrm>
          <a:prstGeom prst="rect">
            <a:avLst/>
          </a:prstGeom>
          <a:noFill/>
        </p:spPr>
        <p:txBody>
          <a:bodyPr wrap="square">
            <a:spAutoFit/>
          </a:bodyPr>
          <a:lstStyle/>
          <a:p>
            <a:pPr marL="342900" indent="-342900">
              <a:lnSpc>
                <a:spcPct val="90000"/>
              </a:lnSpc>
              <a:buFont typeface="Wingdings" panose="05000000000000000000" pitchFamily="2" charset="2"/>
              <a:buChar char="q"/>
            </a:pPr>
            <a:r>
              <a:rPr lang="es-PE" sz="2400" b="1" dirty="0">
                <a:solidFill>
                  <a:schemeClr val="accent2"/>
                </a:solidFill>
                <a:latin typeface="Inter" panose="020B0604020202020204" charset="0"/>
                <a:ea typeface="Inter" panose="020B0604020202020204" charset="0"/>
              </a:rPr>
              <a:t>DATOS DEL PETICIONARIO: PERSONA JURÍDICA</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Participaciones (%)</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Razón social</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Nº de RUC</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Nº de Resolución </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Datos de Inscripción RR PP</a:t>
            </a:r>
          </a:p>
          <a:p>
            <a:pPr marL="800100" lvl="1" indent="-342900" eaLnBrk="1" hangingPunct="1">
              <a:buFont typeface="Arial" panose="020B0604020202020204" pitchFamily="34" charset="0"/>
              <a:buChar char="•"/>
            </a:pPr>
            <a:r>
              <a:rPr lang="es-PE" sz="2400" b="1" dirty="0">
                <a:latin typeface="Inter" panose="020B0604020202020204" charset="0"/>
                <a:ea typeface="Inter" panose="020B0604020202020204" charset="0"/>
              </a:rPr>
              <a:t>Representante legal</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Apellidos y Nombres</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Nacionalidad</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DNI o carné de Extranjería</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Datos de Inscripción RR PP</a:t>
            </a:r>
          </a:p>
          <a:p>
            <a:pPr marL="800100" lvl="1" indent="-342900" eaLnBrk="1" hangingPunct="1">
              <a:buFont typeface="Arial" panose="020B0604020202020204" pitchFamily="34" charset="0"/>
              <a:buChar char="•"/>
            </a:pPr>
            <a:r>
              <a:rPr lang="es-PE" sz="2400" dirty="0">
                <a:latin typeface="Inter" panose="020B0604020202020204" charset="0"/>
                <a:ea typeface="Inter" panose="020B0604020202020204" charset="0"/>
              </a:rPr>
              <a:t>Domicilio (</a:t>
            </a:r>
            <a:r>
              <a:rPr lang="es-PE" sz="2400" i="1" dirty="0">
                <a:latin typeface="Inter" panose="020B0604020202020204" charset="0"/>
                <a:ea typeface="Inter" panose="020B0604020202020204" charset="0"/>
              </a:rPr>
              <a:t>En la ciudad donde se presenta el petitorio</a:t>
            </a:r>
            <a:r>
              <a:rPr lang="es-PE" sz="2400" dirty="0">
                <a:latin typeface="Inter" panose="020B0604020202020204" charset="0"/>
                <a:ea typeface="Inter" panose="020B0604020202020204" charset="0"/>
              </a:rPr>
              <a:t>) </a:t>
            </a:r>
          </a:p>
        </p:txBody>
      </p:sp>
    </p:spTree>
    <p:extLst>
      <p:ext uri="{BB962C8B-B14F-4D97-AF65-F5344CB8AC3E}">
        <p14:creationId xmlns:p14="http://schemas.microsoft.com/office/powerpoint/2010/main" val="202057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8D78E94-FF89-BC40-5E2F-B1198A62EE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9ADD9D67-5B6E-D94B-6218-72BE9329C07E}"/>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860446AC-97A5-356F-AD98-966617B152ED}"/>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9694C393-3837-D6EB-1A8B-6D3A96F9F3FB}"/>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243783A7-9FC4-A82D-B8D6-3D872C7D1FE9}"/>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6555B850-636C-1607-9542-C9E160EE202A}"/>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0B486C24-7010-408D-3C1B-ABFE555978B1}"/>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29276965-9946-2465-E3B4-865BDC69B926}"/>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93DF1652-BB08-00AF-D447-3C68432E28DD}"/>
              </a:ext>
            </a:extLst>
          </p:cNvPr>
          <p:cNvSpPr txBox="1"/>
          <p:nvPr/>
        </p:nvSpPr>
        <p:spPr>
          <a:xfrm>
            <a:off x="914400" y="2624889"/>
            <a:ext cx="17373600" cy="1304203"/>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3.2 PROCEDIMIENTO DE OTORGAMIENTO DE CONCESIÓN MINERA</a:t>
            </a:r>
            <a:endParaRPr lang="es-PE" sz="4000" b="1" dirty="0">
              <a:solidFill>
                <a:srgbClr val="A42F0F"/>
              </a:solidFill>
              <a:latin typeface="Futura Ultra-Bold"/>
            </a:endParaRPr>
          </a:p>
        </p:txBody>
      </p:sp>
      <p:sp>
        <p:nvSpPr>
          <p:cNvPr id="20" name="CuadroTexto 19">
            <a:extLst>
              <a:ext uri="{FF2B5EF4-FFF2-40B4-BE49-F238E27FC236}">
                <a16:creationId xmlns:a16="http://schemas.microsoft.com/office/drawing/2014/main" xmlns="" id="{0A7FAD05-6DE2-CFA9-CFEA-71782B5E4A58}"/>
              </a:ext>
            </a:extLst>
          </p:cNvPr>
          <p:cNvSpPr txBox="1"/>
          <p:nvPr/>
        </p:nvSpPr>
        <p:spPr>
          <a:xfrm>
            <a:off x="914400" y="4620333"/>
            <a:ext cx="7925931" cy="4893647"/>
          </a:xfrm>
          <a:prstGeom prst="rect">
            <a:avLst/>
          </a:prstGeom>
          <a:noFill/>
        </p:spPr>
        <p:txBody>
          <a:bodyPr wrap="square">
            <a:spAutoFit/>
          </a:bodyPr>
          <a:lstStyle/>
          <a:p>
            <a:pPr marL="342900" indent="-342900">
              <a:buFont typeface="Wingdings" panose="05000000000000000000" pitchFamily="2" charset="2"/>
              <a:buChar char="q"/>
            </a:pPr>
            <a:r>
              <a:rPr lang="es-PE" sz="2400" b="1" dirty="0">
                <a:solidFill>
                  <a:schemeClr val="tx1"/>
                </a:solidFill>
                <a:latin typeface="Inter" panose="020B0604020202020204" charset="0"/>
                <a:ea typeface="Inter" panose="020B0604020202020204" charset="0"/>
              </a:rPr>
              <a:t>Datos de Apoderado común </a:t>
            </a:r>
            <a:r>
              <a:rPr lang="es-PE" sz="2400" dirty="0">
                <a:solidFill>
                  <a:schemeClr val="tx1"/>
                </a:solidFill>
                <a:latin typeface="Inter" panose="020B0604020202020204" charset="0"/>
                <a:ea typeface="Inter" panose="020B0604020202020204" charset="0"/>
              </a:rPr>
              <a:t>(más de 2 peticionarios)</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Apellidos paterno y materno</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Nombres</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Nacionalidad</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DNI o carné de Extranjería</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RUC</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Firma</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Domicilio</a:t>
            </a:r>
          </a:p>
          <a:p>
            <a:pPr lvl="1">
              <a:buFontTx/>
              <a:buNone/>
            </a:pPr>
            <a:endParaRPr lang="es-PE" sz="2400" dirty="0">
              <a:solidFill>
                <a:schemeClr val="tx1"/>
              </a:solidFill>
              <a:latin typeface="Inter" panose="020B0604020202020204" charset="0"/>
              <a:ea typeface="Inter" panose="020B0604020202020204" charset="0"/>
            </a:endParaRPr>
          </a:p>
          <a:p>
            <a:pPr marL="342900" indent="-342900">
              <a:buFont typeface="Wingdings" panose="05000000000000000000" pitchFamily="2" charset="2"/>
              <a:buChar char="q"/>
            </a:pPr>
            <a:r>
              <a:rPr lang="es-PE" sz="2400" b="1" dirty="0">
                <a:solidFill>
                  <a:schemeClr val="tx1"/>
                </a:solidFill>
                <a:latin typeface="Inter" panose="020B0604020202020204" charset="0"/>
                <a:ea typeface="Inter" panose="020B0604020202020204" charset="0"/>
              </a:rPr>
              <a:t>Régimen a adoptar:</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Sociedad contractual</a:t>
            </a:r>
          </a:p>
          <a:p>
            <a:pPr marL="800100" lvl="1" indent="-342900">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Sociedad Legal (SMRL)</a:t>
            </a:r>
          </a:p>
        </p:txBody>
      </p:sp>
      <p:sp>
        <p:nvSpPr>
          <p:cNvPr id="6" name="CuadroTexto 5">
            <a:extLst>
              <a:ext uri="{FF2B5EF4-FFF2-40B4-BE49-F238E27FC236}">
                <a16:creationId xmlns:a16="http://schemas.microsoft.com/office/drawing/2014/main" xmlns="" id="{AA50CC57-0040-A9C9-4BA4-1A983C58F111}"/>
              </a:ext>
            </a:extLst>
          </p:cNvPr>
          <p:cNvSpPr txBox="1"/>
          <p:nvPr/>
        </p:nvSpPr>
        <p:spPr>
          <a:xfrm>
            <a:off x="6397409" y="3441048"/>
            <a:ext cx="3327625" cy="710900"/>
          </a:xfrm>
          <a:prstGeom prst="rect">
            <a:avLst/>
          </a:prstGeom>
          <a:noFill/>
        </p:spPr>
        <p:txBody>
          <a:bodyPr wrap="square">
            <a:spAutoFit/>
          </a:bodyPr>
          <a:lstStyle/>
          <a:p>
            <a:pPr>
              <a:lnSpc>
                <a:spcPct val="150000"/>
              </a:lnSpc>
            </a:pPr>
            <a:r>
              <a:rPr lang="es-PE" sz="3000" b="1" dirty="0">
                <a:solidFill>
                  <a:schemeClr val="accent2"/>
                </a:solidFill>
                <a:effectLst/>
                <a:latin typeface="+mn-lt"/>
                <a:ea typeface="Times New Roman" panose="02020603050405020304" pitchFamily="18" charset="0"/>
              </a:rPr>
              <a:t>PETITORIO MINERO </a:t>
            </a:r>
            <a:endParaRPr lang="es-PE" sz="3000" dirty="0">
              <a:solidFill>
                <a:schemeClr val="accent2"/>
              </a:solidFill>
              <a:latin typeface="Inter" panose="020B0604020202020204" charset="0"/>
              <a:ea typeface="Inter" panose="020B0604020202020204" charset="0"/>
            </a:endParaRPr>
          </a:p>
        </p:txBody>
      </p:sp>
      <p:sp>
        <p:nvSpPr>
          <p:cNvPr id="12" name="CuadroTexto 11">
            <a:extLst>
              <a:ext uri="{FF2B5EF4-FFF2-40B4-BE49-F238E27FC236}">
                <a16:creationId xmlns:a16="http://schemas.microsoft.com/office/drawing/2014/main" xmlns="" id="{94688139-9D63-0359-BE95-0837026B8683}"/>
              </a:ext>
            </a:extLst>
          </p:cNvPr>
          <p:cNvSpPr txBox="1"/>
          <p:nvPr/>
        </p:nvSpPr>
        <p:spPr>
          <a:xfrm>
            <a:off x="8944223" y="4620333"/>
            <a:ext cx="7605119" cy="4487382"/>
          </a:xfrm>
          <a:prstGeom prst="rect">
            <a:avLst/>
          </a:prstGeom>
          <a:noFill/>
        </p:spPr>
        <p:txBody>
          <a:bodyPr wrap="square">
            <a:spAutoFit/>
          </a:bodyPr>
          <a:lstStyle/>
          <a:p>
            <a:pPr marL="342900" indent="-342900" eaLnBrk="1" hangingPunct="1">
              <a:lnSpc>
                <a:spcPct val="90000"/>
              </a:lnSpc>
              <a:spcBef>
                <a:spcPct val="20000"/>
              </a:spcBef>
              <a:buFont typeface="Wingdings" panose="05000000000000000000" pitchFamily="2" charset="2"/>
              <a:buChar char="q"/>
            </a:pPr>
            <a:r>
              <a:rPr lang="es-PE" sz="2400" b="1" dirty="0">
                <a:solidFill>
                  <a:schemeClr val="tx1"/>
                </a:solidFill>
                <a:latin typeface="Inter" panose="020B0604020202020204" charset="0"/>
                <a:ea typeface="Inter" panose="020B0604020202020204" charset="0"/>
              </a:rPr>
              <a:t>Datos de la SMRL</a:t>
            </a:r>
          </a:p>
          <a:p>
            <a:pPr marL="800100" lvl="1" indent="-342900" eaLnBrk="1" hangingPunct="1">
              <a:lnSpc>
                <a:spcPct val="90000"/>
              </a:lnSpc>
              <a:spcBef>
                <a:spcPct val="20000"/>
              </a:spcBef>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Capital Inicial</a:t>
            </a:r>
          </a:p>
          <a:p>
            <a:pPr marL="800100" lvl="1" indent="-342900" eaLnBrk="1" hangingPunct="1">
              <a:lnSpc>
                <a:spcPct val="90000"/>
              </a:lnSpc>
              <a:spcBef>
                <a:spcPct val="20000"/>
              </a:spcBef>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Nº de participaciones</a:t>
            </a:r>
          </a:p>
          <a:p>
            <a:pPr marL="800100" lvl="1" indent="-342900" eaLnBrk="1" hangingPunct="1">
              <a:lnSpc>
                <a:spcPct val="90000"/>
              </a:lnSpc>
              <a:spcBef>
                <a:spcPct val="20000"/>
              </a:spcBef>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Valor de cada participación</a:t>
            </a:r>
          </a:p>
          <a:p>
            <a:pPr marL="800100" lvl="1" indent="-342900" eaLnBrk="1" hangingPunct="1">
              <a:lnSpc>
                <a:spcPct val="90000"/>
              </a:lnSpc>
              <a:spcBef>
                <a:spcPct val="20000"/>
              </a:spcBef>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Nombre del Gerente</a:t>
            </a:r>
          </a:p>
          <a:p>
            <a:pPr marL="342900" indent="-342900" eaLnBrk="1" hangingPunct="1">
              <a:lnSpc>
                <a:spcPct val="90000"/>
              </a:lnSpc>
              <a:spcBef>
                <a:spcPct val="20000"/>
              </a:spcBef>
              <a:buFontTx/>
              <a:buChar char="-"/>
            </a:pPr>
            <a:endParaRPr lang="es-PE" sz="2400" dirty="0">
              <a:solidFill>
                <a:schemeClr val="tx1"/>
              </a:solidFill>
              <a:latin typeface="Inter" panose="020B0604020202020204" charset="0"/>
              <a:ea typeface="Inter" panose="020B0604020202020204" charset="0"/>
            </a:endParaRPr>
          </a:p>
          <a:p>
            <a:pPr marL="342900" indent="-342900" eaLnBrk="1" hangingPunct="1">
              <a:lnSpc>
                <a:spcPct val="90000"/>
              </a:lnSpc>
              <a:spcBef>
                <a:spcPct val="20000"/>
              </a:spcBef>
              <a:buFont typeface="Wingdings" panose="05000000000000000000" pitchFamily="2" charset="2"/>
              <a:buChar char="q"/>
            </a:pPr>
            <a:r>
              <a:rPr lang="es-PE" sz="2400" b="1" dirty="0">
                <a:solidFill>
                  <a:schemeClr val="tx1"/>
                </a:solidFill>
                <a:latin typeface="Inter" panose="020B0604020202020204" charset="0"/>
                <a:ea typeface="Inter" panose="020B0604020202020204" charset="0"/>
              </a:rPr>
              <a:t>Anexos:</a:t>
            </a:r>
          </a:p>
          <a:p>
            <a:pPr marL="800100" lvl="1" indent="-342900" eaLnBrk="1" hangingPunct="1">
              <a:lnSpc>
                <a:spcPct val="90000"/>
              </a:lnSpc>
              <a:spcBef>
                <a:spcPct val="20000"/>
              </a:spcBef>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Derecho de trámite</a:t>
            </a:r>
          </a:p>
          <a:p>
            <a:pPr marL="800100" lvl="1" indent="-342900" eaLnBrk="1" hangingPunct="1">
              <a:lnSpc>
                <a:spcPct val="90000"/>
              </a:lnSpc>
              <a:spcBef>
                <a:spcPct val="20000"/>
              </a:spcBef>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Derecho de vigencia</a:t>
            </a:r>
          </a:p>
          <a:p>
            <a:pPr marL="800100" lvl="1" indent="-342900" eaLnBrk="1" hangingPunct="1">
              <a:lnSpc>
                <a:spcPct val="90000"/>
              </a:lnSpc>
              <a:spcBef>
                <a:spcPct val="20000"/>
              </a:spcBef>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Certificado de Devolución</a:t>
            </a:r>
          </a:p>
          <a:p>
            <a:pPr marL="800100" lvl="1" indent="-342900" eaLnBrk="1" hangingPunct="1">
              <a:lnSpc>
                <a:spcPct val="90000"/>
              </a:lnSpc>
              <a:spcBef>
                <a:spcPct val="20000"/>
              </a:spcBef>
              <a:buFont typeface="Arial" panose="020B0604020202020204" pitchFamily="34" charset="0"/>
              <a:buChar char="•"/>
            </a:pPr>
            <a:r>
              <a:rPr lang="es-PE" sz="2400" dirty="0">
                <a:solidFill>
                  <a:schemeClr val="tx1"/>
                </a:solidFill>
                <a:latin typeface="Inter" panose="020B0604020202020204" charset="0"/>
                <a:ea typeface="Inter" panose="020B0604020202020204" charset="0"/>
              </a:rPr>
              <a:t>Constancia de PPM o PMA</a:t>
            </a:r>
          </a:p>
        </p:txBody>
      </p:sp>
    </p:spTree>
    <p:extLst>
      <p:ext uri="{BB962C8B-B14F-4D97-AF65-F5344CB8AC3E}">
        <p14:creationId xmlns:p14="http://schemas.microsoft.com/office/powerpoint/2010/main" val="11880984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BA37CB8-E23D-7537-46DC-89CC25DB292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81568EFE-9FF7-6446-C4FB-2A8EE41315ED}"/>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107C91CD-C7A1-C164-2F1B-893AC65BC595}"/>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768BB7EF-8C76-8C86-65FE-F760BFA31FB0}"/>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583918D0-1769-2650-EC99-344BDC469E31}"/>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AA36B948-B354-87C4-618D-602E0872B16F}"/>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2BFF48E3-B0A7-BBE3-9569-57071A519F58}"/>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290EFC53-611D-DA56-A070-038E15121343}"/>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0BAF328A-FF76-A395-D22F-606F9CF90FAE}"/>
              </a:ext>
            </a:extLst>
          </p:cNvPr>
          <p:cNvSpPr txBox="1"/>
          <p:nvPr/>
        </p:nvSpPr>
        <p:spPr>
          <a:xfrm>
            <a:off x="900953" y="2948338"/>
            <a:ext cx="12121915"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3.3 PROCEDIMIENTO ORDINARIO MINERO</a:t>
            </a:r>
            <a:endParaRPr lang="es-PE" sz="4000" b="1" dirty="0">
              <a:solidFill>
                <a:srgbClr val="A42F0F"/>
              </a:solidFill>
              <a:latin typeface="Futura Ultra-Bold"/>
            </a:endParaRPr>
          </a:p>
        </p:txBody>
      </p:sp>
      <p:sp>
        <p:nvSpPr>
          <p:cNvPr id="20" name="CuadroTexto 19">
            <a:extLst>
              <a:ext uri="{FF2B5EF4-FFF2-40B4-BE49-F238E27FC236}">
                <a16:creationId xmlns:a16="http://schemas.microsoft.com/office/drawing/2014/main" xmlns="" id="{922F5D82-9CBB-C3D0-E17E-B65CB3FB554D}"/>
              </a:ext>
            </a:extLst>
          </p:cNvPr>
          <p:cNvSpPr txBox="1"/>
          <p:nvPr/>
        </p:nvSpPr>
        <p:spPr>
          <a:xfrm>
            <a:off x="900953" y="4262389"/>
            <a:ext cx="15468600" cy="4832092"/>
          </a:xfrm>
          <a:prstGeom prst="rect">
            <a:avLst/>
          </a:prstGeom>
          <a:noFill/>
        </p:spPr>
        <p:txBody>
          <a:bodyPr wrap="square">
            <a:spAutoFit/>
          </a:bodyPr>
          <a:lstStyle/>
          <a:p>
            <a:pPr marL="342900" indent="-342900">
              <a:buFont typeface="Wingdings" panose="05000000000000000000" pitchFamily="2" charset="2"/>
              <a:buChar char="ü"/>
            </a:pPr>
            <a:r>
              <a:rPr lang="es-PE" sz="2800" dirty="0">
                <a:latin typeface="Inter" panose="02000503000000020004" pitchFamily="50" charset="0"/>
                <a:ea typeface="Inter" panose="02000503000000020004" pitchFamily="50" charset="0"/>
                <a:cs typeface="Inter" panose="02000503000000020004" pitchFamily="50" charset="0"/>
              </a:rPr>
              <a:t>El petitorio se presenta ante la mesa de partes del INGEMMET.</a:t>
            </a:r>
          </a:p>
          <a:p>
            <a:pPr marL="342900" indent="-342900">
              <a:buFont typeface="Wingdings" panose="05000000000000000000" pitchFamily="2" charset="2"/>
              <a:buChar char="ü"/>
            </a:pPr>
            <a:r>
              <a:rPr lang="es-PE" sz="2800" dirty="0">
                <a:latin typeface="Inter" panose="02000503000000020004" pitchFamily="50" charset="0"/>
                <a:ea typeface="Inter" panose="02000503000000020004" pitchFamily="50" charset="0"/>
                <a:cs typeface="Inter" panose="02000503000000020004" pitchFamily="50" charset="0"/>
              </a:rPr>
              <a:t>La Dirección de Concesiones mineras evalúa el petitorio a través de su Unidad Técnica, y emite un Informe Técnico, con la siguiente información de ser el caso:</a:t>
            </a:r>
          </a:p>
          <a:p>
            <a:endParaRPr lang="es-PE" sz="2800" dirty="0">
              <a:latin typeface="Inter" panose="02000503000000020004" pitchFamily="50" charset="0"/>
              <a:ea typeface="Inter" panose="02000503000000020004" pitchFamily="50" charset="0"/>
              <a:cs typeface="Inter" panose="02000503000000020004" pitchFamily="50" charset="0"/>
            </a:endParaRPr>
          </a:p>
          <a:p>
            <a:pPr marL="800100" lvl="1" indent="-342900">
              <a:buFont typeface="Arial" panose="020B0604020202020204" pitchFamily="34" charset="0"/>
              <a:buChar char="•"/>
            </a:pPr>
            <a:r>
              <a:rPr lang="es-PE" sz="2800" dirty="0">
                <a:latin typeface="Inter" panose="02000503000000020004" pitchFamily="50" charset="0"/>
                <a:ea typeface="Inter" panose="02000503000000020004" pitchFamily="50" charset="0"/>
                <a:cs typeface="Inter" panose="02000503000000020004" pitchFamily="50" charset="0"/>
              </a:rPr>
              <a:t>El área puede estar mal formulado</a:t>
            </a:r>
          </a:p>
          <a:p>
            <a:pPr marL="800100" lvl="1" indent="-342900">
              <a:buFont typeface="Arial" panose="020B0604020202020204" pitchFamily="34" charset="0"/>
              <a:buChar char="•"/>
            </a:pPr>
            <a:r>
              <a:rPr lang="es-PE" sz="2800" dirty="0">
                <a:latin typeface="Inter" panose="02000503000000020004" pitchFamily="50" charset="0"/>
                <a:ea typeface="Inter" panose="02000503000000020004" pitchFamily="50" charset="0"/>
                <a:cs typeface="Inter" panose="02000503000000020004" pitchFamily="50" charset="0"/>
              </a:rPr>
              <a:t>El área puede encontrarse libre de prioritarios</a:t>
            </a:r>
          </a:p>
          <a:p>
            <a:pPr marL="800100" lvl="1" indent="-342900">
              <a:buFont typeface="Arial" panose="020B0604020202020204" pitchFamily="34" charset="0"/>
              <a:buChar char="•"/>
            </a:pPr>
            <a:r>
              <a:rPr lang="es-PE" sz="2800" dirty="0">
                <a:latin typeface="Inter" panose="02000503000000020004" pitchFamily="50" charset="0"/>
                <a:ea typeface="Inter" panose="02000503000000020004" pitchFamily="50" charset="0"/>
                <a:cs typeface="Inter" panose="02000503000000020004" pitchFamily="50" charset="0"/>
              </a:rPr>
              <a:t>Se puede encontrar superpuesto a derechos mineros prioritarios.</a:t>
            </a:r>
          </a:p>
          <a:p>
            <a:pPr marL="800100" lvl="1" indent="-342900">
              <a:buFont typeface="Arial" panose="020B0604020202020204" pitchFamily="34" charset="0"/>
              <a:buChar char="•"/>
            </a:pPr>
            <a:r>
              <a:rPr lang="es-PE" sz="2800" dirty="0">
                <a:latin typeface="Inter" panose="02000503000000020004" pitchFamily="50" charset="0"/>
                <a:ea typeface="Inter" panose="02000503000000020004" pitchFamily="50" charset="0"/>
                <a:cs typeface="Inter" panose="02000503000000020004" pitchFamily="50" charset="0"/>
              </a:rPr>
              <a:t>Ser simultaneo con otro petitorio.</a:t>
            </a:r>
          </a:p>
          <a:p>
            <a:pPr marL="800100" lvl="1" indent="-342900">
              <a:buFont typeface="Arial" panose="020B0604020202020204" pitchFamily="34" charset="0"/>
              <a:buChar char="•"/>
            </a:pPr>
            <a:r>
              <a:rPr lang="es-PE" sz="2800" dirty="0">
                <a:latin typeface="Inter" panose="02000503000000020004" pitchFamily="50" charset="0"/>
                <a:ea typeface="Inter" panose="02000503000000020004" pitchFamily="50" charset="0"/>
                <a:cs typeface="Inter" panose="02000503000000020004" pitchFamily="50" charset="0"/>
              </a:rPr>
              <a:t>Estar superpuesto a Áreas Naturales Protegidas </a:t>
            </a:r>
          </a:p>
          <a:p>
            <a:pPr marL="800100" lvl="1" indent="-342900">
              <a:buFont typeface="Arial" panose="020B0604020202020204" pitchFamily="34" charset="0"/>
              <a:buChar char="•"/>
            </a:pPr>
            <a:r>
              <a:rPr lang="es-PE" sz="2800" dirty="0">
                <a:latin typeface="Inter" panose="02000503000000020004" pitchFamily="50" charset="0"/>
                <a:ea typeface="Inter" panose="02000503000000020004" pitchFamily="50" charset="0"/>
                <a:cs typeface="Inter" panose="02000503000000020004" pitchFamily="50" charset="0"/>
              </a:rPr>
              <a:t>Estar superpuesto a áreas urbanas o de expansión urbanas</a:t>
            </a:r>
          </a:p>
          <a:p>
            <a:pPr marL="800100" lvl="1" indent="-342900">
              <a:buFont typeface="Arial" panose="020B0604020202020204" pitchFamily="34" charset="0"/>
              <a:buChar char="•"/>
            </a:pPr>
            <a:r>
              <a:rPr lang="es-PE" sz="2800" dirty="0">
                <a:latin typeface="Inter" panose="02000503000000020004" pitchFamily="50" charset="0"/>
                <a:ea typeface="Inter" panose="02000503000000020004" pitchFamily="50" charset="0"/>
                <a:cs typeface="Inter" panose="02000503000000020004" pitchFamily="50" charset="0"/>
              </a:rPr>
              <a:t>Estar superpuesto a Zona arqueológica</a:t>
            </a:r>
          </a:p>
        </p:txBody>
      </p:sp>
    </p:spTree>
    <p:extLst>
      <p:ext uri="{BB962C8B-B14F-4D97-AF65-F5344CB8AC3E}">
        <p14:creationId xmlns:p14="http://schemas.microsoft.com/office/powerpoint/2010/main" val="21532539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C89D94-5CA2-5166-9B0D-51268A3FA44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9468A2A4-44A3-7FC3-19AF-CC3FBC9E4C0D}"/>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F87750E2-5E8E-E64E-BE73-2C43C65FA6A1}"/>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AA67435F-F06D-5F0A-C3B2-92075884B94A}"/>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20B24FD7-0A4F-0666-0D19-063A2C3916E1}"/>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C64DA088-9A90-34D6-F2BC-551C44E54C03}"/>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64B20674-5E8B-60B7-0ABD-E8AF73B7931E}"/>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B964C819-E1CC-F75F-5D27-564708ECA2B5}"/>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E4646946-FB92-860F-8295-1C7C3D94AD08}"/>
              </a:ext>
            </a:extLst>
          </p:cNvPr>
          <p:cNvSpPr txBox="1"/>
          <p:nvPr/>
        </p:nvSpPr>
        <p:spPr>
          <a:xfrm>
            <a:off x="900953" y="2948338"/>
            <a:ext cx="12121915"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3.3 PROCEDIMIENTO ORDINARIO MINERO</a:t>
            </a:r>
            <a:endParaRPr lang="es-PE" sz="4000" b="1" dirty="0">
              <a:solidFill>
                <a:srgbClr val="A42F0F"/>
              </a:solidFill>
              <a:latin typeface="Futura Ultra-Bold"/>
            </a:endParaRPr>
          </a:p>
        </p:txBody>
      </p:sp>
      <p:pic>
        <p:nvPicPr>
          <p:cNvPr id="6" name="Picture 3">
            <a:extLst>
              <a:ext uri="{FF2B5EF4-FFF2-40B4-BE49-F238E27FC236}">
                <a16:creationId xmlns:a16="http://schemas.microsoft.com/office/drawing/2014/main" xmlns="" id="{602D0148-3F37-6F66-94A5-F4F176B45F81}"/>
              </a:ext>
            </a:extLst>
          </p:cNvPr>
          <p:cNvPicPr>
            <a:picLocks noChangeAspect="1" noChangeArrowheads="1"/>
          </p:cNvPicPr>
          <p:nvPr/>
        </p:nvPicPr>
        <p:blipFill>
          <a:blip r:embed="rId6" cstate="print"/>
          <a:srcRect l="39062" t="44499" r="16094" b="32514"/>
          <a:stretch>
            <a:fillRect/>
          </a:stretch>
        </p:blipFill>
        <p:spPr>
          <a:xfrm>
            <a:off x="1143000" y="3980656"/>
            <a:ext cx="14405809" cy="4813106"/>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0170603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DAAF5C8-465F-6977-0514-12C38FD4198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CD167575-E33F-CAED-75C0-BC2053E8AB19}"/>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E82C79AB-2D73-EEDD-C9B3-EEBF445A44E7}"/>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6D9B29E1-60FD-0DD9-D123-74A461AA70B9}"/>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A2863FE3-2EE2-D6D6-79B2-A5BC9C957D02}"/>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637F1E66-D09F-1DDD-3A2F-AA137ACC7908}"/>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03933E82-714D-F4DA-CE2A-EC224D72B4CB}"/>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2E7DD6B2-B69C-827D-2AE5-87E8B828578C}"/>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C149E691-6334-700F-890A-530D853DDEF1}"/>
              </a:ext>
            </a:extLst>
          </p:cNvPr>
          <p:cNvSpPr txBox="1"/>
          <p:nvPr/>
        </p:nvSpPr>
        <p:spPr>
          <a:xfrm>
            <a:off x="900953" y="3080801"/>
            <a:ext cx="12121915"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3.3 PROCEDIMIENTO ORDINARIO MINERO</a:t>
            </a:r>
            <a:endParaRPr lang="es-PE" sz="4000" b="1" dirty="0">
              <a:solidFill>
                <a:srgbClr val="A42F0F"/>
              </a:solidFill>
              <a:latin typeface="Futura Ultra-Bold"/>
            </a:endParaRPr>
          </a:p>
        </p:txBody>
      </p:sp>
      <p:sp>
        <p:nvSpPr>
          <p:cNvPr id="12" name="CuadroTexto 11">
            <a:extLst>
              <a:ext uri="{FF2B5EF4-FFF2-40B4-BE49-F238E27FC236}">
                <a16:creationId xmlns:a16="http://schemas.microsoft.com/office/drawing/2014/main" xmlns="" id="{649214E7-F048-BADF-2F5D-6EC9286BE26B}"/>
              </a:ext>
            </a:extLst>
          </p:cNvPr>
          <p:cNvSpPr txBox="1"/>
          <p:nvPr/>
        </p:nvSpPr>
        <p:spPr>
          <a:xfrm>
            <a:off x="900953" y="4344009"/>
            <a:ext cx="13653247" cy="3785652"/>
          </a:xfrm>
          <a:prstGeom prst="rect">
            <a:avLst/>
          </a:prstGeom>
          <a:noFill/>
        </p:spPr>
        <p:txBody>
          <a:bodyPr wrap="square">
            <a:spAutoFit/>
          </a:bodyPr>
          <a:lstStyle/>
          <a:p>
            <a:pPr marL="266700" indent="-266700">
              <a:spcBef>
                <a:spcPct val="50000"/>
              </a:spcBef>
              <a:buFont typeface="+mj-lt"/>
              <a:buAutoNum type="arabicPeriod"/>
              <a:defRPr/>
            </a:pPr>
            <a:r>
              <a:rPr lang="es-PE" sz="2400" dirty="0">
                <a:solidFill>
                  <a:schemeClr val="tx1"/>
                </a:solidFill>
                <a:latin typeface="Inter" panose="020B0604020202020204" charset="0"/>
                <a:ea typeface="Inter" panose="020B0604020202020204" charset="0"/>
                <a:cs typeface="Arial" charset="0"/>
              </a:rPr>
              <a:t>La DCM o Gobierno Regional  tiene 7 hábiles días para revisar el petitorio y si éste cumple con todos los requisitos notificará los carteles al solicitante   </a:t>
            </a:r>
          </a:p>
          <a:p>
            <a:pPr marL="266700" indent="-266700">
              <a:spcBef>
                <a:spcPct val="50000"/>
              </a:spcBef>
              <a:buFont typeface="+mj-lt"/>
              <a:buAutoNum type="arabicPeriod"/>
              <a:defRPr/>
            </a:pPr>
            <a:r>
              <a:rPr lang="es-PE" sz="2400" dirty="0">
                <a:solidFill>
                  <a:schemeClr val="tx1"/>
                </a:solidFill>
                <a:latin typeface="Inter" panose="020B0604020202020204" charset="0"/>
                <a:ea typeface="Inter" panose="020B0604020202020204" charset="0"/>
                <a:cs typeface="Arial" charset="0"/>
              </a:rPr>
              <a:t>El solicitante tiene 30 días hábiles para publicar los carteles en los diarios que notifica la DCM o Gobierno Regional, y 60 días calendarios para presentar las páginas enteras y originales de los diarios donde consten las publicaciones al INGEMMET o Gobierno Regional.</a:t>
            </a:r>
          </a:p>
          <a:p>
            <a:pPr marL="266700" indent="-266700">
              <a:spcBef>
                <a:spcPct val="50000"/>
              </a:spcBef>
              <a:buFont typeface="+mj-lt"/>
              <a:buAutoNum type="arabicPeriod"/>
              <a:defRPr/>
            </a:pPr>
            <a:r>
              <a:rPr lang="es-PE" sz="2400" dirty="0">
                <a:solidFill>
                  <a:schemeClr val="tx1"/>
                </a:solidFill>
                <a:latin typeface="Inter" panose="020B0604020202020204" charset="0"/>
                <a:ea typeface="Inter" panose="020B0604020202020204" charset="0"/>
                <a:cs typeface="Arial" charset="0"/>
              </a:rPr>
              <a:t>La DCM o Gobierno Regional  de recibido las publicaciones y de no mediar oposición, en el plazo 30 días hábiles se emite los informes, para el otorgamiento del Titulo de concesión minera. </a:t>
            </a:r>
            <a:endParaRPr lang="es-PE" sz="2400" dirty="0">
              <a:solidFill>
                <a:schemeClr val="tx1"/>
              </a:solidFill>
              <a:latin typeface="Inter" panose="020B0604020202020204" charset="0"/>
              <a:ea typeface="Inter" panose="020B0604020202020204" charset="0"/>
            </a:endParaRPr>
          </a:p>
        </p:txBody>
      </p:sp>
    </p:spTree>
    <p:extLst>
      <p:ext uri="{BB962C8B-B14F-4D97-AF65-F5344CB8AC3E}">
        <p14:creationId xmlns:p14="http://schemas.microsoft.com/office/powerpoint/2010/main" val="12078270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2B73D96-0D42-C12E-E520-576F147267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A24B5682-7F67-9761-60BF-72B685B71E74}"/>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5E325333-A968-2FCA-3D3D-3ED69DF7AA6D}"/>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C5A459E4-1F7C-8723-DD4F-0BBD0DBD3E46}"/>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1FE7F635-D437-59E0-845E-6434D04C64BA}"/>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0BF9B588-AD01-86E4-525D-41494B0F14EF}"/>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8DA1F33F-7CB5-E50F-989F-240EE3D289F6}"/>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A238221D-44C7-B422-AEE4-031F8F74F1C6}"/>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7BD41ED2-5228-A273-4BC4-338E82C0AE30}"/>
              </a:ext>
            </a:extLst>
          </p:cNvPr>
          <p:cNvSpPr txBox="1"/>
          <p:nvPr/>
        </p:nvSpPr>
        <p:spPr>
          <a:xfrm>
            <a:off x="900953" y="2948338"/>
            <a:ext cx="12121915"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3.3 PROCEDIMIENTO ORDINARIO MINERO</a:t>
            </a:r>
            <a:endParaRPr lang="es-PE" sz="4000" b="1" dirty="0">
              <a:solidFill>
                <a:srgbClr val="A42F0F"/>
              </a:solidFill>
              <a:latin typeface="Futura Ultra-Bold"/>
            </a:endParaRPr>
          </a:p>
        </p:txBody>
      </p:sp>
      <p:sp>
        <p:nvSpPr>
          <p:cNvPr id="12" name="CuadroTexto 11">
            <a:extLst>
              <a:ext uri="{FF2B5EF4-FFF2-40B4-BE49-F238E27FC236}">
                <a16:creationId xmlns:a16="http://schemas.microsoft.com/office/drawing/2014/main" xmlns="" id="{B02748B6-1810-B23F-CB71-9421DCFE7825}"/>
              </a:ext>
            </a:extLst>
          </p:cNvPr>
          <p:cNvSpPr txBox="1"/>
          <p:nvPr/>
        </p:nvSpPr>
        <p:spPr>
          <a:xfrm>
            <a:off x="900952" y="4266817"/>
            <a:ext cx="13101294" cy="3600986"/>
          </a:xfrm>
          <a:prstGeom prst="rect">
            <a:avLst/>
          </a:prstGeom>
          <a:noFill/>
        </p:spPr>
        <p:txBody>
          <a:bodyPr wrap="square">
            <a:spAutoFit/>
          </a:bodyPr>
          <a:lstStyle/>
          <a:p>
            <a:pPr marL="266700" indent="-266700">
              <a:spcBef>
                <a:spcPct val="50000"/>
              </a:spcBef>
              <a:buFont typeface="+mj-lt"/>
              <a:buAutoNum type="arabicPeriod" startAt="4"/>
              <a:defRPr/>
            </a:pPr>
            <a:r>
              <a:rPr lang="es-PE" sz="2400" dirty="0">
                <a:solidFill>
                  <a:schemeClr val="tx1"/>
                </a:solidFill>
                <a:latin typeface="Inter" panose="020B0604020202020204" charset="0"/>
                <a:ea typeface="Inter" panose="020B0604020202020204" charset="0"/>
                <a:cs typeface="Arial" charset="0"/>
              </a:rPr>
              <a:t>El Presidente  del INGEMMET o Gobierno Regional otorgará el título de concesión minera.  Luego la Resolución será notificada al peticionario  </a:t>
            </a:r>
          </a:p>
          <a:p>
            <a:pPr marL="266700" indent="-266700">
              <a:spcBef>
                <a:spcPct val="50000"/>
              </a:spcBef>
              <a:buFont typeface="+mj-lt"/>
              <a:buAutoNum type="arabicPeriod" startAt="4"/>
              <a:defRPr/>
            </a:pPr>
            <a:r>
              <a:rPr lang="es-PE" sz="2400" dirty="0">
                <a:solidFill>
                  <a:schemeClr val="tx1"/>
                </a:solidFill>
                <a:latin typeface="Inter" panose="020B0604020202020204" charset="0"/>
                <a:ea typeface="Inter" panose="020B0604020202020204" charset="0"/>
                <a:cs typeface="Arial" charset="0"/>
              </a:rPr>
              <a:t>El INGEMMET publicará en el Peruano, dentro de los 15 días del mes siguiente, la relación de Concesiones otorgadas.</a:t>
            </a:r>
          </a:p>
          <a:p>
            <a:pPr marL="266700" indent="-266700">
              <a:spcBef>
                <a:spcPct val="50000"/>
              </a:spcBef>
              <a:buFont typeface="+mj-lt"/>
              <a:buAutoNum type="arabicPeriod" startAt="4"/>
              <a:defRPr/>
            </a:pPr>
            <a:r>
              <a:rPr lang="es-PE" sz="2400" dirty="0">
                <a:solidFill>
                  <a:schemeClr val="tx1"/>
                </a:solidFill>
                <a:latin typeface="Inter" panose="020B0604020202020204" charset="0"/>
                <a:ea typeface="Inter" panose="020B0604020202020204" charset="0"/>
                <a:cs typeface="Arial" charset="0"/>
              </a:rPr>
              <a:t>Si durante los 15 días útiles siguientes a la publicación no se interpone recurso de revisión, entonces la concesión queda consentida y firme.</a:t>
            </a:r>
          </a:p>
          <a:p>
            <a:pPr marL="266700" indent="-266700">
              <a:spcBef>
                <a:spcPct val="50000"/>
              </a:spcBef>
              <a:buFont typeface="+mj-lt"/>
              <a:buAutoNum type="arabicPeriod" startAt="4"/>
              <a:defRPr/>
            </a:pPr>
            <a:r>
              <a:rPr lang="es-PE" sz="2400" dirty="0">
                <a:solidFill>
                  <a:schemeClr val="tx1"/>
                </a:solidFill>
                <a:latin typeface="Inter" panose="020B0604020202020204" charset="0"/>
                <a:ea typeface="Inter" panose="020B0604020202020204" charset="0"/>
                <a:cs typeface="Arial" charset="0"/>
              </a:rPr>
              <a:t>El titular puede inscribir el Título de concesión minera en el Registro Minero de la SUNARP</a:t>
            </a:r>
          </a:p>
        </p:txBody>
      </p:sp>
    </p:spTree>
    <p:extLst>
      <p:ext uri="{BB962C8B-B14F-4D97-AF65-F5344CB8AC3E}">
        <p14:creationId xmlns:p14="http://schemas.microsoft.com/office/powerpoint/2010/main" val="35793608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AB7128-ECE8-D03C-604F-A6156902BC5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6CB2F2E2-6F6F-E96B-C1F3-379A07C8E4DA}"/>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54C9BFCC-77E0-4946-5308-43264CE5249B}"/>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B31E55EF-46C3-3EA2-8BB6-30292A74A42F}"/>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26CB83E4-7975-7E74-1EFE-E06836EFEBBD}"/>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0D0E3EFD-5493-3DA4-AFEB-F0733E859B03}"/>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352B5137-B72E-8F71-DBE1-EECC438041D4}"/>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1D5E21F8-F871-CB9B-1649-34FE72E4AB5A}"/>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33E0DB05-CDA5-8B88-3313-32A8FB01DC17}"/>
              </a:ext>
            </a:extLst>
          </p:cNvPr>
          <p:cNvSpPr txBox="1"/>
          <p:nvPr/>
        </p:nvSpPr>
        <p:spPr>
          <a:xfrm>
            <a:off x="900953" y="2948338"/>
            <a:ext cx="12121915"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3.4 EXTINCIÓN DE DERECHOS MINEROS  </a:t>
            </a:r>
            <a:endParaRPr lang="es-PE" sz="4000" b="1" dirty="0">
              <a:solidFill>
                <a:srgbClr val="A42F0F"/>
              </a:solidFill>
              <a:latin typeface="Futura Ultra-Bold"/>
            </a:endParaRPr>
          </a:p>
        </p:txBody>
      </p:sp>
      <p:sp>
        <p:nvSpPr>
          <p:cNvPr id="6" name="Diagrama de flujo: retraso 5">
            <a:extLst>
              <a:ext uri="{FF2B5EF4-FFF2-40B4-BE49-F238E27FC236}">
                <a16:creationId xmlns:a16="http://schemas.microsoft.com/office/drawing/2014/main" xmlns="" id="{48A0CA52-DF8A-C812-8E3C-658DBAEE6E15}"/>
              </a:ext>
            </a:extLst>
          </p:cNvPr>
          <p:cNvSpPr/>
          <p:nvPr/>
        </p:nvSpPr>
        <p:spPr>
          <a:xfrm>
            <a:off x="1095812" y="3771900"/>
            <a:ext cx="2866587" cy="6288362"/>
          </a:xfrm>
          <a:prstGeom prst="flowChartDelay">
            <a:avLst/>
          </a:prstGeom>
          <a:solidFill>
            <a:schemeClr val="accent2">
              <a:lumMod val="7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PE" sz="3200" b="1" dirty="0">
                <a:ln w="12700" cmpd="sng">
                  <a:solidFill>
                    <a:srgbClr val="FF0000"/>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Inter" panose="020B0604020202020204" charset="0"/>
                <a:ea typeface="Inter" panose="020B0604020202020204" charset="0"/>
              </a:rPr>
              <a:t>FORMAS DE EXTINCIÓN</a:t>
            </a:r>
          </a:p>
        </p:txBody>
      </p:sp>
      <p:sp>
        <p:nvSpPr>
          <p:cNvPr id="16" name="CuadroTexto 15">
            <a:extLst>
              <a:ext uri="{FF2B5EF4-FFF2-40B4-BE49-F238E27FC236}">
                <a16:creationId xmlns:a16="http://schemas.microsoft.com/office/drawing/2014/main" xmlns="" id="{BBEBDDEB-1B3C-34D9-0099-BF55579F4741}"/>
              </a:ext>
            </a:extLst>
          </p:cNvPr>
          <p:cNvSpPr txBox="1"/>
          <p:nvPr/>
        </p:nvSpPr>
        <p:spPr>
          <a:xfrm>
            <a:off x="4187334" y="3923524"/>
            <a:ext cx="9525000" cy="1569660"/>
          </a:xfrm>
          <a:prstGeom prst="rect">
            <a:avLst/>
          </a:prstGeom>
          <a:noFill/>
        </p:spPr>
        <p:txBody>
          <a:bodyPr wrap="square">
            <a:spAutoFit/>
          </a:bodyPr>
          <a:lstStyle/>
          <a:p>
            <a:pPr algn="just"/>
            <a:r>
              <a:rPr lang="es-PE" sz="2400" b="1" dirty="0">
                <a:solidFill>
                  <a:schemeClr val="accent2">
                    <a:lumMod val="50000"/>
                  </a:schemeClr>
                </a:solidFill>
                <a:latin typeface="Inter" panose="020B0604020202020204" charset="0"/>
                <a:ea typeface="Inter" panose="020B0604020202020204" charset="0"/>
              </a:rPr>
              <a:t>Inadmisible</a:t>
            </a:r>
            <a:r>
              <a:rPr lang="es-PE" sz="2400" dirty="0">
                <a:solidFill>
                  <a:schemeClr val="accent2">
                    <a:lumMod val="50000"/>
                  </a:schemeClr>
                </a:solidFill>
                <a:latin typeface="Inter" panose="020B0604020202020204" charset="0"/>
                <a:ea typeface="Inter" panose="020B0604020202020204" charset="0"/>
              </a:rPr>
              <a:t>: </a:t>
            </a:r>
            <a:r>
              <a:rPr lang="es-PE" sz="2400" dirty="0">
                <a:latin typeface="Inter" panose="020B0604020202020204" charset="0"/>
                <a:ea typeface="Inter" panose="020B0604020202020204" charset="0"/>
              </a:rPr>
              <a:t>Es el acto mediante cual la autoridad minera no admite un petitorio por cuanto no contiene la información correcta de coordenadas, </a:t>
            </a:r>
            <a:r>
              <a:rPr lang="es-PE" sz="2400" b="1" dirty="0">
                <a:solidFill>
                  <a:srgbClr val="C00000"/>
                </a:solidFill>
                <a:latin typeface="Inter" panose="020B0604020202020204" charset="0"/>
                <a:ea typeface="Inter" panose="020B0604020202020204" charset="0"/>
              </a:rPr>
              <a:t>disponiéndose su no ingreso al catastro o su retiro del mismo</a:t>
            </a:r>
            <a:r>
              <a:rPr lang="es-PE" sz="2400" dirty="0">
                <a:solidFill>
                  <a:srgbClr val="66FF33"/>
                </a:solidFill>
                <a:latin typeface="Inter" panose="020B0604020202020204" charset="0"/>
                <a:ea typeface="Inter" panose="020B0604020202020204" charset="0"/>
              </a:rPr>
              <a:t>.</a:t>
            </a:r>
          </a:p>
        </p:txBody>
      </p:sp>
      <p:sp>
        <p:nvSpPr>
          <p:cNvPr id="17" name="CuadroTexto 16">
            <a:extLst>
              <a:ext uri="{FF2B5EF4-FFF2-40B4-BE49-F238E27FC236}">
                <a16:creationId xmlns:a16="http://schemas.microsoft.com/office/drawing/2014/main" xmlns="" id="{F70CF11B-D6A3-899F-0F12-5C9A87DD3EBE}"/>
              </a:ext>
            </a:extLst>
          </p:cNvPr>
          <p:cNvSpPr txBox="1"/>
          <p:nvPr/>
        </p:nvSpPr>
        <p:spPr>
          <a:xfrm>
            <a:off x="4765828" y="5399172"/>
            <a:ext cx="10025891" cy="1569660"/>
          </a:xfrm>
          <a:prstGeom prst="rect">
            <a:avLst/>
          </a:prstGeom>
          <a:noFill/>
        </p:spPr>
        <p:txBody>
          <a:bodyPr wrap="square">
            <a:spAutoFit/>
          </a:bodyPr>
          <a:lstStyle/>
          <a:p>
            <a:pPr algn="just"/>
            <a:r>
              <a:rPr lang="es-PE" sz="2400" b="1" dirty="0">
                <a:solidFill>
                  <a:schemeClr val="accent2">
                    <a:lumMod val="50000"/>
                  </a:schemeClr>
                </a:solidFill>
                <a:latin typeface="Inter" panose="020B0604020202020204" charset="0"/>
                <a:ea typeface="Inter" panose="020B0604020202020204" charset="0"/>
              </a:rPr>
              <a:t>Cancelación</a:t>
            </a:r>
            <a:r>
              <a:rPr lang="es-PE" sz="2400" dirty="0">
                <a:solidFill>
                  <a:schemeClr val="accent2">
                    <a:lumMod val="50000"/>
                  </a:schemeClr>
                </a:solidFill>
                <a:latin typeface="Inter" panose="020B0604020202020204" charset="0"/>
                <a:ea typeface="Inter" panose="020B0604020202020204" charset="0"/>
              </a:rPr>
              <a:t>: </a:t>
            </a:r>
            <a:r>
              <a:rPr lang="es-PE" sz="2400" dirty="0">
                <a:latin typeface="Inter" panose="020B0604020202020204" charset="0"/>
                <a:ea typeface="Inter" panose="020B0604020202020204" charset="0"/>
              </a:rPr>
              <a:t>Es la declaración de la autoridad minera, por el cual dispone concluir el trámite de un derecho minero por cuanto, no tiene área disponible a ser otorgada. (superposición total) </a:t>
            </a:r>
            <a:r>
              <a:rPr lang="es-PE" sz="2400" b="1" dirty="0">
                <a:solidFill>
                  <a:srgbClr val="C00000"/>
                </a:solidFill>
                <a:latin typeface="Inter" panose="020B0604020202020204" charset="0"/>
                <a:ea typeface="Inter" panose="020B0604020202020204" charset="0"/>
              </a:rPr>
              <a:t>Se retira del catastro minero</a:t>
            </a:r>
            <a:r>
              <a:rPr lang="es-PE" sz="2400" dirty="0">
                <a:solidFill>
                  <a:srgbClr val="0033CC"/>
                </a:solidFill>
                <a:latin typeface="Inter" panose="020B0604020202020204" charset="0"/>
                <a:ea typeface="Inter" panose="020B0604020202020204" charset="0"/>
              </a:rPr>
              <a:t>.</a:t>
            </a:r>
          </a:p>
        </p:txBody>
      </p:sp>
      <p:sp>
        <p:nvSpPr>
          <p:cNvPr id="18" name="CuadroTexto 17">
            <a:extLst>
              <a:ext uri="{FF2B5EF4-FFF2-40B4-BE49-F238E27FC236}">
                <a16:creationId xmlns:a16="http://schemas.microsoft.com/office/drawing/2014/main" xmlns="" id="{79D8B77C-CD6D-3259-8978-ABB09B8CF86B}"/>
              </a:ext>
            </a:extLst>
          </p:cNvPr>
          <p:cNvSpPr txBox="1"/>
          <p:nvPr/>
        </p:nvSpPr>
        <p:spPr>
          <a:xfrm>
            <a:off x="4783758" y="6936113"/>
            <a:ext cx="10025890" cy="1421928"/>
          </a:xfrm>
          <a:prstGeom prst="rect">
            <a:avLst/>
          </a:prstGeom>
          <a:noFill/>
        </p:spPr>
        <p:txBody>
          <a:bodyPr wrap="square">
            <a:spAutoFit/>
          </a:bodyPr>
          <a:lstStyle/>
          <a:p>
            <a:pPr algn="just">
              <a:lnSpc>
                <a:spcPct val="90000"/>
              </a:lnSpc>
            </a:pPr>
            <a:r>
              <a:rPr lang="es-PE" sz="2400" b="1" dirty="0">
                <a:solidFill>
                  <a:schemeClr val="accent2">
                    <a:lumMod val="50000"/>
                  </a:schemeClr>
                </a:solidFill>
                <a:latin typeface="Inter" panose="020B0604020202020204" charset="0"/>
                <a:ea typeface="Inter" panose="020B0604020202020204" charset="0"/>
              </a:rPr>
              <a:t>Rechazo</a:t>
            </a:r>
            <a:r>
              <a:rPr lang="es-PE" sz="2400" dirty="0">
                <a:solidFill>
                  <a:schemeClr val="accent2">
                    <a:lumMod val="50000"/>
                  </a:schemeClr>
                </a:solidFill>
                <a:latin typeface="Inter" panose="020B0604020202020204" charset="0"/>
                <a:ea typeface="Inter" panose="020B0604020202020204" charset="0"/>
              </a:rPr>
              <a:t>: </a:t>
            </a:r>
            <a:r>
              <a:rPr lang="es-PE" sz="2400" dirty="0">
                <a:latin typeface="Inter" panose="020B0604020202020204" charset="0"/>
                <a:ea typeface="Inter" panose="020B0604020202020204" charset="0"/>
              </a:rPr>
              <a:t>Acto por el cual la autoridad minera, determina no continuar el trámite del petitorio, por cuanto carece de algún requisito de procedibilidad, que no puede ser subsanado. </a:t>
            </a:r>
            <a:r>
              <a:rPr lang="es-PE" sz="2400" b="1" dirty="0">
                <a:solidFill>
                  <a:srgbClr val="C00000"/>
                </a:solidFill>
                <a:latin typeface="Inter" panose="020B0604020202020204" charset="0"/>
                <a:ea typeface="Inter" panose="020B0604020202020204" charset="0"/>
              </a:rPr>
              <a:t>El área se publicará de libre denunciabilidad.</a:t>
            </a:r>
          </a:p>
        </p:txBody>
      </p:sp>
      <p:sp>
        <p:nvSpPr>
          <p:cNvPr id="19" name="CuadroTexto 18">
            <a:extLst>
              <a:ext uri="{FF2B5EF4-FFF2-40B4-BE49-F238E27FC236}">
                <a16:creationId xmlns:a16="http://schemas.microsoft.com/office/drawing/2014/main" xmlns="" id="{08C1F9B6-3A39-81B9-8270-B8B37BF72E7A}"/>
              </a:ext>
            </a:extLst>
          </p:cNvPr>
          <p:cNvSpPr txBox="1"/>
          <p:nvPr/>
        </p:nvSpPr>
        <p:spPr>
          <a:xfrm>
            <a:off x="4187334" y="8450311"/>
            <a:ext cx="9525000" cy="1421928"/>
          </a:xfrm>
          <a:prstGeom prst="rect">
            <a:avLst/>
          </a:prstGeom>
          <a:noFill/>
        </p:spPr>
        <p:txBody>
          <a:bodyPr wrap="square">
            <a:spAutoFit/>
          </a:bodyPr>
          <a:lstStyle/>
          <a:p>
            <a:pPr algn="just">
              <a:lnSpc>
                <a:spcPct val="90000"/>
              </a:lnSpc>
            </a:pPr>
            <a:r>
              <a:rPr lang="es-PE" sz="2400" b="1" dirty="0">
                <a:solidFill>
                  <a:schemeClr val="accent2">
                    <a:lumMod val="50000"/>
                  </a:schemeClr>
                </a:solidFill>
                <a:latin typeface="Inter" panose="020B0604020202020204" charset="0"/>
                <a:ea typeface="Inter" panose="020B0604020202020204" charset="0"/>
              </a:rPr>
              <a:t>Nulidad</a:t>
            </a:r>
            <a:r>
              <a:rPr lang="es-PE" sz="2400" dirty="0">
                <a:solidFill>
                  <a:schemeClr val="accent2">
                    <a:lumMod val="50000"/>
                  </a:schemeClr>
                </a:solidFill>
                <a:latin typeface="Inter" panose="020B0604020202020204" charset="0"/>
                <a:ea typeface="Inter" panose="020B0604020202020204" charset="0"/>
              </a:rPr>
              <a:t>: </a:t>
            </a:r>
            <a:r>
              <a:rPr lang="es-PE" sz="2400" dirty="0">
                <a:latin typeface="Inter" panose="020B0604020202020204" charset="0"/>
                <a:ea typeface="Inter" panose="020B0604020202020204" charset="0"/>
              </a:rPr>
              <a:t>Declaración de la autoridad minera de no continuar el tramite y declarar nula la solicitud de petitorio, por cuánto el titular del petitorio se encuentra inhabilitado para peticionar. </a:t>
            </a:r>
            <a:r>
              <a:rPr lang="es-PE" sz="2400" b="1" dirty="0">
                <a:solidFill>
                  <a:srgbClr val="C00000"/>
                </a:solidFill>
                <a:latin typeface="Inter" panose="020B0604020202020204" charset="0"/>
                <a:ea typeface="Inter" panose="020B0604020202020204" charset="0"/>
              </a:rPr>
              <a:t>El área se publicará de libre denunciabilidad</a:t>
            </a:r>
          </a:p>
        </p:txBody>
      </p:sp>
    </p:spTree>
    <p:extLst>
      <p:ext uri="{BB962C8B-B14F-4D97-AF65-F5344CB8AC3E}">
        <p14:creationId xmlns:p14="http://schemas.microsoft.com/office/powerpoint/2010/main" val="1681196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8D6AFF2-4169-258B-7A95-8E85116A28E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1FEB8596-E6F2-24E2-A06D-726FAB7C9570}"/>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89E3475D-9F7F-4809-F7E7-1EAA2A3621AA}"/>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58C8DC98-0096-0426-F72B-CD5C9D3A4E89}"/>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74FAED42-1CC9-4C8C-FFF7-A5DC69805B2D}"/>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3C67EEDF-633F-6A19-A623-FFEA5ADCC8EC}"/>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848CBA9D-2D89-FF10-CB98-83E9344F36E4}"/>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B412EC18-EFA4-D0CE-3BD9-FCAAC354C24A}"/>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C6826C51-6BB6-E1BA-EBB5-B08E3991DE09}"/>
              </a:ext>
            </a:extLst>
          </p:cNvPr>
          <p:cNvSpPr txBox="1"/>
          <p:nvPr/>
        </p:nvSpPr>
        <p:spPr>
          <a:xfrm>
            <a:off x="900953" y="2948338"/>
            <a:ext cx="12121915"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3.4 EXTINCIÓN DE DERECHOS MINEROS  </a:t>
            </a:r>
            <a:endParaRPr lang="es-PE" sz="4000" b="1" dirty="0">
              <a:solidFill>
                <a:srgbClr val="A42F0F"/>
              </a:solidFill>
              <a:latin typeface="Futura Ultra-Bold"/>
            </a:endParaRPr>
          </a:p>
        </p:txBody>
      </p:sp>
      <p:sp>
        <p:nvSpPr>
          <p:cNvPr id="6" name="Diagrama de flujo: retraso 5">
            <a:extLst>
              <a:ext uri="{FF2B5EF4-FFF2-40B4-BE49-F238E27FC236}">
                <a16:creationId xmlns:a16="http://schemas.microsoft.com/office/drawing/2014/main" xmlns="" id="{5FC76AB8-C5BB-9B9E-1FE9-9006215052E6}"/>
              </a:ext>
            </a:extLst>
          </p:cNvPr>
          <p:cNvSpPr/>
          <p:nvPr/>
        </p:nvSpPr>
        <p:spPr>
          <a:xfrm>
            <a:off x="1095812" y="3771900"/>
            <a:ext cx="2866587" cy="6288362"/>
          </a:xfrm>
          <a:prstGeom prst="flowChartDelay">
            <a:avLst/>
          </a:prstGeom>
          <a:solidFill>
            <a:schemeClr val="accent2">
              <a:lumMod val="7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PE" sz="3200" b="1" dirty="0">
                <a:ln w="12700" cmpd="sng">
                  <a:solidFill>
                    <a:srgbClr val="FF0000"/>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Inter" panose="020B0604020202020204" charset="0"/>
                <a:ea typeface="Inter" panose="020B0604020202020204" charset="0"/>
              </a:rPr>
              <a:t>FORMAS DE EXTINCIÓN</a:t>
            </a:r>
          </a:p>
        </p:txBody>
      </p:sp>
      <p:sp>
        <p:nvSpPr>
          <p:cNvPr id="16" name="CuadroTexto 15">
            <a:extLst>
              <a:ext uri="{FF2B5EF4-FFF2-40B4-BE49-F238E27FC236}">
                <a16:creationId xmlns:a16="http://schemas.microsoft.com/office/drawing/2014/main" xmlns="" id="{39FEA18C-B0C8-0C9D-2C61-C141FE74A009}"/>
              </a:ext>
            </a:extLst>
          </p:cNvPr>
          <p:cNvSpPr txBox="1"/>
          <p:nvPr/>
        </p:nvSpPr>
        <p:spPr>
          <a:xfrm>
            <a:off x="4187334" y="3873195"/>
            <a:ext cx="10116045" cy="1754326"/>
          </a:xfrm>
          <a:prstGeom prst="rect">
            <a:avLst/>
          </a:prstGeom>
          <a:noFill/>
        </p:spPr>
        <p:txBody>
          <a:bodyPr wrap="square">
            <a:spAutoFit/>
          </a:bodyPr>
          <a:lstStyle/>
          <a:p>
            <a:pPr algn="just">
              <a:lnSpc>
                <a:spcPct val="90000"/>
              </a:lnSpc>
            </a:pPr>
            <a:r>
              <a:rPr lang="es-PE" sz="2400" b="1" dirty="0">
                <a:solidFill>
                  <a:schemeClr val="accent2">
                    <a:lumMod val="50000"/>
                  </a:schemeClr>
                </a:solidFill>
                <a:latin typeface="Inter" panose="020B0604020202020204" charset="0"/>
                <a:ea typeface="Inter" panose="020B0604020202020204" charset="0"/>
              </a:rPr>
              <a:t>Abandono</a:t>
            </a:r>
            <a:r>
              <a:rPr lang="es-PE" sz="2400" dirty="0">
                <a:solidFill>
                  <a:schemeClr val="accent2">
                    <a:lumMod val="50000"/>
                  </a:schemeClr>
                </a:solidFill>
                <a:latin typeface="Inter" panose="020B0604020202020204" charset="0"/>
                <a:ea typeface="Inter" panose="020B0604020202020204" charset="0"/>
              </a:rPr>
              <a:t>: </a:t>
            </a:r>
            <a:r>
              <a:rPr lang="es-PE" sz="2400" dirty="0">
                <a:latin typeface="Inter" panose="020B0604020202020204" charset="0"/>
                <a:ea typeface="Inter" panose="020B0604020202020204" charset="0"/>
              </a:rPr>
              <a:t>Acto de la autoridad competente, que declara concluido el trámite del petitorio, en el estado que se encuentra por inacción del peticionario, por haber incumplido alguna obligación u orden dictada por la autoridad minera. </a:t>
            </a:r>
            <a:r>
              <a:rPr lang="es-PE" sz="2400" b="1" dirty="0">
                <a:solidFill>
                  <a:srgbClr val="C00000"/>
                </a:solidFill>
                <a:latin typeface="Inter" panose="020B0604020202020204" charset="0"/>
                <a:ea typeface="Inter" panose="020B0604020202020204" charset="0"/>
              </a:rPr>
              <a:t>El área se publicará de libre denunciabilidad.</a:t>
            </a:r>
          </a:p>
        </p:txBody>
      </p:sp>
      <p:sp>
        <p:nvSpPr>
          <p:cNvPr id="17" name="CuadroTexto 16">
            <a:extLst>
              <a:ext uri="{FF2B5EF4-FFF2-40B4-BE49-F238E27FC236}">
                <a16:creationId xmlns:a16="http://schemas.microsoft.com/office/drawing/2014/main" xmlns="" id="{332AFB9C-69A1-3BBD-2B4D-0CB28F473934}"/>
              </a:ext>
            </a:extLst>
          </p:cNvPr>
          <p:cNvSpPr txBox="1"/>
          <p:nvPr/>
        </p:nvSpPr>
        <p:spPr>
          <a:xfrm>
            <a:off x="4765828" y="5905654"/>
            <a:ext cx="10025891" cy="1421928"/>
          </a:xfrm>
          <a:prstGeom prst="rect">
            <a:avLst/>
          </a:prstGeom>
          <a:noFill/>
        </p:spPr>
        <p:txBody>
          <a:bodyPr wrap="square">
            <a:spAutoFit/>
          </a:bodyPr>
          <a:lstStyle/>
          <a:p>
            <a:pPr algn="just">
              <a:lnSpc>
                <a:spcPct val="90000"/>
              </a:lnSpc>
            </a:pPr>
            <a:r>
              <a:rPr lang="es-PE" sz="2400" b="1" dirty="0">
                <a:solidFill>
                  <a:schemeClr val="accent2">
                    <a:lumMod val="50000"/>
                  </a:schemeClr>
                </a:solidFill>
                <a:latin typeface="Inter" panose="020B0604020202020204" charset="0"/>
                <a:ea typeface="Inter" panose="020B0604020202020204" charset="0"/>
              </a:rPr>
              <a:t>Renuncia Total</a:t>
            </a:r>
            <a:r>
              <a:rPr lang="es-PE" sz="2400" dirty="0">
                <a:solidFill>
                  <a:schemeClr val="accent2">
                    <a:lumMod val="50000"/>
                  </a:schemeClr>
                </a:solidFill>
                <a:latin typeface="Inter" panose="020B0604020202020204" charset="0"/>
                <a:ea typeface="Inter" panose="020B0604020202020204" charset="0"/>
              </a:rPr>
              <a:t>: </a:t>
            </a:r>
            <a:r>
              <a:rPr lang="es-PE" sz="2400" dirty="0">
                <a:latin typeface="Inter" panose="020B0604020202020204" charset="0"/>
                <a:ea typeface="Inter" panose="020B0604020202020204" charset="0"/>
              </a:rPr>
              <a:t>Es la solicitud de desistimiento del área solicitada u otorgada, presentada por el  titular del petitorio o concesión minera. Debe presentarse con firma legalizada. La autoridad minera aprueba la solicitud. </a:t>
            </a:r>
            <a:r>
              <a:rPr lang="es-PE" sz="2400" b="1" dirty="0">
                <a:solidFill>
                  <a:srgbClr val="C00000"/>
                </a:solidFill>
                <a:latin typeface="Inter" panose="020B0604020202020204" charset="0"/>
                <a:ea typeface="Inter" panose="020B0604020202020204" charset="0"/>
              </a:rPr>
              <a:t>El área se publicará de libre denunciabilidad</a:t>
            </a:r>
          </a:p>
        </p:txBody>
      </p:sp>
      <p:sp>
        <p:nvSpPr>
          <p:cNvPr id="19" name="CuadroTexto 18">
            <a:extLst>
              <a:ext uri="{FF2B5EF4-FFF2-40B4-BE49-F238E27FC236}">
                <a16:creationId xmlns:a16="http://schemas.microsoft.com/office/drawing/2014/main" xmlns="" id="{5C1775B1-AA1E-8DEC-4849-E33F1BCEE8EA}"/>
              </a:ext>
            </a:extLst>
          </p:cNvPr>
          <p:cNvSpPr txBox="1"/>
          <p:nvPr/>
        </p:nvSpPr>
        <p:spPr>
          <a:xfrm>
            <a:off x="4187334" y="7605715"/>
            <a:ext cx="10286184" cy="1938992"/>
          </a:xfrm>
          <a:prstGeom prst="rect">
            <a:avLst/>
          </a:prstGeom>
          <a:noFill/>
        </p:spPr>
        <p:txBody>
          <a:bodyPr wrap="square">
            <a:spAutoFit/>
          </a:bodyPr>
          <a:lstStyle/>
          <a:p>
            <a:pPr algn="just"/>
            <a:r>
              <a:rPr lang="es-PE" sz="2400" b="1" dirty="0">
                <a:solidFill>
                  <a:schemeClr val="accent2">
                    <a:lumMod val="50000"/>
                  </a:schemeClr>
                </a:solidFill>
                <a:latin typeface="Inter" panose="020B0604020202020204" charset="0"/>
                <a:ea typeface="Inter" panose="020B0604020202020204" charset="0"/>
              </a:rPr>
              <a:t>Caducidad</a:t>
            </a:r>
            <a:r>
              <a:rPr lang="es-PE" sz="2400" dirty="0">
                <a:solidFill>
                  <a:schemeClr val="accent2">
                    <a:lumMod val="50000"/>
                  </a:schemeClr>
                </a:solidFill>
                <a:latin typeface="Inter" panose="020B0604020202020204" charset="0"/>
                <a:ea typeface="Inter" panose="020B0604020202020204" charset="0"/>
              </a:rPr>
              <a:t> : </a:t>
            </a:r>
            <a:r>
              <a:rPr lang="es-PE" sz="2400" dirty="0">
                <a:latin typeface="Inter" panose="020B0604020202020204" charset="0"/>
                <a:ea typeface="Inter" panose="020B0604020202020204" charset="0"/>
              </a:rPr>
              <a:t>Es la perdida del derecho minero por incumplimiento al pago del derecho de vigencia o penalidad, por 2 años consecutivos.</a:t>
            </a:r>
          </a:p>
          <a:p>
            <a:pPr algn="just"/>
            <a:r>
              <a:rPr lang="es-PE" sz="2400" dirty="0">
                <a:latin typeface="Inter" panose="020B0604020202020204" charset="0"/>
                <a:ea typeface="Inter" panose="020B0604020202020204" charset="0"/>
              </a:rPr>
              <a:t>Con las modificaciones recientes a la Normativa minera, la penalidad ya no será causa de caducidad, pero si la no producción de la concesión. </a:t>
            </a:r>
            <a:r>
              <a:rPr lang="es-PE" sz="2400" b="1" dirty="0">
                <a:solidFill>
                  <a:srgbClr val="C00000"/>
                </a:solidFill>
                <a:latin typeface="Inter" panose="020B0604020202020204" charset="0"/>
                <a:ea typeface="Inter" panose="020B0604020202020204" charset="0"/>
              </a:rPr>
              <a:t>El área se publicará de libre denunciabilidad</a:t>
            </a:r>
          </a:p>
        </p:txBody>
      </p:sp>
    </p:spTree>
    <p:extLst>
      <p:ext uri="{BB962C8B-B14F-4D97-AF65-F5344CB8AC3E}">
        <p14:creationId xmlns:p14="http://schemas.microsoft.com/office/powerpoint/2010/main" val="31362701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7448F8-A101-DCA8-0E62-A98B6AC11D5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8BFE6886-221C-FC02-1FFE-2473A9AC6294}"/>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B78BA9AB-9BD4-FA41-FE29-BF18ADA0C173}"/>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D2C6E503-A589-F332-9492-CF361AFDB71F}"/>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E8A7A05C-FC3A-BEA2-44F9-DCAAD1ED7425}"/>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85692F51-9574-A937-8166-78F88F3AFF2E}"/>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48525778-38B0-F3AB-6352-59FCB7553A3A}"/>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F920ABE0-8A9C-E631-6603-8AD1A049CDA1}"/>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2A7963C4-63B5-237D-07C8-F58E2AE2E3DA}"/>
              </a:ext>
            </a:extLst>
          </p:cNvPr>
          <p:cNvSpPr txBox="1"/>
          <p:nvPr/>
        </p:nvSpPr>
        <p:spPr>
          <a:xfrm>
            <a:off x="900953" y="2948338"/>
            <a:ext cx="12121915"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3.4 EXTINCIÓN DE DERECHOS MINEROS  </a:t>
            </a:r>
            <a:endParaRPr lang="es-PE" sz="4000" b="1" dirty="0">
              <a:solidFill>
                <a:srgbClr val="A42F0F"/>
              </a:solidFill>
              <a:latin typeface="Futura Ultra-Bold"/>
            </a:endParaRPr>
          </a:p>
        </p:txBody>
      </p:sp>
      <p:sp>
        <p:nvSpPr>
          <p:cNvPr id="10" name="Título 1">
            <a:extLst>
              <a:ext uri="{FF2B5EF4-FFF2-40B4-BE49-F238E27FC236}">
                <a16:creationId xmlns:a16="http://schemas.microsoft.com/office/drawing/2014/main" xmlns="" id="{04C4134A-3238-4306-6906-323CD69F3AD6}"/>
              </a:ext>
            </a:extLst>
          </p:cNvPr>
          <p:cNvSpPr txBox="1">
            <a:spLocks/>
          </p:cNvSpPr>
          <p:nvPr/>
        </p:nvSpPr>
        <p:spPr>
          <a:xfrm>
            <a:off x="991236" y="5676901"/>
            <a:ext cx="3351617" cy="1446158"/>
          </a:xfrm>
          <a:prstGeom prst="rect">
            <a:avLst/>
          </a:prstGeom>
          <a:solidFill>
            <a:schemeClr val="accent2">
              <a:lumMod val="40000"/>
              <a:lumOff val="60000"/>
            </a:schemeClr>
          </a:solidFill>
          <a:ln w="25400" cap="flat" cmpd="sng" algn="ctr">
            <a:solidFill>
              <a:schemeClr val="accent2"/>
            </a:solidFill>
            <a:prstDash val="solid"/>
          </a:ln>
        </p:spPr>
        <p:style>
          <a:lnRef idx="2">
            <a:schemeClr val="accent1"/>
          </a:lnRef>
          <a:fillRef idx="1">
            <a:schemeClr val="lt1"/>
          </a:fillRef>
          <a:effectRef idx="0">
            <a:schemeClr val="accent1"/>
          </a:effectRef>
          <a:fontRef idx="minor">
            <a:schemeClr val="dk1"/>
          </a:fontRef>
        </p:style>
        <p:txBody>
          <a:bodyPr anchor="ctr" anchorCtr="0">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sz="3000" b="1" dirty="0">
                <a:ln>
                  <a:solidFill>
                    <a:srgbClr val="C00000"/>
                  </a:solidFill>
                </a:ln>
                <a:solidFill>
                  <a:schemeClr val="accent2"/>
                </a:solidFill>
                <a:latin typeface="Inter" panose="020B0604020202020204" charset="0"/>
                <a:ea typeface="Inter" panose="020B0604020202020204" charset="0"/>
              </a:rPr>
              <a:t>Destino de los derechos mineros</a:t>
            </a:r>
          </a:p>
        </p:txBody>
      </p:sp>
      <p:sp>
        <p:nvSpPr>
          <p:cNvPr id="12" name="CuadroTexto 11">
            <a:extLst>
              <a:ext uri="{FF2B5EF4-FFF2-40B4-BE49-F238E27FC236}">
                <a16:creationId xmlns:a16="http://schemas.microsoft.com/office/drawing/2014/main" xmlns="" id="{F0D41707-8D12-71C6-F9AD-E9016A4EA6F6}"/>
              </a:ext>
            </a:extLst>
          </p:cNvPr>
          <p:cNvSpPr txBox="1"/>
          <p:nvPr/>
        </p:nvSpPr>
        <p:spPr>
          <a:xfrm>
            <a:off x="5510792" y="6606200"/>
            <a:ext cx="7595608" cy="3046988"/>
          </a:xfrm>
          <a:prstGeom prst="rect">
            <a:avLst/>
          </a:prstGeom>
          <a:solidFill>
            <a:schemeClr val="accent2">
              <a:lumMod val="40000"/>
              <a:lumOff val="60000"/>
            </a:schemeClr>
          </a:solidFill>
          <a:ln>
            <a:solidFill>
              <a:schemeClr val="accent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PE" sz="2400" dirty="0">
                <a:latin typeface="Inter" panose="020B0604020202020204" charset="0"/>
                <a:ea typeface="Inter" panose="020B0604020202020204" charset="0"/>
              </a:rPr>
              <a:t>Las áreas correspondientes a concesiones y petitorios caducos, abandonados, nulos y renunciados, </a:t>
            </a:r>
            <a:r>
              <a:rPr lang="es-PE" sz="2400" b="1" dirty="0">
                <a:solidFill>
                  <a:srgbClr val="C00000"/>
                </a:solidFill>
                <a:latin typeface="Inter" panose="020B0604020202020204" charset="0"/>
                <a:ea typeface="Inter" panose="020B0604020202020204" charset="0"/>
              </a:rPr>
              <a:t>no podrán ser peticionados</a:t>
            </a:r>
            <a:r>
              <a:rPr lang="es-PE" sz="2400" dirty="0">
                <a:latin typeface="Inter" panose="020B0604020202020204" charset="0"/>
                <a:ea typeface="Inter" panose="020B0604020202020204" charset="0"/>
              </a:rPr>
              <a:t>, ni en todo ni en parte, por el anterior concesionario ni </a:t>
            </a:r>
            <a:r>
              <a:rPr lang="es-PE" sz="2400" b="1" dirty="0">
                <a:solidFill>
                  <a:srgbClr val="C00000"/>
                </a:solidFill>
                <a:latin typeface="Inter" panose="020B0604020202020204" charset="0"/>
                <a:ea typeface="Inter" panose="020B0604020202020204" charset="0"/>
              </a:rPr>
              <a:t>por sus parientes hasta el segundo grado de consanguinidad o de afinidad, hasta dos años </a:t>
            </a:r>
            <a:r>
              <a:rPr lang="es-PE" sz="2400" dirty="0">
                <a:latin typeface="Inter" panose="020B0604020202020204" charset="0"/>
                <a:ea typeface="Inter" panose="020B0604020202020204" charset="0"/>
              </a:rPr>
              <a:t>después de haber sido publicadas como denunciables.</a:t>
            </a:r>
          </a:p>
        </p:txBody>
      </p:sp>
      <p:sp>
        <p:nvSpPr>
          <p:cNvPr id="13" name="CuadroTexto 12">
            <a:extLst>
              <a:ext uri="{FF2B5EF4-FFF2-40B4-BE49-F238E27FC236}">
                <a16:creationId xmlns:a16="http://schemas.microsoft.com/office/drawing/2014/main" xmlns="" id="{587D8817-2F95-3217-FF45-3C6CACFED644}"/>
              </a:ext>
            </a:extLst>
          </p:cNvPr>
          <p:cNvSpPr txBox="1"/>
          <p:nvPr/>
        </p:nvSpPr>
        <p:spPr>
          <a:xfrm>
            <a:off x="5510791" y="4044709"/>
            <a:ext cx="7595609" cy="2308324"/>
          </a:xfrm>
          <a:prstGeom prst="rect">
            <a:avLst/>
          </a:prstGeom>
          <a:solidFill>
            <a:schemeClr val="accent2">
              <a:lumMod val="40000"/>
              <a:lumOff val="60000"/>
            </a:schemeClr>
          </a:solidFill>
          <a:ln>
            <a:solidFill>
              <a:schemeClr val="accent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PE" sz="2400" dirty="0">
                <a:latin typeface="Inter" panose="020B0604020202020204" charset="0"/>
                <a:ea typeface="Inter" panose="020B0604020202020204" charset="0"/>
              </a:rPr>
              <a:t>Las áreas correspondientes a concesiones y petitorios </a:t>
            </a:r>
            <a:r>
              <a:rPr lang="es-PE" sz="2400" b="1" dirty="0">
                <a:solidFill>
                  <a:srgbClr val="C00000"/>
                </a:solidFill>
                <a:latin typeface="Inter" panose="020B0604020202020204" charset="0"/>
                <a:ea typeface="Inter" panose="020B0604020202020204" charset="0"/>
              </a:rPr>
              <a:t>caducos, abandonados, nulos, renunciados, </a:t>
            </a:r>
            <a:r>
              <a:rPr lang="es-PE" sz="2400" dirty="0">
                <a:latin typeface="Inter" panose="020B0604020202020204" charset="0"/>
                <a:ea typeface="Inter" panose="020B0604020202020204" charset="0"/>
              </a:rPr>
              <a:t>y aquellos que hubieren sido </a:t>
            </a:r>
            <a:r>
              <a:rPr lang="es-PE" sz="2400" b="1" dirty="0">
                <a:solidFill>
                  <a:srgbClr val="C00000"/>
                </a:solidFill>
                <a:latin typeface="Inter" panose="020B0604020202020204" charset="0"/>
                <a:ea typeface="Inter" panose="020B0604020202020204" charset="0"/>
              </a:rPr>
              <a:t>rechazados</a:t>
            </a:r>
            <a:r>
              <a:rPr lang="es-PE" sz="2400" dirty="0">
                <a:solidFill>
                  <a:srgbClr val="C00000"/>
                </a:solidFill>
                <a:latin typeface="Inter" panose="020B0604020202020204" charset="0"/>
                <a:ea typeface="Inter" panose="020B0604020202020204" charset="0"/>
              </a:rPr>
              <a:t> </a:t>
            </a:r>
            <a:r>
              <a:rPr lang="es-PE" sz="2400" dirty="0">
                <a:latin typeface="Inter" panose="020B0604020202020204" charset="0"/>
                <a:ea typeface="Inter" panose="020B0604020202020204" charset="0"/>
              </a:rPr>
              <a:t>en el acto de su presentación, no podrán peticionarse mientras no se publiquen como denunciables.</a:t>
            </a:r>
          </a:p>
        </p:txBody>
      </p:sp>
      <p:cxnSp>
        <p:nvCxnSpPr>
          <p:cNvPr id="14" name="Conector recto 13">
            <a:extLst>
              <a:ext uri="{FF2B5EF4-FFF2-40B4-BE49-F238E27FC236}">
                <a16:creationId xmlns:a16="http://schemas.microsoft.com/office/drawing/2014/main" xmlns="" id="{C20D8578-8A33-F81D-9311-1167B7B7DD55}"/>
              </a:ext>
            </a:extLst>
          </p:cNvPr>
          <p:cNvCxnSpPr>
            <a:cxnSpLocks/>
            <a:stCxn id="10" idx="3"/>
            <a:endCxn id="13" idx="1"/>
          </p:cNvCxnSpPr>
          <p:nvPr/>
        </p:nvCxnSpPr>
        <p:spPr>
          <a:xfrm flipV="1">
            <a:off x="4342853" y="5198871"/>
            <a:ext cx="1167938" cy="120110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xmlns="" id="{646CFC52-BC5F-40D0-3E9B-D1A588C0210C}"/>
              </a:ext>
            </a:extLst>
          </p:cNvPr>
          <p:cNvCxnSpPr>
            <a:cxnSpLocks/>
            <a:stCxn id="10" idx="3"/>
            <a:endCxn id="12" idx="1"/>
          </p:cNvCxnSpPr>
          <p:nvPr/>
        </p:nvCxnSpPr>
        <p:spPr>
          <a:xfrm>
            <a:off x="4342853" y="6399980"/>
            <a:ext cx="1167939" cy="172971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09792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2604C2D-F307-B8EF-FF3C-68FB42629EB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43BF5B97-2CB9-2FFC-B0B2-692CDD8B0780}"/>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9A0C3F06-8DBF-1849-5BCC-A066E1DB27A9}"/>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a:extLst>
                <a:ext uri="{FF2B5EF4-FFF2-40B4-BE49-F238E27FC236}">
                  <a16:creationId xmlns:a16="http://schemas.microsoft.com/office/drawing/2014/main" xmlns="" id="{78DC423A-0B86-43DD-D65E-626239D8EBAD}"/>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a:extLst>
              <a:ext uri="{FF2B5EF4-FFF2-40B4-BE49-F238E27FC236}">
                <a16:creationId xmlns:a16="http://schemas.microsoft.com/office/drawing/2014/main" xmlns="" id="{27E1BB87-B4BF-B636-3A99-D95BCBD80D68}"/>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7" name="Freeform 7">
            <a:extLst>
              <a:ext uri="{FF2B5EF4-FFF2-40B4-BE49-F238E27FC236}">
                <a16:creationId xmlns:a16="http://schemas.microsoft.com/office/drawing/2014/main" xmlns="" id="{356CBC3D-5B29-74D6-A582-9BC90A696B76}"/>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8" name="Group 8">
            <a:extLst>
              <a:ext uri="{FF2B5EF4-FFF2-40B4-BE49-F238E27FC236}">
                <a16:creationId xmlns:a16="http://schemas.microsoft.com/office/drawing/2014/main" xmlns="" id="{605FD020-7B4A-2D68-4C18-C16815F3209F}"/>
              </a:ext>
            </a:extLst>
          </p:cNvPr>
          <p:cNvGrpSpPr/>
          <p:nvPr/>
        </p:nvGrpSpPr>
        <p:grpSpPr>
          <a:xfrm>
            <a:off x="3886200" y="226738"/>
            <a:ext cx="10116046" cy="2253857"/>
            <a:chOff x="0" y="0"/>
            <a:chExt cx="1438895" cy="320586"/>
          </a:xfrm>
        </p:grpSpPr>
        <p:sp>
          <p:nvSpPr>
            <p:cNvPr id="9" name="Freeform 9">
              <a:extLst>
                <a:ext uri="{FF2B5EF4-FFF2-40B4-BE49-F238E27FC236}">
                  <a16:creationId xmlns:a16="http://schemas.microsoft.com/office/drawing/2014/main" xmlns="" id="{A181FDBF-04F9-F7DB-FB4D-B6428E0C7B9C}"/>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11" name="CuadroTexto 10">
            <a:extLst>
              <a:ext uri="{FF2B5EF4-FFF2-40B4-BE49-F238E27FC236}">
                <a16:creationId xmlns:a16="http://schemas.microsoft.com/office/drawing/2014/main" xmlns="" id="{191EC078-84C7-8C5E-62DD-CE1336EB0EAB}"/>
              </a:ext>
            </a:extLst>
          </p:cNvPr>
          <p:cNvSpPr txBox="1"/>
          <p:nvPr/>
        </p:nvSpPr>
        <p:spPr>
          <a:xfrm>
            <a:off x="900953" y="2786166"/>
            <a:ext cx="12121915" cy="663002"/>
          </a:xfrm>
          <a:prstGeom prst="rect">
            <a:avLst/>
          </a:prstGeom>
          <a:noFill/>
        </p:spPr>
        <p:txBody>
          <a:bodyPr wrap="square">
            <a:spAutoFit/>
          </a:bodyPr>
          <a:lstStyle/>
          <a:p>
            <a:pPr>
              <a:lnSpc>
                <a:spcPts val="5039"/>
              </a:lnSpc>
            </a:pPr>
            <a:r>
              <a:rPr lang="es-PE" sz="4000" b="1" dirty="0">
                <a:solidFill>
                  <a:srgbClr val="A42F0F"/>
                </a:solidFill>
                <a:latin typeface="Futura Ultra-Bold"/>
                <a:ea typeface="Futura Ultra-Bold"/>
                <a:cs typeface="Futura Ultra-Bold"/>
                <a:sym typeface="Futura Ultra-Bold"/>
              </a:rPr>
              <a:t>3.4 EXTINCIÓN DE DERECHOS MINEROS  </a:t>
            </a:r>
            <a:endParaRPr lang="es-PE" sz="4000" b="1" dirty="0">
              <a:solidFill>
                <a:srgbClr val="A42F0F"/>
              </a:solidFill>
              <a:latin typeface="Futura Ultra-Bold"/>
            </a:endParaRPr>
          </a:p>
        </p:txBody>
      </p:sp>
      <p:sp>
        <p:nvSpPr>
          <p:cNvPr id="6" name="CuadroTexto 5">
            <a:extLst>
              <a:ext uri="{FF2B5EF4-FFF2-40B4-BE49-F238E27FC236}">
                <a16:creationId xmlns:a16="http://schemas.microsoft.com/office/drawing/2014/main" xmlns="" id="{A3E2D9F8-F779-DB09-DDE6-3FDDA7E59F13}"/>
              </a:ext>
            </a:extLst>
          </p:cNvPr>
          <p:cNvSpPr txBox="1"/>
          <p:nvPr/>
        </p:nvSpPr>
        <p:spPr>
          <a:xfrm>
            <a:off x="4252672" y="3779670"/>
            <a:ext cx="10987327" cy="1200329"/>
          </a:xfrm>
          <a:prstGeom prst="rect">
            <a:avLst/>
          </a:prstGeom>
          <a:solidFill>
            <a:schemeClr val="accent2">
              <a:lumMod val="60000"/>
              <a:lumOff val="40000"/>
            </a:schemeClr>
          </a:solidFill>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PE" sz="2400" dirty="0">
                <a:latin typeface="Inter" panose="020B0604020202020204" charset="0"/>
                <a:ea typeface="Inter" panose="020B0604020202020204" charset="0"/>
              </a:rPr>
              <a:t>La libre denunciabilidad, es la autorización que da el Estado, para que las personas habilitadas puedan solicitar el área de un derecho minero extinguido que ha revertido a su favor.</a:t>
            </a:r>
          </a:p>
        </p:txBody>
      </p:sp>
      <p:sp>
        <p:nvSpPr>
          <p:cNvPr id="16" name="CuadroTexto 15">
            <a:extLst>
              <a:ext uri="{FF2B5EF4-FFF2-40B4-BE49-F238E27FC236}">
                <a16:creationId xmlns:a16="http://schemas.microsoft.com/office/drawing/2014/main" xmlns="" id="{EE3EB685-D434-D68E-F40D-30BF58F53D8A}"/>
              </a:ext>
            </a:extLst>
          </p:cNvPr>
          <p:cNvSpPr txBox="1"/>
          <p:nvPr/>
        </p:nvSpPr>
        <p:spPr>
          <a:xfrm>
            <a:off x="4733443" y="5125629"/>
            <a:ext cx="10506556" cy="830997"/>
          </a:xfrm>
          <a:prstGeom prst="rect">
            <a:avLst/>
          </a:prstGeom>
          <a:solidFill>
            <a:schemeClr val="accent2">
              <a:lumMod val="60000"/>
              <a:lumOff val="40000"/>
            </a:schemeClr>
          </a:solidFill>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PE" sz="2400" dirty="0">
                <a:latin typeface="Inter" panose="020B0604020202020204" charset="0"/>
                <a:ea typeface="Inter" panose="020B0604020202020204" charset="0"/>
              </a:rPr>
              <a:t>La publicación de la relación de las áreas de libre denunciabilidad se hará en el diario oficial El Peruano. </a:t>
            </a:r>
          </a:p>
        </p:txBody>
      </p:sp>
      <p:sp>
        <p:nvSpPr>
          <p:cNvPr id="17" name="CuadroTexto 16">
            <a:extLst>
              <a:ext uri="{FF2B5EF4-FFF2-40B4-BE49-F238E27FC236}">
                <a16:creationId xmlns:a16="http://schemas.microsoft.com/office/drawing/2014/main" xmlns="" id="{D074D53E-EA71-91B6-8897-6E17F3F72F73}"/>
              </a:ext>
            </a:extLst>
          </p:cNvPr>
          <p:cNvSpPr txBox="1"/>
          <p:nvPr/>
        </p:nvSpPr>
        <p:spPr>
          <a:xfrm>
            <a:off x="4733443" y="6112970"/>
            <a:ext cx="10506556" cy="1200329"/>
          </a:xfrm>
          <a:prstGeom prst="rect">
            <a:avLst/>
          </a:prstGeom>
          <a:solidFill>
            <a:schemeClr val="accent2">
              <a:lumMod val="60000"/>
              <a:lumOff val="40000"/>
            </a:schemeClr>
          </a:solidFill>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PE" sz="2400" dirty="0">
                <a:latin typeface="Inter" panose="020B0604020202020204" charset="0"/>
                <a:ea typeface="Inter" panose="020B0604020202020204" charset="0"/>
              </a:rPr>
              <a:t>La publicación se hará por una vez en los meses de Marzo, Junio y Setiembre permitiéndose solicitar las áreas el primer día útil del mes de Mayo, Agosto y Noviembre.</a:t>
            </a:r>
          </a:p>
        </p:txBody>
      </p:sp>
      <p:sp>
        <p:nvSpPr>
          <p:cNvPr id="18" name="CuadroTexto 17">
            <a:extLst>
              <a:ext uri="{FF2B5EF4-FFF2-40B4-BE49-F238E27FC236}">
                <a16:creationId xmlns:a16="http://schemas.microsoft.com/office/drawing/2014/main" xmlns="" id="{DF435765-D699-39A9-9D6C-9C03FBAA45B8}"/>
              </a:ext>
            </a:extLst>
          </p:cNvPr>
          <p:cNvSpPr txBox="1"/>
          <p:nvPr/>
        </p:nvSpPr>
        <p:spPr>
          <a:xfrm>
            <a:off x="4378108" y="7484988"/>
            <a:ext cx="10861891" cy="2308324"/>
          </a:xfrm>
          <a:prstGeom prst="rect">
            <a:avLst/>
          </a:prstGeom>
          <a:solidFill>
            <a:schemeClr val="accent2">
              <a:lumMod val="60000"/>
              <a:lumOff val="40000"/>
            </a:schemeClr>
          </a:solidFill>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PE" sz="2400" dirty="0">
                <a:latin typeface="Inter" panose="020B0604020202020204" charset="0"/>
                <a:ea typeface="Inter" panose="020B0604020202020204" charset="0"/>
              </a:rPr>
              <a:t>La publicación de libre denunciabilidad (LD) de derechos declarados caducos por falta de pago de Dº de vigencia o penalidad, se efectuará la última semana del mes siguiente de publicada la resolución de caducidad. Estas áreas podrán ser solicitadas a partir del primer día hábil, luego de vencido el mes inmediatamente posterior a su publicación de LD. </a:t>
            </a:r>
            <a:r>
              <a:rPr lang="es-PE" sz="2400" dirty="0">
                <a:solidFill>
                  <a:srgbClr val="FF3300"/>
                </a:solidFill>
                <a:latin typeface="Inter" panose="020B0604020202020204" charset="0"/>
                <a:ea typeface="Inter" panose="020B0604020202020204" charset="0"/>
              </a:rPr>
              <a:t>(artículo 106 del DS 03-94-EM)</a:t>
            </a:r>
          </a:p>
        </p:txBody>
      </p:sp>
      <p:sp>
        <p:nvSpPr>
          <p:cNvPr id="19" name="Lágrima 18">
            <a:extLst>
              <a:ext uri="{FF2B5EF4-FFF2-40B4-BE49-F238E27FC236}">
                <a16:creationId xmlns:a16="http://schemas.microsoft.com/office/drawing/2014/main" xmlns="" id="{E2F4CBC7-0E4D-EF77-D186-8957E552ACC9}"/>
              </a:ext>
            </a:extLst>
          </p:cNvPr>
          <p:cNvSpPr/>
          <p:nvPr/>
        </p:nvSpPr>
        <p:spPr>
          <a:xfrm>
            <a:off x="27984" y="5211883"/>
            <a:ext cx="4218574" cy="3665152"/>
          </a:xfrm>
          <a:prstGeom prst="teardrop">
            <a:avLst>
              <a:gd name="adj" fmla="val 101117"/>
            </a:avLst>
          </a:prstGeom>
          <a:solidFill>
            <a:schemeClr val="accent2">
              <a:lumMod val="60000"/>
              <a:lumOff val="40000"/>
            </a:schemeClr>
          </a:solid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PE" sz="2500" b="1" dirty="0">
                <a:ln>
                  <a:solidFill>
                    <a:srgbClr val="C00000"/>
                  </a:solidFill>
                </a:ln>
                <a:solidFill>
                  <a:schemeClr val="accent2"/>
                </a:solidFill>
                <a:latin typeface="Inter" panose="020B0604020202020204" charset="0"/>
                <a:ea typeface="Inter" panose="020B0604020202020204" charset="0"/>
              </a:rPr>
              <a:t>LIBRE</a:t>
            </a:r>
            <a:r>
              <a:rPr lang="es-PE" sz="2500" b="1" dirty="0">
                <a:ln w="12700" cmpd="sng">
                  <a:solidFill>
                    <a:srgbClr val="FF9900"/>
                  </a:solidFill>
                  <a:prstDash val="solid"/>
                </a:ln>
                <a:solidFill>
                  <a:schemeClr val="accent2">
                    <a:lumMod val="50000"/>
                  </a:schemeClr>
                </a:solidFill>
                <a:latin typeface="Inter" panose="020B0604020202020204" charset="0"/>
                <a:ea typeface="Inter" panose="020B0604020202020204" charset="0"/>
              </a:rPr>
              <a:t> </a:t>
            </a:r>
            <a:r>
              <a:rPr lang="es-PE" sz="2500" b="1" dirty="0">
                <a:ln>
                  <a:solidFill>
                    <a:srgbClr val="C00000"/>
                  </a:solidFill>
                </a:ln>
                <a:solidFill>
                  <a:schemeClr val="accent2"/>
                </a:solidFill>
                <a:latin typeface="Inter" panose="020B0604020202020204" charset="0"/>
                <a:ea typeface="Inter" panose="020B0604020202020204" charset="0"/>
              </a:rPr>
              <a:t>DENUNCIABILIDAD</a:t>
            </a:r>
          </a:p>
        </p:txBody>
      </p:sp>
    </p:spTree>
    <p:extLst>
      <p:ext uri="{BB962C8B-B14F-4D97-AF65-F5344CB8AC3E}">
        <p14:creationId xmlns:p14="http://schemas.microsoft.com/office/powerpoint/2010/main" val="11167603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6">
            <a:extLst>
              <a:ext uri="{FF2B5EF4-FFF2-40B4-BE49-F238E27FC236}">
                <a16:creationId xmlns:a16="http://schemas.microsoft.com/office/drawing/2014/main" xmlns="" id="{BB764B45-397C-4753-C82B-54D79B48CB0F}"/>
              </a:ext>
            </a:extLst>
          </p:cNvPr>
          <p:cNvSpPr/>
          <p:nvPr/>
        </p:nvSpPr>
        <p:spPr>
          <a:xfrm flipV="1">
            <a:off x="1" y="7700772"/>
            <a:ext cx="8621468"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2" name="Group 2"/>
          <p:cNvGrpSpPr/>
          <p:nvPr/>
        </p:nvGrpSpPr>
        <p:grpSpPr>
          <a:xfrm>
            <a:off x="8233660" y="3843226"/>
            <a:ext cx="12164805" cy="12164805"/>
            <a:chOff x="0" y="0"/>
            <a:chExt cx="812800" cy="812800"/>
          </a:xfrm>
          <a:solidFill>
            <a:schemeClr val="tx1"/>
          </a:solidFill>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p:spPr>
        </p:sp>
        <p:sp>
          <p:nvSpPr>
            <p:cNvPr id="4" name="TextBox 4"/>
            <p:cNvSpPr txBox="1"/>
            <p:nvPr/>
          </p:nvSpPr>
          <p:spPr>
            <a:xfrm>
              <a:off x="76200" y="76200"/>
              <a:ext cx="660400" cy="660400"/>
            </a:xfrm>
            <a:prstGeom prst="rect">
              <a:avLst/>
            </a:prstGeom>
            <a:grpFill/>
          </p:spPr>
          <p:txBody>
            <a:bodyPr lIns="50800" tIns="50800" rIns="50800" bIns="50800" rtlCol="0" anchor="ctr"/>
            <a:lstStyle/>
            <a:p>
              <a:pPr algn="ctr">
                <a:lnSpc>
                  <a:spcPts val="2157"/>
                </a:lnSpc>
              </a:pPr>
              <a:endParaRPr dirty="0"/>
            </a:p>
          </p:txBody>
        </p:sp>
      </p:grpSp>
      <p:grpSp>
        <p:nvGrpSpPr>
          <p:cNvPr id="5" name="Group 5"/>
          <p:cNvGrpSpPr>
            <a:grpSpLocks noChangeAspect="1"/>
          </p:cNvGrpSpPr>
          <p:nvPr/>
        </p:nvGrpSpPr>
        <p:grpSpPr>
          <a:xfrm>
            <a:off x="13497824" y="761135"/>
            <a:ext cx="4165873" cy="8242897"/>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38913" r="-185735"/>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6" name="Group 16"/>
          <p:cNvGrpSpPr>
            <a:grpSpLocks noChangeAspect="1"/>
          </p:cNvGrpSpPr>
          <p:nvPr/>
        </p:nvGrpSpPr>
        <p:grpSpPr>
          <a:xfrm>
            <a:off x="8971111" y="3998147"/>
            <a:ext cx="4003398" cy="7921410"/>
            <a:chOff x="0" y="0"/>
            <a:chExt cx="2620010" cy="5184140"/>
          </a:xfrm>
        </p:grpSpPr>
        <p:sp>
          <p:nvSpPr>
            <p:cNvPr id="17" name="Freeform 1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8" name="Freeform 18"/>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67653" r="-121283"/>
              </a:stretch>
            </a:blipFill>
          </p:spPr>
        </p:sp>
        <p:sp>
          <p:nvSpPr>
            <p:cNvPr id="19" name="Freeform 1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20" name="Freeform 20"/>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1" name="Freeform 2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2" name="Freeform 2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3" name="Freeform 2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4" name="Freeform 2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5" name="Freeform 2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7" name="Freeform 27"/>
          <p:cNvSpPr/>
          <p:nvPr/>
        </p:nvSpPr>
        <p:spPr>
          <a:xfrm>
            <a:off x="0"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6"/>
            <a:stretch>
              <a:fillRect/>
            </a:stretch>
          </a:blipFill>
        </p:spPr>
      </p:sp>
      <p:sp>
        <p:nvSpPr>
          <p:cNvPr id="28" name="TextBox 28"/>
          <p:cNvSpPr txBox="1"/>
          <p:nvPr/>
        </p:nvSpPr>
        <p:spPr>
          <a:xfrm>
            <a:off x="162268" y="3296840"/>
            <a:ext cx="9430037" cy="3077766"/>
          </a:xfrm>
          <a:prstGeom prst="rect">
            <a:avLst/>
          </a:prstGeom>
        </p:spPr>
        <p:txBody>
          <a:bodyPr wrap="square" lIns="0" tIns="0" rIns="0" bIns="0" rtlCol="0" anchor="t">
            <a:spAutoFit/>
          </a:bodyPr>
          <a:lstStyle/>
          <a:p>
            <a:pPr algn="ctr">
              <a:lnSpc>
                <a:spcPts val="4800"/>
              </a:lnSpc>
            </a:pPr>
            <a:r>
              <a:rPr lang="es-PE" sz="4800" b="1" dirty="0">
                <a:solidFill>
                  <a:srgbClr val="303030"/>
                </a:solidFill>
                <a:latin typeface="Futura Std Book" panose="020B0802020204020204" pitchFamily="34" charset="0"/>
                <a:ea typeface="Montserrat Bold"/>
                <a:cs typeface="Montserrat Bold"/>
                <a:sym typeface="Montserrat Bold"/>
              </a:rPr>
              <a:t>TEMA 04: </a:t>
            </a:r>
          </a:p>
          <a:p>
            <a:pPr algn="ctr">
              <a:lnSpc>
                <a:spcPts val="4800"/>
              </a:lnSpc>
            </a:pPr>
            <a:endParaRPr lang="es-PE" sz="4800" b="1" dirty="0">
              <a:solidFill>
                <a:srgbClr val="303030"/>
              </a:solidFill>
              <a:latin typeface="Futura Std Book" panose="020B0802020204020204" pitchFamily="34" charset="0"/>
              <a:ea typeface="Montserrat Bold"/>
              <a:cs typeface="Montserrat Bold"/>
              <a:sym typeface="Montserrat Bold"/>
            </a:endParaRPr>
          </a:p>
          <a:p>
            <a:pPr algn="ctr">
              <a:lnSpc>
                <a:spcPts val="4800"/>
              </a:lnSpc>
            </a:pPr>
            <a:r>
              <a:rPr lang="es-PE" sz="4800" b="1" dirty="0">
                <a:solidFill>
                  <a:srgbClr val="303030"/>
                </a:solidFill>
                <a:latin typeface="Futura Std Book" panose="020B0802020204020204" pitchFamily="34" charset="0"/>
              </a:rPr>
              <a:t>AUTORIZACIÓN DE EXPLORACIÓN Y EXPLOTACIÓN </a:t>
            </a:r>
            <a:endParaRPr lang="es-PE" sz="4800" b="1" dirty="0">
              <a:solidFill>
                <a:srgbClr val="303030"/>
              </a:solidFill>
              <a:latin typeface="Futura Std Book" panose="020B0802020204020204" pitchFamily="34" charset="0"/>
              <a:sym typeface="Montserrat Bo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p:cNvGrpSpPr/>
          <p:nvPr/>
        </p:nvGrpSpPr>
        <p:grpSpPr>
          <a:xfrm>
            <a:off x="3733800" y="235864"/>
            <a:ext cx="10116046" cy="2253857"/>
            <a:chOff x="0" y="0"/>
            <a:chExt cx="1438895" cy="320586"/>
          </a:xfrm>
        </p:grpSpPr>
        <p:sp>
          <p:nvSpPr>
            <p:cNvPr id="7" name="Freeform 7"/>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p:cNvSpPr txBox="1"/>
          <p:nvPr/>
        </p:nvSpPr>
        <p:spPr>
          <a:xfrm>
            <a:off x="633761" y="2699852"/>
            <a:ext cx="16155860" cy="570669"/>
          </a:xfrm>
          <a:prstGeom prst="rect">
            <a:avLst/>
          </a:prstGeom>
        </p:spPr>
        <p:txBody>
          <a:bodyPr wrap="square" lIns="0" tIns="0" rIns="0" bIns="0" rtlCol="0" anchor="t">
            <a:spAutoFit/>
          </a:bodyPr>
          <a:lstStyle/>
          <a:p>
            <a:pPr algn="l">
              <a:lnSpc>
                <a:spcPts val="5039"/>
              </a:lnSpc>
            </a:pPr>
            <a:r>
              <a:rPr lang="es-PE" sz="3999" b="1" dirty="0">
                <a:solidFill>
                  <a:srgbClr val="A42F0F"/>
                </a:solidFill>
                <a:latin typeface="Futura Ultra-Bold"/>
                <a:ea typeface="Futura Ultra-Bold"/>
                <a:cs typeface="Futura Ultra-Bold"/>
                <a:sym typeface="Futura Ultra-Bold"/>
              </a:rPr>
              <a:t>4.1 REQUISITOS PARA EL INICIO DE ACTIVIDADES MINERAS</a:t>
            </a:r>
          </a:p>
        </p:txBody>
      </p:sp>
      <p:grpSp>
        <p:nvGrpSpPr>
          <p:cNvPr id="2" name="Grupo 1">
            <a:extLst>
              <a:ext uri="{FF2B5EF4-FFF2-40B4-BE49-F238E27FC236}">
                <a16:creationId xmlns:a16="http://schemas.microsoft.com/office/drawing/2014/main" xmlns="" id="{99F251A9-5B36-12E6-EDAC-BDE20800F2D3}"/>
              </a:ext>
            </a:extLst>
          </p:cNvPr>
          <p:cNvGrpSpPr/>
          <p:nvPr/>
        </p:nvGrpSpPr>
        <p:grpSpPr>
          <a:xfrm>
            <a:off x="381000" y="3390900"/>
            <a:ext cx="15862809" cy="6387248"/>
            <a:chOff x="161212" y="753613"/>
            <a:chExt cx="12030787" cy="5694903"/>
          </a:xfrm>
        </p:grpSpPr>
        <p:sp>
          <p:nvSpPr>
            <p:cNvPr id="3" name="Pentágono 1">
              <a:extLst>
                <a:ext uri="{FF2B5EF4-FFF2-40B4-BE49-F238E27FC236}">
                  <a16:creationId xmlns:a16="http://schemas.microsoft.com/office/drawing/2014/main" xmlns="" id="{2232A03B-018E-3367-FE9C-A42ADC4BC4C8}"/>
                </a:ext>
              </a:extLst>
            </p:cNvPr>
            <p:cNvSpPr/>
            <p:nvPr/>
          </p:nvSpPr>
          <p:spPr>
            <a:xfrm>
              <a:off x="172535" y="1508953"/>
              <a:ext cx="1970276" cy="531074"/>
            </a:xfrm>
            <a:prstGeom prst="homePlate">
              <a:avLst>
                <a:gd name="adj" fmla="val 23870"/>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PE" sz="2000" dirty="0">
                  <a:effectLst>
                    <a:outerShdw blurRad="38100" dist="38100" dir="2700000" algn="tl">
                      <a:srgbClr val="000000">
                        <a:alpha val="43137"/>
                      </a:srgbClr>
                    </a:outerShdw>
                  </a:effectLst>
                  <a:latin typeface="Inter" panose="020B0604020202020204" charset="0"/>
                  <a:ea typeface="Inter" panose="020B0604020202020204" charset="0"/>
                </a:rPr>
                <a:t>1981</a:t>
              </a:r>
            </a:p>
          </p:txBody>
        </p:sp>
        <p:sp>
          <p:nvSpPr>
            <p:cNvPr id="10" name="Pentágono 2">
              <a:extLst>
                <a:ext uri="{FF2B5EF4-FFF2-40B4-BE49-F238E27FC236}">
                  <a16:creationId xmlns:a16="http://schemas.microsoft.com/office/drawing/2014/main" xmlns="" id="{8F1EA090-CF92-A15E-471A-898215BA6480}"/>
                </a:ext>
              </a:extLst>
            </p:cNvPr>
            <p:cNvSpPr/>
            <p:nvPr/>
          </p:nvSpPr>
          <p:spPr>
            <a:xfrm>
              <a:off x="172535" y="3147905"/>
              <a:ext cx="1980964" cy="1049892"/>
            </a:xfrm>
            <a:prstGeom prst="homePlate">
              <a:avLst>
                <a:gd name="adj" fmla="val 12430"/>
              </a:avLst>
            </a:prstGeom>
            <a:solidFill>
              <a:srgbClr val="99FFCC"/>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PE" sz="2000" b="1"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Normas ambientales de Exploración</a:t>
              </a:r>
            </a:p>
          </p:txBody>
        </p:sp>
        <p:sp>
          <p:nvSpPr>
            <p:cNvPr id="11" name="Cheurón 4">
              <a:extLst>
                <a:ext uri="{FF2B5EF4-FFF2-40B4-BE49-F238E27FC236}">
                  <a16:creationId xmlns:a16="http://schemas.microsoft.com/office/drawing/2014/main" xmlns="" id="{71C84E36-798F-C56E-6E43-5877C3E4F1DB}"/>
                </a:ext>
              </a:extLst>
            </p:cNvPr>
            <p:cNvSpPr/>
            <p:nvPr/>
          </p:nvSpPr>
          <p:spPr>
            <a:xfrm>
              <a:off x="2037743" y="1508952"/>
              <a:ext cx="1074702" cy="531074"/>
            </a:xfrm>
            <a:prstGeom prst="chevron">
              <a:avLst>
                <a:gd name="adj" fmla="val 25953"/>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1992</a:t>
              </a:r>
            </a:p>
          </p:txBody>
        </p:sp>
        <p:sp>
          <p:nvSpPr>
            <p:cNvPr id="12" name="Cheurón 6">
              <a:extLst>
                <a:ext uri="{FF2B5EF4-FFF2-40B4-BE49-F238E27FC236}">
                  <a16:creationId xmlns:a16="http://schemas.microsoft.com/office/drawing/2014/main" xmlns="" id="{F8824E10-157F-BF1D-1E38-E5685A77A369}"/>
                </a:ext>
              </a:extLst>
            </p:cNvPr>
            <p:cNvSpPr/>
            <p:nvPr/>
          </p:nvSpPr>
          <p:spPr>
            <a:xfrm>
              <a:off x="5636134" y="1506743"/>
              <a:ext cx="1274872" cy="534242"/>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ln w="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2008</a:t>
              </a:r>
            </a:p>
          </p:txBody>
        </p:sp>
        <p:sp>
          <p:nvSpPr>
            <p:cNvPr id="13" name="Cheurón 8">
              <a:extLst>
                <a:ext uri="{FF2B5EF4-FFF2-40B4-BE49-F238E27FC236}">
                  <a16:creationId xmlns:a16="http://schemas.microsoft.com/office/drawing/2014/main" xmlns="" id="{E2E6AEE9-4248-2D5E-9D79-AFB035F4F874}"/>
                </a:ext>
              </a:extLst>
            </p:cNvPr>
            <p:cNvSpPr/>
            <p:nvPr/>
          </p:nvSpPr>
          <p:spPr>
            <a:xfrm>
              <a:off x="3620019" y="1508952"/>
              <a:ext cx="1272343" cy="531074"/>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1998</a:t>
              </a:r>
            </a:p>
          </p:txBody>
        </p:sp>
        <p:sp>
          <p:nvSpPr>
            <p:cNvPr id="14" name="Cheurón 9">
              <a:extLst>
                <a:ext uri="{FF2B5EF4-FFF2-40B4-BE49-F238E27FC236}">
                  <a16:creationId xmlns:a16="http://schemas.microsoft.com/office/drawing/2014/main" xmlns="" id="{1A919871-C22B-E08D-7E4B-11F3F3744BB6}"/>
                </a:ext>
              </a:extLst>
            </p:cNvPr>
            <p:cNvSpPr/>
            <p:nvPr/>
          </p:nvSpPr>
          <p:spPr>
            <a:xfrm>
              <a:off x="7639091" y="1507670"/>
              <a:ext cx="1274872" cy="532357"/>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ln w="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2012</a:t>
              </a:r>
            </a:p>
          </p:txBody>
        </p:sp>
        <p:sp>
          <p:nvSpPr>
            <p:cNvPr id="15" name="Cheurón 10">
              <a:extLst>
                <a:ext uri="{FF2B5EF4-FFF2-40B4-BE49-F238E27FC236}">
                  <a16:creationId xmlns:a16="http://schemas.microsoft.com/office/drawing/2014/main" xmlns="" id="{AC3AEB17-125A-0E11-BA66-2A67BB512739}"/>
                </a:ext>
              </a:extLst>
            </p:cNvPr>
            <p:cNvSpPr/>
            <p:nvPr/>
          </p:nvSpPr>
          <p:spPr>
            <a:xfrm>
              <a:off x="9620057" y="1508605"/>
              <a:ext cx="1274872" cy="531498"/>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ln w="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2017</a:t>
              </a:r>
            </a:p>
          </p:txBody>
        </p:sp>
        <p:sp>
          <p:nvSpPr>
            <p:cNvPr id="16" name="Cheurón 11">
              <a:extLst>
                <a:ext uri="{FF2B5EF4-FFF2-40B4-BE49-F238E27FC236}">
                  <a16:creationId xmlns:a16="http://schemas.microsoft.com/office/drawing/2014/main" xmlns="" id="{619C8E44-5A68-12DB-2302-1E390D2DD199}"/>
                </a:ext>
              </a:extLst>
            </p:cNvPr>
            <p:cNvSpPr/>
            <p:nvPr/>
          </p:nvSpPr>
          <p:spPr>
            <a:xfrm>
              <a:off x="10634633" y="1508017"/>
              <a:ext cx="1512120" cy="532968"/>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ln w="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2020</a:t>
              </a:r>
            </a:p>
          </p:txBody>
        </p:sp>
        <p:sp>
          <p:nvSpPr>
            <p:cNvPr id="17" name="Pentágono 12">
              <a:extLst>
                <a:ext uri="{FF2B5EF4-FFF2-40B4-BE49-F238E27FC236}">
                  <a16:creationId xmlns:a16="http://schemas.microsoft.com/office/drawing/2014/main" xmlns="" id="{2F646822-6FE9-AB4F-8A00-63158850E6F7}"/>
                </a:ext>
              </a:extLst>
            </p:cNvPr>
            <p:cNvSpPr/>
            <p:nvPr/>
          </p:nvSpPr>
          <p:spPr>
            <a:xfrm>
              <a:off x="172535" y="753613"/>
              <a:ext cx="2151608" cy="687217"/>
            </a:xfrm>
            <a:prstGeom prst="homePlate">
              <a:avLst>
                <a:gd name="adj" fmla="val 1384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PE" sz="2000" dirty="0">
                  <a:latin typeface="Inter" panose="020B0604020202020204" charset="0"/>
                  <a:ea typeface="Inter" panose="020B0604020202020204" charset="0"/>
                </a:rPr>
                <a:t>LGM (D.Leg. 109)</a:t>
              </a:r>
            </a:p>
            <a:p>
              <a:pPr algn="ctr"/>
              <a:r>
                <a:rPr lang="es-PE" sz="2000" dirty="0">
                  <a:solidFill>
                    <a:schemeClr val="tx1"/>
                  </a:solidFill>
                  <a:latin typeface="Inter" panose="020B0604020202020204" charset="0"/>
                  <a:ea typeface="Inter" panose="020B0604020202020204" charset="0"/>
                </a:rPr>
                <a:t>Auto de amparo</a:t>
              </a:r>
              <a:endParaRPr lang="es-PE" sz="2000" dirty="0">
                <a:latin typeface="Inter" panose="020B0604020202020204" charset="0"/>
                <a:ea typeface="Inter" panose="020B0604020202020204" charset="0"/>
              </a:endParaRPr>
            </a:p>
          </p:txBody>
        </p:sp>
        <p:sp>
          <p:nvSpPr>
            <p:cNvPr id="18" name="Pentágono 13">
              <a:extLst>
                <a:ext uri="{FF2B5EF4-FFF2-40B4-BE49-F238E27FC236}">
                  <a16:creationId xmlns:a16="http://schemas.microsoft.com/office/drawing/2014/main" xmlns="" id="{72132E36-95B0-3A3A-B758-A9B2B577CE4A}"/>
                </a:ext>
              </a:extLst>
            </p:cNvPr>
            <p:cNvSpPr/>
            <p:nvPr/>
          </p:nvSpPr>
          <p:spPr>
            <a:xfrm>
              <a:off x="172537" y="4276558"/>
              <a:ext cx="2151606" cy="1055462"/>
            </a:xfrm>
            <a:prstGeom prst="homePlate">
              <a:avLst>
                <a:gd name="adj" fmla="val 25031"/>
              </a:avLst>
            </a:prstGeom>
            <a:solidFill>
              <a:srgbClr val="FF9797"/>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PE" sz="2000" b="1"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Normas de Seguridad</a:t>
              </a:r>
            </a:p>
          </p:txBody>
        </p:sp>
        <p:sp>
          <p:nvSpPr>
            <p:cNvPr id="19" name="Pentágono 14">
              <a:extLst>
                <a:ext uri="{FF2B5EF4-FFF2-40B4-BE49-F238E27FC236}">
                  <a16:creationId xmlns:a16="http://schemas.microsoft.com/office/drawing/2014/main" xmlns="" id="{10BCC655-1FCE-ED09-0387-C63B9A06802F}"/>
                </a:ext>
              </a:extLst>
            </p:cNvPr>
            <p:cNvSpPr/>
            <p:nvPr/>
          </p:nvSpPr>
          <p:spPr>
            <a:xfrm>
              <a:off x="178473" y="5383793"/>
              <a:ext cx="2145670" cy="1064722"/>
            </a:xfrm>
            <a:prstGeom prst="homePlate">
              <a:avLst>
                <a:gd name="adj" fmla="val 26483"/>
              </a:avLst>
            </a:prstGeom>
            <a:solidFill>
              <a:srgbClr val="ABAB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PE" sz="2000" b="1"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Normas de Procedimiento</a:t>
              </a:r>
            </a:p>
          </p:txBody>
        </p:sp>
        <p:sp>
          <p:nvSpPr>
            <p:cNvPr id="20" name="Pentágono 15">
              <a:extLst>
                <a:ext uri="{FF2B5EF4-FFF2-40B4-BE49-F238E27FC236}">
                  <a16:creationId xmlns:a16="http://schemas.microsoft.com/office/drawing/2014/main" xmlns="" id="{F5CC8EC3-2DFF-E33C-B86A-B42FEDB2C1F7}"/>
                </a:ext>
              </a:extLst>
            </p:cNvPr>
            <p:cNvSpPr/>
            <p:nvPr/>
          </p:nvSpPr>
          <p:spPr>
            <a:xfrm>
              <a:off x="3857105" y="3153250"/>
              <a:ext cx="2037217" cy="1054735"/>
            </a:xfrm>
            <a:prstGeom prst="homePlate">
              <a:avLst>
                <a:gd name="adj" fmla="val 27358"/>
              </a:avLst>
            </a:prstGeom>
            <a:solidFill>
              <a:srgbClr val="99FFCC"/>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038-98-EM </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(RAEEM)</a:t>
              </a:r>
            </a:p>
          </p:txBody>
        </p:sp>
        <p:sp>
          <p:nvSpPr>
            <p:cNvPr id="21" name="Cheurón 16">
              <a:extLst>
                <a:ext uri="{FF2B5EF4-FFF2-40B4-BE49-F238E27FC236}">
                  <a16:creationId xmlns:a16="http://schemas.microsoft.com/office/drawing/2014/main" xmlns="" id="{17B6F985-FFBC-A708-232E-2C3D4BD4CD30}"/>
                </a:ext>
              </a:extLst>
            </p:cNvPr>
            <p:cNvSpPr/>
            <p:nvPr/>
          </p:nvSpPr>
          <p:spPr>
            <a:xfrm>
              <a:off x="6654739" y="1508018"/>
              <a:ext cx="1274872" cy="532009"/>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ln w="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2010</a:t>
              </a:r>
            </a:p>
          </p:txBody>
        </p:sp>
        <p:sp>
          <p:nvSpPr>
            <p:cNvPr id="22" name="Cheurón 17">
              <a:extLst>
                <a:ext uri="{FF2B5EF4-FFF2-40B4-BE49-F238E27FC236}">
                  <a16:creationId xmlns:a16="http://schemas.microsoft.com/office/drawing/2014/main" xmlns="" id="{E9DCEB30-4B28-D4EE-737B-9A51FEAC0E99}"/>
                </a:ext>
              </a:extLst>
            </p:cNvPr>
            <p:cNvSpPr/>
            <p:nvPr/>
          </p:nvSpPr>
          <p:spPr>
            <a:xfrm>
              <a:off x="5636133" y="3152369"/>
              <a:ext cx="4272987" cy="1054734"/>
            </a:xfrm>
            <a:prstGeom prst="chevron">
              <a:avLst>
                <a:gd name="adj" fmla="val 27232"/>
              </a:avLst>
            </a:prstGeom>
            <a:solidFill>
              <a:srgbClr val="99FFCC"/>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ES" alt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020-2008-EM</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(RAEEM)</a:t>
              </a:r>
            </a:p>
          </p:txBody>
        </p:sp>
        <p:sp>
          <p:nvSpPr>
            <p:cNvPr id="23" name="Cheurón 18">
              <a:extLst>
                <a:ext uri="{FF2B5EF4-FFF2-40B4-BE49-F238E27FC236}">
                  <a16:creationId xmlns:a16="http://schemas.microsoft.com/office/drawing/2014/main" xmlns="" id="{8F36FB57-8E9C-E00F-5619-6CC642E8A4ED}"/>
                </a:ext>
              </a:extLst>
            </p:cNvPr>
            <p:cNvSpPr/>
            <p:nvPr/>
          </p:nvSpPr>
          <p:spPr>
            <a:xfrm>
              <a:off x="8634249" y="1508952"/>
              <a:ext cx="1274872" cy="531074"/>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ln w="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2016</a:t>
              </a:r>
            </a:p>
          </p:txBody>
        </p:sp>
        <p:sp>
          <p:nvSpPr>
            <p:cNvPr id="24" name="Cheurón 19">
              <a:extLst>
                <a:ext uri="{FF2B5EF4-FFF2-40B4-BE49-F238E27FC236}">
                  <a16:creationId xmlns:a16="http://schemas.microsoft.com/office/drawing/2014/main" xmlns="" id="{323C94E3-9DE9-EEF0-CEAB-7D9AE903A881}"/>
                </a:ext>
              </a:extLst>
            </p:cNvPr>
            <p:cNvSpPr/>
            <p:nvPr/>
          </p:nvSpPr>
          <p:spPr>
            <a:xfrm>
              <a:off x="9620057" y="3153249"/>
              <a:ext cx="2526695" cy="1053853"/>
            </a:xfrm>
            <a:prstGeom prst="chevron">
              <a:avLst>
                <a:gd name="adj" fmla="val 27608"/>
              </a:avLst>
            </a:prstGeom>
            <a:solidFill>
              <a:srgbClr val="99FFCC"/>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ES" alt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042-2017-EM</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(RAEEM)</a:t>
              </a:r>
            </a:p>
          </p:txBody>
        </p:sp>
        <p:sp>
          <p:nvSpPr>
            <p:cNvPr id="25" name="Cheurón 20">
              <a:extLst>
                <a:ext uri="{FF2B5EF4-FFF2-40B4-BE49-F238E27FC236}">
                  <a16:creationId xmlns:a16="http://schemas.microsoft.com/office/drawing/2014/main" xmlns="" id="{5C056224-0700-D95F-A07C-75E3D57C21C9}"/>
                </a:ext>
              </a:extLst>
            </p:cNvPr>
            <p:cNvSpPr/>
            <p:nvPr/>
          </p:nvSpPr>
          <p:spPr>
            <a:xfrm>
              <a:off x="8628612" y="4267297"/>
              <a:ext cx="3518140" cy="1064723"/>
            </a:xfrm>
            <a:prstGeom prst="chevron">
              <a:avLst>
                <a:gd name="adj" fmla="val 26459"/>
              </a:avLst>
            </a:prstGeom>
            <a:solidFill>
              <a:srgbClr val="FF9797"/>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024-2016-EM </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(RSSOM)</a:t>
              </a:r>
            </a:p>
          </p:txBody>
        </p:sp>
        <p:sp>
          <p:nvSpPr>
            <p:cNvPr id="26" name="Cheurón 21">
              <a:extLst>
                <a:ext uri="{FF2B5EF4-FFF2-40B4-BE49-F238E27FC236}">
                  <a16:creationId xmlns:a16="http://schemas.microsoft.com/office/drawing/2014/main" xmlns="" id="{EA28F55E-8F46-1758-8C4F-7141A9AC0231}"/>
                </a:ext>
              </a:extLst>
            </p:cNvPr>
            <p:cNvSpPr/>
            <p:nvPr/>
          </p:nvSpPr>
          <p:spPr>
            <a:xfrm>
              <a:off x="10634633" y="5383793"/>
              <a:ext cx="1512117" cy="1064723"/>
            </a:xfrm>
            <a:prstGeom prst="chevron">
              <a:avLst>
                <a:gd name="adj" fmla="val 25069"/>
              </a:avLst>
            </a:prstGeom>
            <a:solidFill>
              <a:srgbClr val="00B0F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020-2020-EM (RPM)</a:t>
              </a:r>
            </a:p>
          </p:txBody>
        </p:sp>
        <p:sp>
          <p:nvSpPr>
            <p:cNvPr id="27" name="Cheurón 22">
              <a:extLst>
                <a:ext uri="{FF2B5EF4-FFF2-40B4-BE49-F238E27FC236}">
                  <a16:creationId xmlns:a16="http://schemas.microsoft.com/office/drawing/2014/main" xmlns="" id="{5DA0807D-0642-5AAE-8FA2-BA7EF63CCCAC}"/>
                </a:ext>
              </a:extLst>
            </p:cNvPr>
            <p:cNvSpPr/>
            <p:nvPr/>
          </p:nvSpPr>
          <p:spPr>
            <a:xfrm>
              <a:off x="4604371" y="1508952"/>
              <a:ext cx="1289951" cy="531074"/>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2001</a:t>
              </a:r>
            </a:p>
          </p:txBody>
        </p:sp>
        <p:sp>
          <p:nvSpPr>
            <p:cNvPr id="28" name="Cheurón 23">
              <a:extLst>
                <a:ext uri="{FF2B5EF4-FFF2-40B4-BE49-F238E27FC236}">
                  <a16:creationId xmlns:a16="http://schemas.microsoft.com/office/drawing/2014/main" xmlns="" id="{415597D2-5BCF-A84E-5490-7C41CBC2A4EF}"/>
                </a:ext>
              </a:extLst>
            </p:cNvPr>
            <p:cNvSpPr/>
            <p:nvPr/>
          </p:nvSpPr>
          <p:spPr>
            <a:xfrm>
              <a:off x="6654739" y="4272762"/>
              <a:ext cx="2259224" cy="1064723"/>
            </a:xfrm>
            <a:prstGeom prst="chevron">
              <a:avLst>
                <a:gd name="adj" fmla="val 26459"/>
              </a:avLst>
            </a:prstGeom>
            <a:solidFill>
              <a:srgbClr val="FF9797"/>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050-2010-EM </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(RSSOM)</a:t>
              </a:r>
            </a:p>
            <a:p>
              <a:pPr algn="ctr"/>
              <a:endPar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endParaRPr>
            </a:p>
          </p:txBody>
        </p:sp>
        <p:sp>
          <p:nvSpPr>
            <p:cNvPr id="29" name="Cheurón 24">
              <a:extLst>
                <a:ext uri="{FF2B5EF4-FFF2-40B4-BE49-F238E27FC236}">
                  <a16:creationId xmlns:a16="http://schemas.microsoft.com/office/drawing/2014/main" xmlns="" id="{8C276691-D990-2C16-6411-1C990CB8E069}"/>
                </a:ext>
              </a:extLst>
            </p:cNvPr>
            <p:cNvSpPr/>
            <p:nvPr/>
          </p:nvSpPr>
          <p:spPr>
            <a:xfrm>
              <a:off x="4892362" y="4276559"/>
              <a:ext cx="2021535" cy="1064723"/>
            </a:xfrm>
            <a:prstGeom prst="chevron">
              <a:avLst>
                <a:gd name="adj" fmla="val 26459"/>
              </a:avLst>
            </a:prstGeom>
            <a:solidFill>
              <a:srgbClr val="FF9797"/>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041-2001-EM</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(RSSOM)</a:t>
              </a:r>
            </a:p>
          </p:txBody>
        </p:sp>
        <p:sp>
          <p:nvSpPr>
            <p:cNvPr id="30" name="Cheurón 25">
              <a:extLst>
                <a:ext uri="{FF2B5EF4-FFF2-40B4-BE49-F238E27FC236}">
                  <a16:creationId xmlns:a16="http://schemas.microsoft.com/office/drawing/2014/main" xmlns="" id="{31859BBE-4087-86CE-ADEB-DD39D5C9F300}"/>
                </a:ext>
              </a:extLst>
            </p:cNvPr>
            <p:cNvSpPr/>
            <p:nvPr/>
          </p:nvSpPr>
          <p:spPr>
            <a:xfrm>
              <a:off x="2142176" y="4278192"/>
              <a:ext cx="3027503" cy="1064723"/>
            </a:xfrm>
            <a:prstGeom prst="chevron">
              <a:avLst>
                <a:gd name="adj" fmla="val 26459"/>
              </a:avLst>
            </a:prstGeom>
            <a:solidFill>
              <a:srgbClr val="FF9797"/>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023-92-EM</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(RSSOM)</a:t>
              </a:r>
            </a:p>
          </p:txBody>
        </p:sp>
        <p:sp>
          <p:nvSpPr>
            <p:cNvPr id="31" name="Cheurón 26">
              <a:extLst>
                <a:ext uri="{FF2B5EF4-FFF2-40B4-BE49-F238E27FC236}">
                  <a16:creationId xmlns:a16="http://schemas.microsoft.com/office/drawing/2014/main" xmlns="" id="{DFA4B8F2-D79B-F447-30CC-74378CC94085}"/>
                </a:ext>
              </a:extLst>
            </p:cNvPr>
            <p:cNvSpPr/>
            <p:nvPr/>
          </p:nvSpPr>
          <p:spPr>
            <a:xfrm>
              <a:off x="2142177" y="5383792"/>
              <a:ext cx="8752752" cy="1064723"/>
            </a:xfrm>
            <a:prstGeom prst="chevron">
              <a:avLst>
                <a:gd name="adj" fmla="val 25458"/>
              </a:avLst>
            </a:prstGeom>
            <a:solidFill>
              <a:srgbClr val="ABAB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018-92-EM</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RPM</a:t>
              </a:r>
            </a:p>
          </p:txBody>
        </p:sp>
        <p:sp>
          <p:nvSpPr>
            <p:cNvPr id="32" name="Pentágono 27">
              <a:extLst>
                <a:ext uri="{FF2B5EF4-FFF2-40B4-BE49-F238E27FC236}">
                  <a16:creationId xmlns:a16="http://schemas.microsoft.com/office/drawing/2014/main" xmlns="" id="{4F2C23BF-5256-7311-91A1-26118FC2FFB1}"/>
                </a:ext>
              </a:extLst>
            </p:cNvPr>
            <p:cNvSpPr/>
            <p:nvPr/>
          </p:nvSpPr>
          <p:spPr>
            <a:xfrm>
              <a:off x="161212" y="2084910"/>
              <a:ext cx="1980964" cy="1049892"/>
            </a:xfrm>
            <a:prstGeom prst="homePlate">
              <a:avLst>
                <a:gd name="adj" fmla="val 12430"/>
              </a:avLst>
            </a:prstGeom>
            <a:solidFill>
              <a:srgbClr val="99FFCC"/>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PE" sz="2000" b="1"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Normas ambientales</a:t>
              </a:r>
            </a:p>
          </p:txBody>
        </p:sp>
        <p:sp>
          <p:nvSpPr>
            <p:cNvPr id="33" name="Pentágono 28">
              <a:extLst>
                <a:ext uri="{FF2B5EF4-FFF2-40B4-BE49-F238E27FC236}">
                  <a16:creationId xmlns:a16="http://schemas.microsoft.com/office/drawing/2014/main" xmlns="" id="{CFDF6144-0488-512A-E20A-18011E995C32}"/>
                </a:ext>
              </a:extLst>
            </p:cNvPr>
            <p:cNvSpPr/>
            <p:nvPr/>
          </p:nvSpPr>
          <p:spPr>
            <a:xfrm>
              <a:off x="2927083" y="2090255"/>
              <a:ext cx="6516175" cy="1054735"/>
            </a:xfrm>
            <a:prstGeom prst="homePlate">
              <a:avLst>
                <a:gd name="adj" fmla="val 27358"/>
              </a:avLst>
            </a:prstGeom>
            <a:solidFill>
              <a:srgbClr val="99FFCC"/>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016-93-EM </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RPMA</a:t>
              </a:r>
            </a:p>
          </p:txBody>
        </p:sp>
        <p:sp>
          <p:nvSpPr>
            <p:cNvPr id="34" name="Cheurón 29">
              <a:extLst>
                <a:ext uri="{FF2B5EF4-FFF2-40B4-BE49-F238E27FC236}">
                  <a16:creationId xmlns:a16="http://schemas.microsoft.com/office/drawing/2014/main" xmlns="" id="{2697210A-98D5-8072-00E6-D00E46702B33}"/>
                </a:ext>
              </a:extLst>
            </p:cNvPr>
            <p:cNvSpPr/>
            <p:nvPr/>
          </p:nvSpPr>
          <p:spPr>
            <a:xfrm>
              <a:off x="9193876" y="2089374"/>
              <a:ext cx="2952874" cy="1054734"/>
            </a:xfrm>
            <a:prstGeom prst="chevron">
              <a:avLst>
                <a:gd name="adj" fmla="val 27232"/>
              </a:avLst>
            </a:prstGeom>
            <a:solidFill>
              <a:srgbClr val="99FFCC"/>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s-ES" alt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040-2014-EM</a:t>
              </a:r>
            </a:p>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(RPMA)</a:t>
              </a:r>
            </a:p>
          </p:txBody>
        </p:sp>
        <p:sp>
          <p:nvSpPr>
            <p:cNvPr id="35" name="Cheurón 30">
              <a:extLst>
                <a:ext uri="{FF2B5EF4-FFF2-40B4-BE49-F238E27FC236}">
                  <a16:creationId xmlns:a16="http://schemas.microsoft.com/office/drawing/2014/main" xmlns="" id="{78937CE3-679A-C0F5-BBFA-FD99A41D2854}"/>
                </a:ext>
              </a:extLst>
            </p:cNvPr>
            <p:cNvSpPr/>
            <p:nvPr/>
          </p:nvSpPr>
          <p:spPr>
            <a:xfrm>
              <a:off x="2927083" y="1508952"/>
              <a:ext cx="1080935" cy="531074"/>
            </a:xfrm>
            <a:prstGeom prst="chevron">
              <a:avLst>
                <a:gd name="adj" fmla="val 25953"/>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solidFill>
                    <a:schemeClr val="tx1"/>
                  </a:solidFill>
                  <a:effectLst>
                    <a:outerShdw blurRad="38100" dist="38100" dir="2700000" algn="tl">
                      <a:srgbClr val="000000">
                        <a:alpha val="43137"/>
                      </a:srgbClr>
                    </a:outerShdw>
                  </a:effectLst>
                  <a:latin typeface="Inter" panose="020B0604020202020204" charset="0"/>
                  <a:ea typeface="Inter" panose="020B0604020202020204" charset="0"/>
                </a:rPr>
                <a:t>1993</a:t>
              </a:r>
            </a:p>
          </p:txBody>
        </p:sp>
        <p:sp>
          <p:nvSpPr>
            <p:cNvPr id="36" name="Pentágono 3">
              <a:extLst>
                <a:ext uri="{FF2B5EF4-FFF2-40B4-BE49-F238E27FC236}">
                  <a16:creationId xmlns:a16="http://schemas.microsoft.com/office/drawing/2014/main" xmlns="" id="{07BE0587-8CE1-53F1-EE52-0E69AC5BF092}"/>
                </a:ext>
              </a:extLst>
            </p:cNvPr>
            <p:cNvSpPr/>
            <p:nvPr/>
          </p:nvSpPr>
          <p:spPr>
            <a:xfrm>
              <a:off x="8220005" y="5519437"/>
              <a:ext cx="1619598" cy="812703"/>
            </a:xfrm>
            <a:prstGeom prst="homePlate">
              <a:avLst>
                <a:gd name="adj" fmla="val 22849"/>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PE" sz="16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020-2012-EM </a:t>
              </a:r>
            </a:p>
            <a:p>
              <a:pPr algn="ctr"/>
              <a:r>
                <a:rPr lang="es-PE" sz="16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Modifica al RPM </a:t>
              </a:r>
            </a:p>
            <a:p>
              <a:pPr algn="ctr"/>
              <a:r>
                <a:rPr lang="es-PE" sz="16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018-92-EM)</a:t>
              </a:r>
            </a:p>
          </p:txBody>
        </p:sp>
        <p:sp>
          <p:nvSpPr>
            <p:cNvPr id="37" name="Cheurón 7">
              <a:extLst>
                <a:ext uri="{FF2B5EF4-FFF2-40B4-BE49-F238E27FC236}">
                  <a16:creationId xmlns:a16="http://schemas.microsoft.com/office/drawing/2014/main" xmlns="" id="{491B8501-C7AF-DBEC-46A3-C79F967512E2}"/>
                </a:ext>
              </a:extLst>
            </p:cNvPr>
            <p:cNvSpPr/>
            <p:nvPr/>
          </p:nvSpPr>
          <p:spPr>
            <a:xfrm>
              <a:off x="9620057" y="5519437"/>
              <a:ext cx="1236365" cy="804282"/>
            </a:xfrm>
            <a:prstGeom prst="chevron">
              <a:avLst>
                <a:gd name="adj" fmla="val 23896"/>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PE" sz="2000" dirty="0">
                  <a:ln w="0"/>
                  <a:solidFill>
                    <a:schemeClr val="tx1"/>
                  </a:solidFill>
                  <a:effectLst>
                    <a:outerShdw blurRad="38100" dist="19050" dir="2700000" algn="tl" rotWithShape="0">
                      <a:schemeClr val="dk1">
                        <a:alpha val="40000"/>
                      </a:schemeClr>
                    </a:outerShdw>
                  </a:effectLst>
                  <a:latin typeface="Inter" panose="020B0604020202020204" charset="0"/>
                  <a:ea typeface="Inter" panose="020B0604020202020204" charset="0"/>
                </a:rPr>
                <a:t>DS 037-2017-EM</a:t>
              </a:r>
            </a:p>
          </p:txBody>
        </p:sp>
        <p:sp>
          <p:nvSpPr>
            <p:cNvPr id="38" name="Cheurón 5">
              <a:extLst>
                <a:ext uri="{FF2B5EF4-FFF2-40B4-BE49-F238E27FC236}">
                  <a16:creationId xmlns:a16="http://schemas.microsoft.com/office/drawing/2014/main" xmlns="" id="{CCB83F8B-956F-48F1-FA33-8597426062DA}"/>
                </a:ext>
              </a:extLst>
            </p:cNvPr>
            <p:cNvSpPr/>
            <p:nvPr/>
          </p:nvSpPr>
          <p:spPr>
            <a:xfrm>
              <a:off x="2037742" y="753613"/>
              <a:ext cx="10154257" cy="687216"/>
            </a:xfrm>
            <a:prstGeom prst="chevron">
              <a:avLst>
                <a:gd name="adj" fmla="val 4924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PE" sz="2000" dirty="0">
                  <a:latin typeface="Inter" panose="020B0604020202020204" charset="0"/>
                  <a:ea typeface="Inter" panose="020B0604020202020204" charset="0"/>
                </a:rPr>
                <a:t>TUO LGM (D.S. 014-92-EM)</a:t>
              </a:r>
            </a:p>
            <a:p>
              <a:pPr algn="ctr"/>
              <a:r>
                <a:rPr lang="es-PE" sz="2000" dirty="0">
                  <a:latin typeface="Inter" panose="020B0604020202020204" charset="0"/>
                  <a:ea typeface="Inter" panose="020B0604020202020204" charset="0"/>
                </a:rPr>
                <a:t>(D.Leg 109 + D.Leg. 708)</a:t>
              </a:r>
              <a:endParaRPr lang="es-PE" sz="2000" dirty="0">
                <a:ln w="0"/>
                <a:solidFill>
                  <a:schemeClr val="bg1"/>
                </a:solidFill>
                <a:effectLst>
                  <a:outerShdw blurRad="38100" dist="19050" dir="2700000" algn="tl" rotWithShape="0">
                    <a:schemeClr val="dk1">
                      <a:alpha val="40000"/>
                    </a:schemeClr>
                  </a:outerShdw>
                </a:effectLst>
                <a:latin typeface="Inter" panose="020B0604020202020204" charset="0"/>
                <a:ea typeface="Inter" panose="020B0604020202020204" charset="0"/>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0BFFA73-8C95-F79D-314F-E44BFF90153D}"/>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9F4E7CFA-4746-4778-D4C2-C4D6B2534104}"/>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D54A6E9C-E5DA-CFEC-55B4-838C2E7AD84E}"/>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D356F6E2-DCF7-15D2-2DC2-9371BB530DAD}"/>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AFE48386-49DA-78FA-1FCE-75F3D13761E4}"/>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5B4C8623-4E3E-7D50-66A7-32873009D003}"/>
              </a:ext>
            </a:extLst>
          </p:cNvPr>
          <p:cNvSpPr txBox="1"/>
          <p:nvPr/>
        </p:nvSpPr>
        <p:spPr>
          <a:xfrm>
            <a:off x="633761" y="2699852"/>
            <a:ext cx="16155860" cy="570669"/>
          </a:xfrm>
          <a:prstGeom prst="rect">
            <a:avLst/>
          </a:prstGeom>
        </p:spPr>
        <p:txBody>
          <a:bodyPr wrap="square" lIns="0" tIns="0" rIns="0" bIns="0" rtlCol="0" anchor="t">
            <a:spAutoFit/>
          </a:bodyPr>
          <a:lstStyle/>
          <a:p>
            <a:pPr algn="l">
              <a:lnSpc>
                <a:spcPts val="5039"/>
              </a:lnSpc>
            </a:pPr>
            <a:r>
              <a:rPr lang="es-PE" sz="3999" b="1" dirty="0">
                <a:solidFill>
                  <a:srgbClr val="A42F0F"/>
                </a:solidFill>
                <a:latin typeface="Futura Ultra-Bold"/>
                <a:ea typeface="Futura Ultra-Bold"/>
                <a:cs typeface="Futura Ultra-Bold"/>
                <a:sym typeface="Futura Ultra-Bold"/>
              </a:rPr>
              <a:t>4.1 REQUISITOS PARA EL INICIO DE ACTIVIDADES MINERAS</a:t>
            </a:r>
          </a:p>
        </p:txBody>
      </p:sp>
      <p:graphicFrame>
        <p:nvGraphicFramePr>
          <p:cNvPr id="3" name="Tabla 2">
            <a:extLst>
              <a:ext uri="{FF2B5EF4-FFF2-40B4-BE49-F238E27FC236}">
                <a16:creationId xmlns:a16="http://schemas.microsoft.com/office/drawing/2014/main" xmlns="" id="{5D59B73F-867E-F2D2-7B58-384FEB8A6046}"/>
              </a:ext>
            </a:extLst>
          </p:cNvPr>
          <p:cNvGraphicFramePr>
            <a:graphicFrameLocks noGrp="1"/>
          </p:cNvGraphicFramePr>
          <p:nvPr>
            <p:extLst>
              <p:ext uri="{D42A27DB-BD31-4B8C-83A1-F6EECF244321}">
                <p14:modId xmlns:p14="http://schemas.microsoft.com/office/powerpoint/2010/main" val="3308867751"/>
              </p:ext>
            </p:extLst>
          </p:nvPr>
        </p:nvGraphicFramePr>
        <p:xfrm>
          <a:off x="624033" y="3480652"/>
          <a:ext cx="15486203" cy="5861733"/>
        </p:xfrm>
        <a:graphic>
          <a:graphicData uri="http://schemas.openxmlformats.org/drawingml/2006/table">
            <a:tbl>
              <a:tblPr firstRow="1" firstCol="1" bandRow="1">
                <a:tableStyleId>{5940675A-B579-460E-94D1-54222C63F5DA}</a:tableStyleId>
              </a:tblPr>
              <a:tblGrid>
                <a:gridCol w="689862">
                  <a:extLst>
                    <a:ext uri="{9D8B030D-6E8A-4147-A177-3AD203B41FA5}">
                      <a16:colId xmlns:a16="http://schemas.microsoft.com/office/drawing/2014/main" xmlns="" val="20000"/>
                    </a:ext>
                  </a:extLst>
                </a:gridCol>
                <a:gridCol w="2337322">
                  <a:extLst>
                    <a:ext uri="{9D8B030D-6E8A-4147-A177-3AD203B41FA5}">
                      <a16:colId xmlns:a16="http://schemas.microsoft.com/office/drawing/2014/main" xmlns="" val="20001"/>
                    </a:ext>
                  </a:extLst>
                </a:gridCol>
                <a:gridCol w="2367800">
                  <a:extLst>
                    <a:ext uri="{9D8B030D-6E8A-4147-A177-3AD203B41FA5}">
                      <a16:colId xmlns:a16="http://schemas.microsoft.com/office/drawing/2014/main" xmlns="" val="20002"/>
                    </a:ext>
                  </a:extLst>
                </a:gridCol>
                <a:gridCol w="3001801">
                  <a:extLst>
                    <a:ext uri="{9D8B030D-6E8A-4147-A177-3AD203B41FA5}">
                      <a16:colId xmlns:a16="http://schemas.microsoft.com/office/drawing/2014/main" xmlns="" val="20003"/>
                    </a:ext>
                  </a:extLst>
                </a:gridCol>
                <a:gridCol w="2600699">
                  <a:extLst>
                    <a:ext uri="{9D8B030D-6E8A-4147-A177-3AD203B41FA5}">
                      <a16:colId xmlns:a16="http://schemas.microsoft.com/office/drawing/2014/main" xmlns="" val="20004"/>
                    </a:ext>
                  </a:extLst>
                </a:gridCol>
                <a:gridCol w="2228829">
                  <a:extLst>
                    <a:ext uri="{9D8B030D-6E8A-4147-A177-3AD203B41FA5}">
                      <a16:colId xmlns:a16="http://schemas.microsoft.com/office/drawing/2014/main" xmlns="" val="20005"/>
                    </a:ext>
                  </a:extLst>
                </a:gridCol>
                <a:gridCol w="2259890">
                  <a:extLst>
                    <a:ext uri="{9D8B030D-6E8A-4147-A177-3AD203B41FA5}">
                      <a16:colId xmlns:a16="http://schemas.microsoft.com/office/drawing/2014/main" xmlns="" val="20006"/>
                    </a:ext>
                  </a:extLst>
                </a:gridCol>
              </a:tblGrid>
              <a:tr h="299126">
                <a:tc rowSpan="2">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N°</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tc gridSpan="2">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CONCESIÓN MINERA</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tc hMerge="1">
                  <a:txBody>
                    <a:bodyPr/>
                    <a:lstStyle/>
                    <a:p>
                      <a:endParaRPr lang="es-PE"/>
                    </a:p>
                  </a:txBody>
                  <a:tcPr/>
                </a:tc>
                <a:tc gridSpan="2">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CONCESIÓN DE BENEFICIO</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tc hMerge="1">
                  <a:txBody>
                    <a:bodyPr/>
                    <a:lstStyle/>
                    <a:p>
                      <a:endParaRPr lang="es-PE"/>
                    </a:p>
                  </a:txBody>
                  <a:tcPr/>
                </a:tc>
                <a:tc rowSpan="2">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CONCESIÓN DE TRANSPORTE</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tc rowSpan="2">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ENTIDAD</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extLst>
                  <a:ext uri="{0D108BD9-81ED-4DB2-BD59-A6C34878D82A}">
                    <a16:rowId xmlns:a16="http://schemas.microsoft.com/office/drawing/2014/main" xmlns="" val="10000"/>
                  </a:ext>
                </a:extLst>
              </a:tr>
              <a:tr h="1053663">
                <a:tc vMerge="1">
                  <a:txBody>
                    <a:bodyPr/>
                    <a:lstStyle/>
                    <a:p>
                      <a:endParaRPr lang="es-PE"/>
                    </a:p>
                  </a:txBody>
                  <a:tcPr/>
                </a:tc>
                <a:tc>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Autorización de Exploración</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tc>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Autorización de Explotación</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tc>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Otorgamiento de concesión y autorización de construcción</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tc>
                  <a:txBody>
                    <a:bodyPr/>
                    <a:lstStyle/>
                    <a:p>
                      <a:pPr algn="ctr">
                        <a:lnSpc>
                          <a:spcPct val="107000"/>
                        </a:lnSpc>
                        <a:spcAft>
                          <a:spcPts val="0"/>
                        </a:spcAft>
                      </a:pPr>
                      <a:r>
                        <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rPr>
                        <a:t>Autorización de funcionamiento</a:t>
                      </a:r>
                      <a:endParaRPr lang="es-PE" sz="2000" b="1" dirty="0">
                        <a:solidFill>
                          <a:schemeClr val="bg1"/>
                        </a:solidFill>
                        <a:effectLst>
                          <a:outerShdw blurRad="38100" dist="38100" dir="2700000" algn="tl">
                            <a:srgbClr val="000000">
                              <a:alpha val="43137"/>
                            </a:srgbClr>
                          </a:outerShdw>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accent2">
                        <a:lumMod val="75000"/>
                      </a:schemeClr>
                    </a:solidFill>
                  </a:tcP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xmlns="" val="10001"/>
                  </a:ext>
                </a:extLst>
              </a:tr>
              <a:tr h="764335">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1</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Título de Concesión minera</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Título de Concesión minera</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a:txBody>
                    <a:bodyPr/>
                    <a:lstStyle/>
                    <a:p>
                      <a:pPr algn="ctr">
                        <a:lnSpc>
                          <a:spcPct val="107000"/>
                        </a:lnSpc>
                        <a:spcAft>
                          <a:spcPts val="0"/>
                        </a:spcAft>
                      </a:pPr>
                      <a:r>
                        <a:rPr lang="es-PE" sz="2000" b="1" dirty="0">
                          <a:solidFill>
                            <a:schemeClr val="accent2">
                              <a:lumMod val="50000"/>
                            </a:schemeClr>
                          </a:solidFill>
                          <a:effectLst/>
                          <a:latin typeface="Inter" panose="020B0604020202020204" charset="0"/>
                          <a:ea typeface="Inter" panose="020B0604020202020204" charset="0"/>
                        </a:rPr>
                        <a:t>INGEMMET / DREM o GREM</a:t>
                      </a:r>
                      <a:endParaRPr lang="es-PE" sz="2000" b="1" dirty="0">
                        <a:solidFill>
                          <a:schemeClr val="accent2">
                            <a:lumMod val="50000"/>
                          </a:schemeClr>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extLst>
                  <a:ext uri="{0D108BD9-81ED-4DB2-BD59-A6C34878D82A}">
                    <a16:rowId xmlns:a16="http://schemas.microsoft.com/office/drawing/2014/main" xmlns="" val="10002"/>
                  </a:ext>
                </a:extLst>
              </a:tr>
              <a:tr h="612197">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2</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Autorización del Terreno Superficial</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Autorización del Terreno Superficial</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Autorización del Terreno Superficial</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Autorización del Terreno Superficial</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tc>
                  <a:txBody>
                    <a:bodyPr/>
                    <a:lstStyle/>
                    <a:p>
                      <a:pPr algn="ctr">
                        <a:lnSpc>
                          <a:spcPct val="107000"/>
                        </a:lnSpc>
                        <a:spcAft>
                          <a:spcPts val="0"/>
                        </a:spcAft>
                      </a:pPr>
                      <a:r>
                        <a:rPr lang="es-PE" sz="2000" b="1" dirty="0">
                          <a:solidFill>
                            <a:schemeClr val="accent2">
                              <a:lumMod val="50000"/>
                            </a:schemeClr>
                          </a:solidFill>
                          <a:effectLst/>
                          <a:latin typeface="Inter" panose="020B0604020202020204" charset="0"/>
                          <a:ea typeface="Inter" panose="020B0604020202020204" charset="0"/>
                        </a:rPr>
                        <a:t>Propietario y CC.CC. (privado)</a:t>
                      </a:r>
                      <a:endParaRPr lang="es-PE" sz="2000" b="1" dirty="0">
                        <a:solidFill>
                          <a:schemeClr val="accent2">
                            <a:lumMod val="50000"/>
                          </a:schemeClr>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extLst>
                  <a:ext uri="{0D108BD9-81ED-4DB2-BD59-A6C34878D82A}">
                    <a16:rowId xmlns:a16="http://schemas.microsoft.com/office/drawing/2014/main" xmlns="" val="10003"/>
                  </a:ext>
                </a:extLst>
              </a:tr>
              <a:tr h="612197">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tc>
                  <a:txBody>
                    <a:bodyPr/>
                    <a:lstStyle/>
                    <a:p>
                      <a:pPr algn="ctr">
                        <a:lnSpc>
                          <a:spcPct val="107000"/>
                        </a:lnSpc>
                        <a:spcAft>
                          <a:spcPts val="0"/>
                        </a:spcAft>
                      </a:pPr>
                      <a:r>
                        <a:rPr lang="es-PE" sz="2000" b="1" dirty="0">
                          <a:solidFill>
                            <a:schemeClr val="accent2">
                              <a:lumMod val="50000"/>
                            </a:schemeClr>
                          </a:solidFill>
                          <a:effectLst/>
                          <a:latin typeface="Inter" panose="020B0604020202020204" charset="0"/>
                          <a:ea typeface="Inter" panose="020B0604020202020204" charset="0"/>
                        </a:rPr>
                        <a:t>La SBN, Gob. Reg o Entidad Pública</a:t>
                      </a:r>
                      <a:endParaRPr lang="es-PE" sz="2000" b="1" dirty="0">
                        <a:solidFill>
                          <a:schemeClr val="accent2">
                            <a:lumMod val="50000"/>
                          </a:schemeClr>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tc>
                <a:extLst>
                  <a:ext uri="{0D108BD9-81ED-4DB2-BD59-A6C34878D82A}">
                    <a16:rowId xmlns:a16="http://schemas.microsoft.com/office/drawing/2014/main" xmlns="" val="10004"/>
                  </a:ext>
                </a:extLst>
              </a:tr>
              <a:tr h="925266">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3</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C.I.R.A. o el plan de monitoreo arqueológico</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C.I.R.A. o el plan de monitoreo arqueológico</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C.I.R.A. o el plan de monitoreo arqueológico</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C.I.R.A. o el plan de monitoreo arqueológico</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a:txBody>
                    <a:bodyPr/>
                    <a:lstStyle/>
                    <a:p>
                      <a:pPr algn="ctr">
                        <a:lnSpc>
                          <a:spcPct val="107000"/>
                        </a:lnSpc>
                        <a:spcAft>
                          <a:spcPts val="0"/>
                        </a:spcAft>
                      </a:pPr>
                      <a:r>
                        <a:rPr lang="es-PE" sz="2000" b="1" dirty="0">
                          <a:solidFill>
                            <a:schemeClr val="accent2">
                              <a:lumMod val="50000"/>
                            </a:schemeClr>
                          </a:solidFill>
                          <a:effectLst/>
                          <a:latin typeface="Inter" panose="020B0604020202020204" charset="0"/>
                          <a:ea typeface="Inter" panose="020B0604020202020204" charset="0"/>
                        </a:rPr>
                        <a:t>MINISTERIO DE CULTURA</a:t>
                      </a:r>
                      <a:endParaRPr lang="es-PE" sz="2000" b="1" dirty="0">
                        <a:solidFill>
                          <a:schemeClr val="accent2">
                            <a:lumMod val="50000"/>
                          </a:schemeClr>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extLst>
                  <a:ext uri="{0D108BD9-81ED-4DB2-BD59-A6C34878D82A}">
                    <a16:rowId xmlns:a16="http://schemas.microsoft.com/office/drawing/2014/main" xmlns="" val="10005"/>
                  </a:ext>
                </a:extLst>
              </a:tr>
              <a:tr h="522170">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4</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Certificación ambiental</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Certificación ambiental</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Certificación ambiental </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rowSpan="2">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Certificación ambiental</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a:txBody>
                    <a:bodyPr/>
                    <a:lstStyle/>
                    <a:p>
                      <a:pPr algn="ctr">
                        <a:lnSpc>
                          <a:spcPct val="107000"/>
                        </a:lnSpc>
                        <a:spcAft>
                          <a:spcPts val="0"/>
                        </a:spcAft>
                      </a:pPr>
                      <a:r>
                        <a:rPr lang="es-PE" sz="2000" b="1" dirty="0">
                          <a:solidFill>
                            <a:schemeClr val="accent2">
                              <a:lumMod val="50000"/>
                            </a:schemeClr>
                          </a:solidFill>
                          <a:effectLst/>
                          <a:latin typeface="Inter" panose="020B0604020202020204" charset="0"/>
                          <a:ea typeface="Inter" panose="020B0604020202020204" charset="0"/>
                        </a:rPr>
                        <a:t>DGAAM o SENACE, </a:t>
                      </a:r>
                      <a:endParaRPr lang="es-PE" sz="2000" b="1" dirty="0">
                        <a:solidFill>
                          <a:schemeClr val="accent2">
                            <a:lumMod val="50000"/>
                          </a:schemeClr>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extLst>
                  <a:ext uri="{0D108BD9-81ED-4DB2-BD59-A6C34878D82A}">
                    <a16:rowId xmlns:a16="http://schemas.microsoft.com/office/drawing/2014/main" xmlns="" val="10006"/>
                  </a:ext>
                </a:extLst>
              </a:tr>
              <a:tr h="531494">
                <a:tc vMerge="1">
                  <a:txBody>
                    <a:bodyPr/>
                    <a:lstStyle/>
                    <a:p>
                      <a:endParaRPr lang="es-PE"/>
                    </a:p>
                  </a:txBody>
                  <a:tcPr/>
                </a:tc>
                <a:tc vMerge="1">
                  <a:txBody>
                    <a:bodyPr/>
                    <a:lstStyle/>
                    <a:p>
                      <a:endParaRPr lang="es-PE"/>
                    </a:p>
                  </a:txBody>
                  <a:tcPr/>
                </a:tc>
                <a:tc vMerge="1">
                  <a:txBody>
                    <a:bodyPr/>
                    <a:lstStyle/>
                    <a:p>
                      <a:endParaRPr lang="es-PE"/>
                    </a:p>
                  </a:txBody>
                  <a:tcPr/>
                </a:tc>
                <a:tc>
                  <a:txBody>
                    <a:bodyPr/>
                    <a:lstStyle/>
                    <a:p>
                      <a:pPr algn="ctr">
                        <a:lnSpc>
                          <a:spcPct val="107000"/>
                        </a:lnSpc>
                        <a:spcAft>
                          <a:spcPts val="0"/>
                        </a:spcAft>
                      </a:pPr>
                      <a:r>
                        <a:rPr lang="es-PE" sz="2000" dirty="0">
                          <a:solidFill>
                            <a:schemeClr val="tx1"/>
                          </a:solidFill>
                          <a:effectLst/>
                          <a:latin typeface="Inter" panose="020B0604020202020204" charset="0"/>
                          <a:ea typeface="Inter" panose="020B0604020202020204" charset="0"/>
                        </a:rPr>
                        <a:t>(mínimo presentación)</a:t>
                      </a:r>
                      <a:endParaRPr lang="es-PE" sz="2000" dirty="0">
                        <a:solidFill>
                          <a:schemeClr val="tx1"/>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tc vMerge="1">
                  <a:txBody>
                    <a:bodyPr/>
                    <a:lstStyle/>
                    <a:p>
                      <a:endParaRPr lang="es-PE"/>
                    </a:p>
                  </a:txBody>
                  <a:tcPr/>
                </a:tc>
                <a:tc vMerge="1">
                  <a:txBody>
                    <a:bodyPr/>
                    <a:lstStyle/>
                    <a:p>
                      <a:endParaRPr lang="es-PE"/>
                    </a:p>
                  </a:txBody>
                  <a:tcPr/>
                </a:tc>
                <a:tc>
                  <a:txBody>
                    <a:bodyPr/>
                    <a:lstStyle/>
                    <a:p>
                      <a:pPr algn="ctr">
                        <a:lnSpc>
                          <a:spcPct val="107000"/>
                        </a:lnSpc>
                        <a:spcAft>
                          <a:spcPts val="0"/>
                        </a:spcAft>
                      </a:pPr>
                      <a:r>
                        <a:rPr lang="es-PE" sz="2000" b="1" dirty="0">
                          <a:solidFill>
                            <a:schemeClr val="accent2">
                              <a:lumMod val="50000"/>
                            </a:schemeClr>
                          </a:solidFill>
                          <a:effectLst/>
                          <a:latin typeface="Inter" panose="020B0604020202020204" charset="0"/>
                          <a:ea typeface="Inter" panose="020B0604020202020204" charset="0"/>
                        </a:rPr>
                        <a:t>DREM o GREM</a:t>
                      </a:r>
                      <a:endParaRPr lang="es-PE" sz="2000" b="1" dirty="0">
                        <a:solidFill>
                          <a:schemeClr val="accent2">
                            <a:lumMod val="50000"/>
                          </a:schemeClr>
                        </a:solidFill>
                        <a:effectLst/>
                        <a:latin typeface="Inter" panose="020B0604020202020204" charset="0"/>
                        <a:ea typeface="Inter" panose="020B0604020202020204" charset="0"/>
                        <a:cs typeface="Times New Roman" panose="02020603050405020304" pitchFamily="18" charset="0"/>
                      </a:endParaRPr>
                    </a:p>
                  </a:txBody>
                  <a:tcPr marL="36266" marR="36266" marT="0" marB="0" anchor="ctr">
                    <a:solidFill>
                      <a:schemeClr val="bg1"/>
                    </a:solidFill>
                  </a:tcPr>
                </a:tc>
                <a:extLst>
                  <a:ext uri="{0D108BD9-81ED-4DB2-BD59-A6C34878D82A}">
                    <a16:rowId xmlns:a16="http://schemas.microsoft.com/office/drawing/2014/main" xmlns="" val="10007"/>
                  </a:ext>
                </a:extLst>
              </a:tr>
            </a:tbl>
          </a:graphicData>
        </a:graphic>
      </p:graphicFrame>
      <p:grpSp>
        <p:nvGrpSpPr>
          <p:cNvPr id="10" name="Group 2">
            <a:extLst>
              <a:ext uri="{FF2B5EF4-FFF2-40B4-BE49-F238E27FC236}">
                <a16:creationId xmlns:a16="http://schemas.microsoft.com/office/drawing/2014/main" xmlns="" id="{A9F62307-83CE-7C68-EB32-3D86CEEA6094}"/>
              </a:ext>
            </a:extLst>
          </p:cNvPr>
          <p:cNvGrpSpPr/>
          <p:nvPr/>
        </p:nvGrpSpPr>
        <p:grpSpPr>
          <a:xfrm>
            <a:off x="6397409" y="7556924"/>
            <a:ext cx="10861891" cy="2730076"/>
            <a:chOff x="0" y="0"/>
            <a:chExt cx="1363973" cy="342827"/>
          </a:xfrm>
        </p:grpSpPr>
        <p:sp>
          <p:nvSpPr>
            <p:cNvPr id="11" name="Freeform 3">
              <a:extLst>
                <a:ext uri="{FF2B5EF4-FFF2-40B4-BE49-F238E27FC236}">
                  <a16:creationId xmlns:a16="http://schemas.microsoft.com/office/drawing/2014/main" xmlns="" id="{D75658DE-D00C-BFC1-36C0-80856E281088}"/>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2" name="TextBox 4">
              <a:extLst>
                <a:ext uri="{FF2B5EF4-FFF2-40B4-BE49-F238E27FC236}">
                  <a16:creationId xmlns:a16="http://schemas.microsoft.com/office/drawing/2014/main" xmlns="" id="{21F332C8-A2A2-407A-E2DC-112FEC7DD814}"/>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19811112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0E31E5-C105-334A-2006-4DFF028C5E94}"/>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26868241-32D6-1B78-B311-C51DDDDEB6F5}"/>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9CC0B97D-591B-E587-3CEB-6494E0A9D3A4}"/>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8C3A22E4-342B-62D8-891C-6BB3A35B50EA}"/>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B0BC145E-0F2C-BDA0-7238-26D143972CC4}"/>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D52309FF-548C-C97C-5AEB-EA453A8CD9BC}"/>
              </a:ext>
            </a:extLst>
          </p:cNvPr>
          <p:cNvSpPr txBox="1"/>
          <p:nvPr/>
        </p:nvSpPr>
        <p:spPr>
          <a:xfrm>
            <a:off x="633761" y="2699852"/>
            <a:ext cx="16155860" cy="570669"/>
          </a:xfrm>
          <a:prstGeom prst="rect">
            <a:avLst/>
          </a:prstGeom>
        </p:spPr>
        <p:txBody>
          <a:bodyPr wrap="square" lIns="0" tIns="0" rIns="0" bIns="0" rtlCol="0" anchor="t">
            <a:spAutoFit/>
          </a:bodyPr>
          <a:lstStyle/>
          <a:p>
            <a:pPr algn="l">
              <a:lnSpc>
                <a:spcPts val="5039"/>
              </a:lnSpc>
            </a:pPr>
            <a:r>
              <a:rPr lang="es-PE" sz="3999" b="1" dirty="0">
                <a:solidFill>
                  <a:srgbClr val="A42F0F"/>
                </a:solidFill>
                <a:latin typeface="Futura Ultra-Bold"/>
                <a:ea typeface="Futura Ultra-Bold"/>
                <a:cs typeface="Futura Ultra-Bold"/>
                <a:sym typeface="Futura Ultra-Bold"/>
              </a:rPr>
              <a:t>4.1 REQUISITOS PARA EL INICIO DE ACTIVIDADES MINERAS</a:t>
            </a:r>
          </a:p>
        </p:txBody>
      </p:sp>
      <p:graphicFrame>
        <p:nvGraphicFramePr>
          <p:cNvPr id="8" name="Tabla 7">
            <a:extLst>
              <a:ext uri="{FF2B5EF4-FFF2-40B4-BE49-F238E27FC236}">
                <a16:creationId xmlns:a16="http://schemas.microsoft.com/office/drawing/2014/main" xmlns="" id="{C4BFAF55-6ECB-705B-C028-4C5129D0EC0A}"/>
              </a:ext>
            </a:extLst>
          </p:cNvPr>
          <p:cNvGraphicFramePr>
            <a:graphicFrameLocks noGrp="1"/>
          </p:cNvGraphicFramePr>
          <p:nvPr>
            <p:extLst>
              <p:ext uri="{D42A27DB-BD31-4B8C-83A1-F6EECF244321}">
                <p14:modId xmlns:p14="http://schemas.microsoft.com/office/powerpoint/2010/main" val="1158098638"/>
              </p:ext>
            </p:extLst>
          </p:nvPr>
        </p:nvGraphicFramePr>
        <p:xfrm>
          <a:off x="627276" y="3480652"/>
          <a:ext cx="15596838" cy="6450199"/>
        </p:xfrm>
        <a:graphic>
          <a:graphicData uri="http://schemas.openxmlformats.org/drawingml/2006/table">
            <a:tbl>
              <a:tblPr firstRow="1" firstCol="1" bandRow="1">
                <a:tableStyleId>{5940675A-B579-460E-94D1-54222C63F5DA}</a:tableStyleId>
              </a:tblPr>
              <a:tblGrid>
                <a:gridCol w="664607">
                  <a:extLst>
                    <a:ext uri="{9D8B030D-6E8A-4147-A177-3AD203B41FA5}">
                      <a16:colId xmlns:a16="http://schemas.microsoft.com/office/drawing/2014/main" xmlns="" val="20000"/>
                    </a:ext>
                  </a:extLst>
                </a:gridCol>
                <a:gridCol w="2361518">
                  <a:extLst>
                    <a:ext uri="{9D8B030D-6E8A-4147-A177-3AD203B41FA5}">
                      <a16:colId xmlns:a16="http://schemas.microsoft.com/office/drawing/2014/main" xmlns="" val="20001"/>
                    </a:ext>
                  </a:extLst>
                </a:gridCol>
                <a:gridCol w="2386548">
                  <a:extLst>
                    <a:ext uri="{9D8B030D-6E8A-4147-A177-3AD203B41FA5}">
                      <a16:colId xmlns:a16="http://schemas.microsoft.com/office/drawing/2014/main" xmlns="" val="20002"/>
                    </a:ext>
                  </a:extLst>
                </a:gridCol>
                <a:gridCol w="3090777">
                  <a:extLst>
                    <a:ext uri="{9D8B030D-6E8A-4147-A177-3AD203B41FA5}">
                      <a16:colId xmlns:a16="http://schemas.microsoft.com/office/drawing/2014/main" xmlns="" val="20003"/>
                    </a:ext>
                  </a:extLst>
                </a:gridCol>
                <a:gridCol w="2581116">
                  <a:extLst>
                    <a:ext uri="{9D8B030D-6E8A-4147-A177-3AD203B41FA5}">
                      <a16:colId xmlns:a16="http://schemas.microsoft.com/office/drawing/2014/main" xmlns="" val="20004"/>
                    </a:ext>
                  </a:extLst>
                </a:gridCol>
                <a:gridCol w="2326634">
                  <a:extLst>
                    <a:ext uri="{9D8B030D-6E8A-4147-A177-3AD203B41FA5}">
                      <a16:colId xmlns:a16="http://schemas.microsoft.com/office/drawing/2014/main" xmlns="" val="20005"/>
                    </a:ext>
                  </a:extLst>
                </a:gridCol>
                <a:gridCol w="2185638">
                  <a:extLst>
                    <a:ext uri="{9D8B030D-6E8A-4147-A177-3AD203B41FA5}">
                      <a16:colId xmlns:a16="http://schemas.microsoft.com/office/drawing/2014/main" xmlns="" val="20006"/>
                    </a:ext>
                  </a:extLst>
                </a:gridCol>
              </a:tblGrid>
              <a:tr h="294057">
                <a:tc>
                  <a:txBody>
                    <a:bodyPr/>
                    <a:lstStyle/>
                    <a:p>
                      <a:pPr algn="ctr"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 </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gridSpan="2">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CONCESIÓN MINERA</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hMerge="1">
                  <a:txBody>
                    <a:bodyPr/>
                    <a:lstStyle/>
                    <a:p>
                      <a:endParaRPr lang="es-PE"/>
                    </a:p>
                  </a:txBody>
                  <a:tcPr/>
                </a:tc>
                <a:tc gridSpan="2">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CONCESIÓN DE BENEFICIO</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hMerge="1">
                  <a:txBody>
                    <a:bodyPr/>
                    <a:lstStyle/>
                    <a:p>
                      <a:endParaRPr lang="es-PE"/>
                    </a:p>
                  </a:txBody>
                  <a:tcPr/>
                </a:tc>
                <a:tc rowSpan="2">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CONCESIÓN DE TRANSPORTE</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rowSpan="2">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ENTIDAD</a:t>
                      </a:r>
                      <a:endParaRPr lang="es-PE" sz="2000" b="1" i="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extLst>
                  <a:ext uri="{0D108BD9-81ED-4DB2-BD59-A6C34878D82A}">
                    <a16:rowId xmlns:a16="http://schemas.microsoft.com/office/drawing/2014/main" xmlns="" val="10000"/>
                  </a:ext>
                </a:extLst>
              </a:tr>
              <a:tr h="934673">
                <a:tc>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N°</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Autorización de Exploración</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Autorización de Explotación</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Otorgamiento de concesión y autorización de construcción</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a:txBody>
                    <a:bodyPr/>
                    <a:lstStyle/>
                    <a:p>
                      <a:pPr algn="ctr" rtl="0" fontAlgn="ctr"/>
                      <a:r>
                        <a:rPr lang="es-PE" sz="2000" b="1"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rPr>
                        <a:t>Autorización de funcionamiento</a:t>
                      </a:r>
                      <a:endParaRPr lang="es-PE" sz="2000" b="1" i="0" u="none" strike="noStrike" dirty="0">
                        <a:solidFill>
                          <a:schemeClr val="bg2"/>
                        </a:solidFill>
                        <a:effectLst>
                          <a:outerShdw blurRad="38100" dist="38100" dir="2700000" algn="tl">
                            <a:srgbClr val="000000">
                              <a:alpha val="43137"/>
                            </a:srgbClr>
                          </a:outerShdw>
                        </a:effectLst>
                        <a:latin typeface="Inter" panose="020B0604020202020204" charset="0"/>
                        <a:ea typeface="Inter" panose="020B0604020202020204" charset="0"/>
                      </a:endParaRPr>
                    </a:p>
                  </a:txBody>
                  <a:tcPr marL="7057" marR="7057" marT="7057" marB="0" anchor="ctr">
                    <a:solidFill>
                      <a:schemeClr val="accent2">
                        <a:lumMod val="75000"/>
                      </a:schemeClr>
                    </a:solidFill>
                  </a:tcP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xmlns="" val="10001"/>
                  </a:ext>
                </a:extLst>
              </a:tr>
              <a:tr h="1722985">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5</a:t>
                      </a:r>
                      <a:endParaRPr lang="es-PE" sz="2000" b="1"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Autorización de la autoridad competente para afectación de carretera o derecho de vía</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Autorización de la autoridad competente para afectación de carretera o derecho de vía</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Autorización de la autoridad competente para afectación de carretera o derecho de vía</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b="1" u="none" strike="noStrike" dirty="0">
                          <a:solidFill>
                            <a:schemeClr val="accent2">
                              <a:lumMod val="50000"/>
                            </a:schemeClr>
                          </a:solidFill>
                          <a:effectLst/>
                          <a:latin typeface="Inter" panose="020B0604020202020204" charset="0"/>
                          <a:ea typeface="Inter" panose="020B0604020202020204" charset="0"/>
                        </a:rPr>
                        <a:t>PROVIAS del Ministerio de Transporte y Comunicaciones</a:t>
                      </a:r>
                      <a:endParaRPr lang="es-PE" sz="2000" b="1" i="1" u="none" strike="noStrike" dirty="0">
                        <a:solidFill>
                          <a:schemeClr val="accent2">
                            <a:lumMod val="50000"/>
                          </a:schemeClr>
                        </a:solidFill>
                        <a:effectLst/>
                        <a:latin typeface="Inter" panose="020B0604020202020204" charset="0"/>
                        <a:ea typeface="Inter" panose="020B0604020202020204" charset="0"/>
                      </a:endParaRPr>
                    </a:p>
                  </a:txBody>
                  <a:tcPr marL="7057" marR="7057" marT="7057" marB="0" anchor="ctr"/>
                </a:tc>
                <a:extLst>
                  <a:ext uri="{0D108BD9-81ED-4DB2-BD59-A6C34878D82A}">
                    <a16:rowId xmlns:a16="http://schemas.microsoft.com/office/drawing/2014/main" xmlns="" val="10002"/>
                  </a:ext>
                </a:extLst>
              </a:tr>
              <a:tr h="579842">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6</a:t>
                      </a:r>
                      <a:endParaRPr lang="es-PE" sz="2000" b="1"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Licencia de uso de agua</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b="1" u="none" strike="noStrike" dirty="0">
                          <a:solidFill>
                            <a:schemeClr val="accent2">
                              <a:lumMod val="50000"/>
                            </a:schemeClr>
                          </a:solidFill>
                          <a:effectLst/>
                          <a:latin typeface="Inter" panose="020B0604020202020204" charset="0"/>
                          <a:ea typeface="Inter" panose="020B0604020202020204" charset="0"/>
                        </a:rPr>
                        <a:t>Autoridad Nacional del Agua</a:t>
                      </a:r>
                      <a:endParaRPr lang="es-PE" sz="2000" b="1" i="1" u="none" strike="noStrike" dirty="0">
                        <a:solidFill>
                          <a:schemeClr val="accent2">
                            <a:lumMod val="50000"/>
                          </a:schemeClr>
                        </a:solidFill>
                        <a:effectLst/>
                        <a:latin typeface="Inter" panose="020B0604020202020204" charset="0"/>
                        <a:ea typeface="Inter" panose="020B0604020202020204" charset="0"/>
                      </a:endParaRPr>
                    </a:p>
                  </a:txBody>
                  <a:tcPr marL="7057" marR="7057" marT="7057" marB="0" anchor="ctr"/>
                </a:tc>
                <a:extLst>
                  <a:ext uri="{0D108BD9-81ED-4DB2-BD59-A6C34878D82A}">
                    <a16:rowId xmlns:a16="http://schemas.microsoft.com/office/drawing/2014/main" xmlns="" val="10003"/>
                  </a:ext>
                </a:extLst>
              </a:tr>
              <a:tr h="865628">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7</a:t>
                      </a:r>
                      <a:endParaRPr lang="es-PE" sz="2000" b="1"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Autorización de vertimiento de aguas residuales Tratadas.</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b="1" u="none" strike="noStrike" dirty="0">
                          <a:solidFill>
                            <a:schemeClr val="accent2">
                              <a:lumMod val="50000"/>
                            </a:schemeClr>
                          </a:solidFill>
                          <a:effectLst/>
                          <a:latin typeface="Inter" panose="020B0604020202020204" charset="0"/>
                          <a:ea typeface="Inter" panose="020B0604020202020204" charset="0"/>
                        </a:rPr>
                        <a:t>Autoridad Nacional del Agua</a:t>
                      </a:r>
                      <a:endParaRPr lang="es-PE" sz="2000" b="1" i="1" u="none" strike="noStrike" dirty="0">
                        <a:solidFill>
                          <a:schemeClr val="accent2">
                            <a:lumMod val="50000"/>
                          </a:schemeClr>
                        </a:solidFill>
                        <a:effectLst/>
                        <a:latin typeface="Inter" panose="020B0604020202020204" charset="0"/>
                        <a:ea typeface="Inter" panose="020B0604020202020204" charset="0"/>
                      </a:endParaRPr>
                    </a:p>
                  </a:txBody>
                  <a:tcPr marL="7057" marR="7057" marT="7057" marB="0" anchor="ctr"/>
                </a:tc>
                <a:extLst>
                  <a:ext uri="{0D108BD9-81ED-4DB2-BD59-A6C34878D82A}">
                    <a16:rowId xmlns:a16="http://schemas.microsoft.com/office/drawing/2014/main" xmlns="" val="10004"/>
                  </a:ext>
                </a:extLst>
              </a:tr>
              <a:tr h="579842">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8</a:t>
                      </a:r>
                      <a:endParaRPr lang="es-PE" sz="2000" b="1"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Plan de cierre (aprobado)</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Plan de cierre (aprobado)</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Plan de cierre (aprobado)</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b="1" u="none" strike="noStrike" dirty="0">
                          <a:solidFill>
                            <a:schemeClr val="accent2">
                              <a:lumMod val="50000"/>
                            </a:schemeClr>
                          </a:solidFill>
                          <a:effectLst/>
                          <a:latin typeface="Inter" panose="020B0604020202020204" charset="0"/>
                          <a:ea typeface="Inter" panose="020B0604020202020204" charset="0"/>
                        </a:rPr>
                        <a:t>DGAAM/DREM o GREM</a:t>
                      </a:r>
                      <a:endParaRPr lang="es-PE" sz="2000" b="1" i="1" u="none" strike="noStrike" dirty="0">
                        <a:solidFill>
                          <a:schemeClr val="accent2">
                            <a:lumMod val="50000"/>
                          </a:schemeClr>
                        </a:solidFill>
                        <a:effectLst/>
                        <a:latin typeface="Inter" panose="020B0604020202020204" charset="0"/>
                        <a:ea typeface="Inter" panose="020B0604020202020204" charset="0"/>
                      </a:endParaRPr>
                    </a:p>
                  </a:txBody>
                  <a:tcPr marL="7057" marR="7057" marT="7057" marB="0" anchor="ctr"/>
                </a:tc>
                <a:extLst>
                  <a:ext uri="{0D108BD9-81ED-4DB2-BD59-A6C34878D82A}">
                    <a16:rowId xmlns:a16="http://schemas.microsoft.com/office/drawing/2014/main" xmlns="" val="10005"/>
                  </a:ext>
                </a:extLst>
              </a:tr>
              <a:tr h="579842">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9</a:t>
                      </a:r>
                      <a:endParaRPr lang="es-PE" sz="2000" b="1"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Consulta Previa</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Consulta Previa</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Consulta Previa</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u="none" strike="noStrike" dirty="0">
                          <a:solidFill>
                            <a:schemeClr val="tx1"/>
                          </a:solidFill>
                          <a:effectLst/>
                          <a:latin typeface="Inter" panose="020B0604020202020204" charset="0"/>
                          <a:ea typeface="Inter" panose="020B0604020202020204" charset="0"/>
                        </a:rPr>
                        <a:t>Consulta Previa</a:t>
                      </a:r>
                      <a:endParaRPr lang="es-PE" sz="2000" b="0" i="0" u="none" strike="noStrike" dirty="0">
                        <a:solidFill>
                          <a:schemeClr val="tx1"/>
                        </a:solidFill>
                        <a:effectLst/>
                        <a:latin typeface="Inter" panose="020B0604020202020204" charset="0"/>
                        <a:ea typeface="Inter" panose="020B0604020202020204" charset="0"/>
                      </a:endParaRPr>
                    </a:p>
                  </a:txBody>
                  <a:tcPr marL="7057" marR="7057" marT="7057" marB="0" anchor="ctr"/>
                </a:tc>
                <a:tc>
                  <a:txBody>
                    <a:bodyPr/>
                    <a:lstStyle/>
                    <a:p>
                      <a:pPr algn="ctr" rtl="0" fontAlgn="ctr"/>
                      <a:r>
                        <a:rPr lang="es-PE" sz="2000" b="1" u="none" strike="noStrike" dirty="0">
                          <a:solidFill>
                            <a:schemeClr val="accent2">
                              <a:lumMod val="50000"/>
                            </a:schemeClr>
                          </a:solidFill>
                          <a:effectLst/>
                          <a:latin typeface="Inter" panose="020B0604020202020204" charset="0"/>
                          <a:ea typeface="Inter" panose="020B0604020202020204" charset="0"/>
                        </a:rPr>
                        <a:t>MINEM / DREM o GREM</a:t>
                      </a:r>
                      <a:endParaRPr lang="es-PE" sz="2000" b="1" i="1" u="none" strike="noStrike" dirty="0">
                        <a:solidFill>
                          <a:schemeClr val="accent2">
                            <a:lumMod val="50000"/>
                          </a:schemeClr>
                        </a:solidFill>
                        <a:effectLst/>
                        <a:latin typeface="Inter" panose="020B0604020202020204" charset="0"/>
                        <a:ea typeface="Inter" panose="020B0604020202020204" charset="0"/>
                      </a:endParaRPr>
                    </a:p>
                  </a:txBody>
                  <a:tcPr marL="7057" marR="7057" marT="7057" marB="0" anchor="ctr"/>
                </a:tc>
                <a:extLst>
                  <a:ext uri="{0D108BD9-81ED-4DB2-BD59-A6C34878D82A}">
                    <a16:rowId xmlns:a16="http://schemas.microsoft.com/office/drawing/2014/main" xmlns="" val="10006"/>
                  </a:ext>
                </a:extLst>
              </a:tr>
            </a:tbl>
          </a:graphicData>
        </a:graphic>
      </p:graphicFrame>
      <p:grpSp>
        <p:nvGrpSpPr>
          <p:cNvPr id="9" name="Group 2">
            <a:extLst>
              <a:ext uri="{FF2B5EF4-FFF2-40B4-BE49-F238E27FC236}">
                <a16:creationId xmlns:a16="http://schemas.microsoft.com/office/drawing/2014/main" xmlns="" id="{89DBF7AE-BD1C-BF60-B5A1-A15215C51191}"/>
              </a:ext>
            </a:extLst>
          </p:cNvPr>
          <p:cNvGrpSpPr/>
          <p:nvPr/>
        </p:nvGrpSpPr>
        <p:grpSpPr>
          <a:xfrm>
            <a:off x="6397409" y="7556924"/>
            <a:ext cx="10861891" cy="2730076"/>
            <a:chOff x="0" y="0"/>
            <a:chExt cx="1363973" cy="342827"/>
          </a:xfrm>
        </p:grpSpPr>
        <p:sp>
          <p:nvSpPr>
            <p:cNvPr id="10" name="Freeform 3">
              <a:extLst>
                <a:ext uri="{FF2B5EF4-FFF2-40B4-BE49-F238E27FC236}">
                  <a16:creationId xmlns:a16="http://schemas.microsoft.com/office/drawing/2014/main" xmlns="" id="{10C347FD-34F2-490D-7C4B-F56A198325F8}"/>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 name="TextBox 4">
              <a:extLst>
                <a:ext uri="{FF2B5EF4-FFF2-40B4-BE49-F238E27FC236}">
                  <a16:creationId xmlns:a16="http://schemas.microsoft.com/office/drawing/2014/main" xmlns="" id="{6B32DD0A-D890-262D-C9BB-22AD6ADC0DCE}"/>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30219807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E5BA39F-F105-2171-9B7E-D6A3C17DDA3D}"/>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30B1FA72-3289-C20E-CD8E-264313AFDD9C}"/>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E80BD89E-5098-4653-BF5C-77248C031879}"/>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0ADACBFF-7133-222A-4C4A-C35088EC7B1A}"/>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504961E5-372C-CF8E-F1D3-96B05AAE09F2}"/>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1A81BB73-25CF-461F-49D8-605B7EA33790}"/>
              </a:ext>
            </a:extLst>
          </p:cNvPr>
          <p:cNvSpPr txBox="1"/>
          <p:nvPr/>
        </p:nvSpPr>
        <p:spPr>
          <a:xfrm>
            <a:off x="612451" y="3132050"/>
            <a:ext cx="16155860" cy="570669"/>
          </a:xfrm>
          <a:prstGeom prst="rect">
            <a:avLst/>
          </a:prstGeom>
        </p:spPr>
        <p:txBody>
          <a:bodyPr wrap="square" lIns="0" tIns="0" rIns="0" bIns="0" rtlCol="0" anchor="t">
            <a:spAutoFit/>
          </a:bodyPr>
          <a:lstStyle/>
          <a:p>
            <a:pPr algn="l">
              <a:lnSpc>
                <a:spcPts val="5039"/>
              </a:lnSpc>
            </a:pPr>
            <a:r>
              <a:rPr lang="es-PE" sz="3999" b="1" dirty="0">
                <a:solidFill>
                  <a:srgbClr val="A42F0F"/>
                </a:solidFill>
                <a:latin typeface="Futura Ultra-Bold"/>
                <a:ea typeface="Futura Ultra-Bold"/>
                <a:cs typeface="Futura Ultra-Bold"/>
                <a:sym typeface="Futura Ultra-Bold"/>
              </a:rPr>
              <a:t>4.2 AUTORIZACIÓN DE EXPLORACIÓN</a:t>
            </a:r>
          </a:p>
        </p:txBody>
      </p:sp>
      <p:sp>
        <p:nvSpPr>
          <p:cNvPr id="9" name="CuadroTexto 8">
            <a:extLst>
              <a:ext uri="{FF2B5EF4-FFF2-40B4-BE49-F238E27FC236}">
                <a16:creationId xmlns:a16="http://schemas.microsoft.com/office/drawing/2014/main" xmlns="" id="{CC645795-4ABC-30A2-F5D5-EA180F6DB7C8}"/>
              </a:ext>
            </a:extLst>
          </p:cNvPr>
          <p:cNvSpPr txBox="1"/>
          <p:nvPr/>
        </p:nvSpPr>
        <p:spPr>
          <a:xfrm>
            <a:off x="612451" y="4530440"/>
            <a:ext cx="14188678" cy="1169551"/>
          </a:xfrm>
          <a:prstGeom prst="rect">
            <a:avLst/>
          </a:prstGeom>
          <a:noFill/>
        </p:spPr>
        <p:txBody>
          <a:bodyPr wrap="square">
            <a:spAutoFit/>
          </a:bodyPr>
          <a:lstStyle/>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APROBACIÓN AUTOMÁTICA </a:t>
            </a:r>
          </a:p>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APROBACIÓN CON EVALUACIÓN PREVIA</a:t>
            </a:r>
            <a:endParaRPr lang="es-PE" sz="3500" dirty="0">
              <a:latin typeface="Inter" panose="020B0604020202020204" charset="0"/>
              <a:ea typeface="Inter" panose="020B0604020202020204" charset="0"/>
            </a:endParaRPr>
          </a:p>
        </p:txBody>
      </p:sp>
      <p:grpSp>
        <p:nvGrpSpPr>
          <p:cNvPr id="10" name="Group 2">
            <a:extLst>
              <a:ext uri="{FF2B5EF4-FFF2-40B4-BE49-F238E27FC236}">
                <a16:creationId xmlns:a16="http://schemas.microsoft.com/office/drawing/2014/main" xmlns="" id="{B12F09E2-963C-D8C9-1B9B-A32E050FB18E}"/>
              </a:ext>
            </a:extLst>
          </p:cNvPr>
          <p:cNvGrpSpPr/>
          <p:nvPr/>
        </p:nvGrpSpPr>
        <p:grpSpPr>
          <a:xfrm>
            <a:off x="6397409" y="7556924"/>
            <a:ext cx="10861891" cy="2730076"/>
            <a:chOff x="0" y="0"/>
            <a:chExt cx="1363973" cy="342827"/>
          </a:xfrm>
        </p:grpSpPr>
        <p:sp>
          <p:nvSpPr>
            <p:cNvPr id="11" name="Freeform 3">
              <a:extLst>
                <a:ext uri="{FF2B5EF4-FFF2-40B4-BE49-F238E27FC236}">
                  <a16:creationId xmlns:a16="http://schemas.microsoft.com/office/drawing/2014/main" xmlns="" id="{76499342-2D52-09AF-5008-95B5F95C9323}"/>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2" name="TextBox 4">
              <a:extLst>
                <a:ext uri="{FF2B5EF4-FFF2-40B4-BE49-F238E27FC236}">
                  <a16:creationId xmlns:a16="http://schemas.microsoft.com/office/drawing/2014/main" xmlns="" id="{2216AB7B-1C1E-05AB-952F-24BEFE630F8D}"/>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576306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p:cNvGrpSpPr/>
          <p:nvPr/>
        </p:nvGrpSpPr>
        <p:grpSpPr>
          <a:xfrm>
            <a:off x="3733800" y="235864"/>
            <a:ext cx="10116046" cy="2253857"/>
            <a:chOff x="0" y="0"/>
            <a:chExt cx="1438895" cy="320586"/>
          </a:xfrm>
        </p:grpSpPr>
        <p:sp>
          <p:nvSpPr>
            <p:cNvPr id="7" name="Freeform 7"/>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p:cNvSpPr txBox="1"/>
          <p:nvPr/>
        </p:nvSpPr>
        <p:spPr>
          <a:xfrm>
            <a:off x="1143000" y="2887379"/>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4.2.1 AUTORIZACIONES DE CONCESIONES MINERAS</a:t>
            </a:r>
            <a:endParaRPr lang="es-PE" sz="4000" b="1" dirty="0">
              <a:solidFill>
                <a:srgbClr val="A42F0F"/>
              </a:solidFill>
              <a:latin typeface="Futura Ultra-Bold"/>
              <a:sym typeface="Futura Ultra-Bold"/>
            </a:endParaRPr>
          </a:p>
        </p:txBody>
      </p:sp>
      <p:sp>
        <p:nvSpPr>
          <p:cNvPr id="13" name="CuadroTexto 12">
            <a:extLst>
              <a:ext uri="{FF2B5EF4-FFF2-40B4-BE49-F238E27FC236}">
                <a16:creationId xmlns:a16="http://schemas.microsoft.com/office/drawing/2014/main" xmlns="" id="{DF8BD26D-1078-43BA-96A6-A04FD4ED107B}"/>
              </a:ext>
            </a:extLst>
          </p:cNvPr>
          <p:cNvSpPr txBox="1"/>
          <p:nvPr/>
        </p:nvSpPr>
        <p:spPr>
          <a:xfrm>
            <a:off x="1119340" y="3855706"/>
            <a:ext cx="14730259" cy="5156604"/>
          </a:xfrm>
          <a:prstGeom prst="rect">
            <a:avLst/>
          </a:prstGeom>
          <a:noFill/>
        </p:spPr>
        <p:txBody>
          <a:bodyPr wrap="square">
            <a:spAutoFit/>
          </a:bodyPr>
          <a:lstStyle/>
          <a:p>
            <a:pPr marL="0" indent="0">
              <a:lnSpc>
                <a:spcPct val="115000"/>
              </a:lnSpc>
              <a:buNone/>
            </a:pPr>
            <a:r>
              <a:rPr lang="es-PE" sz="2400" b="1" u="sng" dirty="0">
                <a:solidFill>
                  <a:schemeClr val="accent2">
                    <a:lumMod val="75000"/>
                  </a:schemeClr>
                </a:solidFill>
                <a:effectLst/>
                <a:latin typeface="Inter" panose="020B0604020202020204" charset="0"/>
                <a:ea typeface="Inter" panose="020B0604020202020204" charset="0"/>
              </a:rPr>
              <a:t>Informe que determina el área del proyecto comprendido en la Ley Nº 29785</a:t>
            </a:r>
          </a:p>
          <a:p>
            <a:pPr marL="0" indent="0">
              <a:lnSpc>
                <a:spcPct val="115000"/>
              </a:lnSpc>
              <a:buNone/>
            </a:pPr>
            <a:endParaRPr lang="es-PE" sz="2400" b="1" u="sng" dirty="0">
              <a:solidFill>
                <a:srgbClr val="0000CC"/>
              </a:solidFill>
              <a:effectLst/>
              <a:latin typeface="Inter" panose="020B0604020202020204" charset="0"/>
              <a:ea typeface="Inter" panose="020B0604020202020204" charset="0"/>
            </a:endParaRPr>
          </a:p>
          <a:p>
            <a:pPr marL="342900" indent="-342900">
              <a:lnSpc>
                <a:spcPct val="115000"/>
              </a:lnSpc>
              <a:buFont typeface="Arial" panose="020B0604020202020204" pitchFamily="34" charset="0"/>
              <a:buChar char="•"/>
            </a:pPr>
            <a:r>
              <a:rPr lang="es-PE" sz="2400" b="1" dirty="0">
                <a:solidFill>
                  <a:schemeClr val="accent2">
                    <a:lumMod val="75000"/>
                  </a:schemeClr>
                </a:solidFill>
                <a:effectLst/>
                <a:latin typeface="Inter" panose="020B0604020202020204" charset="0"/>
                <a:ea typeface="Inter" panose="020B0604020202020204" charset="0"/>
              </a:rPr>
              <a:t>Previo al inicio del trámite de autorización de actividades de exploración</a:t>
            </a:r>
            <a:r>
              <a:rPr lang="es-PE" sz="2400" dirty="0">
                <a:solidFill>
                  <a:schemeClr val="accent2">
                    <a:lumMod val="75000"/>
                  </a:schemeClr>
                </a:solidFill>
                <a:effectLst/>
                <a:latin typeface="Inter" panose="020B0604020202020204" charset="0"/>
                <a:ea typeface="Inter" panose="020B0604020202020204" charset="0"/>
              </a:rPr>
              <a:t>,</a:t>
            </a:r>
            <a:r>
              <a:rPr lang="es-PE" sz="2400" dirty="0">
                <a:effectLst/>
                <a:latin typeface="Inter" panose="020B0604020202020204" charset="0"/>
                <a:ea typeface="Inter" panose="020B0604020202020204" charset="0"/>
              </a:rPr>
              <a:t> el solicitante debe presentar ante la Dirección General de Minería o Gobierno Regional </a:t>
            </a:r>
            <a:r>
              <a:rPr lang="es-PE" sz="2400" b="1" dirty="0">
                <a:solidFill>
                  <a:schemeClr val="accent2">
                    <a:lumMod val="75000"/>
                  </a:schemeClr>
                </a:solidFill>
                <a:latin typeface="Inter" panose="020B0604020202020204" charset="0"/>
                <a:ea typeface="Inter" panose="020B0604020202020204" charset="0"/>
              </a:rPr>
              <a:t>una solicitud indicando las coordenadas UTM WGS84 de los vértices que encierran el área de influencia directa del proyecto de exploración, </a:t>
            </a:r>
            <a:r>
              <a:rPr lang="es-PE" sz="2400" dirty="0">
                <a:effectLst/>
                <a:latin typeface="Inter" panose="020B0604020202020204" charset="0"/>
                <a:ea typeface="Inter" panose="020B0604020202020204" charset="0"/>
              </a:rPr>
              <a:t>contenido en su instrumento de gestión ambiental aprobado, a efecto que la </a:t>
            </a:r>
            <a:r>
              <a:rPr lang="es-PE" sz="2400" b="1" dirty="0">
                <a:solidFill>
                  <a:schemeClr val="accent2">
                    <a:lumMod val="75000"/>
                  </a:schemeClr>
                </a:solidFill>
                <a:latin typeface="Inter" panose="020B0604020202020204" charset="0"/>
                <a:ea typeface="Inter" panose="020B0604020202020204" charset="0"/>
              </a:rPr>
              <a:t>autoridad emita el informe que determine preliminarmente </a:t>
            </a:r>
            <a:r>
              <a:rPr lang="es-PE" sz="2400" dirty="0">
                <a:effectLst/>
                <a:latin typeface="Inter" panose="020B0604020202020204" charset="0"/>
                <a:ea typeface="Inter" panose="020B0604020202020204" charset="0"/>
              </a:rPr>
              <a:t>si el ámbito geográfico de la actividad de exploración a ejecutarse se encuentra dentro de los alcances de la Ley Nº 29785, Ley del derecho a la consulta previa a los pueblos indígenas u originarios, reconocido en el Convenio 169 de la Organización Internacional del Trabajo (OIT), y su Reglamento aprobado con Decreto Supremo Nº 001-2012-MC. </a:t>
            </a:r>
            <a:r>
              <a:rPr lang="es-PE" sz="2400" b="1" dirty="0">
                <a:solidFill>
                  <a:schemeClr val="accent2">
                    <a:lumMod val="75000"/>
                  </a:schemeClr>
                </a:solidFill>
                <a:latin typeface="Inter" panose="020B0604020202020204" charset="0"/>
                <a:ea typeface="Inter" panose="020B0604020202020204" charset="0"/>
              </a:rPr>
              <a:t>La solicitud es atendida en un plazo no mayor a diez (10) días hábiles.</a:t>
            </a:r>
          </a:p>
        </p:txBody>
      </p:sp>
      <p:grpSp>
        <p:nvGrpSpPr>
          <p:cNvPr id="2" name="Group 2">
            <a:extLst>
              <a:ext uri="{FF2B5EF4-FFF2-40B4-BE49-F238E27FC236}">
                <a16:creationId xmlns:a16="http://schemas.microsoft.com/office/drawing/2014/main" xmlns="" id="{190218E9-160A-B7B2-D441-6BB6650E82D9}"/>
              </a:ext>
            </a:extLst>
          </p:cNvPr>
          <p:cNvGrpSpPr/>
          <p:nvPr/>
        </p:nvGrpSpPr>
        <p:grpSpPr>
          <a:xfrm>
            <a:off x="6397409" y="7556924"/>
            <a:ext cx="10861891" cy="2730076"/>
            <a:chOff x="0" y="0"/>
            <a:chExt cx="1363973" cy="342827"/>
          </a:xfrm>
        </p:grpSpPr>
        <p:sp>
          <p:nvSpPr>
            <p:cNvPr id="3" name="Freeform 3">
              <a:extLst>
                <a:ext uri="{FF2B5EF4-FFF2-40B4-BE49-F238E27FC236}">
                  <a16:creationId xmlns:a16="http://schemas.microsoft.com/office/drawing/2014/main" xmlns="" id="{689898F8-1D8A-FDAA-4087-CD1635F859CF}"/>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9" name="TextBox 4">
              <a:extLst>
                <a:ext uri="{FF2B5EF4-FFF2-40B4-BE49-F238E27FC236}">
                  <a16:creationId xmlns:a16="http://schemas.microsoft.com/office/drawing/2014/main" xmlns="" id="{F2641E1C-C7FC-BFAE-F34B-8D9B74C59313}"/>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0649842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88C445-F3F1-7C2A-562B-12C0777F33C9}"/>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AACB478E-D222-CC2C-ACD4-37EAF1E437F1}"/>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1FCDEC7E-DB40-FE7F-9D6E-2FC44EFEE7A8}"/>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48EAD597-789A-40E0-0E59-179058FC45D7}"/>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E94C2EE6-F3B7-A1FD-928A-6EE1F7B628AF}"/>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568B346F-7BF9-76F8-4927-48DF3AAD859F}"/>
              </a:ext>
            </a:extLst>
          </p:cNvPr>
          <p:cNvSpPr txBox="1"/>
          <p:nvPr/>
        </p:nvSpPr>
        <p:spPr>
          <a:xfrm>
            <a:off x="601703" y="2686631"/>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4.2.1.1 APROBACIÓN AUTOMÁTICA</a:t>
            </a:r>
            <a:endParaRPr lang="es-PE" sz="4000" b="1" dirty="0">
              <a:solidFill>
                <a:srgbClr val="A42F0F"/>
              </a:solidFill>
              <a:latin typeface="Futura Ultra-Bold"/>
              <a:sym typeface="Futura Ultra-Bold"/>
            </a:endParaRPr>
          </a:p>
        </p:txBody>
      </p:sp>
      <p:grpSp>
        <p:nvGrpSpPr>
          <p:cNvPr id="3" name="Grupo 2">
            <a:extLst>
              <a:ext uri="{FF2B5EF4-FFF2-40B4-BE49-F238E27FC236}">
                <a16:creationId xmlns:a16="http://schemas.microsoft.com/office/drawing/2014/main" xmlns="" id="{F13E025C-1F71-AE9A-2409-44B82DC8FF4F}"/>
              </a:ext>
            </a:extLst>
          </p:cNvPr>
          <p:cNvGrpSpPr/>
          <p:nvPr/>
        </p:nvGrpSpPr>
        <p:grpSpPr>
          <a:xfrm>
            <a:off x="4572000" y="3543300"/>
            <a:ext cx="10668000" cy="6248400"/>
            <a:chOff x="5427560" y="1562697"/>
            <a:chExt cx="5760747" cy="3851271"/>
          </a:xfrm>
        </p:grpSpPr>
        <p:sp>
          <p:nvSpPr>
            <p:cNvPr id="9" name="3 Elipse">
              <a:extLst>
                <a:ext uri="{FF2B5EF4-FFF2-40B4-BE49-F238E27FC236}">
                  <a16:creationId xmlns:a16="http://schemas.microsoft.com/office/drawing/2014/main" xmlns="" id="{EEC07AB2-076C-4588-4607-033F6986B3CA}"/>
                </a:ext>
              </a:extLst>
            </p:cNvPr>
            <p:cNvSpPr/>
            <p:nvPr/>
          </p:nvSpPr>
          <p:spPr>
            <a:xfrm>
              <a:off x="8534400" y="1703565"/>
              <a:ext cx="1618318"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700" b="1"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700" b="1"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700" b="1" dirty="0">
                  <a:solidFill>
                    <a:srgbClr val="000000"/>
                  </a:solidFill>
                  <a:latin typeface="Inter" panose="020B0604020202020204" charset="0"/>
                  <a:ea typeface="Inter" panose="020B0604020202020204" charset="0"/>
                  <a:cs typeface="Arial" panose="020B0604020202020204" pitchFamily="34" charset="0"/>
                </a:rPr>
                <a:t>DGM/GORE</a:t>
              </a:r>
            </a:p>
          </p:txBody>
        </p:sp>
        <p:sp>
          <p:nvSpPr>
            <p:cNvPr id="10" name="9 Título">
              <a:extLst>
                <a:ext uri="{FF2B5EF4-FFF2-40B4-BE49-F238E27FC236}">
                  <a16:creationId xmlns:a16="http://schemas.microsoft.com/office/drawing/2014/main" xmlns="" id="{20C7DE6E-D197-88C7-4268-E97A5C13FF15}"/>
                </a:ext>
              </a:extLst>
            </p:cNvPr>
            <p:cNvSpPr txBox="1">
              <a:spLocks/>
            </p:cNvSpPr>
            <p:nvPr/>
          </p:nvSpPr>
          <p:spPr>
            <a:xfrm>
              <a:off x="5546346" y="1562697"/>
              <a:ext cx="1853034" cy="1042147"/>
            </a:xfrm>
            <a:prstGeom prst="rect">
              <a:avLst/>
            </a:prstGeom>
            <a:solidFill>
              <a:srgbClr val="FFFFCC"/>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700" dirty="0">
                  <a:solidFill>
                    <a:schemeClr val="tx1"/>
                  </a:solidFill>
                  <a:latin typeface="Inter" panose="020B0604020202020204" charset="0"/>
                  <a:ea typeface="Inter" panose="020B0604020202020204" charset="0"/>
                  <a:cs typeface="Arial" panose="020B0604020202020204" pitchFamily="34" charset="0"/>
                </a:rPr>
                <a:t>INFORME PRELIMINAR: El área de influencia directa del proyecto de exploración no se encuentra dentro de </a:t>
              </a:r>
              <a:r>
                <a:rPr lang="es-PE" sz="1700" dirty="0">
                  <a:solidFill>
                    <a:srgbClr val="000000"/>
                  </a:solidFill>
                  <a:latin typeface="Inter" panose="020B0604020202020204" charset="0"/>
                  <a:ea typeface="Inter" panose="020B0604020202020204" charset="0"/>
                  <a:cs typeface="Arial" panose="020B0604020202020204" pitchFamily="34" charset="0"/>
                </a:rPr>
                <a:t>PP.II. (</a:t>
              </a:r>
              <a:r>
                <a:rPr lang="es-PE" sz="1700" dirty="0">
                  <a:solidFill>
                    <a:schemeClr val="tx1"/>
                  </a:solidFill>
                  <a:latin typeface="Inter" panose="020B0604020202020204" charset="0"/>
                  <a:ea typeface="Inter" panose="020B0604020202020204" charset="0"/>
                  <a:cs typeface="Arial" panose="020B0604020202020204" pitchFamily="34" charset="0"/>
                </a:rPr>
                <a:t>Ley N° 29785 y su Reglamento).</a:t>
              </a:r>
            </a:p>
          </p:txBody>
        </p:sp>
        <p:sp>
          <p:nvSpPr>
            <p:cNvPr id="11" name="56 Rectángulo">
              <a:extLst>
                <a:ext uri="{FF2B5EF4-FFF2-40B4-BE49-F238E27FC236}">
                  <a16:creationId xmlns:a16="http://schemas.microsoft.com/office/drawing/2014/main" xmlns="" id="{F03F714F-0AE9-0CC2-059C-3A7A30C57C66}"/>
                </a:ext>
              </a:extLst>
            </p:cNvPr>
            <p:cNvSpPr/>
            <p:nvPr/>
          </p:nvSpPr>
          <p:spPr>
            <a:xfrm>
              <a:off x="5427560" y="3303973"/>
              <a:ext cx="3088414" cy="1709195"/>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Derechos Mineros</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Instrumento de Gestión Ambiental aprobado.</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Ubicación del área superficial del proyecto de exploración en coordenadas UTM WGS84 Programa de trabajo</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Declaración Jurada de la autorización del terreno superficial.</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a:t>
              </a:r>
            </a:p>
          </p:txBody>
        </p:sp>
        <p:cxnSp>
          <p:nvCxnSpPr>
            <p:cNvPr id="12" name="Conector angular 9">
              <a:extLst>
                <a:ext uri="{FF2B5EF4-FFF2-40B4-BE49-F238E27FC236}">
                  <a16:creationId xmlns:a16="http://schemas.microsoft.com/office/drawing/2014/main" xmlns="" id="{5268FF61-78AB-23A0-F4A4-32024AFFF6C5}"/>
                </a:ext>
              </a:extLst>
            </p:cNvPr>
            <p:cNvCxnSpPr>
              <a:cxnSpLocks/>
              <a:stCxn id="18" idx="1"/>
              <a:endCxn id="11" idx="0"/>
            </p:cNvCxnSpPr>
            <p:nvPr/>
          </p:nvCxnSpPr>
          <p:spPr>
            <a:xfrm rot="10800000" flipV="1">
              <a:off x="6971767" y="2934879"/>
              <a:ext cx="1659213" cy="369094"/>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72 CuadroTexto">
              <a:extLst>
                <a:ext uri="{FF2B5EF4-FFF2-40B4-BE49-F238E27FC236}">
                  <a16:creationId xmlns:a16="http://schemas.microsoft.com/office/drawing/2014/main" xmlns="" id="{7F8F4117-711E-27B4-43CE-68D27BB28A30}"/>
                </a:ext>
              </a:extLst>
            </p:cNvPr>
            <p:cNvSpPr txBox="1">
              <a:spLocks noChangeArrowheads="1"/>
            </p:cNvSpPr>
            <p:nvPr/>
          </p:nvSpPr>
          <p:spPr bwMode="auto">
            <a:xfrm>
              <a:off x="10772289" y="3303973"/>
              <a:ext cx="416018" cy="23045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700" b="1" dirty="0">
                  <a:solidFill>
                    <a:srgbClr val="000000"/>
                  </a:solidFill>
                  <a:latin typeface="Inter" panose="020B0604020202020204" charset="0"/>
                  <a:ea typeface="Inter" panose="020B0604020202020204" charset="0"/>
                  <a:cs typeface="Arial" panose="020B0604020202020204" pitchFamily="34" charset="0"/>
                </a:rPr>
                <a:t>5 dh</a:t>
              </a:r>
            </a:p>
          </p:txBody>
        </p:sp>
        <p:sp>
          <p:nvSpPr>
            <p:cNvPr id="15" name="CuadroTexto 14">
              <a:extLst>
                <a:ext uri="{FF2B5EF4-FFF2-40B4-BE49-F238E27FC236}">
                  <a16:creationId xmlns:a16="http://schemas.microsoft.com/office/drawing/2014/main" xmlns="" id="{83A04C82-9AA0-8BFC-CB4E-AAF46A187C36}"/>
                </a:ext>
              </a:extLst>
            </p:cNvPr>
            <p:cNvSpPr txBox="1"/>
            <p:nvPr/>
          </p:nvSpPr>
          <p:spPr bwMode="auto">
            <a:xfrm>
              <a:off x="8534400" y="5013176"/>
              <a:ext cx="1618318" cy="400792"/>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ctr">
                <a:defRPr/>
              </a:pPr>
              <a:r>
                <a:rPr lang="es-PE" sz="1700" b="1" dirty="0">
                  <a:latin typeface="Inter" panose="020B0604020202020204" charset="0"/>
                  <a:ea typeface="Inter" panose="020B0604020202020204" charset="0"/>
                  <a:cs typeface="Arial" panose="020B0604020202020204" pitchFamily="34" charset="0"/>
                </a:rPr>
                <a:t>Constancia de aprobación automática</a:t>
              </a:r>
              <a:endParaRPr lang="es-PE" sz="1700" b="1" dirty="0">
                <a:solidFill>
                  <a:srgbClr val="000000"/>
                </a:solidFill>
                <a:latin typeface="Inter" panose="020B0604020202020204" charset="0"/>
                <a:ea typeface="Inter" panose="020B0604020202020204" charset="0"/>
                <a:cs typeface="Arial" panose="020B0604020202020204" pitchFamily="34" charset="0"/>
              </a:endParaRPr>
            </a:p>
          </p:txBody>
        </p:sp>
        <p:cxnSp>
          <p:nvCxnSpPr>
            <p:cNvPr id="16" name="Conector: angular 449">
              <a:extLst>
                <a:ext uri="{FF2B5EF4-FFF2-40B4-BE49-F238E27FC236}">
                  <a16:creationId xmlns:a16="http://schemas.microsoft.com/office/drawing/2014/main" xmlns="" id="{47D749CF-23E3-1E48-A2E3-DB895496D38B}"/>
                </a:ext>
              </a:extLst>
            </p:cNvPr>
            <p:cNvCxnSpPr>
              <a:cxnSpLocks/>
              <a:stCxn id="14" idx="0"/>
              <a:endCxn id="9" idx="6"/>
            </p:cNvCxnSpPr>
            <p:nvPr/>
          </p:nvCxnSpPr>
          <p:spPr bwMode="auto">
            <a:xfrm rot="16200000" flipV="1">
              <a:off x="9956407" y="2280082"/>
              <a:ext cx="1220202" cy="827580"/>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7" name="Conector: angular 451">
              <a:extLst>
                <a:ext uri="{FF2B5EF4-FFF2-40B4-BE49-F238E27FC236}">
                  <a16:creationId xmlns:a16="http://schemas.microsoft.com/office/drawing/2014/main" xmlns="" id="{09E2875B-26E6-20FE-A606-AA9F0A58A9D3}"/>
                </a:ext>
              </a:extLst>
            </p:cNvPr>
            <p:cNvCxnSpPr>
              <a:cxnSpLocks/>
              <a:stCxn id="14" idx="2"/>
              <a:endCxn id="15" idx="3"/>
            </p:cNvCxnSpPr>
            <p:nvPr/>
          </p:nvCxnSpPr>
          <p:spPr bwMode="auto">
            <a:xfrm rot="5400000">
              <a:off x="9726936" y="3960210"/>
              <a:ext cx="1679144" cy="827580"/>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sp>
          <p:nvSpPr>
            <p:cNvPr id="18" name="24 Rectángulo">
              <a:extLst>
                <a:ext uri="{FF2B5EF4-FFF2-40B4-BE49-F238E27FC236}">
                  <a16:creationId xmlns:a16="http://schemas.microsoft.com/office/drawing/2014/main" xmlns="" id="{56DF22A9-5D5F-3DBF-3C74-748425725D42}"/>
                </a:ext>
              </a:extLst>
            </p:cNvPr>
            <p:cNvSpPr/>
            <p:nvPr/>
          </p:nvSpPr>
          <p:spPr bwMode="auto">
            <a:xfrm>
              <a:off x="8630980" y="2726229"/>
              <a:ext cx="1425159" cy="417300"/>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700" b="1" dirty="0">
                  <a:solidFill>
                    <a:srgbClr val="000000"/>
                  </a:solidFill>
                  <a:latin typeface="Inter" panose="020B0604020202020204" charset="0"/>
                  <a:ea typeface="Inter" panose="020B0604020202020204" charset="0"/>
                  <a:cs typeface="Arial" panose="020B0604020202020204" pitchFamily="34" charset="0"/>
                </a:rPr>
                <a:t>Recepción de la información</a:t>
              </a:r>
            </a:p>
          </p:txBody>
        </p:sp>
        <p:cxnSp>
          <p:nvCxnSpPr>
            <p:cNvPr id="19" name="Conector recto de flecha 18">
              <a:extLst>
                <a:ext uri="{FF2B5EF4-FFF2-40B4-BE49-F238E27FC236}">
                  <a16:creationId xmlns:a16="http://schemas.microsoft.com/office/drawing/2014/main" xmlns="" id="{A2F13443-7812-0BF0-82E3-6C23846E059E}"/>
                </a:ext>
              </a:extLst>
            </p:cNvPr>
            <p:cNvCxnSpPr>
              <a:stCxn id="10" idx="3"/>
              <a:endCxn id="9" idx="2"/>
            </p:cNvCxnSpPr>
            <p:nvPr/>
          </p:nvCxnSpPr>
          <p:spPr>
            <a:xfrm>
              <a:off x="7399380" y="2083771"/>
              <a:ext cx="1135020" cy="1"/>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xmlns="" id="{F3FEB779-2D1D-E788-53B6-5975A733E633}"/>
                </a:ext>
              </a:extLst>
            </p:cNvPr>
            <p:cNvCxnSpPr>
              <a:cxnSpLocks/>
              <a:stCxn id="9" idx="4"/>
              <a:endCxn id="18" idx="0"/>
            </p:cNvCxnSpPr>
            <p:nvPr/>
          </p:nvCxnSpPr>
          <p:spPr>
            <a:xfrm>
              <a:off x="9343559" y="2463978"/>
              <a:ext cx="1" cy="262251"/>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xmlns="" id="{88FB6DCB-4ABF-A3DC-A377-81D720F2745D}"/>
                </a:ext>
              </a:extLst>
            </p:cNvPr>
            <p:cNvCxnSpPr>
              <a:cxnSpLocks/>
              <a:stCxn id="18" idx="2"/>
              <a:endCxn id="15" idx="0"/>
            </p:cNvCxnSpPr>
            <p:nvPr/>
          </p:nvCxnSpPr>
          <p:spPr>
            <a:xfrm flipH="1">
              <a:off x="9343559" y="3143529"/>
              <a:ext cx="1" cy="1869647"/>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Título 1">
            <a:extLst>
              <a:ext uri="{FF2B5EF4-FFF2-40B4-BE49-F238E27FC236}">
                <a16:creationId xmlns:a16="http://schemas.microsoft.com/office/drawing/2014/main" xmlns="" id="{EA61D9DD-2832-1B80-C87E-A5CC18EA3322}"/>
              </a:ext>
            </a:extLst>
          </p:cNvPr>
          <p:cNvSpPr txBox="1">
            <a:spLocks/>
          </p:cNvSpPr>
          <p:nvPr/>
        </p:nvSpPr>
        <p:spPr>
          <a:xfrm>
            <a:off x="601703" y="3855706"/>
            <a:ext cx="3602115" cy="1971907"/>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sz="2400" b="1" dirty="0">
                <a:latin typeface="Inter" panose="020B0604020202020204" charset="0"/>
                <a:ea typeface="Inter" panose="020B0604020202020204" charset="0"/>
              </a:rPr>
              <a:t>Procedimiento de autorización de la actividad de Exploración Minera – Aprobación automática</a:t>
            </a:r>
            <a:endParaRPr lang="es-PE" sz="2400" dirty="0">
              <a:latin typeface="Inter" panose="020B0604020202020204" charset="0"/>
              <a:ea typeface="Inter" panose="020B0604020202020204" charset="0"/>
            </a:endParaRPr>
          </a:p>
        </p:txBody>
      </p:sp>
      <p:sp>
        <p:nvSpPr>
          <p:cNvPr id="23" name="Marcador de texto 3">
            <a:extLst>
              <a:ext uri="{FF2B5EF4-FFF2-40B4-BE49-F238E27FC236}">
                <a16:creationId xmlns:a16="http://schemas.microsoft.com/office/drawing/2014/main" xmlns="" id="{9A347307-FD6B-B898-2D28-4CA383C0FF97}"/>
              </a:ext>
            </a:extLst>
          </p:cNvPr>
          <p:cNvSpPr txBox="1">
            <a:spLocks/>
          </p:cNvSpPr>
          <p:nvPr/>
        </p:nvSpPr>
        <p:spPr>
          <a:xfrm>
            <a:off x="604880" y="5827612"/>
            <a:ext cx="3599208" cy="2909657"/>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b="1" dirty="0">
              <a:solidFill>
                <a:schemeClr val="accent2">
                  <a:lumMod val="50000"/>
                </a:schemeClr>
              </a:solidFill>
              <a:latin typeface="Inter" panose="020B0604020202020204" charset="0"/>
              <a:ea typeface="Inter" panose="020B0604020202020204" charset="0"/>
            </a:endParaRPr>
          </a:p>
          <a:p>
            <a:pPr marL="0" indent="0">
              <a:buNone/>
            </a:pPr>
            <a:r>
              <a:rPr lang="es-PE" sz="2400" b="1" dirty="0">
                <a:solidFill>
                  <a:schemeClr val="accent2">
                    <a:lumMod val="50000"/>
                  </a:schemeClr>
                </a:solidFill>
                <a:latin typeface="Inter" panose="020B0604020202020204" charset="0"/>
                <a:ea typeface="Inter" panose="020B0604020202020204" charset="0"/>
              </a:rPr>
              <a:t>Art. 99 del RPM</a:t>
            </a:r>
          </a:p>
          <a:p>
            <a:pPr marL="0" indent="0">
              <a:buNone/>
            </a:pPr>
            <a:r>
              <a:rPr lang="es-PE" sz="2400" b="1" dirty="0">
                <a:solidFill>
                  <a:schemeClr val="accent2">
                    <a:lumMod val="50000"/>
                  </a:schemeClr>
                </a:solidFill>
                <a:latin typeface="Inter" panose="020B0604020202020204" charset="0"/>
                <a:ea typeface="Inter" panose="020B0604020202020204" charset="0"/>
              </a:rPr>
              <a:t>La DGM o el GORE emite una constancia de aprobación automática  en el plazo de cinco (5) días hábiles.</a:t>
            </a:r>
          </a:p>
          <a:p>
            <a:endParaRPr lang="es-PE" sz="2400" dirty="0">
              <a:solidFill>
                <a:srgbClr val="0000CC"/>
              </a:solidFill>
            </a:endParaRPr>
          </a:p>
        </p:txBody>
      </p:sp>
      <p:grpSp>
        <p:nvGrpSpPr>
          <p:cNvPr id="27" name="Group 2">
            <a:extLst>
              <a:ext uri="{FF2B5EF4-FFF2-40B4-BE49-F238E27FC236}">
                <a16:creationId xmlns:a16="http://schemas.microsoft.com/office/drawing/2014/main" xmlns="" id="{F89132D8-E2E0-81BA-EFFC-FF20A6943F71}"/>
              </a:ext>
            </a:extLst>
          </p:cNvPr>
          <p:cNvGrpSpPr/>
          <p:nvPr/>
        </p:nvGrpSpPr>
        <p:grpSpPr>
          <a:xfrm>
            <a:off x="6397409" y="7556924"/>
            <a:ext cx="10861891" cy="2730076"/>
            <a:chOff x="0" y="0"/>
            <a:chExt cx="1363973" cy="342827"/>
          </a:xfrm>
        </p:grpSpPr>
        <p:sp>
          <p:nvSpPr>
            <p:cNvPr id="28" name="Freeform 3">
              <a:extLst>
                <a:ext uri="{FF2B5EF4-FFF2-40B4-BE49-F238E27FC236}">
                  <a16:creationId xmlns:a16="http://schemas.microsoft.com/office/drawing/2014/main" xmlns="" id="{285A1124-1E19-EBEE-8DD5-4126A4BC5CB6}"/>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29" name="TextBox 4">
              <a:extLst>
                <a:ext uri="{FF2B5EF4-FFF2-40B4-BE49-F238E27FC236}">
                  <a16:creationId xmlns:a16="http://schemas.microsoft.com/office/drawing/2014/main" xmlns="" id="{849C2BDA-31B5-8E5F-41C0-8373EE3C39BD}"/>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12417792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p:cNvGrpSpPr/>
          <p:nvPr/>
        </p:nvGrpSpPr>
        <p:grpSpPr>
          <a:xfrm>
            <a:off x="3733800" y="235864"/>
            <a:ext cx="10116046" cy="2253857"/>
            <a:chOff x="0" y="0"/>
            <a:chExt cx="1438895" cy="320586"/>
          </a:xfrm>
        </p:grpSpPr>
        <p:sp>
          <p:nvSpPr>
            <p:cNvPr id="7" name="Freeform 7"/>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3772A424-0210-7794-9241-4CCE60042D34}"/>
              </a:ext>
            </a:extLst>
          </p:cNvPr>
          <p:cNvSpPr txBox="1"/>
          <p:nvPr/>
        </p:nvSpPr>
        <p:spPr>
          <a:xfrm>
            <a:off x="601703" y="2686631"/>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4.2.1.2 APROBACIÓN CON EVALUACIÓN PREVIA</a:t>
            </a:r>
            <a:endParaRPr lang="es-PE" sz="4000" b="1" dirty="0">
              <a:solidFill>
                <a:srgbClr val="A42F0F"/>
              </a:solidFill>
              <a:latin typeface="Futura Ultra-Bold"/>
              <a:sym typeface="Futura Ultra-Bold"/>
            </a:endParaRPr>
          </a:p>
        </p:txBody>
      </p:sp>
      <p:sp>
        <p:nvSpPr>
          <p:cNvPr id="10" name="Título 1">
            <a:extLst>
              <a:ext uri="{FF2B5EF4-FFF2-40B4-BE49-F238E27FC236}">
                <a16:creationId xmlns:a16="http://schemas.microsoft.com/office/drawing/2014/main" xmlns="" id="{22F11D17-AE84-A058-372A-1D60EA7C0C27}"/>
              </a:ext>
            </a:extLst>
          </p:cNvPr>
          <p:cNvSpPr txBox="1">
            <a:spLocks/>
          </p:cNvSpPr>
          <p:nvPr/>
        </p:nvSpPr>
        <p:spPr>
          <a:xfrm>
            <a:off x="592626" y="3918086"/>
            <a:ext cx="3585476" cy="202178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sz="2400" b="1" dirty="0">
                <a:latin typeface="Inter" panose="020B0604020202020204" charset="0"/>
                <a:ea typeface="Inter" panose="020B0604020202020204" charset="0"/>
              </a:rPr>
              <a:t>Procedimiento de autorización de la actividad de Exploración Minera – con evaluación previa</a:t>
            </a:r>
            <a:endParaRPr lang="es-PE" sz="2400" dirty="0">
              <a:latin typeface="Inter" panose="020B0604020202020204" charset="0"/>
              <a:ea typeface="Inter" panose="020B0604020202020204" charset="0"/>
            </a:endParaRPr>
          </a:p>
        </p:txBody>
      </p:sp>
      <p:sp>
        <p:nvSpPr>
          <p:cNvPr id="11" name="Marcador de texto 3">
            <a:extLst>
              <a:ext uri="{FF2B5EF4-FFF2-40B4-BE49-F238E27FC236}">
                <a16:creationId xmlns:a16="http://schemas.microsoft.com/office/drawing/2014/main" xmlns="" id="{687ED9CC-712E-0011-BF1C-7F5F30967988}"/>
              </a:ext>
            </a:extLst>
          </p:cNvPr>
          <p:cNvSpPr txBox="1">
            <a:spLocks/>
          </p:cNvSpPr>
          <p:nvPr/>
        </p:nvSpPr>
        <p:spPr>
          <a:xfrm>
            <a:off x="595803" y="5939868"/>
            <a:ext cx="3582582" cy="311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r>
              <a:rPr lang="es-PE" sz="2400" b="1" dirty="0">
                <a:solidFill>
                  <a:schemeClr val="accent2">
                    <a:lumMod val="50000"/>
                  </a:schemeClr>
                </a:solidFill>
                <a:latin typeface="Inter" panose="020B0604020202020204" charset="0"/>
                <a:ea typeface="Inter" panose="020B0604020202020204" charset="0"/>
              </a:rPr>
              <a:t>Art. 100 del RPM</a:t>
            </a:r>
          </a:p>
          <a:p>
            <a:r>
              <a:rPr lang="es-PE" sz="2400" dirty="0">
                <a:solidFill>
                  <a:schemeClr val="accent2">
                    <a:lumMod val="50000"/>
                  </a:schemeClr>
                </a:solidFill>
                <a:latin typeface="Inter" panose="020B0604020202020204" charset="0"/>
                <a:ea typeface="Inter" panose="020B0604020202020204" charset="0"/>
              </a:rPr>
              <a:t>El plazo máximo de evaluación: es de treinta (30) días hábiles </a:t>
            </a:r>
          </a:p>
          <a:p>
            <a:r>
              <a:rPr lang="es-PE" sz="2400" dirty="0">
                <a:solidFill>
                  <a:schemeClr val="accent2">
                    <a:lumMod val="50000"/>
                  </a:schemeClr>
                </a:solidFill>
                <a:latin typeface="Inter" panose="020B0604020202020204" charset="0"/>
                <a:ea typeface="Inter" panose="020B0604020202020204" charset="0"/>
              </a:rPr>
              <a:t>Sujeto a silencio administrativo negativo</a:t>
            </a:r>
          </a:p>
        </p:txBody>
      </p:sp>
      <p:grpSp>
        <p:nvGrpSpPr>
          <p:cNvPr id="13" name="Grupo 12">
            <a:extLst>
              <a:ext uri="{FF2B5EF4-FFF2-40B4-BE49-F238E27FC236}">
                <a16:creationId xmlns:a16="http://schemas.microsoft.com/office/drawing/2014/main" xmlns="" id="{FC71FFA2-F01E-725F-0143-91DA495C96D6}"/>
              </a:ext>
            </a:extLst>
          </p:cNvPr>
          <p:cNvGrpSpPr/>
          <p:nvPr/>
        </p:nvGrpSpPr>
        <p:grpSpPr>
          <a:xfrm>
            <a:off x="4419600" y="3454210"/>
            <a:ext cx="11125200" cy="6390081"/>
            <a:chOff x="876463" y="781050"/>
            <a:chExt cx="5696334" cy="5237494"/>
          </a:xfrm>
        </p:grpSpPr>
        <p:sp>
          <p:nvSpPr>
            <p:cNvPr id="14" name="3 Elipse">
              <a:extLst>
                <a:ext uri="{FF2B5EF4-FFF2-40B4-BE49-F238E27FC236}">
                  <a16:creationId xmlns:a16="http://schemas.microsoft.com/office/drawing/2014/main" xmlns="" id="{030133DC-D12B-0EED-EFC9-20FC66F93020}"/>
                </a:ext>
              </a:extLst>
            </p:cNvPr>
            <p:cNvSpPr/>
            <p:nvPr/>
          </p:nvSpPr>
          <p:spPr>
            <a:xfrm>
              <a:off x="4146550" y="781050"/>
              <a:ext cx="1403350"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500" b="1"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500" b="1"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500" b="1"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15" name="5 Conector recto de flecha">
              <a:extLst>
                <a:ext uri="{FF2B5EF4-FFF2-40B4-BE49-F238E27FC236}">
                  <a16:creationId xmlns:a16="http://schemas.microsoft.com/office/drawing/2014/main" xmlns="" id="{568F153B-CADD-CECE-387F-617F887393D5}"/>
                </a:ext>
              </a:extLst>
            </p:cNvPr>
            <p:cNvCxnSpPr>
              <a:cxnSpLocks/>
              <a:stCxn id="14" idx="4"/>
            </p:cNvCxnSpPr>
            <p:nvPr/>
          </p:nvCxnSpPr>
          <p:spPr>
            <a:xfrm>
              <a:off x="4848225" y="1541463"/>
              <a:ext cx="1" cy="44106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6" name="9 Título">
              <a:extLst>
                <a:ext uri="{FF2B5EF4-FFF2-40B4-BE49-F238E27FC236}">
                  <a16:creationId xmlns:a16="http://schemas.microsoft.com/office/drawing/2014/main" xmlns="" id="{99F849BD-73B4-58F7-45B9-E6AA3D077583}"/>
                </a:ext>
              </a:extLst>
            </p:cNvPr>
            <p:cNvSpPr txBox="1">
              <a:spLocks/>
            </p:cNvSpPr>
            <p:nvPr/>
          </p:nvSpPr>
          <p:spPr>
            <a:xfrm>
              <a:off x="1140267" y="781050"/>
              <a:ext cx="2010158" cy="1091177"/>
            </a:xfrm>
            <a:prstGeom prst="rect">
              <a:avLst/>
            </a:prstGeom>
            <a:solidFill>
              <a:srgbClr val="FFFFCC"/>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600" b="1" dirty="0">
                  <a:solidFill>
                    <a:schemeClr val="tx1"/>
                  </a:solidFill>
                  <a:latin typeface="Inter" panose="020B0604020202020204" charset="0"/>
                  <a:ea typeface="Inter" panose="020B0604020202020204" charset="0"/>
                  <a:cs typeface="Arial" panose="020B0604020202020204" pitchFamily="34" charset="0"/>
                </a:rPr>
                <a:t>INFORME PRELIMINAR: </a:t>
              </a:r>
              <a:r>
                <a:rPr lang="es-PE" sz="1600" dirty="0">
                  <a:solidFill>
                    <a:schemeClr val="tx1"/>
                  </a:solidFill>
                  <a:latin typeface="Inter" panose="020B0604020202020204" charset="0"/>
                  <a:ea typeface="Inter" panose="020B0604020202020204" charset="0"/>
                  <a:cs typeface="Arial" panose="020B0604020202020204" pitchFamily="34" charset="0"/>
                </a:rPr>
                <a:t>El área de influencia directa del proyecto de exploración </a:t>
              </a:r>
              <a:r>
                <a:rPr lang="es-PE" sz="1600" dirty="0">
                  <a:solidFill>
                    <a:srgbClr val="000000"/>
                  </a:solidFill>
                  <a:latin typeface="Inter" panose="020B0604020202020204" charset="0"/>
                  <a:ea typeface="Inter" panose="020B0604020202020204" charset="0"/>
                  <a:cs typeface="Arial" panose="020B0604020202020204" pitchFamily="34" charset="0"/>
                </a:rPr>
                <a:t>se encuentra en PP.II. (</a:t>
              </a:r>
              <a:r>
                <a:rPr lang="es-PE" sz="1600" dirty="0">
                  <a:solidFill>
                    <a:schemeClr val="tx1"/>
                  </a:solidFill>
                  <a:latin typeface="Inter" panose="020B0604020202020204" charset="0"/>
                  <a:ea typeface="Inter" panose="020B0604020202020204" charset="0"/>
                  <a:cs typeface="Arial" panose="020B0604020202020204" pitchFamily="34" charset="0"/>
                </a:rPr>
                <a:t>Ley N° 29785 y su Reglamento)</a:t>
              </a:r>
              <a:r>
                <a:rPr lang="es-PE" sz="1600" dirty="0">
                  <a:solidFill>
                    <a:srgbClr val="000000"/>
                  </a:solidFill>
                  <a:latin typeface="Inter" panose="020B0604020202020204" charset="0"/>
                  <a:ea typeface="Inter" panose="020B0604020202020204" charset="0"/>
                  <a:cs typeface="Arial" panose="020B0604020202020204" pitchFamily="34" charset="0"/>
                </a:rPr>
                <a:t>, se solicita opinión a OGGS.</a:t>
              </a:r>
            </a:p>
          </p:txBody>
        </p:sp>
        <p:sp>
          <p:nvSpPr>
            <p:cNvPr id="17" name="56 Rectángulo">
              <a:extLst>
                <a:ext uri="{FF2B5EF4-FFF2-40B4-BE49-F238E27FC236}">
                  <a16:creationId xmlns:a16="http://schemas.microsoft.com/office/drawing/2014/main" xmlns="" id="{83F9D2D9-6317-A3A2-773C-B3B9AB5194DD}"/>
                </a:ext>
              </a:extLst>
            </p:cNvPr>
            <p:cNvSpPr/>
            <p:nvPr/>
          </p:nvSpPr>
          <p:spPr>
            <a:xfrm>
              <a:off x="876463" y="2801515"/>
              <a:ext cx="3238337" cy="2556908"/>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buFont typeface="+mj-lt"/>
                <a:buAutoNum type="arabicPeriod"/>
                <a:defRPr/>
              </a:pPr>
              <a:r>
                <a:rPr lang="es-PE" sz="1900" dirty="0">
                  <a:solidFill>
                    <a:schemeClr val="tx1"/>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sz="1900" dirty="0">
                  <a:solidFill>
                    <a:schemeClr val="tx1"/>
                  </a:solidFill>
                  <a:latin typeface="Inter" panose="020B0604020202020204" charset="0"/>
                  <a:ea typeface="Inter" panose="020B0604020202020204" charset="0"/>
                  <a:cs typeface="Arial" panose="020B0604020202020204" pitchFamily="34" charset="0"/>
                </a:rPr>
                <a:t>Derechos Mineros</a:t>
              </a:r>
            </a:p>
            <a:p>
              <a:pPr marL="228600" indent="-228600">
                <a:buFont typeface="+mj-lt"/>
                <a:buAutoNum type="arabicPeriod"/>
                <a:defRPr/>
              </a:pPr>
              <a:r>
                <a:rPr lang="es-PE" sz="1900" dirty="0">
                  <a:solidFill>
                    <a:schemeClr val="tx1"/>
                  </a:solidFill>
                  <a:latin typeface="Inter" panose="020B0604020202020204" charset="0"/>
                  <a:ea typeface="Inter" panose="020B0604020202020204" charset="0"/>
                  <a:cs typeface="Arial" panose="020B0604020202020204" pitchFamily="34" charset="0"/>
                </a:rPr>
                <a:t>Instrumento de Gestión Ambiental aprobado.</a:t>
              </a:r>
            </a:p>
            <a:p>
              <a:pPr marL="228600" indent="-228600">
                <a:buFont typeface="+mj-lt"/>
                <a:buAutoNum type="arabicPeriod"/>
                <a:defRPr/>
              </a:pPr>
              <a:r>
                <a:rPr lang="es-PE" sz="1900" dirty="0">
                  <a:solidFill>
                    <a:schemeClr val="tx1"/>
                  </a:solidFill>
                  <a:latin typeface="Inter" panose="020B0604020202020204" charset="0"/>
                  <a:ea typeface="Inter" panose="020B0604020202020204" charset="0"/>
                  <a:cs typeface="Arial" panose="020B0604020202020204" pitchFamily="34" charset="0"/>
                </a:rPr>
                <a:t>Ubicación del área superficial del proyecto de exploración en coordenadas UTM WGS84 Programa de trabajo</a:t>
              </a:r>
            </a:p>
            <a:p>
              <a:pPr marL="228600" indent="-228600">
                <a:buFont typeface="+mj-lt"/>
                <a:buAutoNum type="arabicPeriod"/>
                <a:defRPr/>
              </a:pPr>
              <a:r>
                <a:rPr lang="es-PE" sz="1900" dirty="0">
                  <a:solidFill>
                    <a:schemeClr val="tx1"/>
                  </a:solidFill>
                  <a:latin typeface="Inter" panose="020B0604020202020204" charset="0"/>
                  <a:ea typeface="Inter" panose="020B0604020202020204" charset="0"/>
                  <a:cs typeface="Arial" panose="020B0604020202020204" pitchFamily="34" charset="0"/>
                </a:rPr>
                <a:t>Declaración Jurada de la autorización del terreno superficial.</a:t>
              </a:r>
            </a:p>
            <a:p>
              <a:pPr marL="228600" indent="-228600">
                <a:buFont typeface="+mj-lt"/>
                <a:buAutoNum type="arabicPeriod"/>
                <a:defRPr/>
              </a:pPr>
              <a:r>
                <a:rPr lang="es-PE" sz="1900" dirty="0">
                  <a:solidFill>
                    <a:schemeClr val="tx1"/>
                  </a:solidFill>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a:t>
              </a:r>
            </a:p>
          </p:txBody>
        </p:sp>
        <p:cxnSp>
          <p:nvCxnSpPr>
            <p:cNvPr id="18" name="Conector: angular 338">
              <a:extLst>
                <a:ext uri="{FF2B5EF4-FFF2-40B4-BE49-F238E27FC236}">
                  <a16:creationId xmlns:a16="http://schemas.microsoft.com/office/drawing/2014/main" xmlns="" id="{FA133E09-5EBE-AA97-A874-F8629C9C7926}"/>
                </a:ext>
              </a:extLst>
            </p:cNvPr>
            <p:cNvCxnSpPr>
              <a:cxnSpLocks/>
              <a:stCxn id="40" idx="1"/>
              <a:endCxn id="16" idx="3"/>
            </p:cNvCxnSpPr>
            <p:nvPr/>
          </p:nvCxnSpPr>
          <p:spPr>
            <a:xfrm rot="10800000">
              <a:off x="3150425" y="1326639"/>
              <a:ext cx="1079742" cy="880443"/>
            </a:xfrm>
            <a:prstGeom prst="bentConnector3">
              <a:avLst>
                <a:gd name="adj1" fmla="val 50000"/>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angular 12">
              <a:extLst>
                <a:ext uri="{FF2B5EF4-FFF2-40B4-BE49-F238E27FC236}">
                  <a16:creationId xmlns:a16="http://schemas.microsoft.com/office/drawing/2014/main" xmlns="" id="{5F224F96-E2C4-95CC-02C3-9C55F92C586A}"/>
                </a:ext>
              </a:extLst>
            </p:cNvPr>
            <p:cNvCxnSpPr>
              <a:cxnSpLocks/>
              <a:stCxn id="40" idx="1"/>
              <a:endCxn id="17" idx="0"/>
            </p:cNvCxnSpPr>
            <p:nvPr/>
          </p:nvCxnSpPr>
          <p:spPr>
            <a:xfrm rot="10800000" flipV="1">
              <a:off x="2495632" y="2207081"/>
              <a:ext cx="1734536" cy="594434"/>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2">
              <a:extLst>
                <a:ext uri="{FF2B5EF4-FFF2-40B4-BE49-F238E27FC236}">
                  <a16:creationId xmlns:a16="http://schemas.microsoft.com/office/drawing/2014/main" xmlns="" id="{A7DD1F9B-4F3E-0127-ACA6-38B8EFCEB35C}"/>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1" name="72 CuadroTexto">
              <a:extLst>
                <a:ext uri="{FF2B5EF4-FFF2-40B4-BE49-F238E27FC236}">
                  <a16:creationId xmlns:a16="http://schemas.microsoft.com/office/drawing/2014/main" xmlns="" id="{4ED08BB6-1021-EDF6-3706-3CE2C5C43FC3}"/>
                </a:ext>
              </a:extLst>
            </p:cNvPr>
            <p:cNvSpPr txBox="1">
              <a:spLocks noChangeArrowheads="1"/>
            </p:cNvSpPr>
            <p:nvPr/>
          </p:nvSpPr>
          <p:spPr bwMode="auto">
            <a:xfrm>
              <a:off x="6027459" y="3138580"/>
              <a:ext cx="545338" cy="264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500" b="1" dirty="0">
                  <a:solidFill>
                    <a:srgbClr val="000000"/>
                  </a:solidFill>
                  <a:latin typeface="Inter" panose="020B0604020202020204" charset="0"/>
                  <a:ea typeface="Inter" panose="020B0604020202020204" charset="0"/>
                  <a:cs typeface="Arial" panose="020B0604020202020204" pitchFamily="34" charset="0"/>
                </a:rPr>
                <a:t>30 dh</a:t>
              </a:r>
            </a:p>
          </p:txBody>
        </p:sp>
        <p:sp>
          <p:nvSpPr>
            <p:cNvPr id="22" name="56 Rectángulo">
              <a:extLst>
                <a:ext uri="{FF2B5EF4-FFF2-40B4-BE49-F238E27FC236}">
                  <a16:creationId xmlns:a16="http://schemas.microsoft.com/office/drawing/2014/main" xmlns="" id="{8B9A7F53-9186-DCFB-B072-F4E109C26793}"/>
                </a:ext>
              </a:extLst>
            </p:cNvPr>
            <p:cNvSpPr/>
            <p:nvPr/>
          </p:nvSpPr>
          <p:spPr bwMode="auto">
            <a:xfrm>
              <a:off x="4470400" y="2801516"/>
              <a:ext cx="771525" cy="317500"/>
            </a:xfrm>
            <a:prstGeom prst="rect">
              <a:avLst/>
            </a:prstGeom>
            <a:solidFill>
              <a:srgbClr val="FFC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500" b="1"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23" name="177 Conector recto de flecha">
              <a:extLst>
                <a:ext uri="{FF2B5EF4-FFF2-40B4-BE49-F238E27FC236}">
                  <a16:creationId xmlns:a16="http://schemas.microsoft.com/office/drawing/2014/main" xmlns="" id="{9A435929-4F6F-DBDA-9EC9-7ECDCCD31309}"/>
                </a:ext>
              </a:extLst>
            </p:cNvPr>
            <p:cNvCxnSpPr>
              <a:cxnSpLocks/>
              <a:stCxn id="29" idx="2"/>
              <a:endCxn id="25" idx="0"/>
            </p:cNvCxnSpPr>
            <p:nvPr/>
          </p:nvCxnSpPr>
          <p:spPr bwMode="auto">
            <a:xfrm>
              <a:off x="4860132" y="3932248"/>
              <a:ext cx="11112" cy="1443027"/>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4" name="177 Conector recto de flecha">
              <a:extLst>
                <a:ext uri="{FF2B5EF4-FFF2-40B4-BE49-F238E27FC236}">
                  <a16:creationId xmlns:a16="http://schemas.microsoft.com/office/drawing/2014/main" xmlns="" id="{4C742859-FEAA-595D-0839-5F1E4D834F77}"/>
                </a:ext>
              </a:extLst>
            </p:cNvPr>
            <p:cNvCxnSpPr>
              <a:cxnSpLocks/>
              <a:endCxn id="22"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25" name="CuadroTexto 24">
              <a:extLst>
                <a:ext uri="{FF2B5EF4-FFF2-40B4-BE49-F238E27FC236}">
                  <a16:creationId xmlns:a16="http://schemas.microsoft.com/office/drawing/2014/main" xmlns="" id="{E275C2A1-4353-F988-B498-B9269BFFFCF1}"/>
                </a:ext>
              </a:extLst>
            </p:cNvPr>
            <p:cNvSpPr txBox="1"/>
            <p:nvPr/>
          </p:nvSpPr>
          <p:spPr bwMode="auto">
            <a:xfrm>
              <a:off x="3751263" y="5375275"/>
              <a:ext cx="2239962" cy="643269"/>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s-PE" sz="15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500" b="1" dirty="0">
                  <a:latin typeface="Inter" panose="020B0604020202020204" charset="0"/>
                  <a:ea typeface="Inter" panose="020B0604020202020204" charset="0"/>
                  <a:cs typeface="Arial" panose="020B0604020202020204" pitchFamily="34" charset="0"/>
                </a:rPr>
                <a:t>Autoriza el inicio de las actividades de Exploración.</a:t>
              </a:r>
              <a:endParaRPr lang="es-PE" sz="1500" b="1" dirty="0">
                <a:solidFill>
                  <a:srgbClr val="000000"/>
                </a:solidFill>
                <a:latin typeface="Inter" panose="020B0604020202020204" charset="0"/>
                <a:ea typeface="Inter" panose="020B0604020202020204" charset="0"/>
                <a:cs typeface="Arial" panose="020B0604020202020204" pitchFamily="34" charset="0"/>
              </a:endParaRPr>
            </a:p>
          </p:txBody>
        </p:sp>
        <p:cxnSp>
          <p:nvCxnSpPr>
            <p:cNvPr id="26" name="Conector: angular 449">
              <a:extLst>
                <a:ext uri="{FF2B5EF4-FFF2-40B4-BE49-F238E27FC236}">
                  <a16:creationId xmlns:a16="http://schemas.microsoft.com/office/drawing/2014/main" xmlns="" id="{7814A4FE-D3C4-F211-894D-D4E52D421FDA}"/>
                </a:ext>
              </a:extLst>
            </p:cNvPr>
            <p:cNvCxnSpPr>
              <a:cxnSpLocks/>
              <a:stCxn id="21" idx="0"/>
              <a:endCxn id="14" idx="6"/>
            </p:cNvCxnSpPr>
            <p:nvPr/>
          </p:nvCxnSpPr>
          <p:spPr bwMode="auto">
            <a:xfrm rot="16200000" flipV="1">
              <a:off x="4936353" y="1774804"/>
              <a:ext cx="1977323" cy="75022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angular 451">
              <a:extLst>
                <a:ext uri="{FF2B5EF4-FFF2-40B4-BE49-F238E27FC236}">
                  <a16:creationId xmlns:a16="http://schemas.microsoft.com/office/drawing/2014/main" xmlns="" id="{E1DE7495-CF7B-4993-E69D-81BE7014BB9A}"/>
                </a:ext>
              </a:extLst>
            </p:cNvPr>
            <p:cNvCxnSpPr>
              <a:cxnSpLocks/>
              <a:stCxn id="21" idx="2"/>
              <a:endCxn id="25" idx="3"/>
            </p:cNvCxnSpPr>
            <p:nvPr/>
          </p:nvCxnSpPr>
          <p:spPr bwMode="auto">
            <a:xfrm rot="5400000">
              <a:off x="4998949" y="4395731"/>
              <a:ext cx="2293454" cy="30890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xmlns="" id="{222381C0-735E-63ED-BC88-EFD4710C7D1B}"/>
                </a:ext>
              </a:extLst>
            </p:cNvPr>
            <p:cNvSpPr txBox="1"/>
            <p:nvPr/>
          </p:nvSpPr>
          <p:spPr bwMode="auto">
            <a:xfrm flipH="1">
              <a:off x="4677628" y="4003843"/>
              <a:ext cx="165100" cy="189197"/>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500" b="1" dirty="0">
                  <a:latin typeface="Inter" panose="020B0604020202020204" charset="0"/>
                  <a:ea typeface="Inter" panose="020B0604020202020204" charset="0"/>
                  <a:cs typeface="Arial" panose="020B0604020202020204" pitchFamily="34" charset="0"/>
                </a:rPr>
                <a:t>SI</a:t>
              </a:r>
            </a:p>
          </p:txBody>
        </p:sp>
        <p:sp>
          <p:nvSpPr>
            <p:cNvPr id="29" name="Decisión 22">
              <a:extLst>
                <a:ext uri="{FF2B5EF4-FFF2-40B4-BE49-F238E27FC236}">
                  <a16:creationId xmlns:a16="http://schemas.microsoft.com/office/drawing/2014/main" xmlns="" id="{685B59F5-3407-B6EC-EF8E-FA2DFE5EA207}"/>
                </a:ext>
              </a:extLst>
            </p:cNvPr>
            <p:cNvSpPr/>
            <p:nvPr/>
          </p:nvSpPr>
          <p:spPr bwMode="auto">
            <a:xfrm>
              <a:off x="4470400" y="3556416"/>
              <a:ext cx="779463" cy="375832"/>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500" b="1"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30" name="CuadroTexto 29">
              <a:extLst>
                <a:ext uri="{FF2B5EF4-FFF2-40B4-BE49-F238E27FC236}">
                  <a16:creationId xmlns:a16="http://schemas.microsoft.com/office/drawing/2014/main" xmlns="" id="{19549A52-2309-39E5-B4FB-B8062D006138}"/>
                </a:ext>
              </a:extLst>
            </p:cNvPr>
            <p:cNvSpPr txBox="1"/>
            <p:nvPr/>
          </p:nvSpPr>
          <p:spPr bwMode="auto">
            <a:xfrm>
              <a:off x="5469732" y="3464654"/>
              <a:ext cx="727869" cy="567590"/>
            </a:xfrm>
            <a:prstGeom prst="rect">
              <a:avLst/>
            </a:prstGeom>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500" dirty="0">
                  <a:latin typeface="Inter" panose="020B0604020202020204" charset="0"/>
                  <a:ea typeface="Inter" panose="020B0604020202020204" charset="0"/>
                  <a:cs typeface="Arial" panose="020B0604020202020204" pitchFamily="34" charset="0"/>
                </a:rPr>
                <a:t>Requerir subsanar observaciones</a:t>
              </a:r>
            </a:p>
          </p:txBody>
        </p:sp>
        <p:sp>
          <p:nvSpPr>
            <p:cNvPr id="31" name="CuadroTexto 30">
              <a:extLst>
                <a:ext uri="{FF2B5EF4-FFF2-40B4-BE49-F238E27FC236}">
                  <a16:creationId xmlns:a16="http://schemas.microsoft.com/office/drawing/2014/main" xmlns="" id="{3133486B-066F-6DA1-6C8D-D048DD68E6CF}"/>
                </a:ext>
              </a:extLst>
            </p:cNvPr>
            <p:cNvSpPr txBox="1"/>
            <p:nvPr/>
          </p:nvSpPr>
          <p:spPr bwMode="auto">
            <a:xfrm>
              <a:off x="5441145" y="4525466"/>
              <a:ext cx="780116" cy="378394"/>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500" dirty="0">
                  <a:latin typeface="Inter" panose="020B0604020202020204" charset="0"/>
                  <a:ea typeface="Inter" panose="020B0604020202020204" charset="0"/>
                  <a:cs typeface="Arial" panose="020B0604020202020204" pitchFamily="34" charset="0"/>
                </a:rPr>
                <a:t>Subsana observaciones</a:t>
              </a:r>
            </a:p>
          </p:txBody>
        </p:sp>
        <p:sp>
          <p:nvSpPr>
            <p:cNvPr id="32" name="72 CuadroTexto">
              <a:extLst>
                <a:ext uri="{FF2B5EF4-FFF2-40B4-BE49-F238E27FC236}">
                  <a16:creationId xmlns:a16="http://schemas.microsoft.com/office/drawing/2014/main" xmlns="" id="{4BF206D4-DF90-EB0D-50DA-E4366C0CCF99}"/>
                </a:ext>
              </a:extLst>
            </p:cNvPr>
            <p:cNvSpPr txBox="1">
              <a:spLocks noChangeArrowheads="1"/>
            </p:cNvSpPr>
            <p:nvPr/>
          </p:nvSpPr>
          <p:spPr bwMode="auto">
            <a:xfrm>
              <a:off x="5857318" y="4049095"/>
              <a:ext cx="340283" cy="18919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500" b="1"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33" name="CuadroTexto 32">
              <a:extLst>
                <a:ext uri="{FF2B5EF4-FFF2-40B4-BE49-F238E27FC236}">
                  <a16:creationId xmlns:a16="http://schemas.microsoft.com/office/drawing/2014/main" xmlns="" id="{64818B40-9124-98A4-AB73-02E68E32A311}"/>
                </a:ext>
              </a:extLst>
            </p:cNvPr>
            <p:cNvSpPr txBox="1"/>
            <p:nvPr/>
          </p:nvSpPr>
          <p:spPr bwMode="auto">
            <a:xfrm>
              <a:off x="5211729" y="3418521"/>
              <a:ext cx="171450" cy="189197"/>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500" b="1" dirty="0">
                  <a:latin typeface="Inter" panose="020B0604020202020204" charset="0"/>
                  <a:ea typeface="Inter" panose="020B0604020202020204" charset="0"/>
                  <a:cs typeface="Arial" panose="020B0604020202020204" pitchFamily="34" charset="0"/>
                </a:rPr>
                <a:t>NO</a:t>
              </a:r>
            </a:p>
          </p:txBody>
        </p:sp>
        <p:cxnSp>
          <p:nvCxnSpPr>
            <p:cNvPr id="34" name="Conector recto de flecha 33">
              <a:extLst>
                <a:ext uri="{FF2B5EF4-FFF2-40B4-BE49-F238E27FC236}">
                  <a16:creationId xmlns:a16="http://schemas.microsoft.com/office/drawing/2014/main" xmlns="" id="{1A4147B4-C1AF-E672-BE91-738E7421CEE4}"/>
                </a:ext>
              </a:extLst>
            </p:cNvPr>
            <p:cNvCxnSpPr>
              <a:stCxn id="29" idx="3"/>
              <a:endCxn id="30" idx="1"/>
            </p:cNvCxnSpPr>
            <p:nvPr/>
          </p:nvCxnSpPr>
          <p:spPr bwMode="auto">
            <a:xfrm>
              <a:off x="5249863" y="3744332"/>
              <a:ext cx="219869" cy="4116"/>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xmlns="" id="{C95B3938-F092-B4B1-3E81-6096DE8BE2B4}"/>
                </a:ext>
              </a:extLst>
            </p:cNvPr>
            <p:cNvCxnSpPr>
              <a:stCxn id="22" idx="2"/>
              <a:endCxn id="29" idx="0"/>
            </p:cNvCxnSpPr>
            <p:nvPr/>
          </p:nvCxnSpPr>
          <p:spPr bwMode="auto">
            <a:xfrm>
              <a:off x="4856163" y="3119016"/>
              <a:ext cx="3969" cy="437400"/>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36" name="Conector recto 35">
              <a:extLst>
                <a:ext uri="{FF2B5EF4-FFF2-40B4-BE49-F238E27FC236}">
                  <a16:creationId xmlns:a16="http://schemas.microsoft.com/office/drawing/2014/main" xmlns="" id="{E4A703F1-A173-A773-9E65-B0C9818B52C6}"/>
                </a:ext>
              </a:extLst>
            </p:cNvPr>
            <p:cNvCxnSpPr>
              <a:stCxn id="30" idx="2"/>
              <a:endCxn id="31" idx="0"/>
            </p:cNvCxnSpPr>
            <p:nvPr/>
          </p:nvCxnSpPr>
          <p:spPr bwMode="auto">
            <a:xfrm flipH="1">
              <a:off x="5831203" y="4032243"/>
              <a:ext cx="2464" cy="493222"/>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7" name="72 CuadroTexto">
              <a:extLst>
                <a:ext uri="{FF2B5EF4-FFF2-40B4-BE49-F238E27FC236}">
                  <a16:creationId xmlns:a16="http://schemas.microsoft.com/office/drawing/2014/main" xmlns="" id="{00171AE2-B230-6BBC-C88B-8AA5A133DC64}"/>
                </a:ext>
              </a:extLst>
            </p:cNvPr>
            <p:cNvSpPr txBox="1">
              <a:spLocks noChangeArrowheads="1"/>
            </p:cNvSpPr>
            <p:nvPr/>
          </p:nvSpPr>
          <p:spPr bwMode="auto">
            <a:xfrm>
              <a:off x="5587206" y="2330819"/>
              <a:ext cx="452055" cy="264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5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38" name="Conector recto de flecha 37">
              <a:extLst>
                <a:ext uri="{FF2B5EF4-FFF2-40B4-BE49-F238E27FC236}">
                  <a16:creationId xmlns:a16="http://schemas.microsoft.com/office/drawing/2014/main" xmlns="" id="{15BEAD1C-58C1-E60A-7297-97E875C6BA33}"/>
                </a:ext>
              </a:extLst>
            </p:cNvPr>
            <p:cNvCxnSpPr>
              <a:stCxn id="37" idx="2"/>
              <a:endCxn id="30" idx="0"/>
            </p:cNvCxnSpPr>
            <p:nvPr/>
          </p:nvCxnSpPr>
          <p:spPr bwMode="auto">
            <a:xfrm>
              <a:off x="5813234" y="2595694"/>
              <a:ext cx="20433" cy="868960"/>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ector angular 32">
              <a:extLst>
                <a:ext uri="{FF2B5EF4-FFF2-40B4-BE49-F238E27FC236}">
                  <a16:creationId xmlns:a16="http://schemas.microsoft.com/office/drawing/2014/main" xmlns="" id="{8EDDD3FB-C34F-6D2F-2835-C0D137559435}"/>
                </a:ext>
              </a:extLst>
            </p:cNvPr>
            <p:cNvCxnSpPr>
              <a:cxnSpLocks/>
              <a:stCxn id="37" idx="0"/>
              <a:endCxn id="14" idx="6"/>
            </p:cNvCxnSpPr>
            <p:nvPr/>
          </p:nvCxnSpPr>
          <p:spPr bwMode="auto">
            <a:xfrm rot="16200000" flipV="1">
              <a:off x="5096786" y="1614372"/>
              <a:ext cx="1169562" cy="26333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24 Rectángulo">
              <a:extLst>
                <a:ext uri="{FF2B5EF4-FFF2-40B4-BE49-F238E27FC236}">
                  <a16:creationId xmlns:a16="http://schemas.microsoft.com/office/drawing/2014/main" xmlns="" id="{F3B990DB-9F4E-F4B3-6E0F-494E115CB445}"/>
                </a:ext>
              </a:extLst>
            </p:cNvPr>
            <p:cNvSpPr/>
            <p:nvPr/>
          </p:nvSpPr>
          <p:spPr bwMode="auto">
            <a:xfrm>
              <a:off x="4230167" y="1872227"/>
              <a:ext cx="1319732" cy="669708"/>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cxnSp>
          <p:nvCxnSpPr>
            <p:cNvPr id="41" name="Conector angular 34">
              <a:extLst>
                <a:ext uri="{FF2B5EF4-FFF2-40B4-BE49-F238E27FC236}">
                  <a16:creationId xmlns:a16="http://schemas.microsoft.com/office/drawing/2014/main" xmlns="" id="{008A0464-5BE1-D056-2B8D-652CEE41624C}"/>
                </a:ext>
              </a:extLst>
            </p:cNvPr>
            <p:cNvCxnSpPr>
              <a:stCxn id="31" idx="1"/>
              <a:endCxn id="25" idx="0"/>
            </p:cNvCxnSpPr>
            <p:nvPr/>
          </p:nvCxnSpPr>
          <p:spPr bwMode="auto">
            <a:xfrm rot="10800000" flipV="1">
              <a:off x="4871244" y="4714662"/>
              <a:ext cx="569901" cy="660612"/>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2">
            <a:extLst>
              <a:ext uri="{FF2B5EF4-FFF2-40B4-BE49-F238E27FC236}">
                <a16:creationId xmlns:a16="http://schemas.microsoft.com/office/drawing/2014/main" xmlns="" id="{6E3B472E-0309-2209-9D12-3F863EE7AB8B}"/>
              </a:ext>
            </a:extLst>
          </p:cNvPr>
          <p:cNvGrpSpPr/>
          <p:nvPr/>
        </p:nvGrpSpPr>
        <p:grpSpPr>
          <a:xfrm>
            <a:off x="6397409" y="7556924"/>
            <a:ext cx="10861891" cy="2730076"/>
            <a:chOff x="0" y="0"/>
            <a:chExt cx="1363973" cy="342827"/>
          </a:xfrm>
        </p:grpSpPr>
        <p:sp>
          <p:nvSpPr>
            <p:cNvPr id="49" name="Freeform 3">
              <a:extLst>
                <a:ext uri="{FF2B5EF4-FFF2-40B4-BE49-F238E27FC236}">
                  <a16:creationId xmlns:a16="http://schemas.microsoft.com/office/drawing/2014/main" xmlns="" id="{AC12867A-A4EE-231C-35BA-9C2C2A0F2640}"/>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50" name="TextBox 4">
              <a:extLst>
                <a:ext uri="{FF2B5EF4-FFF2-40B4-BE49-F238E27FC236}">
                  <a16:creationId xmlns:a16="http://schemas.microsoft.com/office/drawing/2014/main" xmlns="" id="{460788FA-D886-DCC7-8E26-A7A7E3DE0528}"/>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9526145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44CCDE1-820A-7E15-84A3-4FF2995F6CDF}"/>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D9620C45-9B3F-8D19-1721-BD20883F743A}"/>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8E13FAC4-EC0A-C20A-6BE9-F288761FF05E}"/>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A54672E1-2AAB-7E65-7E59-0E74B958A199}"/>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C7BBDA5F-72F7-11D6-03E3-465AB3CF6AC9}"/>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8140ACFB-BA86-252E-98C1-02632F6CF6BF}"/>
              </a:ext>
            </a:extLst>
          </p:cNvPr>
          <p:cNvSpPr txBox="1"/>
          <p:nvPr/>
        </p:nvSpPr>
        <p:spPr>
          <a:xfrm>
            <a:off x="612451" y="3204575"/>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4.3 AUTORIZACIÓN DE ACTIVIDADES DE EXPLOTACIÓN</a:t>
            </a:r>
            <a:endParaRPr lang="es-PE" sz="4000" b="1" dirty="0">
              <a:solidFill>
                <a:srgbClr val="A42F0F"/>
              </a:solidFill>
              <a:latin typeface="Futura Ultra-Bold"/>
              <a:sym typeface="Futura Ultra-Bold"/>
            </a:endParaRPr>
          </a:p>
        </p:txBody>
      </p:sp>
      <p:sp>
        <p:nvSpPr>
          <p:cNvPr id="3" name="CuadroTexto 2">
            <a:extLst>
              <a:ext uri="{FF2B5EF4-FFF2-40B4-BE49-F238E27FC236}">
                <a16:creationId xmlns:a16="http://schemas.microsoft.com/office/drawing/2014/main" xmlns="" id="{755A4EDE-B964-50EB-BD18-C8369AE778D7}"/>
              </a:ext>
            </a:extLst>
          </p:cNvPr>
          <p:cNvSpPr txBox="1"/>
          <p:nvPr/>
        </p:nvSpPr>
        <p:spPr>
          <a:xfrm>
            <a:off x="612451" y="4730132"/>
            <a:ext cx="14188678" cy="1169551"/>
          </a:xfrm>
          <a:prstGeom prst="rect">
            <a:avLst/>
          </a:prstGeom>
          <a:noFill/>
        </p:spPr>
        <p:txBody>
          <a:bodyPr wrap="square">
            <a:spAutoFit/>
          </a:bodyPr>
          <a:lstStyle/>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INICIO O REINICIO DE ACTIVIDADES DE EXPLOTACIÓN</a:t>
            </a:r>
          </a:p>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MODIFICACIÓN DE ACTIVIDADES DE EXPLOTACIÓN</a:t>
            </a:r>
          </a:p>
        </p:txBody>
      </p:sp>
      <p:grpSp>
        <p:nvGrpSpPr>
          <p:cNvPr id="8" name="Group 2">
            <a:extLst>
              <a:ext uri="{FF2B5EF4-FFF2-40B4-BE49-F238E27FC236}">
                <a16:creationId xmlns:a16="http://schemas.microsoft.com/office/drawing/2014/main" xmlns="" id="{70415623-AF6B-B3F6-5C3F-9C5EA6A6F159}"/>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99FDCFD8-0530-3E15-B044-C48A36FF5206}"/>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2" name="TextBox 4">
              <a:extLst>
                <a:ext uri="{FF2B5EF4-FFF2-40B4-BE49-F238E27FC236}">
                  <a16:creationId xmlns:a16="http://schemas.microsoft.com/office/drawing/2014/main" xmlns="" id="{59B9E298-746E-39C1-94ED-18B2661B857C}"/>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36811459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641893-8E72-AF48-16CE-A62506E6E2AF}"/>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E3A8F1B3-B802-3C5A-4EB5-2E4CF876F037}"/>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5CB0FDED-C4A4-D3C2-1042-54F28552976D}"/>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5B891B7F-2C21-B301-0970-DB4AC7C39BB9}"/>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C714BD91-79CD-7EC4-D312-431084B8C366}"/>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ítulo 1">
            <a:extLst>
              <a:ext uri="{FF2B5EF4-FFF2-40B4-BE49-F238E27FC236}">
                <a16:creationId xmlns:a16="http://schemas.microsoft.com/office/drawing/2014/main" xmlns="" id="{754BAB83-E4E9-39F7-787F-7B2D956689F3}"/>
              </a:ext>
            </a:extLst>
          </p:cNvPr>
          <p:cNvSpPr txBox="1">
            <a:spLocks/>
          </p:cNvSpPr>
          <p:nvPr/>
        </p:nvSpPr>
        <p:spPr>
          <a:xfrm>
            <a:off x="609600" y="3086100"/>
            <a:ext cx="3415156" cy="17724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Autorización de las Actividades de Explotación, Incluye el Plan de Minado</a:t>
            </a:r>
            <a:endParaRPr lang="es-PE" sz="2400" dirty="0">
              <a:latin typeface="Inter" panose="020B0604020202020204" charset="0"/>
              <a:ea typeface="Inter" panose="020B0604020202020204" charset="0"/>
            </a:endParaRPr>
          </a:p>
        </p:txBody>
      </p:sp>
      <p:sp>
        <p:nvSpPr>
          <p:cNvPr id="9" name="Marcador de texto 3">
            <a:extLst>
              <a:ext uri="{FF2B5EF4-FFF2-40B4-BE49-F238E27FC236}">
                <a16:creationId xmlns:a16="http://schemas.microsoft.com/office/drawing/2014/main" xmlns="" id="{189F185E-EF5D-4E2C-2091-37080F4AA85F}"/>
              </a:ext>
            </a:extLst>
          </p:cNvPr>
          <p:cNvSpPr txBox="1">
            <a:spLocks/>
          </p:cNvSpPr>
          <p:nvPr/>
        </p:nvSpPr>
        <p:spPr>
          <a:xfrm>
            <a:off x="609600" y="4858501"/>
            <a:ext cx="3415155" cy="4933199"/>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b="1"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102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treinta (30)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negativo.</a:t>
            </a:r>
          </a:p>
        </p:txBody>
      </p:sp>
      <p:grpSp>
        <p:nvGrpSpPr>
          <p:cNvPr id="10" name="Grupo 9">
            <a:extLst>
              <a:ext uri="{FF2B5EF4-FFF2-40B4-BE49-F238E27FC236}">
                <a16:creationId xmlns:a16="http://schemas.microsoft.com/office/drawing/2014/main" xmlns="" id="{182D50F4-0495-3D17-D899-DEDBDE8B9232}"/>
              </a:ext>
            </a:extLst>
          </p:cNvPr>
          <p:cNvGrpSpPr/>
          <p:nvPr/>
        </p:nvGrpSpPr>
        <p:grpSpPr>
          <a:xfrm>
            <a:off x="4495800" y="3049354"/>
            <a:ext cx="12192000" cy="6673745"/>
            <a:chOff x="1110794" y="781050"/>
            <a:chExt cx="5631000" cy="5474945"/>
          </a:xfrm>
        </p:grpSpPr>
        <p:sp>
          <p:nvSpPr>
            <p:cNvPr id="11" name="3 Elipse">
              <a:extLst>
                <a:ext uri="{FF2B5EF4-FFF2-40B4-BE49-F238E27FC236}">
                  <a16:creationId xmlns:a16="http://schemas.microsoft.com/office/drawing/2014/main" xmlns="" id="{57625E13-CF2D-FB91-AA0F-2BBFE3E9E037}"/>
                </a:ext>
              </a:extLst>
            </p:cNvPr>
            <p:cNvSpPr/>
            <p:nvPr/>
          </p:nvSpPr>
          <p:spPr>
            <a:xfrm>
              <a:off x="4146550" y="781050"/>
              <a:ext cx="1403350" cy="891018"/>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12" name="5 Conector recto de flecha">
              <a:extLst>
                <a:ext uri="{FF2B5EF4-FFF2-40B4-BE49-F238E27FC236}">
                  <a16:creationId xmlns:a16="http://schemas.microsoft.com/office/drawing/2014/main" xmlns="" id="{D714BFAC-A75B-9D29-4BA4-E769095E5E11}"/>
                </a:ext>
              </a:extLst>
            </p:cNvPr>
            <p:cNvCxnSpPr>
              <a:cxnSpLocks/>
              <a:stCxn id="11" idx="4"/>
            </p:cNvCxnSpPr>
            <p:nvPr/>
          </p:nvCxnSpPr>
          <p:spPr>
            <a:xfrm>
              <a:off x="4848225" y="1672068"/>
              <a:ext cx="1" cy="310461"/>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3" name="9 Título">
              <a:extLst>
                <a:ext uri="{FF2B5EF4-FFF2-40B4-BE49-F238E27FC236}">
                  <a16:creationId xmlns:a16="http://schemas.microsoft.com/office/drawing/2014/main" xmlns="" id="{26803D6B-FACC-7D27-0B1B-61EDAC84FC58}"/>
                </a:ext>
              </a:extLst>
            </p:cNvPr>
            <p:cNvSpPr txBox="1">
              <a:spLocks/>
            </p:cNvSpPr>
            <p:nvPr/>
          </p:nvSpPr>
          <p:spPr>
            <a:xfrm>
              <a:off x="1601833" y="814044"/>
              <a:ext cx="1548591" cy="858024"/>
            </a:xfrm>
            <a:prstGeom prst="rect">
              <a:avLst/>
            </a:prstGeom>
            <a:solidFill>
              <a:srgbClr val="FFFFCC"/>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700" dirty="0">
                  <a:solidFill>
                    <a:srgbClr val="000000"/>
                  </a:solidFill>
                  <a:latin typeface="Inter" panose="020B0604020202020204" charset="0"/>
                  <a:ea typeface="Inter" panose="020B0604020202020204" charset="0"/>
                  <a:cs typeface="Arial" panose="020B0604020202020204" pitchFamily="34" charset="0"/>
                </a:rPr>
                <a:t>Si se advierte en forma referencial que el proyecto se encuentra en PPII se solicita opinión a OGGS.</a:t>
              </a:r>
            </a:p>
          </p:txBody>
        </p:sp>
        <p:sp>
          <p:nvSpPr>
            <p:cNvPr id="14" name="56 Rectángulo">
              <a:extLst>
                <a:ext uri="{FF2B5EF4-FFF2-40B4-BE49-F238E27FC236}">
                  <a16:creationId xmlns:a16="http://schemas.microsoft.com/office/drawing/2014/main" xmlns="" id="{B7BB02BC-769B-C482-4B28-F0724DCDC8D3}"/>
                </a:ext>
              </a:extLst>
            </p:cNvPr>
            <p:cNvSpPr/>
            <p:nvPr/>
          </p:nvSpPr>
          <p:spPr>
            <a:xfrm>
              <a:off x="1110794" y="2693367"/>
              <a:ext cx="2977812" cy="2368660"/>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Derechos Mineros</a:t>
              </a:r>
              <a:endParaRPr lang="es-PE" sz="1700" i="1" dirty="0">
                <a:solidFill>
                  <a:schemeClr val="tx1"/>
                </a:solidFill>
                <a:latin typeface="Inter" panose="020B0604020202020204" charset="0"/>
                <a:ea typeface="Inter" panose="020B0604020202020204" charset="0"/>
                <a:cs typeface="Arial" panose="020B0604020202020204" pitchFamily="34" charset="0"/>
              </a:endParaRP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Instrumento de Gestión Ambiental aprobado.</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Plan de Cierre aprobado o cargo de presentación adjuntando garantía preliminar.</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Estudio Técnico del proyecto de explotación minera.</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Autorización del terreno superficial.</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Arial" panose="020B0604020202020204" pitchFamily="34" charset="0"/>
                </a:rPr>
                <a:t>DJ de no afectación al derecho de vía o constancia de autoridad competente.</a:t>
              </a:r>
            </a:p>
          </p:txBody>
        </p:sp>
        <p:cxnSp>
          <p:nvCxnSpPr>
            <p:cNvPr id="15" name="Conector: angular 338">
              <a:extLst>
                <a:ext uri="{FF2B5EF4-FFF2-40B4-BE49-F238E27FC236}">
                  <a16:creationId xmlns:a16="http://schemas.microsoft.com/office/drawing/2014/main" xmlns="" id="{0ADB8DFD-BC85-F992-E8DF-DFD405EFCAB4}"/>
                </a:ext>
              </a:extLst>
            </p:cNvPr>
            <p:cNvCxnSpPr>
              <a:cxnSpLocks/>
              <a:stCxn id="37" idx="1"/>
              <a:endCxn id="13" idx="3"/>
            </p:cNvCxnSpPr>
            <p:nvPr/>
          </p:nvCxnSpPr>
          <p:spPr>
            <a:xfrm rot="10800000">
              <a:off x="3150425" y="1243058"/>
              <a:ext cx="966760" cy="922064"/>
            </a:xfrm>
            <a:prstGeom prst="bentConnector3">
              <a:avLst>
                <a:gd name="adj1" fmla="val 50000"/>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angular 12">
              <a:extLst>
                <a:ext uri="{FF2B5EF4-FFF2-40B4-BE49-F238E27FC236}">
                  <a16:creationId xmlns:a16="http://schemas.microsoft.com/office/drawing/2014/main" xmlns="" id="{449A55D8-4388-6B24-A73C-9886094522BD}"/>
                </a:ext>
              </a:extLst>
            </p:cNvPr>
            <p:cNvCxnSpPr>
              <a:cxnSpLocks/>
              <a:stCxn id="37" idx="1"/>
              <a:endCxn id="14" idx="0"/>
            </p:cNvCxnSpPr>
            <p:nvPr/>
          </p:nvCxnSpPr>
          <p:spPr>
            <a:xfrm rot="10800000" flipV="1">
              <a:off x="2599701" y="2165120"/>
              <a:ext cx="1517484" cy="528247"/>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2">
              <a:extLst>
                <a:ext uri="{FF2B5EF4-FFF2-40B4-BE49-F238E27FC236}">
                  <a16:creationId xmlns:a16="http://schemas.microsoft.com/office/drawing/2014/main" xmlns="" id="{2A81C165-0ED7-584F-2935-0D2DE9EE3F7B}"/>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8" name="72 CuadroTexto">
              <a:extLst>
                <a:ext uri="{FF2B5EF4-FFF2-40B4-BE49-F238E27FC236}">
                  <a16:creationId xmlns:a16="http://schemas.microsoft.com/office/drawing/2014/main" xmlns="" id="{609DD333-23D8-9FFB-62F2-BE63E8BFF45A}"/>
                </a:ext>
              </a:extLst>
            </p:cNvPr>
            <p:cNvSpPr txBox="1">
              <a:spLocks noChangeArrowheads="1"/>
            </p:cNvSpPr>
            <p:nvPr/>
          </p:nvSpPr>
          <p:spPr bwMode="auto">
            <a:xfrm>
              <a:off x="6294788" y="3138580"/>
              <a:ext cx="447006" cy="2777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30 dh</a:t>
              </a:r>
            </a:p>
          </p:txBody>
        </p:sp>
        <p:sp>
          <p:nvSpPr>
            <p:cNvPr id="19" name="56 Rectángulo">
              <a:extLst>
                <a:ext uri="{FF2B5EF4-FFF2-40B4-BE49-F238E27FC236}">
                  <a16:creationId xmlns:a16="http://schemas.microsoft.com/office/drawing/2014/main" xmlns="" id="{DE7676E1-346A-95C5-1BA3-96AD5D40F6B7}"/>
                </a:ext>
              </a:extLst>
            </p:cNvPr>
            <p:cNvSpPr/>
            <p:nvPr/>
          </p:nvSpPr>
          <p:spPr bwMode="auto">
            <a:xfrm>
              <a:off x="4470400" y="280151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b="1"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20" name="177 Conector recto de flecha">
              <a:extLst>
                <a:ext uri="{FF2B5EF4-FFF2-40B4-BE49-F238E27FC236}">
                  <a16:creationId xmlns:a16="http://schemas.microsoft.com/office/drawing/2014/main" xmlns="" id="{42ED229E-6FAF-40F6-A631-138591B5C062}"/>
                </a:ext>
              </a:extLst>
            </p:cNvPr>
            <p:cNvCxnSpPr>
              <a:cxnSpLocks/>
              <a:stCxn id="26" idx="2"/>
              <a:endCxn id="22" idx="0"/>
            </p:cNvCxnSpPr>
            <p:nvPr/>
          </p:nvCxnSpPr>
          <p:spPr bwMode="auto">
            <a:xfrm>
              <a:off x="4860132" y="3886978"/>
              <a:ext cx="11112" cy="128330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1" name="177 Conector recto de flecha">
              <a:extLst>
                <a:ext uri="{FF2B5EF4-FFF2-40B4-BE49-F238E27FC236}">
                  <a16:creationId xmlns:a16="http://schemas.microsoft.com/office/drawing/2014/main" xmlns="" id="{DB376DCE-59C4-45CE-F8DD-0739EDDE8DC1}"/>
                </a:ext>
              </a:extLst>
            </p:cNvPr>
            <p:cNvCxnSpPr>
              <a:cxnSpLocks/>
              <a:endCxn id="19"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22" name="CuadroTexto 21">
              <a:extLst>
                <a:ext uri="{FF2B5EF4-FFF2-40B4-BE49-F238E27FC236}">
                  <a16:creationId xmlns:a16="http://schemas.microsoft.com/office/drawing/2014/main" xmlns="" id="{6316A37B-A11C-27C5-162F-EC1257355D8A}"/>
                </a:ext>
              </a:extLst>
            </p:cNvPr>
            <p:cNvSpPr txBox="1"/>
            <p:nvPr/>
          </p:nvSpPr>
          <p:spPr bwMode="auto">
            <a:xfrm>
              <a:off x="3751263" y="5170284"/>
              <a:ext cx="2239962" cy="1085711"/>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s-PE" sz="16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b="1" dirty="0">
                  <a:latin typeface="Inter" panose="020B0604020202020204" charset="0"/>
                  <a:ea typeface="Inter" panose="020B0604020202020204" charset="0"/>
                  <a:cs typeface="Arial" panose="020B0604020202020204" pitchFamily="34" charset="0"/>
                </a:rPr>
                <a:t>Aprueba el plan de minado, botaderos y componentes auxiliares, y </a:t>
              </a:r>
            </a:p>
            <a:p>
              <a:pPr marL="85725" indent="-85725">
                <a:buFontTx/>
                <a:buChar char="-"/>
                <a:defRPr/>
              </a:pPr>
              <a:r>
                <a:rPr lang="es-PE" sz="1600" b="1" dirty="0">
                  <a:latin typeface="Inter" panose="020B0604020202020204" charset="0"/>
                  <a:ea typeface="Inter" panose="020B0604020202020204" charset="0"/>
                  <a:cs typeface="Arial" panose="020B0604020202020204" pitchFamily="34" charset="0"/>
                </a:rPr>
                <a:t>Autoriza el inicio o reinicio de las actividades de explotación.</a:t>
              </a:r>
              <a:endParaRPr lang="es-PE" sz="1600" b="1" dirty="0">
                <a:solidFill>
                  <a:srgbClr val="000000"/>
                </a:solidFill>
                <a:latin typeface="Inter" panose="020B0604020202020204" charset="0"/>
                <a:ea typeface="Inter" panose="020B0604020202020204" charset="0"/>
                <a:cs typeface="Arial" panose="020B0604020202020204" pitchFamily="34" charset="0"/>
              </a:endParaRPr>
            </a:p>
          </p:txBody>
        </p:sp>
        <p:cxnSp>
          <p:nvCxnSpPr>
            <p:cNvPr id="23" name="Conector: angular 449">
              <a:extLst>
                <a:ext uri="{FF2B5EF4-FFF2-40B4-BE49-F238E27FC236}">
                  <a16:creationId xmlns:a16="http://schemas.microsoft.com/office/drawing/2014/main" xmlns="" id="{083CB8F8-32A4-D811-8340-CB13D5E1D720}"/>
                </a:ext>
              </a:extLst>
            </p:cNvPr>
            <p:cNvCxnSpPr>
              <a:cxnSpLocks/>
              <a:stCxn id="18" idx="0"/>
              <a:endCxn id="11" idx="6"/>
            </p:cNvCxnSpPr>
            <p:nvPr/>
          </p:nvCxnSpPr>
          <p:spPr bwMode="auto">
            <a:xfrm rot="16200000" flipV="1">
              <a:off x="5078086" y="1698374"/>
              <a:ext cx="1912021" cy="968391"/>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angular 451">
              <a:extLst>
                <a:ext uri="{FF2B5EF4-FFF2-40B4-BE49-F238E27FC236}">
                  <a16:creationId xmlns:a16="http://schemas.microsoft.com/office/drawing/2014/main" xmlns="" id="{4FFB871D-8867-9011-7DC9-D92BE2C7E721}"/>
                </a:ext>
              </a:extLst>
            </p:cNvPr>
            <p:cNvCxnSpPr>
              <a:cxnSpLocks/>
              <a:stCxn id="18" idx="2"/>
              <a:endCxn id="22" idx="3"/>
            </p:cNvCxnSpPr>
            <p:nvPr/>
          </p:nvCxnSpPr>
          <p:spPr bwMode="auto">
            <a:xfrm rot="5400000">
              <a:off x="5106348" y="4301197"/>
              <a:ext cx="2296821" cy="527066"/>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xmlns="" id="{6C1F3754-AE32-FAAA-3BCE-1768297F2C33}"/>
                </a:ext>
              </a:extLst>
            </p:cNvPr>
            <p:cNvSpPr txBox="1"/>
            <p:nvPr/>
          </p:nvSpPr>
          <p:spPr bwMode="auto">
            <a:xfrm flipH="1">
              <a:off x="4530665" y="3893736"/>
              <a:ext cx="281640" cy="201992"/>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wrap="square"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26" name="Decisión 22">
              <a:extLst>
                <a:ext uri="{FF2B5EF4-FFF2-40B4-BE49-F238E27FC236}">
                  <a16:creationId xmlns:a16="http://schemas.microsoft.com/office/drawing/2014/main" xmlns="" id="{77B351CB-855F-4A17-216E-631444BE1718}"/>
                </a:ext>
              </a:extLst>
            </p:cNvPr>
            <p:cNvSpPr/>
            <p:nvPr/>
          </p:nvSpPr>
          <p:spPr bwMode="auto">
            <a:xfrm>
              <a:off x="4470400" y="3485728"/>
              <a:ext cx="779463" cy="401251"/>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b="1"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27" name="CuadroTexto 26">
              <a:extLst>
                <a:ext uri="{FF2B5EF4-FFF2-40B4-BE49-F238E27FC236}">
                  <a16:creationId xmlns:a16="http://schemas.microsoft.com/office/drawing/2014/main" xmlns="" id="{A24E052A-B0F0-B93B-700B-62477C3FBB29}"/>
                </a:ext>
              </a:extLst>
            </p:cNvPr>
            <p:cNvSpPr txBox="1"/>
            <p:nvPr/>
          </p:nvSpPr>
          <p:spPr bwMode="auto">
            <a:xfrm>
              <a:off x="5469732" y="3422254"/>
              <a:ext cx="768360" cy="605978"/>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28" name="CuadroTexto 27">
              <a:extLst>
                <a:ext uri="{FF2B5EF4-FFF2-40B4-BE49-F238E27FC236}">
                  <a16:creationId xmlns:a16="http://schemas.microsoft.com/office/drawing/2014/main" xmlns="" id="{238E4EF8-99C6-AE3C-5839-8F202ABCC5E7}"/>
                </a:ext>
              </a:extLst>
            </p:cNvPr>
            <p:cNvSpPr txBox="1"/>
            <p:nvPr/>
          </p:nvSpPr>
          <p:spPr bwMode="auto">
            <a:xfrm>
              <a:off x="5480670" y="4312199"/>
              <a:ext cx="746136" cy="403986"/>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observaciones</a:t>
              </a:r>
            </a:p>
          </p:txBody>
        </p:sp>
        <p:sp>
          <p:nvSpPr>
            <p:cNvPr id="29" name="72 CuadroTexto">
              <a:extLst>
                <a:ext uri="{FF2B5EF4-FFF2-40B4-BE49-F238E27FC236}">
                  <a16:creationId xmlns:a16="http://schemas.microsoft.com/office/drawing/2014/main" xmlns="" id="{91A4C758-AC79-678F-9092-B3C1F87156CD}"/>
                </a:ext>
              </a:extLst>
            </p:cNvPr>
            <p:cNvSpPr txBox="1">
              <a:spLocks noChangeArrowheads="1"/>
            </p:cNvSpPr>
            <p:nvPr/>
          </p:nvSpPr>
          <p:spPr bwMode="auto">
            <a:xfrm>
              <a:off x="5854855" y="4018116"/>
              <a:ext cx="383064" cy="2019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30" name="CuadroTexto 29">
              <a:extLst>
                <a:ext uri="{FF2B5EF4-FFF2-40B4-BE49-F238E27FC236}">
                  <a16:creationId xmlns:a16="http://schemas.microsoft.com/office/drawing/2014/main" xmlns="" id="{5FA4997D-FA27-72F4-9785-3C67B091ECCD}"/>
                </a:ext>
              </a:extLst>
            </p:cNvPr>
            <p:cNvSpPr txBox="1"/>
            <p:nvPr/>
          </p:nvSpPr>
          <p:spPr bwMode="auto">
            <a:xfrm>
              <a:off x="5163751" y="3393498"/>
              <a:ext cx="249231" cy="201992"/>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wrap="square"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31" name="Conector recto de flecha 30">
              <a:extLst>
                <a:ext uri="{FF2B5EF4-FFF2-40B4-BE49-F238E27FC236}">
                  <a16:creationId xmlns:a16="http://schemas.microsoft.com/office/drawing/2014/main" xmlns="" id="{34C93733-D1FF-5790-53C5-569DDEB78558}"/>
                </a:ext>
              </a:extLst>
            </p:cNvPr>
            <p:cNvCxnSpPr>
              <a:cxnSpLocks/>
              <a:stCxn id="26" idx="3"/>
              <a:endCxn id="27" idx="1"/>
            </p:cNvCxnSpPr>
            <p:nvPr/>
          </p:nvCxnSpPr>
          <p:spPr bwMode="auto">
            <a:xfrm>
              <a:off x="5249863" y="3686354"/>
              <a:ext cx="219869" cy="38890"/>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xmlns="" id="{1FF3B8CE-54C9-8305-52CF-A2A2D4F1BC11}"/>
                </a:ext>
              </a:extLst>
            </p:cNvPr>
            <p:cNvCxnSpPr>
              <a:cxnSpLocks/>
              <a:stCxn id="19" idx="2"/>
              <a:endCxn id="26" idx="0"/>
            </p:cNvCxnSpPr>
            <p:nvPr/>
          </p:nvCxnSpPr>
          <p:spPr bwMode="auto">
            <a:xfrm>
              <a:off x="4856163" y="3119015"/>
              <a:ext cx="3969" cy="366712"/>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33" name="Conector recto 32">
              <a:extLst>
                <a:ext uri="{FF2B5EF4-FFF2-40B4-BE49-F238E27FC236}">
                  <a16:creationId xmlns:a16="http://schemas.microsoft.com/office/drawing/2014/main" xmlns="" id="{F0F3991A-3901-88E6-5C69-50AAD36200A0}"/>
                </a:ext>
              </a:extLst>
            </p:cNvPr>
            <p:cNvCxnSpPr>
              <a:cxnSpLocks/>
              <a:stCxn id="27" idx="2"/>
              <a:endCxn id="28" idx="0"/>
            </p:cNvCxnSpPr>
            <p:nvPr/>
          </p:nvCxnSpPr>
          <p:spPr bwMode="auto">
            <a:xfrm flipH="1">
              <a:off x="5853738" y="4028232"/>
              <a:ext cx="174" cy="283966"/>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4" name="72 CuadroTexto">
              <a:extLst>
                <a:ext uri="{FF2B5EF4-FFF2-40B4-BE49-F238E27FC236}">
                  <a16:creationId xmlns:a16="http://schemas.microsoft.com/office/drawing/2014/main" xmlns="" id="{2815294B-17B1-0EF4-2A5B-2F8F0B1C7D1F}"/>
                </a:ext>
              </a:extLst>
            </p:cNvPr>
            <p:cNvSpPr txBox="1">
              <a:spLocks noChangeArrowheads="1"/>
            </p:cNvSpPr>
            <p:nvPr/>
          </p:nvSpPr>
          <p:spPr bwMode="auto">
            <a:xfrm>
              <a:off x="5587206" y="2330819"/>
              <a:ext cx="534018" cy="2777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35" name="Conector recto de flecha 34">
              <a:extLst>
                <a:ext uri="{FF2B5EF4-FFF2-40B4-BE49-F238E27FC236}">
                  <a16:creationId xmlns:a16="http://schemas.microsoft.com/office/drawing/2014/main" xmlns="" id="{DCF63A26-AE3F-90BE-484A-AE9493602E76}"/>
                </a:ext>
              </a:extLst>
            </p:cNvPr>
            <p:cNvCxnSpPr>
              <a:cxnSpLocks/>
              <a:stCxn id="34" idx="2"/>
              <a:endCxn id="27" idx="0"/>
            </p:cNvCxnSpPr>
            <p:nvPr/>
          </p:nvCxnSpPr>
          <p:spPr bwMode="auto">
            <a:xfrm flipH="1">
              <a:off x="5853912" y="2608559"/>
              <a:ext cx="303" cy="813695"/>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angular 32">
              <a:extLst>
                <a:ext uri="{FF2B5EF4-FFF2-40B4-BE49-F238E27FC236}">
                  <a16:creationId xmlns:a16="http://schemas.microsoft.com/office/drawing/2014/main" xmlns="" id="{BE21C94B-844B-749B-D358-FA2B58FE70B9}"/>
                </a:ext>
              </a:extLst>
            </p:cNvPr>
            <p:cNvCxnSpPr>
              <a:cxnSpLocks/>
              <a:stCxn id="34" idx="0"/>
              <a:endCxn id="11" idx="6"/>
            </p:cNvCxnSpPr>
            <p:nvPr/>
          </p:nvCxnSpPr>
          <p:spPr bwMode="auto">
            <a:xfrm rot="16200000" flipV="1">
              <a:off x="5149928" y="1626531"/>
              <a:ext cx="1104260" cy="304316"/>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24 Rectángulo">
              <a:extLst>
                <a:ext uri="{FF2B5EF4-FFF2-40B4-BE49-F238E27FC236}">
                  <a16:creationId xmlns:a16="http://schemas.microsoft.com/office/drawing/2014/main" xmlns="" id="{BCCB592E-27AF-FECE-5944-D6179EC16E3D}"/>
                </a:ext>
              </a:extLst>
            </p:cNvPr>
            <p:cNvSpPr/>
            <p:nvPr/>
          </p:nvSpPr>
          <p:spPr bwMode="auto">
            <a:xfrm>
              <a:off x="4117184" y="1872227"/>
              <a:ext cx="1470022"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cxnSp>
          <p:nvCxnSpPr>
            <p:cNvPr id="38" name="Conector angular 34">
              <a:extLst>
                <a:ext uri="{FF2B5EF4-FFF2-40B4-BE49-F238E27FC236}">
                  <a16:creationId xmlns:a16="http://schemas.microsoft.com/office/drawing/2014/main" xmlns="" id="{5740F47A-B328-DBE0-EFF3-47CD34D40BB2}"/>
                </a:ext>
              </a:extLst>
            </p:cNvPr>
            <p:cNvCxnSpPr>
              <a:cxnSpLocks/>
              <a:stCxn id="28" idx="1"/>
              <a:endCxn id="22" idx="0"/>
            </p:cNvCxnSpPr>
            <p:nvPr/>
          </p:nvCxnSpPr>
          <p:spPr bwMode="auto">
            <a:xfrm rot="10800000" flipV="1">
              <a:off x="4871244" y="4514191"/>
              <a:ext cx="609426" cy="656092"/>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2" name="Group 2">
            <a:extLst>
              <a:ext uri="{FF2B5EF4-FFF2-40B4-BE49-F238E27FC236}">
                <a16:creationId xmlns:a16="http://schemas.microsoft.com/office/drawing/2014/main" xmlns="" id="{6E2C751C-05AF-0611-5716-DF776BFD98CD}"/>
              </a:ext>
            </a:extLst>
          </p:cNvPr>
          <p:cNvGrpSpPr/>
          <p:nvPr/>
        </p:nvGrpSpPr>
        <p:grpSpPr>
          <a:xfrm>
            <a:off x="6397409" y="7556924"/>
            <a:ext cx="10861891" cy="2730076"/>
            <a:chOff x="0" y="0"/>
            <a:chExt cx="1363973" cy="342827"/>
          </a:xfrm>
        </p:grpSpPr>
        <p:sp>
          <p:nvSpPr>
            <p:cNvPr id="53" name="Freeform 3">
              <a:extLst>
                <a:ext uri="{FF2B5EF4-FFF2-40B4-BE49-F238E27FC236}">
                  <a16:creationId xmlns:a16="http://schemas.microsoft.com/office/drawing/2014/main" xmlns="" id="{4BB85435-2EE9-CBBA-6EC4-41CE879B8A6A}"/>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54" name="TextBox 4">
              <a:extLst>
                <a:ext uri="{FF2B5EF4-FFF2-40B4-BE49-F238E27FC236}">
                  <a16:creationId xmlns:a16="http://schemas.microsoft.com/office/drawing/2014/main" xmlns="" id="{EE408E0A-9347-1FCE-38FE-40886C94ACAB}"/>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33337436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7EFAB9-F18F-2115-8CAF-C491A42591D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6466ACF4-5E17-3BC1-38DF-F9E2C196E38E}"/>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A675BC94-1A45-5A48-7D32-991C8BCDBD92}"/>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42F10A03-E2F4-14B7-74B1-8CD80B354049}"/>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DEF18A3A-1222-D203-745C-890D45DF8F7E}"/>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ítulo 1">
            <a:extLst>
              <a:ext uri="{FF2B5EF4-FFF2-40B4-BE49-F238E27FC236}">
                <a16:creationId xmlns:a16="http://schemas.microsoft.com/office/drawing/2014/main" xmlns="" id="{60E5D51B-9BE2-4551-71F5-13A4D36B91F9}"/>
              </a:ext>
            </a:extLst>
          </p:cNvPr>
          <p:cNvSpPr txBox="1">
            <a:spLocks/>
          </p:cNvSpPr>
          <p:nvPr/>
        </p:nvSpPr>
        <p:spPr>
          <a:xfrm>
            <a:off x="345083" y="3189142"/>
            <a:ext cx="3415156" cy="17724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Autorización de Explotación, implica nuevas áreas</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A9293DAC-7D3C-A00A-8211-1B267C7F77BF}"/>
              </a:ext>
            </a:extLst>
          </p:cNvPr>
          <p:cNvSpPr txBox="1">
            <a:spLocks/>
          </p:cNvSpPr>
          <p:nvPr/>
        </p:nvSpPr>
        <p:spPr>
          <a:xfrm>
            <a:off x="345083" y="4961543"/>
            <a:ext cx="3415155" cy="3866399"/>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endParaRPr>
          </a:p>
          <a:p>
            <a:r>
              <a:rPr lang="es-PE" sz="3800" b="1" dirty="0">
                <a:solidFill>
                  <a:schemeClr val="accent2">
                    <a:lumMod val="50000"/>
                  </a:schemeClr>
                </a:solidFill>
                <a:latin typeface="Inter" panose="020B0604020202020204" charset="0"/>
                <a:ea typeface="Inter" panose="020B0604020202020204" charset="0"/>
              </a:rPr>
              <a:t>Art. 103 del RPM</a:t>
            </a:r>
            <a:br>
              <a:rPr lang="es-PE" sz="3800" b="1" dirty="0">
                <a:solidFill>
                  <a:schemeClr val="accent2">
                    <a:lumMod val="50000"/>
                  </a:schemeClr>
                </a:solidFill>
                <a:latin typeface="Inter" panose="020B0604020202020204" charset="0"/>
                <a:ea typeface="Inter" panose="020B0604020202020204" charset="0"/>
              </a:rPr>
            </a:br>
            <a:r>
              <a:rPr lang="es-PE" sz="3800" b="1" dirty="0">
                <a:solidFill>
                  <a:schemeClr val="accent2">
                    <a:lumMod val="50000"/>
                  </a:schemeClr>
                </a:solidFill>
                <a:latin typeface="Inter" panose="020B0604020202020204" charset="0"/>
                <a:ea typeface="Inter" panose="020B0604020202020204" charset="0"/>
              </a:rPr>
              <a:t>El plazo máximo de evaluación: es de treinta (30) días hábiles </a:t>
            </a:r>
            <a:br>
              <a:rPr lang="es-PE" sz="3800" b="1" dirty="0">
                <a:solidFill>
                  <a:schemeClr val="accent2">
                    <a:lumMod val="50000"/>
                  </a:schemeClr>
                </a:solidFill>
                <a:latin typeface="Inter" panose="020B0604020202020204" charset="0"/>
                <a:ea typeface="Inter" panose="020B0604020202020204" charset="0"/>
              </a:rPr>
            </a:br>
            <a:r>
              <a:rPr lang="es-PE" sz="3800" b="1" dirty="0">
                <a:solidFill>
                  <a:schemeClr val="accent2">
                    <a:lumMod val="50000"/>
                  </a:schemeClr>
                </a:solidFill>
                <a:latin typeface="Inter" panose="020B0604020202020204" charset="0"/>
                <a:ea typeface="Inter" panose="020B0604020202020204" charset="0"/>
              </a:rPr>
              <a:t/>
            </a:r>
            <a:br>
              <a:rPr lang="es-PE" sz="3800" b="1" dirty="0">
                <a:solidFill>
                  <a:schemeClr val="accent2">
                    <a:lumMod val="50000"/>
                  </a:schemeClr>
                </a:solidFill>
                <a:latin typeface="Inter" panose="020B0604020202020204" charset="0"/>
                <a:ea typeface="Inter" panose="020B0604020202020204" charset="0"/>
              </a:rPr>
            </a:br>
            <a:r>
              <a:rPr lang="es-PE" sz="3800" b="1" dirty="0">
                <a:solidFill>
                  <a:schemeClr val="accent2">
                    <a:lumMod val="50000"/>
                  </a:schemeClr>
                </a:solidFill>
                <a:latin typeface="Inter" panose="020B0604020202020204" charset="0"/>
                <a:ea typeface="Inter" panose="020B0604020202020204" charset="0"/>
              </a:rPr>
              <a:t>El procedimiento es de evaluación previa sujeto a silencio administrativo</a:t>
            </a:r>
            <a:br>
              <a:rPr lang="es-PE" sz="3800" b="1" dirty="0">
                <a:solidFill>
                  <a:schemeClr val="accent2">
                    <a:lumMod val="50000"/>
                  </a:schemeClr>
                </a:solidFill>
                <a:latin typeface="Inter" panose="020B0604020202020204" charset="0"/>
                <a:ea typeface="Inter" panose="020B0604020202020204" charset="0"/>
              </a:rPr>
            </a:br>
            <a:r>
              <a:rPr lang="es-PE" sz="3800" b="1" dirty="0">
                <a:solidFill>
                  <a:schemeClr val="accent2">
                    <a:lumMod val="50000"/>
                  </a:schemeClr>
                </a:solidFill>
                <a:latin typeface="Inter" panose="020B0604020202020204" charset="0"/>
                <a:ea typeface="Inter" panose="020B0604020202020204" charset="0"/>
              </a:rPr>
              <a:t>negativo.</a:t>
            </a:r>
          </a:p>
        </p:txBody>
      </p:sp>
      <p:grpSp>
        <p:nvGrpSpPr>
          <p:cNvPr id="39" name="Grupo 38">
            <a:extLst>
              <a:ext uri="{FF2B5EF4-FFF2-40B4-BE49-F238E27FC236}">
                <a16:creationId xmlns:a16="http://schemas.microsoft.com/office/drawing/2014/main" xmlns="" id="{F065A4A4-587E-1C3C-EFE7-8D009DC6BAF0}"/>
              </a:ext>
            </a:extLst>
          </p:cNvPr>
          <p:cNvGrpSpPr/>
          <p:nvPr/>
        </p:nvGrpSpPr>
        <p:grpSpPr>
          <a:xfrm>
            <a:off x="4114800" y="3009900"/>
            <a:ext cx="12877800" cy="6735965"/>
            <a:chOff x="1708974" y="781050"/>
            <a:chExt cx="5005829" cy="5402443"/>
          </a:xfrm>
        </p:grpSpPr>
        <p:sp>
          <p:nvSpPr>
            <p:cNvPr id="40" name="3 Elipse">
              <a:extLst>
                <a:ext uri="{FF2B5EF4-FFF2-40B4-BE49-F238E27FC236}">
                  <a16:creationId xmlns:a16="http://schemas.microsoft.com/office/drawing/2014/main" xmlns="" id="{5E7D44FA-910D-43D9-F77C-271EFB071B17}"/>
                </a:ext>
              </a:extLst>
            </p:cNvPr>
            <p:cNvSpPr/>
            <p:nvPr/>
          </p:nvSpPr>
          <p:spPr>
            <a:xfrm>
              <a:off x="4146550" y="781050"/>
              <a:ext cx="1403350"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41" name="5 Conector recto de flecha">
              <a:extLst>
                <a:ext uri="{FF2B5EF4-FFF2-40B4-BE49-F238E27FC236}">
                  <a16:creationId xmlns:a16="http://schemas.microsoft.com/office/drawing/2014/main" xmlns="" id="{47F90DAA-B16F-7CD2-2778-EC5018E48649}"/>
                </a:ext>
              </a:extLst>
            </p:cNvPr>
            <p:cNvCxnSpPr>
              <a:cxnSpLocks/>
              <a:stCxn id="40" idx="4"/>
            </p:cNvCxnSpPr>
            <p:nvPr/>
          </p:nvCxnSpPr>
          <p:spPr>
            <a:xfrm>
              <a:off x="4848225" y="1541463"/>
              <a:ext cx="1" cy="44106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42" name="9 Título">
              <a:extLst>
                <a:ext uri="{FF2B5EF4-FFF2-40B4-BE49-F238E27FC236}">
                  <a16:creationId xmlns:a16="http://schemas.microsoft.com/office/drawing/2014/main" xmlns="" id="{E51D77D0-2BFE-B597-E716-C2196CE8B2CF}"/>
                </a:ext>
              </a:extLst>
            </p:cNvPr>
            <p:cNvSpPr txBox="1">
              <a:spLocks/>
            </p:cNvSpPr>
            <p:nvPr/>
          </p:nvSpPr>
          <p:spPr>
            <a:xfrm>
              <a:off x="1708974" y="781050"/>
              <a:ext cx="1441450" cy="766763"/>
            </a:xfrm>
            <a:prstGeom prst="rect">
              <a:avLst/>
            </a:prstGeom>
            <a:solidFill>
              <a:srgbClr val="FFFFCC"/>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700" dirty="0">
                  <a:solidFill>
                    <a:srgbClr val="000000"/>
                  </a:solidFill>
                  <a:latin typeface="Inter" panose="020B0604020202020204" charset="0"/>
                  <a:ea typeface="Inter" panose="020B0604020202020204" charset="0"/>
                  <a:cs typeface="Arial" panose="020B0604020202020204" pitchFamily="34" charset="0"/>
                </a:rPr>
                <a:t>Si se advierte en forma referencial que el proyecto se encuentra en PPII se solicita opinión a OGGS.</a:t>
              </a:r>
            </a:p>
          </p:txBody>
        </p:sp>
        <p:sp>
          <p:nvSpPr>
            <p:cNvPr id="43" name="56 Rectángulo">
              <a:extLst>
                <a:ext uri="{FF2B5EF4-FFF2-40B4-BE49-F238E27FC236}">
                  <a16:creationId xmlns:a16="http://schemas.microsoft.com/office/drawing/2014/main" xmlns="" id="{405AE74B-2F90-1874-20B0-32E9254B8F9B}"/>
                </a:ext>
              </a:extLst>
            </p:cNvPr>
            <p:cNvSpPr/>
            <p:nvPr/>
          </p:nvSpPr>
          <p:spPr>
            <a:xfrm>
              <a:off x="1720850" y="2499519"/>
              <a:ext cx="1858786" cy="2689532"/>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85725" indent="-85725" eaLnBrk="1" hangingPunct="1">
                <a:buFontTx/>
                <a:buChar char="-"/>
                <a:defRPr/>
              </a:pPr>
              <a:r>
                <a:rPr lang="es-PE" sz="1600" dirty="0">
                  <a:solidFill>
                    <a:schemeClr val="tx1"/>
                  </a:solidFill>
                  <a:latin typeface="Inter" panose="020B0604020202020204" charset="0"/>
                  <a:ea typeface="Inter" panose="020B0604020202020204" charset="0"/>
                  <a:cs typeface="Arial" panose="020B0604020202020204" pitchFamily="34" charset="0"/>
                </a:rPr>
                <a:t>Derecho de tramite</a:t>
              </a:r>
            </a:p>
            <a:p>
              <a:pPr marL="85725" indent="-85725">
                <a:buFontTx/>
                <a:buChar char="-"/>
                <a:defRPr/>
              </a:pPr>
              <a:r>
                <a:rPr lang="es-PE" sz="1600" dirty="0">
                  <a:solidFill>
                    <a:schemeClr val="tx1"/>
                  </a:solidFill>
                  <a:latin typeface="Inter" panose="020B0604020202020204" charset="0"/>
                  <a:ea typeface="Inter" panose="020B0604020202020204" charset="0"/>
                  <a:cs typeface="Arial" panose="020B0604020202020204" pitchFamily="34" charset="0"/>
                </a:rPr>
                <a:t>Derechos Mineros</a:t>
              </a:r>
              <a:endParaRPr lang="es-PE" sz="1600" i="1" dirty="0">
                <a:solidFill>
                  <a:schemeClr val="tx1"/>
                </a:solidFill>
                <a:latin typeface="Inter" panose="020B0604020202020204" charset="0"/>
                <a:ea typeface="Inter" panose="020B0604020202020204" charset="0"/>
                <a:cs typeface="Arial" panose="020B0604020202020204" pitchFamily="34" charset="0"/>
              </a:endParaRPr>
            </a:p>
            <a:p>
              <a:pPr marL="85725" indent="-85725">
                <a:buFontTx/>
                <a:buChar char="-"/>
                <a:defRPr/>
              </a:pPr>
              <a:r>
                <a:rPr lang="es-PE" sz="1600" dirty="0">
                  <a:solidFill>
                    <a:schemeClr val="tx1"/>
                  </a:solidFill>
                  <a:latin typeface="Inter" panose="020B0604020202020204" charset="0"/>
                  <a:ea typeface="Inter" panose="020B0604020202020204" charset="0"/>
                  <a:cs typeface="Arial" panose="020B0604020202020204" pitchFamily="34" charset="0"/>
                </a:rPr>
                <a:t>Instrumento de Gestión Ambiental aprobado.</a:t>
              </a:r>
            </a:p>
            <a:p>
              <a:pPr marL="85725" indent="-85725">
                <a:buFontTx/>
                <a:buChar char="-"/>
                <a:defRPr/>
              </a:pPr>
              <a:r>
                <a:rPr lang="es-PE" sz="1600" dirty="0">
                  <a:solidFill>
                    <a:schemeClr val="tx1"/>
                  </a:solidFill>
                  <a:latin typeface="Inter" panose="020B0604020202020204" charset="0"/>
                  <a:ea typeface="Inter" panose="020B0604020202020204" charset="0"/>
                  <a:cs typeface="Arial" panose="020B0604020202020204" pitchFamily="34" charset="0"/>
                </a:rPr>
                <a:t>Plan de Cierre aprobado o cargo de presentación adjuntando garantía preliminar.</a:t>
              </a:r>
            </a:p>
            <a:p>
              <a:pPr marL="85725" indent="-85725">
                <a:buFontTx/>
                <a:buChar char="-"/>
                <a:defRPr/>
              </a:pPr>
              <a:r>
                <a:rPr lang="es-PE" sz="1600" dirty="0">
                  <a:solidFill>
                    <a:schemeClr val="tx1"/>
                  </a:solidFill>
                  <a:latin typeface="Inter" panose="020B0604020202020204" charset="0"/>
                  <a:ea typeface="Inter" panose="020B0604020202020204" charset="0"/>
                  <a:cs typeface="Arial" panose="020B0604020202020204" pitchFamily="34" charset="0"/>
                </a:rPr>
                <a:t>Estudio Técnico del proyecto de modificación de la autorización de explotación minera.</a:t>
              </a:r>
            </a:p>
            <a:p>
              <a:pPr marL="85725" indent="-85725">
                <a:buFontTx/>
                <a:buChar char="-"/>
                <a:defRPr/>
              </a:pPr>
              <a:r>
                <a:rPr lang="es-PE" sz="1600" dirty="0">
                  <a:solidFill>
                    <a:schemeClr val="tx1"/>
                  </a:solidFill>
                  <a:latin typeface="Inter" panose="020B0604020202020204" charset="0"/>
                  <a:ea typeface="Inter" panose="020B0604020202020204" charset="0"/>
                  <a:cs typeface="Arial" panose="020B0604020202020204" pitchFamily="34" charset="0"/>
                </a:rPr>
                <a:t>Autorización del terreno superficial.</a:t>
              </a:r>
            </a:p>
            <a:p>
              <a:pPr marL="85725" indent="-85725">
                <a:buFontTx/>
                <a:buChar char="-"/>
                <a:defRPr/>
              </a:pPr>
              <a:r>
                <a:rPr lang="es-PE" sz="1600" dirty="0">
                  <a:solidFill>
                    <a:schemeClr val="tx1"/>
                  </a:solidFill>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a:t>
              </a:r>
            </a:p>
            <a:p>
              <a:pPr marL="85725" indent="-85725">
                <a:buFontTx/>
                <a:buChar char="-"/>
                <a:defRPr/>
              </a:pPr>
              <a:r>
                <a:rPr lang="es-PE" sz="1600" dirty="0">
                  <a:solidFill>
                    <a:schemeClr val="tx1"/>
                  </a:solidFill>
                  <a:latin typeface="Inter" panose="020B0604020202020204" charset="0"/>
                  <a:ea typeface="Inter" panose="020B0604020202020204" charset="0"/>
                  <a:cs typeface="Arial" panose="020B0604020202020204" pitchFamily="34" charset="0"/>
                </a:rPr>
                <a:t>DJ de no afectación al derecho de vía o constancia de autoridad competente.</a:t>
              </a:r>
            </a:p>
          </p:txBody>
        </p:sp>
        <p:cxnSp>
          <p:nvCxnSpPr>
            <p:cNvPr id="44" name="Conector: angular 338">
              <a:extLst>
                <a:ext uri="{FF2B5EF4-FFF2-40B4-BE49-F238E27FC236}">
                  <a16:creationId xmlns:a16="http://schemas.microsoft.com/office/drawing/2014/main" xmlns="" id="{2245F70C-0590-321C-32E6-FAC60F187945}"/>
                </a:ext>
              </a:extLst>
            </p:cNvPr>
            <p:cNvCxnSpPr>
              <a:cxnSpLocks/>
              <a:stCxn id="66" idx="1"/>
              <a:endCxn id="42" idx="3"/>
            </p:cNvCxnSpPr>
            <p:nvPr/>
          </p:nvCxnSpPr>
          <p:spPr>
            <a:xfrm rot="10800000">
              <a:off x="3150425" y="1164433"/>
              <a:ext cx="1079743" cy="1000689"/>
            </a:xfrm>
            <a:prstGeom prst="bentConnector3">
              <a:avLst>
                <a:gd name="adj1" fmla="val 50000"/>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12">
              <a:extLst>
                <a:ext uri="{FF2B5EF4-FFF2-40B4-BE49-F238E27FC236}">
                  <a16:creationId xmlns:a16="http://schemas.microsoft.com/office/drawing/2014/main" xmlns="" id="{2DA3A185-4476-53D8-33FA-09BFA3DBD1C6}"/>
                </a:ext>
              </a:extLst>
            </p:cNvPr>
            <p:cNvCxnSpPr>
              <a:stCxn id="66" idx="1"/>
              <a:endCxn id="43" idx="0"/>
            </p:cNvCxnSpPr>
            <p:nvPr/>
          </p:nvCxnSpPr>
          <p:spPr>
            <a:xfrm rot="10800000" flipV="1">
              <a:off x="2650244" y="2165121"/>
              <a:ext cx="1579923" cy="33439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2">
              <a:extLst>
                <a:ext uri="{FF2B5EF4-FFF2-40B4-BE49-F238E27FC236}">
                  <a16:creationId xmlns:a16="http://schemas.microsoft.com/office/drawing/2014/main" xmlns="" id="{DD3A3F24-70B2-339B-68F3-555CDDF8D99A}"/>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47" name="72 CuadroTexto">
              <a:extLst>
                <a:ext uri="{FF2B5EF4-FFF2-40B4-BE49-F238E27FC236}">
                  <a16:creationId xmlns:a16="http://schemas.microsoft.com/office/drawing/2014/main" xmlns="" id="{5E5CE62A-B444-2870-D1BC-0B248C6D2430}"/>
                </a:ext>
              </a:extLst>
            </p:cNvPr>
            <p:cNvSpPr txBox="1">
              <a:spLocks noChangeArrowheads="1"/>
            </p:cNvSpPr>
            <p:nvPr/>
          </p:nvSpPr>
          <p:spPr bwMode="auto">
            <a:xfrm>
              <a:off x="6169465" y="3138580"/>
              <a:ext cx="545338" cy="2591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500" b="1" dirty="0">
                  <a:solidFill>
                    <a:srgbClr val="000000"/>
                  </a:solidFill>
                  <a:latin typeface="Inter" panose="020B0604020202020204" charset="0"/>
                  <a:ea typeface="Inter" panose="020B0604020202020204" charset="0"/>
                  <a:cs typeface="Arial" panose="020B0604020202020204" pitchFamily="34" charset="0"/>
                </a:rPr>
                <a:t>30 dh</a:t>
              </a:r>
            </a:p>
          </p:txBody>
        </p:sp>
        <p:sp>
          <p:nvSpPr>
            <p:cNvPr id="48" name="56 Rectángulo">
              <a:extLst>
                <a:ext uri="{FF2B5EF4-FFF2-40B4-BE49-F238E27FC236}">
                  <a16:creationId xmlns:a16="http://schemas.microsoft.com/office/drawing/2014/main" xmlns="" id="{D37351CF-0157-472E-0427-5243205F8239}"/>
                </a:ext>
              </a:extLst>
            </p:cNvPr>
            <p:cNvSpPr/>
            <p:nvPr/>
          </p:nvSpPr>
          <p:spPr bwMode="auto">
            <a:xfrm>
              <a:off x="4470400" y="280151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500" b="1"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49" name="177 Conector recto de flecha">
              <a:extLst>
                <a:ext uri="{FF2B5EF4-FFF2-40B4-BE49-F238E27FC236}">
                  <a16:creationId xmlns:a16="http://schemas.microsoft.com/office/drawing/2014/main" xmlns="" id="{FB2BC25D-A783-61BF-72BE-806C7622D0A2}"/>
                </a:ext>
              </a:extLst>
            </p:cNvPr>
            <p:cNvCxnSpPr>
              <a:cxnSpLocks/>
              <a:stCxn id="55" idx="2"/>
              <a:endCxn id="51" idx="0"/>
            </p:cNvCxnSpPr>
            <p:nvPr/>
          </p:nvCxnSpPr>
          <p:spPr bwMode="auto">
            <a:xfrm>
              <a:off x="4856163" y="3853490"/>
              <a:ext cx="7144" cy="960009"/>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50" name="177 Conector recto de flecha">
              <a:extLst>
                <a:ext uri="{FF2B5EF4-FFF2-40B4-BE49-F238E27FC236}">
                  <a16:creationId xmlns:a16="http://schemas.microsoft.com/office/drawing/2014/main" xmlns="" id="{BAB01893-E261-7EF8-8CF8-A98DA53F28C6}"/>
                </a:ext>
              </a:extLst>
            </p:cNvPr>
            <p:cNvCxnSpPr>
              <a:cxnSpLocks/>
              <a:endCxn id="48"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51" name="CuadroTexto 50">
              <a:extLst>
                <a:ext uri="{FF2B5EF4-FFF2-40B4-BE49-F238E27FC236}">
                  <a16:creationId xmlns:a16="http://schemas.microsoft.com/office/drawing/2014/main" xmlns="" id="{9A7F3524-722A-A365-2640-ACECF1B5FD80}"/>
                </a:ext>
              </a:extLst>
            </p:cNvPr>
            <p:cNvSpPr txBox="1"/>
            <p:nvPr/>
          </p:nvSpPr>
          <p:spPr bwMode="auto">
            <a:xfrm>
              <a:off x="3776182" y="4813498"/>
              <a:ext cx="2174250" cy="1369995"/>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5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500" dirty="0">
                  <a:latin typeface="Inter" panose="020B0604020202020204" charset="0"/>
                  <a:ea typeface="Inter" panose="020B0604020202020204" charset="0"/>
                  <a:cs typeface="Arial" panose="020B0604020202020204" pitchFamily="34" charset="0"/>
                </a:rPr>
                <a:t>Aprueba la modificación de la autorización de actividades de explotación, y </a:t>
              </a:r>
            </a:p>
            <a:p>
              <a:pPr marL="85725" indent="-85725">
                <a:buFontTx/>
                <a:buChar char="-"/>
                <a:defRPr/>
              </a:pPr>
              <a:r>
                <a:rPr lang="es-PE" sz="1500" dirty="0">
                  <a:latin typeface="Inter" panose="020B0604020202020204" charset="0"/>
                  <a:ea typeface="Inter" panose="020B0604020202020204" charset="0"/>
                  <a:cs typeface="Arial" panose="020B0604020202020204" pitchFamily="34" charset="0"/>
                </a:rPr>
                <a:t>Autorizar el Cambio del método de explotación, o Ampliación del límite final del tajo y/o nuevas Bocaminas, o la construcción y funcionamiento de Construcción de un nuevo depósito.</a:t>
              </a:r>
            </a:p>
          </p:txBody>
        </p:sp>
        <p:cxnSp>
          <p:nvCxnSpPr>
            <p:cNvPr id="52" name="Conector: angular 449">
              <a:extLst>
                <a:ext uri="{FF2B5EF4-FFF2-40B4-BE49-F238E27FC236}">
                  <a16:creationId xmlns:a16="http://schemas.microsoft.com/office/drawing/2014/main" xmlns="" id="{24832E62-9E9B-B0BA-EAF5-E0BD5F99428D}"/>
                </a:ext>
              </a:extLst>
            </p:cNvPr>
            <p:cNvCxnSpPr>
              <a:cxnSpLocks/>
              <a:stCxn id="47" idx="0"/>
              <a:endCxn id="40" idx="6"/>
            </p:cNvCxnSpPr>
            <p:nvPr/>
          </p:nvCxnSpPr>
          <p:spPr bwMode="auto">
            <a:xfrm rot="16200000" flipV="1">
              <a:off x="5007356" y="1703801"/>
              <a:ext cx="1977323" cy="892234"/>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ector: angular 451">
              <a:extLst>
                <a:ext uri="{FF2B5EF4-FFF2-40B4-BE49-F238E27FC236}">
                  <a16:creationId xmlns:a16="http://schemas.microsoft.com/office/drawing/2014/main" xmlns="" id="{A0F0E119-C3BD-9683-9AB5-CE384E10F7D2}"/>
                </a:ext>
              </a:extLst>
            </p:cNvPr>
            <p:cNvCxnSpPr>
              <a:cxnSpLocks/>
              <a:stCxn id="47" idx="2"/>
              <a:endCxn id="51" idx="3"/>
            </p:cNvCxnSpPr>
            <p:nvPr/>
          </p:nvCxnSpPr>
          <p:spPr bwMode="auto">
            <a:xfrm rot="5400000">
              <a:off x="5145920" y="4202281"/>
              <a:ext cx="2100728" cy="491702"/>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CuadroTexto 53">
              <a:extLst>
                <a:ext uri="{FF2B5EF4-FFF2-40B4-BE49-F238E27FC236}">
                  <a16:creationId xmlns:a16="http://schemas.microsoft.com/office/drawing/2014/main" xmlns="" id="{CB3DA5E8-6BAA-C000-6952-231E8107675D}"/>
                </a:ext>
              </a:extLst>
            </p:cNvPr>
            <p:cNvSpPr txBox="1"/>
            <p:nvPr/>
          </p:nvSpPr>
          <p:spPr bwMode="auto">
            <a:xfrm flipH="1">
              <a:off x="4677560" y="3923906"/>
              <a:ext cx="165100" cy="185134"/>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500" b="1" dirty="0">
                  <a:latin typeface="Inter" panose="020B0604020202020204" charset="0"/>
                  <a:ea typeface="Inter" panose="020B0604020202020204" charset="0"/>
                  <a:cs typeface="Arial" panose="020B0604020202020204" pitchFamily="34" charset="0"/>
                </a:rPr>
                <a:t>SI</a:t>
              </a:r>
            </a:p>
          </p:txBody>
        </p:sp>
        <p:sp>
          <p:nvSpPr>
            <p:cNvPr id="55" name="Decisión 22">
              <a:extLst>
                <a:ext uri="{FF2B5EF4-FFF2-40B4-BE49-F238E27FC236}">
                  <a16:creationId xmlns:a16="http://schemas.microsoft.com/office/drawing/2014/main" xmlns="" id="{EDC4981A-8AB9-719A-8AA0-56C6DDDAFE5B}"/>
                </a:ext>
              </a:extLst>
            </p:cNvPr>
            <p:cNvSpPr/>
            <p:nvPr/>
          </p:nvSpPr>
          <p:spPr bwMode="auto">
            <a:xfrm>
              <a:off x="4470400" y="3485728"/>
              <a:ext cx="771525" cy="367762"/>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500" b="1"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56" name="CuadroTexto 55">
              <a:extLst>
                <a:ext uri="{FF2B5EF4-FFF2-40B4-BE49-F238E27FC236}">
                  <a16:creationId xmlns:a16="http://schemas.microsoft.com/office/drawing/2014/main" xmlns="" id="{72A64150-846D-396B-2B49-85CDE2A452BC}"/>
                </a:ext>
              </a:extLst>
            </p:cNvPr>
            <p:cNvSpPr txBox="1"/>
            <p:nvPr/>
          </p:nvSpPr>
          <p:spPr bwMode="auto">
            <a:xfrm>
              <a:off x="5469732" y="3408159"/>
              <a:ext cx="699733" cy="370269"/>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defRPr/>
              </a:pPr>
              <a:r>
                <a:rPr lang="es-PE" sz="1500" dirty="0">
                  <a:latin typeface="Inter" panose="020B0604020202020204" charset="0"/>
                  <a:ea typeface="Inter" panose="020B0604020202020204" charset="0"/>
                  <a:cs typeface="Arial" panose="020B0604020202020204" pitchFamily="34" charset="0"/>
                </a:rPr>
                <a:t>Requerir subsanar observaciones</a:t>
              </a:r>
            </a:p>
          </p:txBody>
        </p:sp>
        <p:sp>
          <p:nvSpPr>
            <p:cNvPr id="57" name="CuadroTexto 56">
              <a:extLst>
                <a:ext uri="{FF2B5EF4-FFF2-40B4-BE49-F238E27FC236}">
                  <a16:creationId xmlns:a16="http://schemas.microsoft.com/office/drawing/2014/main" xmlns="" id="{4DC70D99-A4F4-93C3-7626-40E0867D8E4A}"/>
                </a:ext>
              </a:extLst>
            </p:cNvPr>
            <p:cNvSpPr txBox="1"/>
            <p:nvPr/>
          </p:nvSpPr>
          <p:spPr bwMode="auto">
            <a:xfrm>
              <a:off x="5480670" y="4312199"/>
              <a:ext cx="688795" cy="370269"/>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500" dirty="0">
                  <a:latin typeface="Inter" panose="020B0604020202020204" charset="0"/>
                  <a:ea typeface="Inter" panose="020B0604020202020204" charset="0"/>
                  <a:cs typeface="Arial" panose="020B0604020202020204" pitchFamily="34" charset="0"/>
                </a:rPr>
                <a:t>Subsana observaciones</a:t>
              </a:r>
            </a:p>
          </p:txBody>
        </p:sp>
        <p:sp>
          <p:nvSpPr>
            <p:cNvPr id="58" name="72 CuadroTexto">
              <a:extLst>
                <a:ext uri="{FF2B5EF4-FFF2-40B4-BE49-F238E27FC236}">
                  <a16:creationId xmlns:a16="http://schemas.microsoft.com/office/drawing/2014/main" xmlns="" id="{00C56AFE-7006-2046-0ECA-910475B3969F}"/>
                </a:ext>
              </a:extLst>
            </p:cNvPr>
            <p:cNvSpPr txBox="1">
              <a:spLocks noChangeArrowheads="1"/>
            </p:cNvSpPr>
            <p:nvPr/>
          </p:nvSpPr>
          <p:spPr bwMode="auto">
            <a:xfrm>
              <a:off x="5854855" y="4018116"/>
              <a:ext cx="271538" cy="18513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500" b="1"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59" name="CuadroTexto 58">
              <a:extLst>
                <a:ext uri="{FF2B5EF4-FFF2-40B4-BE49-F238E27FC236}">
                  <a16:creationId xmlns:a16="http://schemas.microsoft.com/office/drawing/2014/main" xmlns="" id="{38EA1991-058C-4878-3B0C-61EBA2E8F154}"/>
                </a:ext>
              </a:extLst>
            </p:cNvPr>
            <p:cNvSpPr txBox="1"/>
            <p:nvPr/>
          </p:nvSpPr>
          <p:spPr bwMode="auto">
            <a:xfrm>
              <a:off x="5211729" y="3418521"/>
              <a:ext cx="171450" cy="185134"/>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500" b="1" dirty="0">
                  <a:latin typeface="Inter" panose="020B0604020202020204" charset="0"/>
                  <a:ea typeface="Inter" panose="020B0604020202020204" charset="0"/>
                  <a:cs typeface="Arial" panose="020B0604020202020204" pitchFamily="34" charset="0"/>
                </a:rPr>
                <a:t>NO</a:t>
              </a:r>
            </a:p>
          </p:txBody>
        </p:sp>
        <p:cxnSp>
          <p:nvCxnSpPr>
            <p:cNvPr id="60" name="Conector recto de flecha 59">
              <a:extLst>
                <a:ext uri="{FF2B5EF4-FFF2-40B4-BE49-F238E27FC236}">
                  <a16:creationId xmlns:a16="http://schemas.microsoft.com/office/drawing/2014/main" xmlns="" id="{8DDF5A50-08A3-1D4B-607D-500C07A2A78D}"/>
                </a:ext>
              </a:extLst>
            </p:cNvPr>
            <p:cNvCxnSpPr>
              <a:stCxn id="55" idx="3"/>
              <a:endCxn id="56" idx="1"/>
            </p:cNvCxnSpPr>
            <p:nvPr/>
          </p:nvCxnSpPr>
          <p:spPr bwMode="auto">
            <a:xfrm flipV="1">
              <a:off x="5241925" y="3593294"/>
              <a:ext cx="227807" cy="76316"/>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ector recto 60">
              <a:extLst>
                <a:ext uri="{FF2B5EF4-FFF2-40B4-BE49-F238E27FC236}">
                  <a16:creationId xmlns:a16="http://schemas.microsoft.com/office/drawing/2014/main" xmlns="" id="{81CDD2C0-9168-868D-B29F-057EC4C3486C}"/>
                </a:ext>
              </a:extLst>
            </p:cNvPr>
            <p:cNvCxnSpPr>
              <a:stCxn id="48" idx="2"/>
              <a:endCxn id="55" idx="0"/>
            </p:cNvCxnSpPr>
            <p:nvPr/>
          </p:nvCxnSpPr>
          <p:spPr bwMode="auto">
            <a:xfrm>
              <a:off x="4856163" y="3119016"/>
              <a:ext cx="0" cy="366712"/>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62" name="Conector recto 61">
              <a:extLst>
                <a:ext uri="{FF2B5EF4-FFF2-40B4-BE49-F238E27FC236}">
                  <a16:creationId xmlns:a16="http://schemas.microsoft.com/office/drawing/2014/main" xmlns="" id="{CF57FF5C-DDF9-60CE-009B-252AB83BD5A3}"/>
                </a:ext>
              </a:extLst>
            </p:cNvPr>
            <p:cNvCxnSpPr>
              <a:stCxn id="56" idx="2"/>
              <a:endCxn id="57" idx="0"/>
            </p:cNvCxnSpPr>
            <p:nvPr/>
          </p:nvCxnSpPr>
          <p:spPr bwMode="auto">
            <a:xfrm>
              <a:off x="5819599" y="3778428"/>
              <a:ext cx="5469" cy="533772"/>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63" name="72 CuadroTexto">
              <a:extLst>
                <a:ext uri="{FF2B5EF4-FFF2-40B4-BE49-F238E27FC236}">
                  <a16:creationId xmlns:a16="http://schemas.microsoft.com/office/drawing/2014/main" xmlns="" id="{61C5CFD3-DCFF-3F95-64E9-01508563F909}"/>
                </a:ext>
              </a:extLst>
            </p:cNvPr>
            <p:cNvSpPr txBox="1">
              <a:spLocks noChangeArrowheads="1"/>
            </p:cNvSpPr>
            <p:nvPr/>
          </p:nvSpPr>
          <p:spPr bwMode="auto">
            <a:xfrm>
              <a:off x="5587206" y="2330819"/>
              <a:ext cx="452055" cy="2591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5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64" name="Conector recto de flecha 63">
              <a:extLst>
                <a:ext uri="{FF2B5EF4-FFF2-40B4-BE49-F238E27FC236}">
                  <a16:creationId xmlns:a16="http://schemas.microsoft.com/office/drawing/2014/main" xmlns="" id="{F00A458E-49A9-9DE1-61DC-E68E4F91C5C7}"/>
                </a:ext>
              </a:extLst>
            </p:cNvPr>
            <p:cNvCxnSpPr>
              <a:stCxn id="63" idx="2"/>
              <a:endCxn id="56" idx="0"/>
            </p:cNvCxnSpPr>
            <p:nvPr/>
          </p:nvCxnSpPr>
          <p:spPr bwMode="auto">
            <a:xfrm>
              <a:off x="5813234" y="2590007"/>
              <a:ext cx="6365" cy="818152"/>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ector angular 32">
              <a:extLst>
                <a:ext uri="{FF2B5EF4-FFF2-40B4-BE49-F238E27FC236}">
                  <a16:creationId xmlns:a16="http://schemas.microsoft.com/office/drawing/2014/main" xmlns="" id="{B8FE8FE0-5E07-77DD-1B91-62F8C1DA7B6D}"/>
                </a:ext>
              </a:extLst>
            </p:cNvPr>
            <p:cNvCxnSpPr>
              <a:stCxn id="63" idx="0"/>
              <a:endCxn id="40" idx="6"/>
            </p:cNvCxnSpPr>
            <p:nvPr/>
          </p:nvCxnSpPr>
          <p:spPr bwMode="auto">
            <a:xfrm rot="16200000" flipV="1">
              <a:off x="5096786" y="1614372"/>
              <a:ext cx="1169562" cy="263334"/>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24 Rectángulo">
              <a:extLst>
                <a:ext uri="{FF2B5EF4-FFF2-40B4-BE49-F238E27FC236}">
                  <a16:creationId xmlns:a16="http://schemas.microsoft.com/office/drawing/2014/main" xmlns="" id="{CA97C5D3-8C4D-194A-2411-BEB958FA0525}"/>
                </a:ext>
              </a:extLst>
            </p:cNvPr>
            <p:cNvSpPr/>
            <p:nvPr/>
          </p:nvSpPr>
          <p:spPr bwMode="auto">
            <a:xfrm>
              <a:off x="4230167" y="1872227"/>
              <a:ext cx="1235849"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5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cxnSp>
          <p:nvCxnSpPr>
            <p:cNvPr id="67" name="Conector angular 34">
              <a:extLst>
                <a:ext uri="{FF2B5EF4-FFF2-40B4-BE49-F238E27FC236}">
                  <a16:creationId xmlns:a16="http://schemas.microsoft.com/office/drawing/2014/main" xmlns="" id="{DDC8A158-8099-F47D-0632-4E189B85EFE0}"/>
                </a:ext>
              </a:extLst>
            </p:cNvPr>
            <p:cNvCxnSpPr>
              <a:stCxn id="57" idx="1"/>
              <a:endCxn id="51" idx="0"/>
            </p:cNvCxnSpPr>
            <p:nvPr/>
          </p:nvCxnSpPr>
          <p:spPr bwMode="auto">
            <a:xfrm rot="10800000" flipV="1">
              <a:off x="4863307" y="4497333"/>
              <a:ext cx="617363" cy="316164"/>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8" name="Group 2">
            <a:extLst>
              <a:ext uri="{FF2B5EF4-FFF2-40B4-BE49-F238E27FC236}">
                <a16:creationId xmlns:a16="http://schemas.microsoft.com/office/drawing/2014/main" xmlns="" id="{FFF92F7D-F928-B810-78BB-05B90902EFA1}"/>
              </a:ext>
            </a:extLst>
          </p:cNvPr>
          <p:cNvGrpSpPr/>
          <p:nvPr/>
        </p:nvGrpSpPr>
        <p:grpSpPr>
          <a:xfrm>
            <a:off x="6397409" y="7556924"/>
            <a:ext cx="10861891" cy="2730076"/>
            <a:chOff x="0" y="0"/>
            <a:chExt cx="1363973" cy="342827"/>
          </a:xfrm>
        </p:grpSpPr>
        <p:sp>
          <p:nvSpPr>
            <p:cNvPr id="69" name="Freeform 3">
              <a:extLst>
                <a:ext uri="{FF2B5EF4-FFF2-40B4-BE49-F238E27FC236}">
                  <a16:creationId xmlns:a16="http://schemas.microsoft.com/office/drawing/2014/main" xmlns="" id="{ADE480E4-354F-151D-94D2-AA7BF9010BBE}"/>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70" name="TextBox 4">
              <a:extLst>
                <a:ext uri="{FF2B5EF4-FFF2-40B4-BE49-F238E27FC236}">
                  <a16:creationId xmlns:a16="http://schemas.microsoft.com/office/drawing/2014/main" xmlns="" id="{E90D8E70-1B49-1DD4-06E7-2FE97DAF351B}"/>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7042047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588C5D1-CEF2-B0A9-7F22-5E736F897F40}"/>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6E6AEDF1-5B1F-5E95-D323-02A3C1EE5239}"/>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51D8E420-A419-70CA-911B-78C7DE86C367}"/>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16E6F157-E369-6F69-13EF-6B429FAD54F3}"/>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FC4950B3-0D0C-8F51-E94A-35FC05B665AA}"/>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ítulo 1">
            <a:extLst>
              <a:ext uri="{FF2B5EF4-FFF2-40B4-BE49-F238E27FC236}">
                <a16:creationId xmlns:a16="http://schemas.microsoft.com/office/drawing/2014/main" xmlns="" id="{1AF57BD1-C47F-3A4D-E812-4A955C5B019F}"/>
              </a:ext>
            </a:extLst>
          </p:cNvPr>
          <p:cNvSpPr txBox="1">
            <a:spLocks/>
          </p:cNvSpPr>
          <p:nvPr/>
        </p:nvSpPr>
        <p:spPr>
          <a:xfrm>
            <a:off x="345083" y="3189142"/>
            <a:ext cx="3415156" cy="17724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Autorización de Explotación, no implica nuevas áreas</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D9390B86-CE78-C417-5CB6-14AF40CA7B81}"/>
              </a:ext>
            </a:extLst>
          </p:cNvPr>
          <p:cNvSpPr txBox="1">
            <a:spLocks/>
          </p:cNvSpPr>
          <p:nvPr/>
        </p:nvSpPr>
        <p:spPr>
          <a:xfrm>
            <a:off x="345083" y="4961543"/>
            <a:ext cx="3415155" cy="3866399"/>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endParaRPr>
          </a:p>
          <a:p>
            <a:r>
              <a:rPr lang="es-PE" sz="3800" b="1" dirty="0">
                <a:solidFill>
                  <a:schemeClr val="accent2">
                    <a:lumMod val="50000"/>
                  </a:schemeClr>
                </a:solidFill>
                <a:latin typeface="Inter" panose="020B0604020202020204" charset="0"/>
                <a:ea typeface="Inter" panose="020B0604020202020204" charset="0"/>
              </a:rPr>
              <a:t>Art. 103 del RPM</a:t>
            </a:r>
            <a:br>
              <a:rPr lang="es-PE" sz="3800" b="1" dirty="0">
                <a:solidFill>
                  <a:schemeClr val="accent2">
                    <a:lumMod val="50000"/>
                  </a:schemeClr>
                </a:solidFill>
                <a:latin typeface="Inter" panose="020B0604020202020204" charset="0"/>
                <a:ea typeface="Inter" panose="020B0604020202020204" charset="0"/>
              </a:rPr>
            </a:br>
            <a:r>
              <a:rPr lang="es-PE" sz="3800" b="1" dirty="0">
                <a:solidFill>
                  <a:schemeClr val="accent2">
                    <a:lumMod val="50000"/>
                  </a:schemeClr>
                </a:solidFill>
                <a:latin typeface="Inter" panose="020B0604020202020204" charset="0"/>
                <a:ea typeface="Inter" panose="020B0604020202020204" charset="0"/>
              </a:rPr>
              <a:t>El plazo máximo de evaluación: es de treinta (30) días hábiles </a:t>
            </a:r>
            <a:br>
              <a:rPr lang="es-PE" sz="3800" b="1" dirty="0">
                <a:solidFill>
                  <a:schemeClr val="accent2">
                    <a:lumMod val="50000"/>
                  </a:schemeClr>
                </a:solidFill>
                <a:latin typeface="Inter" panose="020B0604020202020204" charset="0"/>
                <a:ea typeface="Inter" panose="020B0604020202020204" charset="0"/>
              </a:rPr>
            </a:br>
            <a:r>
              <a:rPr lang="es-PE" sz="3800" b="1" dirty="0">
                <a:solidFill>
                  <a:schemeClr val="accent2">
                    <a:lumMod val="50000"/>
                  </a:schemeClr>
                </a:solidFill>
                <a:latin typeface="Inter" panose="020B0604020202020204" charset="0"/>
                <a:ea typeface="Inter" panose="020B0604020202020204" charset="0"/>
              </a:rPr>
              <a:t/>
            </a:r>
            <a:br>
              <a:rPr lang="es-PE" sz="3800" b="1" dirty="0">
                <a:solidFill>
                  <a:schemeClr val="accent2">
                    <a:lumMod val="50000"/>
                  </a:schemeClr>
                </a:solidFill>
                <a:latin typeface="Inter" panose="020B0604020202020204" charset="0"/>
                <a:ea typeface="Inter" panose="020B0604020202020204" charset="0"/>
              </a:rPr>
            </a:br>
            <a:r>
              <a:rPr lang="es-PE" sz="3800" b="1" dirty="0">
                <a:solidFill>
                  <a:schemeClr val="accent2">
                    <a:lumMod val="50000"/>
                  </a:schemeClr>
                </a:solidFill>
                <a:latin typeface="Inter" panose="020B0604020202020204" charset="0"/>
                <a:ea typeface="Inter" panose="020B0604020202020204" charset="0"/>
              </a:rPr>
              <a:t>El procedimiento es de evaluación previa sujeto a silencio administrativo</a:t>
            </a:r>
            <a:br>
              <a:rPr lang="es-PE" sz="3800" b="1" dirty="0">
                <a:solidFill>
                  <a:schemeClr val="accent2">
                    <a:lumMod val="50000"/>
                  </a:schemeClr>
                </a:solidFill>
                <a:latin typeface="Inter" panose="020B0604020202020204" charset="0"/>
                <a:ea typeface="Inter" panose="020B0604020202020204" charset="0"/>
              </a:rPr>
            </a:br>
            <a:r>
              <a:rPr lang="es-PE" sz="3800" b="1" dirty="0">
                <a:solidFill>
                  <a:schemeClr val="accent2">
                    <a:lumMod val="50000"/>
                  </a:schemeClr>
                </a:solidFill>
                <a:latin typeface="Inter" panose="020B0604020202020204" charset="0"/>
                <a:ea typeface="Inter" panose="020B0604020202020204" charset="0"/>
              </a:rPr>
              <a:t>negativo.</a:t>
            </a:r>
          </a:p>
        </p:txBody>
      </p:sp>
      <p:grpSp>
        <p:nvGrpSpPr>
          <p:cNvPr id="8" name="Grupo 7">
            <a:extLst>
              <a:ext uri="{FF2B5EF4-FFF2-40B4-BE49-F238E27FC236}">
                <a16:creationId xmlns:a16="http://schemas.microsoft.com/office/drawing/2014/main" xmlns="" id="{F3DDA3A8-0400-8DBF-6979-C0A056006624}"/>
              </a:ext>
            </a:extLst>
          </p:cNvPr>
          <p:cNvGrpSpPr/>
          <p:nvPr/>
        </p:nvGrpSpPr>
        <p:grpSpPr>
          <a:xfrm>
            <a:off x="4164305" y="2781300"/>
            <a:ext cx="12420600" cy="7067950"/>
            <a:chOff x="2018172" y="781050"/>
            <a:chExt cx="4711140" cy="5573160"/>
          </a:xfrm>
        </p:grpSpPr>
        <p:sp>
          <p:nvSpPr>
            <p:cNvPr id="9" name="3 Elipse">
              <a:extLst>
                <a:ext uri="{FF2B5EF4-FFF2-40B4-BE49-F238E27FC236}">
                  <a16:creationId xmlns:a16="http://schemas.microsoft.com/office/drawing/2014/main" xmlns="" id="{EF0016FC-1335-D096-9E05-987E976B560E}"/>
                </a:ext>
              </a:extLst>
            </p:cNvPr>
            <p:cNvSpPr/>
            <p:nvPr/>
          </p:nvSpPr>
          <p:spPr>
            <a:xfrm>
              <a:off x="4146550" y="781050"/>
              <a:ext cx="1403350"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10" name="5 Conector recto de flecha">
              <a:extLst>
                <a:ext uri="{FF2B5EF4-FFF2-40B4-BE49-F238E27FC236}">
                  <a16:creationId xmlns:a16="http://schemas.microsoft.com/office/drawing/2014/main" xmlns="" id="{0325551B-4507-DC29-BFFD-E921B0D75279}"/>
                </a:ext>
              </a:extLst>
            </p:cNvPr>
            <p:cNvCxnSpPr>
              <a:cxnSpLocks/>
              <a:stCxn id="9" idx="4"/>
            </p:cNvCxnSpPr>
            <p:nvPr/>
          </p:nvCxnSpPr>
          <p:spPr>
            <a:xfrm>
              <a:off x="4848225" y="1541463"/>
              <a:ext cx="1" cy="44106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1" name="56 Rectángulo">
              <a:extLst>
                <a:ext uri="{FF2B5EF4-FFF2-40B4-BE49-F238E27FC236}">
                  <a16:creationId xmlns:a16="http://schemas.microsoft.com/office/drawing/2014/main" xmlns="" id="{CCA2F8CC-FE97-62C3-1DB7-71A3A3F303A5}"/>
                </a:ext>
              </a:extLst>
            </p:cNvPr>
            <p:cNvSpPr/>
            <p:nvPr/>
          </p:nvSpPr>
          <p:spPr>
            <a:xfrm>
              <a:off x="2018172" y="2641839"/>
              <a:ext cx="2070435" cy="2008914"/>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dirty="0">
                  <a:solidFill>
                    <a:schemeClr val="tx1"/>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dirty="0">
                  <a:solidFill>
                    <a:schemeClr val="tx1"/>
                  </a:solidFill>
                  <a:latin typeface="Inter" panose="020B0604020202020204" charset="0"/>
                  <a:ea typeface="Inter" panose="020B0604020202020204" charset="0"/>
                  <a:cs typeface="Arial" panose="020B0604020202020204" pitchFamily="34" charset="0"/>
                </a:rPr>
                <a:t>Derechos Mineros</a:t>
              </a:r>
              <a:endParaRPr lang="es-PE" i="1" dirty="0">
                <a:solidFill>
                  <a:schemeClr val="tx1"/>
                </a:solidFill>
                <a:latin typeface="Inter" panose="020B0604020202020204" charset="0"/>
                <a:ea typeface="Inter" panose="020B0604020202020204" charset="0"/>
                <a:cs typeface="Arial" panose="020B0604020202020204" pitchFamily="34" charset="0"/>
              </a:endParaRPr>
            </a:p>
            <a:p>
              <a:pPr marL="228600" indent="-228600">
                <a:buFont typeface="+mj-lt"/>
                <a:buAutoNum type="arabicPeriod"/>
                <a:defRPr/>
              </a:pPr>
              <a:r>
                <a:rPr lang="es-PE" dirty="0">
                  <a:solidFill>
                    <a:schemeClr val="tx1"/>
                  </a:solidFill>
                  <a:latin typeface="Inter" panose="020B0604020202020204" charset="0"/>
                  <a:ea typeface="Inter" panose="020B0604020202020204" charset="0"/>
                  <a:cs typeface="Arial" panose="020B0604020202020204" pitchFamily="34" charset="0"/>
                </a:rPr>
                <a:t>Instrumento de Gestión Ambiental aprobado.</a:t>
              </a:r>
            </a:p>
            <a:p>
              <a:pPr marL="228600" indent="-228600">
                <a:buFont typeface="+mj-lt"/>
                <a:buAutoNum type="arabicPeriod"/>
                <a:defRPr/>
              </a:pPr>
              <a:r>
                <a:rPr lang="es-PE" dirty="0">
                  <a:solidFill>
                    <a:schemeClr val="tx1"/>
                  </a:solidFill>
                  <a:latin typeface="Inter" panose="020B0604020202020204" charset="0"/>
                  <a:ea typeface="Inter" panose="020B0604020202020204" charset="0"/>
                  <a:cs typeface="Arial" panose="020B0604020202020204" pitchFamily="34" charset="0"/>
                </a:rPr>
                <a:t>Plan de Cierre aprobado o cargo de presentación adjuntando garantía preliminar.</a:t>
              </a:r>
            </a:p>
            <a:p>
              <a:pPr marL="228600" indent="-228600">
                <a:buFont typeface="+mj-lt"/>
                <a:buAutoNum type="arabicPeriod"/>
                <a:defRPr/>
              </a:pPr>
              <a:r>
                <a:rPr lang="es-PE" dirty="0">
                  <a:solidFill>
                    <a:schemeClr val="tx1"/>
                  </a:solidFill>
                  <a:latin typeface="Inter" panose="020B0604020202020204" charset="0"/>
                  <a:ea typeface="Inter" panose="020B0604020202020204" charset="0"/>
                  <a:cs typeface="Arial" panose="020B0604020202020204" pitchFamily="34" charset="0"/>
                </a:rPr>
                <a:t>Estudio Técnico del proyecto de modificación de la autorización de explotación minera</a:t>
              </a:r>
              <a:r>
                <a:rPr lang="es-PE" sz="1600" dirty="0">
                  <a:solidFill>
                    <a:schemeClr val="tx1"/>
                  </a:solidFill>
                  <a:latin typeface="Inter" panose="020B0604020202020204" charset="0"/>
                  <a:ea typeface="Inter" panose="020B0604020202020204" charset="0"/>
                  <a:cs typeface="Arial" panose="020B0604020202020204" pitchFamily="34" charset="0"/>
                </a:rPr>
                <a:t>.</a:t>
              </a:r>
            </a:p>
          </p:txBody>
        </p:sp>
        <p:cxnSp>
          <p:nvCxnSpPr>
            <p:cNvPr id="12" name="Conector angular 10">
              <a:extLst>
                <a:ext uri="{FF2B5EF4-FFF2-40B4-BE49-F238E27FC236}">
                  <a16:creationId xmlns:a16="http://schemas.microsoft.com/office/drawing/2014/main" xmlns="" id="{ED53C670-B8D0-533D-49A6-0CFDCEE1F5D1}"/>
                </a:ext>
              </a:extLst>
            </p:cNvPr>
            <p:cNvCxnSpPr>
              <a:cxnSpLocks/>
              <a:stCxn id="33" idx="1"/>
              <a:endCxn id="11" idx="0"/>
            </p:cNvCxnSpPr>
            <p:nvPr/>
          </p:nvCxnSpPr>
          <p:spPr>
            <a:xfrm rot="10800000" flipV="1">
              <a:off x="3053391" y="2165121"/>
              <a:ext cx="1176777" cy="47671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2">
              <a:extLst>
                <a:ext uri="{FF2B5EF4-FFF2-40B4-BE49-F238E27FC236}">
                  <a16:creationId xmlns:a16="http://schemas.microsoft.com/office/drawing/2014/main" xmlns="" id="{C6ABE973-20F0-024A-5232-4CAF578171DC}"/>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4" name="72 CuadroTexto">
              <a:extLst>
                <a:ext uri="{FF2B5EF4-FFF2-40B4-BE49-F238E27FC236}">
                  <a16:creationId xmlns:a16="http://schemas.microsoft.com/office/drawing/2014/main" xmlns="" id="{06A8FF08-D56A-4D68-2456-0C2B0A66E6A9}"/>
                </a:ext>
              </a:extLst>
            </p:cNvPr>
            <p:cNvSpPr txBox="1">
              <a:spLocks noChangeArrowheads="1"/>
            </p:cNvSpPr>
            <p:nvPr/>
          </p:nvSpPr>
          <p:spPr bwMode="auto">
            <a:xfrm>
              <a:off x="6183974" y="3138580"/>
              <a:ext cx="545338" cy="26695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30 dh</a:t>
              </a:r>
            </a:p>
          </p:txBody>
        </p:sp>
        <p:sp>
          <p:nvSpPr>
            <p:cNvPr id="15" name="56 Rectángulo">
              <a:extLst>
                <a:ext uri="{FF2B5EF4-FFF2-40B4-BE49-F238E27FC236}">
                  <a16:creationId xmlns:a16="http://schemas.microsoft.com/office/drawing/2014/main" xmlns="" id="{8360D1A0-E351-1BD6-9F6E-25B04F7DC07B}"/>
                </a:ext>
              </a:extLst>
            </p:cNvPr>
            <p:cNvSpPr/>
            <p:nvPr/>
          </p:nvSpPr>
          <p:spPr bwMode="auto">
            <a:xfrm>
              <a:off x="4470400" y="280151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b="1"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16" name="177 Conector recto de flecha">
              <a:extLst>
                <a:ext uri="{FF2B5EF4-FFF2-40B4-BE49-F238E27FC236}">
                  <a16:creationId xmlns:a16="http://schemas.microsoft.com/office/drawing/2014/main" xmlns="" id="{9912FB11-694D-5968-644C-FC53B945F033}"/>
                </a:ext>
              </a:extLst>
            </p:cNvPr>
            <p:cNvCxnSpPr>
              <a:cxnSpLocks/>
              <a:stCxn id="22" idx="2"/>
              <a:endCxn id="18" idx="0"/>
            </p:cNvCxnSpPr>
            <p:nvPr/>
          </p:nvCxnSpPr>
          <p:spPr bwMode="auto">
            <a:xfrm>
              <a:off x="4860132" y="3871396"/>
              <a:ext cx="11112" cy="1050970"/>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17" name="177 Conector recto de flecha">
              <a:extLst>
                <a:ext uri="{FF2B5EF4-FFF2-40B4-BE49-F238E27FC236}">
                  <a16:creationId xmlns:a16="http://schemas.microsoft.com/office/drawing/2014/main" xmlns="" id="{1DD53AA5-1691-E489-1BCC-7501605750A0}"/>
                </a:ext>
              </a:extLst>
            </p:cNvPr>
            <p:cNvCxnSpPr>
              <a:cxnSpLocks/>
              <a:endCxn id="15"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8" name="CuadroTexto 17">
              <a:extLst>
                <a:ext uri="{FF2B5EF4-FFF2-40B4-BE49-F238E27FC236}">
                  <a16:creationId xmlns:a16="http://schemas.microsoft.com/office/drawing/2014/main" xmlns="" id="{2E0863C1-EF99-2995-DF34-6A71724E13A7}"/>
                </a:ext>
              </a:extLst>
            </p:cNvPr>
            <p:cNvSpPr txBox="1"/>
            <p:nvPr/>
          </p:nvSpPr>
          <p:spPr bwMode="auto">
            <a:xfrm>
              <a:off x="3751263" y="4922366"/>
              <a:ext cx="2239962" cy="1431844"/>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s-PE" sz="16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dirty="0">
                  <a:latin typeface="Inter" panose="020B0604020202020204" charset="0"/>
                  <a:ea typeface="Inter" panose="020B0604020202020204" charset="0"/>
                  <a:cs typeface="Arial" panose="020B0604020202020204" pitchFamily="34" charset="0"/>
                </a:rPr>
                <a:t>Aprueba la modificación de la autorización de actividades de explotación, y </a:t>
              </a:r>
            </a:p>
            <a:p>
              <a:pPr marL="85725" indent="-85725">
                <a:buFontTx/>
                <a:buChar char="-"/>
                <a:defRPr/>
              </a:pPr>
              <a:r>
                <a:rPr lang="es-PE" sz="1600" dirty="0">
                  <a:latin typeface="Inter" panose="020B0604020202020204" charset="0"/>
                  <a:ea typeface="Inter" panose="020B0604020202020204" charset="0"/>
                  <a:cs typeface="Arial" panose="020B0604020202020204" pitchFamily="34" charset="0"/>
                </a:rPr>
                <a:t>Autorizar el Cambio del método de explotación, o Ampliación del límite final del tajo y/o nuevas Bocaminas, o la construcción y funcionamiento de Construcción de un nuevo depósito.</a:t>
              </a:r>
            </a:p>
          </p:txBody>
        </p:sp>
        <p:cxnSp>
          <p:nvCxnSpPr>
            <p:cNvPr id="19" name="Conector: angular 449">
              <a:extLst>
                <a:ext uri="{FF2B5EF4-FFF2-40B4-BE49-F238E27FC236}">
                  <a16:creationId xmlns:a16="http://schemas.microsoft.com/office/drawing/2014/main" xmlns="" id="{6976FCE7-3717-5691-B029-EF949941CCAC}"/>
                </a:ext>
              </a:extLst>
            </p:cNvPr>
            <p:cNvCxnSpPr>
              <a:cxnSpLocks/>
              <a:stCxn id="14" idx="0"/>
              <a:endCxn id="9" idx="6"/>
            </p:cNvCxnSpPr>
            <p:nvPr/>
          </p:nvCxnSpPr>
          <p:spPr bwMode="auto">
            <a:xfrm rot="16200000" flipV="1">
              <a:off x="5014610" y="1696547"/>
              <a:ext cx="1977323" cy="90674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angular 451">
              <a:extLst>
                <a:ext uri="{FF2B5EF4-FFF2-40B4-BE49-F238E27FC236}">
                  <a16:creationId xmlns:a16="http://schemas.microsoft.com/office/drawing/2014/main" xmlns="" id="{9379271E-F390-8AF7-A54F-42598411D221}"/>
                </a:ext>
              </a:extLst>
            </p:cNvPr>
            <p:cNvCxnSpPr>
              <a:cxnSpLocks/>
              <a:stCxn id="14" idx="2"/>
              <a:endCxn id="18" idx="3"/>
            </p:cNvCxnSpPr>
            <p:nvPr/>
          </p:nvCxnSpPr>
          <p:spPr bwMode="auto">
            <a:xfrm rot="5400000">
              <a:off x="5107557" y="4289202"/>
              <a:ext cx="2232754" cy="46541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xmlns="" id="{C032A75B-2DBA-4E52-BBBC-9D819B172F3E}"/>
                </a:ext>
              </a:extLst>
            </p:cNvPr>
            <p:cNvSpPr txBox="1"/>
            <p:nvPr/>
          </p:nvSpPr>
          <p:spPr bwMode="auto">
            <a:xfrm flipH="1">
              <a:off x="4601215" y="3895662"/>
              <a:ext cx="165100" cy="194148"/>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22" name="Decisión 20">
              <a:extLst>
                <a:ext uri="{FF2B5EF4-FFF2-40B4-BE49-F238E27FC236}">
                  <a16:creationId xmlns:a16="http://schemas.microsoft.com/office/drawing/2014/main" xmlns="" id="{2939DBC4-5ED5-0ACB-0060-04F536A18B7C}"/>
                </a:ext>
              </a:extLst>
            </p:cNvPr>
            <p:cNvSpPr/>
            <p:nvPr/>
          </p:nvSpPr>
          <p:spPr bwMode="auto">
            <a:xfrm>
              <a:off x="4470400" y="3485728"/>
              <a:ext cx="779463" cy="385668"/>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b="1"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23" name="CuadroTexto 22">
              <a:extLst>
                <a:ext uri="{FF2B5EF4-FFF2-40B4-BE49-F238E27FC236}">
                  <a16:creationId xmlns:a16="http://schemas.microsoft.com/office/drawing/2014/main" xmlns="" id="{B50C5363-1864-0494-96DB-0CA60BF935F1}"/>
                </a:ext>
              </a:extLst>
            </p:cNvPr>
            <p:cNvSpPr txBox="1"/>
            <p:nvPr/>
          </p:nvSpPr>
          <p:spPr bwMode="auto">
            <a:xfrm>
              <a:off x="5469732" y="3412114"/>
              <a:ext cx="714242" cy="388297"/>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24" name="CuadroTexto 23">
              <a:extLst>
                <a:ext uri="{FF2B5EF4-FFF2-40B4-BE49-F238E27FC236}">
                  <a16:creationId xmlns:a16="http://schemas.microsoft.com/office/drawing/2014/main" xmlns="" id="{C16B716D-A3D3-3C7B-1AFE-C860969AEAAD}"/>
                </a:ext>
              </a:extLst>
            </p:cNvPr>
            <p:cNvSpPr txBox="1"/>
            <p:nvPr/>
          </p:nvSpPr>
          <p:spPr bwMode="auto">
            <a:xfrm>
              <a:off x="5480670" y="4312199"/>
              <a:ext cx="703304" cy="388297"/>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observaciones</a:t>
              </a:r>
            </a:p>
          </p:txBody>
        </p:sp>
        <p:sp>
          <p:nvSpPr>
            <p:cNvPr id="25" name="72 CuadroTexto">
              <a:extLst>
                <a:ext uri="{FF2B5EF4-FFF2-40B4-BE49-F238E27FC236}">
                  <a16:creationId xmlns:a16="http://schemas.microsoft.com/office/drawing/2014/main" xmlns="" id="{4655CA96-E410-F380-6BB5-099478319CB0}"/>
                </a:ext>
              </a:extLst>
            </p:cNvPr>
            <p:cNvSpPr txBox="1">
              <a:spLocks noChangeArrowheads="1"/>
            </p:cNvSpPr>
            <p:nvPr/>
          </p:nvSpPr>
          <p:spPr bwMode="auto">
            <a:xfrm>
              <a:off x="5854855" y="4018116"/>
              <a:ext cx="271538" cy="19414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26" name="CuadroTexto 25">
              <a:extLst>
                <a:ext uri="{FF2B5EF4-FFF2-40B4-BE49-F238E27FC236}">
                  <a16:creationId xmlns:a16="http://schemas.microsoft.com/office/drawing/2014/main" xmlns="" id="{38101673-D424-5053-D20A-C6F8097E6431}"/>
                </a:ext>
              </a:extLst>
            </p:cNvPr>
            <p:cNvSpPr txBox="1"/>
            <p:nvPr/>
          </p:nvSpPr>
          <p:spPr bwMode="auto">
            <a:xfrm>
              <a:off x="5211729" y="3418521"/>
              <a:ext cx="171450" cy="194148"/>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27" name="Conector recto de flecha 26">
              <a:extLst>
                <a:ext uri="{FF2B5EF4-FFF2-40B4-BE49-F238E27FC236}">
                  <a16:creationId xmlns:a16="http://schemas.microsoft.com/office/drawing/2014/main" xmlns="" id="{565373BC-0042-F71A-DB51-4EA77541C456}"/>
                </a:ext>
              </a:extLst>
            </p:cNvPr>
            <p:cNvCxnSpPr>
              <a:stCxn id="22" idx="3"/>
              <a:endCxn id="23" idx="1"/>
            </p:cNvCxnSpPr>
            <p:nvPr/>
          </p:nvCxnSpPr>
          <p:spPr bwMode="auto">
            <a:xfrm flipV="1">
              <a:off x="5249863" y="3606263"/>
              <a:ext cx="219869" cy="72299"/>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xmlns="" id="{C4DFBEA6-B607-1214-6ED4-2D78F3554211}"/>
                </a:ext>
              </a:extLst>
            </p:cNvPr>
            <p:cNvCxnSpPr>
              <a:stCxn id="15" idx="2"/>
              <a:endCxn id="22" idx="0"/>
            </p:cNvCxnSpPr>
            <p:nvPr/>
          </p:nvCxnSpPr>
          <p:spPr bwMode="auto">
            <a:xfrm>
              <a:off x="4856163" y="3119016"/>
              <a:ext cx="3969" cy="366712"/>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9" name="Conector recto 28">
              <a:extLst>
                <a:ext uri="{FF2B5EF4-FFF2-40B4-BE49-F238E27FC236}">
                  <a16:creationId xmlns:a16="http://schemas.microsoft.com/office/drawing/2014/main" xmlns="" id="{5CBFE299-306D-BC86-0262-5561B5E48BCD}"/>
                </a:ext>
              </a:extLst>
            </p:cNvPr>
            <p:cNvCxnSpPr>
              <a:stCxn id="23" idx="2"/>
              <a:endCxn id="24" idx="0"/>
            </p:cNvCxnSpPr>
            <p:nvPr/>
          </p:nvCxnSpPr>
          <p:spPr bwMode="auto">
            <a:xfrm>
              <a:off x="5826853" y="3800411"/>
              <a:ext cx="5469" cy="51178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0" name="72 CuadroTexto">
              <a:extLst>
                <a:ext uri="{FF2B5EF4-FFF2-40B4-BE49-F238E27FC236}">
                  <a16:creationId xmlns:a16="http://schemas.microsoft.com/office/drawing/2014/main" xmlns="" id="{46B64C5C-189D-2F2F-1035-855FCB0AB712}"/>
                </a:ext>
              </a:extLst>
            </p:cNvPr>
            <p:cNvSpPr txBox="1">
              <a:spLocks noChangeArrowheads="1"/>
            </p:cNvSpPr>
            <p:nvPr/>
          </p:nvSpPr>
          <p:spPr bwMode="auto">
            <a:xfrm>
              <a:off x="5587206" y="2330819"/>
              <a:ext cx="452055" cy="26695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31" name="Conector recto de flecha 30">
              <a:extLst>
                <a:ext uri="{FF2B5EF4-FFF2-40B4-BE49-F238E27FC236}">
                  <a16:creationId xmlns:a16="http://schemas.microsoft.com/office/drawing/2014/main" xmlns="" id="{8BFCFDB4-864A-D4E2-F5C9-4B1DD80F7653}"/>
                </a:ext>
              </a:extLst>
            </p:cNvPr>
            <p:cNvCxnSpPr>
              <a:stCxn id="30" idx="2"/>
              <a:endCxn id="23" idx="0"/>
            </p:cNvCxnSpPr>
            <p:nvPr/>
          </p:nvCxnSpPr>
          <p:spPr bwMode="auto">
            <a:xfrm>
              <a:off x="5813233" y="2597773"/>
              <a:ext cx="13620" cy="814342"/>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0">
              <a:extLst>
                <a:ext uri="{FF2B5EF4-FFF2-40B4-BE49-F238E27FC236}">
                  <a16:creationId xmlns:a16="http://schemas.microsoft.com/office/drawing/2014/main" xmlns="" id="{D7BD3803-884E-E96C-862F-93A779F85876}"/>
                </a:ext>
              </a:extLst>
            </p:cNvPr>
            <p:cNvCxnSpPr>
              <a:stCxn id="30" idx="0"/>
              <a:endCxn id="9" idx="6"/>
            </p:cNvCxnSpPr>
            <p:nvPr/>
          </p:nvCxnSpPr>
          <p:spPr bwMode="auto">
            <a:xfrm rot="16200000" flipV="1">
              <a:off x="5096786" y="1614372"/>
              <a:ext cx="1169562" cy="26333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24 Rectángulo">
              <a:extLst>
                <a:ext uri="{FF2B5EF4-FFF2-40B4-BE49-F238E27FC236}">
                  <a16:creationId xmlns:a16="http://schemas.microsoft.com/office/drawing/2014/main" xmlns="" id="{F92E78F4-2EA6-3F50-2222-6E3FE0A2E1F3}"/>
                </a:ext>
              </a:extLst>
            </p:cNvPr>
            <p:cNvSpPr/>
            <p:nvPr/>
          </p:nvSpPr>
          <p:spPr bwMode="auto">
            <a:xfrm>
              <a:off x="4230167" y="1872227"/>
              <a:ext cx="1235849"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cxnSp>
          <p:nvCxnSpPr>
            <p:cNvPr id="34" name="Conector angular 32">
              <a:extLst>
                <a:ext uri="{FF2B5EF4-FFF2-40B4-BE49-F238E27FC236}">
                  <a16:creationId xmlns:a16="http://schemas.microsoft.com/office/drawing/2014/main" xmlns="" id="{BD6CFF8A-7699-1D30-F1F1-A73B340E1CB5}"/>
                </a:ext>
              </a:extLst>
            </p:cNvPr>
            <p:cNvCxnSpPr>
              <a:stCxn id="24" idx="1"/>
              <a:endCxn id="18" idx="0"/>
            </p:cNvCxnSpPr>
            <p:nvPr/>
          </p:nvCxnSpPr>
          <p:spPr bwMode="auto">
            <a:xfrm rot="10800000" flipV="1">
              <a:off x="4871244" y="4506347"/>
              <a:ext cx="609426" cy="41601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7663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B5CE45F-94C4-7FB5-8340-9925652FD83E}"/>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02B74AE6-01D0-FD75-20C6-5A259B041C2F}"/>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405528F0-7062-C750-5EAA-71E6625C8541}"/>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7482BD2F-C782-4ED8-09C9-D21DCE65AA68}"/>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77126673-16A1-1583-E904-966023988C9A}"/>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ítulo 1">
            <a:extLst>
              <a:ext uri="{FF2B5EF4-FFF2-40B4-BE49-F238E27FC236}">
                <a16:creationId xmlns:a16="http://schemas.microsoft.com/office/drawing/2014/main" xmlns="" id="{A19D4771-8177-F909-9DC4-B8772A0CCD21}"/>
              </a:ext>
            </a:extLst>
          </p:cNvPr>
          <p:cNvSpPr txBox="1">
            <a:spLocks/>
          </p:cNvSpPr>
          <p:nvPr/>
        </p:nvSpPr>
        <p:spPr>
          <a:xfrm>
            <a:off x="345083" y="3189142"/>
            <a:ext cx="3415156" cy="17724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Informe Técnico Minero (ITM) para Autorización de Explotación </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03AAABB0-A314-310C-DEC4-38186F6E1B4D}"/>
              </a:ext>
            </a:extLst>
          </p:cNvPr>
          <p:cNvSpPr txBox="1">
            <a:spLocks/>
          </p:cNvSpPr>
          <p:nvPr/>
        </p:nvSpPr>
        <p:spPr>
          <a:xfrm>
            <a:off x="345083" y="4961543"/>
            <a:ext cx="3415155" cy="3866399"/>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endParaRPr>
          </a:p>
          <a:p>
            <a:r>
              <a:rPr lang="es-PE" sz="3800" b="1" dirty="0">
                <a:solidFill>
                  <a:schemeClr val="accent2">
                    <a:lumMod val="50000"/>
                  </a:schemeClr>
                </a:solidFill>
                <a:latin typeface="Inter" panose="020B0604020202020204" charset="0"/>
                <a:ea typeface="Inter" panose="020B0604020202020204" charset="0"/>
              </a:rPr>
              <a:t>Art. 104 del RPM</a:t>
            </a:r>
          </a:p>
          <a:p>
            <a:r>
              <a:rPr lang="es-PE" sz="3800" b="1" dirty="0">
                <a:solidFill>
                  <a:schemeClr val="accent2">
                    <a:lumMod val="50000"/>
                  </a:schemeClr>
                </a:solidFill>
                <a:latin typeface="Inter" panose="020B0604020202020204" charset="0"/>
                <a:ea typeface="Inter" panose="020B0604020202020204" charset="0"/>
              </a:rPr>
              <a:t>El plazo máximo de evaluación: es de veinte (20) días hábiles </a:t>
            </a:r>
          </a:p>
          <a:p>
            <a:r>
              <a:rPr lang="es-PE" sz="3800" b="1" dirty="0">
                <a:solidFill>
                  <a:schemeClr val="accent2">
                    <a:lumMod val="50000"/>
                  </a:schemeClr>
                </a:solidFill>
                <a:latin typeface="Inter" panose="020B0604020202020204" charset="0"/>
                <a:ea typeface="Inter" panose="020B0604020202020204" charset="0"/>
              </a:rPr>
              <a:t>El procedimiento es de evaluación previa sujeto a silencio administrativo positivo.</a:t>
            </a:r>
          </a:p>
        </p:txBody>
      </p:sp>
      <p:grpSp>
        <p:nvGrpSpPr>
          <p:cNvPr id="35" name="Grupo 34">
            <a:extLst>
              <a:ext uri="{FF2B5EF4-FFF2-40B4-BE49-F238E27FC236}">
                <a16:creationId xmlns:a16="http://schemas.microsoft.com/office/drawing/2014/main" xmlns="" id="{66156A8B-2915-D4BF-7CBD-A86694E4B2F8}"/>
              </a:ext>
            </a:extLst>
          </p:cNvPr>
          <p:cNvGrpSpPr/>
          <p:nvPr/>
        </p:nvGrpSpPr>
        <p:grpSpPr>
          <a:xfrm>
            <a:off x="3962400" y="2705100"/>
            <a:ext cx="12573000" cy="7046108"/>
            <a:chOff x="907940" y="796380"/>
            <a:chExt cx="6327661" cy="5379354"/>
          </a:xfrm>
        </p:grpSpPr>
        <p:sp>
          <p:nvSpPr>
            <p:cNvPr id="36" name="3 Elipse">
              <a:extLst>
                <a:ext uri="{FF2B5EF4-FFF2-40B4-BE49-F238E27FC236}">
                  <a16:creationId xmlns:a16="http://schemas.microsoft.com/office/drawing/2014/main" xmlns="" id="{DB27E511-AF11-0FAE-16C7-4F3A3B507351}"/>
                </a:ext>
              </a:extLst>
            </p:cNvPr>
            <p:cNvSpPr/>
            <p:nvPr/>
          </p:nvSpPr>
          <p:spPr bwMode="auto">
            <a:xfrm>
              <a:off x="4167484" y="796380"/>
              <a:ext cx="1403350" cy="760412"/>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sp>
          <p:nvSpPr>
            <p:cNvPr id="37" name="72 CuadroTexto">
              <a:extLst>
                <a:ext uri="{FF2B5EF4-FFF2-40B4-BE49-F238E27FC236}">
                  <a16:creationId xmlns:a16="http://schemas.microsoft.com/office/drawing/2014/main" xmlns="" id="{67861FBF-54CE-4120-4BE6-67C9863156A6}"/>
                </a:ext>
              </a:extLst>
            </p:cNvPr>
            <p:cNvSpPr txBox="1">
              <a:spLocks noChangeArrowheads="1"/>
            </p:cNvSpPr>
            <p:nvPr/>
          </p:nvSpPr>
          <p:spPr bwMode="auto">
            <a:xfrm>
              <a:off x="6690263" y="3270965"/>
              <a:ext cx="545338" cy="25846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38" name="24 Rectángulo">
              <a:extLst>
                <a:ext uri="{FF2B5EF4-FFF2-40B4-BE49-F238E27FC236}">
                  <a16:creationId xmlns:a16="http://schemas.microsoft.com/office/drawing/2014/main" xmlns="" id="{1E79949E-732E-73DF-EC7A-1C84695B8B4F}"/>
                </a:ext>
              </a:extLst>
            </p:cNvPr>
            <p:cNvSpPr/>
            <p:nvPr/>
          </p:nvSpPr>
          <p:spPr bwMode="auto">
            <a:xfrm>
              <a:off x="4062709" y="1907109"/>
              <a:ext cx="1619250"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sp>
          <p:nvSpPr>
            <p:cNvPr id="39" name="56 Rectángulo">
              <a:extLst>
                <a:ext uri="{FF2B5EF4-FFF2-40B4-BE49-F238E27FC236}">
                  <a16:creationId xmlns:a16="http://schemas.microsoft.com/office/drawing/2014/main" xmlns="" id="{209F061E-6C1C-22B8-E6AC-B59FDD7F34B1}"/>
                </a:ext>
              </a:extLst>
            </p:cNvPr>
            <p:cNvSpPr/>
            <p:nvPr/>
          </p:nvSpPr>
          <p:spPr bwMode="auto">
            <a:xfrm>
              <a:off x="907940" y="2709193"/>
              <a:ext cx="2990406" cy="1878111"/>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Instrumento de Gestión ambiental aprobado (ITS).</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Memoria descriptiva y Estudio Técnico del proyecto.</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Autorización del terreno superficial.</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DJ de no afectación al derecho de vía o constancia de autoridad competente.</a:t>
              </a:r>
            </a:p>
          </p:txBody>
        </p:sp>
        <p:sp>
          <p:nvSpPr>
            <p:cNvPr id="40" name="56 Rectángulo">
              <a:extLst>
                <a:ext uri="{FF2B5EF4-FFF2-40B4-BE49-F238E27FC236}">
                  <a16:creationId xmlns:a16="http://schemas.microsoft.com/office/drawing/2014/main" xmlns="" id="{E07467D7-96F1-3E13-6A4F-717965F669E9}"/>
                </a:ext>
              </a:extLst>
            </p:cNvPr>
            <p:cNvSpPr/>
            <p:nvPr/>
          </p:nvSpPr>
          <p:spPr bwMode="auto">
            <a:xfrm>
              <a:off x="4426919" y="2852936"/>
              <a:ext cx="883947"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b="1" dirty="0">
                  <a:solidFill>
                    <a:srgbClr val="000000"/>
                  </a:solidFill>
                  <a:latin typeface="Inter" panose="020B0604020202020204" charset="0"/>
                  <a:ea typeface="Inter" panose="020B0604020202020204" charset="0"/>
                  <a:cs typeface="Arial" panose="020B0604020202020204" pitchFamily="34" charset="0"/>
                </a:rPr>
                <a:t>Evaluación</a:t>
              </a:r>
            </a:p>
          </p:txBody>
        </p:sp>
        <p:sp>
          <p:nvSpPr>
            <p:cNvPr id="41" name="CuadroTexto 40">
              <a:extLst>
                <a:ext uri="{FF2B5EF4-FFF2-40B4-BE49-F238E27FC236}">
                  <a16:creationId xmlns:a16="http://schemas.microsoft.com/office/drawing/2014/main" xmlns="" id="{94AF1ABA-6D19-92E6-79F2-D56A364686BD}"/>
                </a:ext>
              </a:extLst>
            </p:cNvPr>
            <p:cNvSpPr txBox="1"/>
            <p:nvPr/>
          </p:nvSpPr>
          <p:spPr bwMode="auto">
            <a:xfrm>
              <a:off x="3731061" y="4977377"/>
              <a:ext cx="2317332" cy="1198357"/>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6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dirty="0">
                  <a:solidFill>
                    <a:srgbClr val="000000"/>
                  </a:solidFill>
                  <a:latin typeface="Inter" panose="020B0604020202020204" charset="0"/>
                  <a:ea typeface="Inter" panose="020B0604020202020204" charset="0"/>
                  <a:cs typeface="Arial" panose="020B0604020202020204" pitchFamily="34" charset="0"/>
                </a:rPr>
                <a:t>Dar la conformidad del Informe Técnico Minero.</a:t>
              </a:r>
            </a:p>
            <a:p>
              <a:pPr marL="85725" indent="-85725">
                <a:buFontTx/>
                <a:buChar char="-"/>
                <a:defRPr/>
              </a:pPr>
              <a:r>
                <a:rPr lang="es-PE" sz="1600" dirty="0">
                  <a:solidFill>
                    <a:srgbClr val="000000"/>
                  </a:solidFill>
                  <a:latin typeface="Inter" panose="020B0604020202020204" charset="0"/>
                  <a:ea typeface="Inter" panose="020B0604020202020204" charset="0"/>
                  <a:cs typeface="Arial" panose="020B0604020202020204" pitchFamily="34" charset="0"/>
                </a:rPr>
                <a:t>Aprueba la modificación del plan de minado.</a:t>
              </a:r>
            </a:p>
            <a:p>
              <a:pPr marL="85725" indent="-85725">
                <a:buFontTx/>
                <a:buChar char="-"/>
                <a:defRPr/>
              </a:pPr>
              <a:r>
                <a:rPr lang="es-PE" sz="1600" dirty="0">
                  <a:solidFill>
                    <a:srgbClr val="000000"/>
                  </a:solidFill>
                  <a:latin typeface="Inter" panose="020B0604020202020204" charset="0"/>
                  <a:ea typeface="Inter" panose="020B0604020202020204" charset="0"/>
                  <a:cs typeface="Arial" panose="020B0604020202020204" pitchFamily="34" charset="0"/>
                </a:rPr>
                <a:t>Autoriza la modificación de las actividades de explotación.</a:t>
              </a:r>
            </a:p>
          </p:txBody>
        </p:sp>
        <p:cxnSp>
          <p:nvCxnSpPr>
            <p:cNvPr id="42" name="Conector: angular 449">
              <a:extLst>
                <a:ext uri="{FF2B5EF4-FFF2-40B4-BE49-F238E27FC236}">
                  <a16:creationId xmlns:a16="http://schemas.microsoft.com/office/drawing/2014/main" xmlns="" id="{80EAB498-2C5F-C13F-46FF-BE0E2CB751D1}"/>
                </a:ext>
              </a:extLst>
            </p:cNvPr>
            <p:cNvCxnSpPr>
              <a:cxnSpLocks/>
              <a:stCxn id="37" idx="0"/>
              <a:endCxn id="36" idx="6"/>
            </p:cNvCxnSpPr>
            <p:nvPr/>
          </p:nvCxnSpPr>
          <p:spPr bwMode="auto">
            <a:xfrm rot="16200000" flipV="1">
              <a:off x="5219694" y="1527726"/>
              <a:ext cx="2094379" cy="139209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ector: angular 451">
              <a:extLst>
                <a:ext uri="{FF2B5EF4-FFF2-40B4-BE49-F238E27FC236}">
                  <a16:creationId xmlns:a16="http://schemas.microsoft.com/office/drawing/2014/main" xmlns="" id="{F1274C2D-65B3-9F37-DB95-EFD83DC367EE}"/>
                </a:ext>
              </a:extLst>
            </p:cNvPr>
            <p:cNvCxnSpPr>
              <a:cxnSpLocks/>
              <a:stCxn id="37" idx="2"/>
              <a:endCxn id="41" idx="3"/>
            </p:cNvCxnSpPr>
            <p:nvPr/>
          </p:nvCxnSpPr>
          <p:spPr bwMode="auto">
            <a:xfrm rot="5400000">
              <a:off x="5482102" y="4095725"/>
              <a:ext cx="2047122" cy="914539"/>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angular 3">
              <a:extLst>
                <a:ext uri="{FF2B5EF4-FFF2-40B4-BE49-F238E27FC236}">
                  <a16:creationId xmlns:a16="http://schemas.microsoft.com/office/drawing/2014/main" xmlns="" id="{BE522980-8B86-BAA9-D31E-1B26D75978CF}"/>
                </a:ext>
              </a:extLst>
            </p:cNvPr>
            <p:cNvCxnSpPr>
              <a:cxnSpLocks/>
              <a:stCxn id="38" idx="1"/>
              <a:endCxn id="39" idx="0"/>
            </p:cNvCxnSpPr>
            <p:nvPr/>
          </p:nvCxnSpPr>
          <p:spPr bwMode="auto">
            <a:xfrm rot="10800000" flipV="1">
              <a:off x="2403144" y="2200002"/>
              <a:ext cx="1659566" cy="509190"/>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xmlns="" id="{AF8596C8-93D2-21A5-938A-C51BDD08771A}"/>
                </a:ext>
              </a:extLst>
            </p:cNvPr>
            <p:cNvSpPr txBox="1"/>
            <p:nvPr/>
          </p:nvSpPr>
          <p:spPr bwMode="auto">
            <a:xfrm flipH="1">
              <a:off x="4527253" y="3952628"/>
              <a:ext cx="165100" cy="187978"/>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46" name="Decisión 18">
              <a:extLst>
                <a:ext uri="{FF2B5EF4-FFF2-40B4-BE49-F238E27FC236}">
                  <a16:creationId xmlns:a16="http://schemas.microsoft.com/office/drawing/2014/main" xmlns="" id="{B509D5FB-A85E-5A14-A63F-941032D5925A}"/>
                </a:ext>
              </a:extLst>
            </p:cNvPr>
            <p:cNvSpPr/>
            <p:nvPr/>
          </p:nvSpPr>
          <p:spPr bwMode="auto">
            <a:xfrm>
              <a:off x="4430353" y="3564035"/>
              <a:ext cx="883948" cy="373410"/>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b="1"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47" name="CuadroTexto 46">
              <a:extLst>
                <a:ext uri="{FF2B5EF4-FFF2-40B4-BE49-F238E27FC236}">
                  <a16:creationId xmlns:a16="http://schemas.microsoft.com/office/drawing/2014/main" xmlns="" id="{869E63AE-0422-8F09-9920-2F1F7744DB56}"/>
                </a:ext>
              </a:extLst>
            </p:cNvPr>
            <p:cNvSpPr txBox="1"/>
            <p:nvPr/>
          </p:nvSpPr>
          <p:spPr bwMode="auto">
            <a:xfrm>
              <a:off x="5681959" y="3564346"/>
              <a:ext cx="938703" cy="375956"/>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a:t>
              </a:r>
            </a:p>
          </p:txBody>
        </p:sp>
        <p:sp>
          <p:nvSpPr>
            <p:cNvPr id="48" name="CuadroTexto 47">
              <a:extLst>
                <a:ext uri="{FF2B5EF4-FFF2-40B4-BE49-F238E27FC236}">
                  <a16:creationId xmlns:a16="http://schemas.microsoft.com/office/drawing/2014/main" xmlns="" id="{5F0B7448-2449-DDB5-480F-021699ED2B83}"/>
                </a:ext>
              </a:extLst>
            </p:cNvPr>
            <p:cNvSpPr txBox="1"/>
            <p:nvPr/>
          </p:nvSpPr>
          <p:spPr bwMode="auto">
            <a:xfrm>
              <a:off x="5714378" y="4371007"/>
              <a:ext cx="888884" cy="187978"/>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a:t>
              </a:r>
            </a:p>
          </p:txBody>
        </p:sp>
        <p:sp>
          <p:nvSpPr>
            <p:cNvPr id="49" name="72 CuadroTexto">
              <a:extLst>
                <a:ext uri="{FF2B5EF4-FFF2-40B4-BE49-F238E27FC236}">
                  <a16:creationId xmlns:a16="http://schemas.microsoft.com/office/drawing/2014/main" xmlns="" id="{B1B5B89A-CEA6-4E77-B2A6-9BD49F6D184B}"/>
                </a:ext>
              </a:extLst>
            </p:cNvPr>
            <p:cNvSpPr txBox="1">
              <a:spLocks noChangeArrowheads="1"/>
            </p:cNvSpPr>
            <p:nvPr/>
          </p:nvSpPr>
          <p:spPr bwMode="auto">
            <a:xfrm>
              <a:off x="5700924" y="4058038"/>
              <a:ext cx="914541" cy="18797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Hasta    20 dh  </a:t>
              </a:r>
            </a:p>
          </p:txBody>
        </p:sp>
        <p:sp>
          <p:nvSpPr>
            <p:cNvPr id="50" name="CuadroTexto 49">
              <a:extLst>
                <a:ext uri="{FF2B5EF4-FFF2-40B4-BE49-F238E27FC236}">
                  <a16:creationId xmlns:a16="http://schemas.microsoft.com/office/drawing/2014/main" xmlns="" id="{342060F0-62DD-0CDF-C6F8-6B9D66A41A76}"/>
                </a:ext>
              </a:extLst>
            </p:cNvPr>
            <p:cNvSpPr txBox="1"/>
            <p:nvPr/>
          </p:nvSpPr>
          <p:spPr bwMode="auto">
            <a:xfrm>
              <a:off x="5164655" y="3260700"/>
              <a:ext cx="402290" cy="187978"/>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wrap="square"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51" name="Conector recto de flecha 50">
              <a:extLst>
                <a:ext uri="{FF2B5EF4-FFF2-40B4-BE49-F238E27FC236}">
                  <a16:creationId xmlns:a16="http://schemas.microsoft.com/office/drawing/2014/main" xmlns="" id="{B050D7DE-5D82-509C-4F98-A5EC0751C0CD}"/>
                </a:ext>
              </a:extLst>
            </p:cNvPr>
            <p:cNvCxnSpPr>
              <a:cxnSpLocks/>
              <a:stCxn id="46" idx="3"/>
              <a:endCxn id="47" idx="1"/>
            </p:cNvCxnSpPr>
            <p:nvPr/>
          </p:nvCxnSpPr>
          <p:spPr bwMode="auto">
            <a:xfrm>
              <a:off x="5314301" y="3750740"/>
              <a:ext cx="367658" cy="1584"/>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xmlns="" id="{E3BE7C11-761D-A65A-9C0C-A8BA65628526}"/>
                </a:ext>
              </a:extLst>
            </p:cNvPr>
            <p:cNvCxnSpPr>
              <a:cxnSpLocks/>
              <a:stCxn id="47" idx="2"/>
              <a:endCxn id="48" idx="0"/>
            </p:cNvCxnSpPr>
            <p:nvPr/>
          </p:nvCxnSpPr>
          <p:spPr bwMode="auto">
            <a:xfrm>
              <a:off x="6151311" y="3940302"/>
              <a:ext cx="7509" cy="430705"/>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Conector angular 25">
              <a:extLst>
                <a:ext uri="{FF2B5EF4-FFF2-40B4-BE49-F238E27FC236}">
                  <a16:creationId xmlns:a16="http://schemas.microsoft.com/office/drawing/2014/main" xmlns="" id="{01CDD47F-45CD-6E24-6C2A-408F046138DF}"/>
                </a:ext>
              </a:extLst>
            </p:cNvPr>
            <p:cNvCxnSpPr>
              <a:cxnSpLocks/>
              <a:stCxn id="48" idx="2"/>
              <a:endCxn id="41" idx="0"/>
            </p:cNvCxnSpPr>
            <p:nvPr/>
          </p:nvCxnSpPr>
          <p:spPr bwMode="auto">
            <a:xfrm rot="5400000">
              <a:off x="5315078" y="4133635"/>
              <a:ext cx="418392" cy="1269093"/>
            </a:xfrm>
            <a:prstGeom prst="bentConnector3">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72 CuadroTexto">
              <a:extLst>
                <a:ext uri="{FF2B5EF4-FFF2-40B4-BE49-F238E27FC236}">
                  <a16:creationId xmlns:a16="http://schemas.microsoft.com/office/drawing/2014/main" xmlns="" id="{46C16D9B-890D-906E-F63F-0D58B8B8052D}"/>
                </a:ext>
              </a:extLst>
            </p:cNvPr>
            <p:cNvSpPr txBox="1">
              <a:spLocks noChangeArrowheads="1"/>
            </p:cNvSpPr>
            <p:nvPr/>
          </p:nvSpPr>
          <p:spPr bwMode="auto">
            <a:xfrm>
              <a:off x="5848427" y="2911719"/>
              <a:ext cx="593498" cy="25846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55" name="Conector recto de flecha 54">
              <a:extLst>
                <a:ext uri="{FF2B5EF4-FFF2-40B4-BE49-F238E27FC236}">
                  <a16:creationId xmlns:a16="http://schemas.microsoft.com/office/drawing/2014/main" xmlns="" id="{282A2969-ABC5-9B79-CE1A-9AD19433191C}"/>
                </a:ext>
              </a:extLst>
            </p:cNvPr>
            <p:cNvCxnSpPr>
              <a:cxnSpLocks/>
              <a:stCxn id="54" idx="2"/>
              <a:endCxn id="47" idx="0"/>
            </p:cNvCxnSpPr>
            <p:nvPr/>
          </p:nvCxnSpPr>
          <p:spPr bwMode="auto">
            <a:xfrm>
              <a:off x="6145176" y="3170189"/>
              <a:ext cx="6134" cy="394157"/>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angular 28">
              <a:extLst>
                <a:ext uri="{FF2B5EF4-FFF2-40B4-BE49-F238E27FC236}">
                  <a16:creationId xmlns:a16="http://schemas.microsoft.com/office/drawing/2014/main" xmlns="" id="{2CB9C82A-C630-3DDB-AD85-C917FBE98D6F}"/>
                </a:ext>
              </a:extLst>
            </p:cNvPr>
            <p:cNvCxnSpPr>
              <a:stCxn id="54" idx="0"/>
              <a:endCxn id="36" idx="6"/>
            </p:cNvCxnSpPr>
            <p:nvPr/>
          </p:nvCxnSpPr>
          <p:spPr bwMode="auto">
            <a:xfrm rot="16200000" flipV="1">
              <a:off x="4990439" y="1756982"/>
              <a:ext cx="1735133" cy="574342"/>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xmlns="" id="{EDCBB4AA-745E-0A5E-DA24-5E36E0DB400A}"/>
                </a:ext>
              </a:extLst>
            </p:cNvPr>
            <p:cNvCxnSpPr>
              <a:stCxn id="36" idx="4"/>
              <a:endCxn id="38" idx="0"/>
            </p:cNvCxnSpPr>
            <p:nvPr/>
          </p:nvCxnSpPr>
          <p:spPr bwMode="auto">
            <a:xfrm>
              <a:off x="4869159" y="1556792"/>
              <a:ext cx="3175" cy="350317"/>
            </a:xfrm>
            <a:prstGeom prst="straightConnector1">
              <a:avLst/>
            </a:prstGeom>
            <a:ln>
              <a:solidFill>
                <a:schemeClr val="accent2">
                  <a:lumMod val="50000"/>
                </a:schemeClr>
              </a:solidFill>
              <a:tailEnd type="triangle"/>
            </a:ln>
          </p:spPr>
        </p:cxnSp>
        <p:cxnSp>
          <p:nvCxnSpPr>
            <p:cNvPr id="58" name="Conector recto de flecha 57">
              <a:extLst>
                <a:ext uri="{FF2B5EF4-FFF2-40B4-BE49-F238E27FC236}">
                  <a16:creationId xmlns:a16="http://schemas.microsoft.com/office/drawing/2014/main" xmlns="" id="{7ECF02EF-05E2-AE45-56CA-4B39D279604F}"/>
                </a:ext>
              </a:extLst>
            </p:cNvPr>
            <p:cNvCxnSpPr>
              <a:cxnSpLocks/>
              <a:stCxn id="38" idx="2"/>
              <a:endCxn id="40" idx="0"/>
            </p:cNvCxnSpPr>
            <p:nvPr/>
          </p:nvCxnSpPr>
          <p:spPr bwMode="auto">
            <a:xfrm flipH="1">
              <a:off x="4868893" y="2492896"/>
              <a:ext cx="3441" cy="360040"/>
            </a:xfrm>
            <a:prstGeom prst="straightConnector1">
              <a:avLst/>
            </a:prstGeom>
            <a:ln>
              <a:solidFill>
                <a:schemeClr val="accent2">
                  <a:lumMod val="50000"/>
                </a:schemeClr>
              </a:solidFill>
              <a:tailEnd type="triangle"/>
            </a:ln>
          </p:spPr>
        </p:cxnSp>
        <p:cxnSp>
          <p:nvCxnSpPr>
            <p:cNvPr id="59" name="Conector recto de flecha 58">
              <a:extLst>
                <a:ext uri="{FF2B5EF4-FFF2-40B4-BE49-F238E27FC236}">
                  <a16:creationId xmlns:a16="http://schemas.microsoft.com/office/drawing/2014/main" xmlns="" id="{0D442F3E-7034-9939-F62F-6473B11D913A}"/>
                </a:ext>
              </a:extLst>
            </p:cNvPr>
            <p:cNvCxnSpPr>
              <a:cxnSpLocks/>
              <a:stCxn id="40" idx="2"/>
              <a:endCxn id="46" idx="0"/>
            </p:cNvCxnSpPr>
            <p:nvPr/>
          </p:nvCxnSpPr>
          <p:spPr bwMode="auto">
            <a:xfrm>
              <a:off x="4868893" y="3170436"/>
              <a:ext cx="3434" cy="393599"/>
            </a:xfrm>
            <a:prstGeom prst="straightConnector1">
              <a:avLst/>
            </a:prstGeom>
            <a:ln>
              <a:solidFill>
                <a:schemeClr val="accent2">
                  <a:lumMod val="50000"/>
                </a:schemeClr>
              </a:solidFill>
              <a:tailEnd type="triangle"/>
            </a:ln>
          </p:spPr>
        </p:cxnSp>
        <p:cxnSp>
          <p:nvCxnSpPr>
            <p:cNvPr id="60" name="Conector recto de flecha 59">
              <a:extLst>
                <a:ext uri="{FF2B5EF4-FFF2-40B4-BE49-F238E27FC236}">
                  <a16:creationId xmlns:a16="http://schemas.microsoft.com/office/drawing/2014/main" xmlns="" id="{C1C583D8-0749-718A-DE1D-6F59028AB24B}"/>
                </a:ext>
              </a:extLst>
            </p:cNvPr>
            <p:cNvCxnSpPr>
              <a:cxnSpLocks/>
              <a:stCxn id="46" idx="2"/>
              <a:endCxn id="41" idx="0"/>
            </p:cNvCxnSpPr>
            <p:nvPr/>
          </p:nvCxnSpPr>
          <p:spPr bwMode="auto">
            <a:xfrm>
              <a:off x="4872327" y="3937445"/>
              <a:ext cx="17400" cy="1039932"/>
            </a:xfrm>
            <a:prstGeom prst="straightConnector1">
              <a:avLst/>
            </a:prstGeom>
            <a:ln>
              <a:solidFill>
                <a:schemeClr val="accent2">
                  <a:lumMod val="50000"/>
                </a:schemeClr>
              </a:solidFill>
              <a:tailEnd type="triangle"/>
            </a:ln>
          </p:spPr>
        </p:cxnSp>
      </p:grpSp>
      <p:grpSp>
        <p:nvGrpSpPr>
          <p:cNvPr id="61" name="Group 2">
            <a:extLst>
              <a:ext uri="{FF2B5EF4-FFF2-40B4-BE49-F238E27FC236}">
                <a16:creationId xmlns:a16="http://schemas.microsoft.com/office/drawing/2014/main" xmlns="" id="{E6979972-5D07-7D70-3770-AA1BFD0B8BA7}"/>
              </a:ext>
            </a:extLst>
          </p:cNvPr>
          <p:cNvGrpSpPr/>
          <p:nvPr/>
        </p:nvGrpSpPr>
        <p:grpSpPr>
          <a:xfrm>
            <a:off x="6397409" y="7556924"/>
            <a:ext cx="10861891" cy="2730076"/>
            <a:chOff x="0" y="0"/>
            <a:chExt cx="1363973" cy="342827"/>
          </a:xfrm>
        </p:grpSpPr>
        <p:sp>
          <p:nvSpPr>
            <p:cNvPr id="62" name="Freeform 3">
              <a:extLst>
                <a:ext uri="{FF2B5EF4-FFF2-40B4-BE49-F238E27FC236}">
                  <a16:creationId xmlns:a16="http://schemas.microsoft.com/office/drawing/2014/main" xmlns="" id="{455912F7-00D6-1620-17D6-DE78D3957A84}"/>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63" name="TextBox 4">
              <a:extLst>
                <a:ext uri="{FF2B5EF4-FFF2-40B4-BE49-F238E27FC236}">
                  <a16:creationId xmlns:a16="http://schemas.microsoft.com/office/drawing/2014/main" xmlns="" id="{361A784F-7A71-7D93-52C1-382DE8131067}"/>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6872441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998849A-8D98-C86F-0894-CB27017BAC0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B77FA471-3066-D306-B37D-146B0E11FCA5}"/>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D8DE0524-6394-6D5B-2984-BDD6FEB8431D}"/>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2A475C67-2E17-0848-0102-30E2458F3F02}"/>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2DF2C4BF-EF7E-487F-5EDF-29A8B046B4FA}"/>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1DE9D45D-6A90-9833-95F3-89D27FAFCF2A}"/>
              </a:ext>
            </a:extLst>
          </p:cNvPr>
          <p:cNvSpPr txBox="1"/>
          <p:nvPr/>
        </p:nvSpPr>
        <p:spPr>
          <a:xfrm>
            <a:off x="612451" y="3204575"/>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4.3 AUTORIZACIÓN DE ACTIVIDADES DE EXPLOTACIÓN</a:t>
            </a:r>
            <a:endParaRPr lang="es-PE" sz="4000" b="1" dirty="0">
              <a:solidFill>
                <a:srgbClr val="A42F0F"/>
              </a:solidFill>
              <a:latin typeface="Futura Ultra-Bold"/>
              <a:sym typeface="Futura Ultra-Bold"/>
            </a:endParaRPr>
          </a:p>
        </p:txBody>
      </p:sp>
      <p:sp>
        <p:nvSpPr>
          <p:cNvPr id="9" name="CuadroTexto 8">
            <a:extLst>
              <a:ext uri="{FF2B5EF4-FFF2-40B4-BE49-F238E27FC236}">
                <a16:creationId xmlns:a16="http://schemas.microsoft.com/office/drawing/2014/main" xmlns="" id="{321955E7-27F2-5727-752B-C409257B9882}"/>
              </a:ext>
            </a:extLst>
          </p:cNvPr>
          <p:cNvSpPr txBox="1"/>
          <p:nvPr/>
        </p:nvSpPr>
        <p:spPr>
          <a:xfrm>
            <a:off x="612451" y="4730132"/>
            <a:ext cx="14188678" cy="630942"/>
          </a:xfrm>
          <a:prstGeom prst="rect">
            <a:avLst/>
          </a:prstGeom>
          <a:noFill/>
        </p:spPr>
        <p:txBody>
          <a:bodyPr wrap="square">
            <a:spAutoFit/>
          </a:bodyPr>
          <a:lstStyle/>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ACTIVIDAD MINERA CONTINUA</a:t>
            </a:r>
          </a:p>
        </p:txBody>
      </p:sp>
      <p:grpSp>
        <p:nvGrpSpPr>
          <p:cNvPr id="10" name="Group 2">
            <a:extLst>
              <a:ext uri="{FF2B5EF4-FFF2-40B4-BE49-F238E27FC236}">
                <a16:creationId xmlns:a16="http://schemas.microsoft.com/office/drawing/2014/main" xmlns="" id="{0F8D6308-8740-EA26-701E-85435B50ABA5}"/>
              </a:ext>
            </a:extLst>
          </p:cNvPr>
          <p:cNvGrpSpPr/>
          <p:nvPr/>
        </p:nvGrpSpPr>
        <p:grpSpPr>
          <a:xfrm>
            <a:off x="6397409" y="7556924"/>
            <a:ext cx="10861891" cy="2730076"/>
            <a:chOff x="0" y="0"/>
            <a:chExt cx="1363973" cy="342827"/>
          </a:xfrm>
        </p:grpSpPr>
        <p:sp>
          <p:nvSpPr>
            <p:cNvPr id="11" name="Freeform 3">
              <a:extLst>
                <a:ext uri="{FF2B5EF4-FFF2-40B4-BE49-F238E27FC236}">
                  <a16:creationId xmlns:a16="http://schemas.microsoft.com/office/drawing/2014/main" xmlns="" id="{5008248D-DB64-E3C3-547D-B22D3765E332}"/>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2" name="TextBox 4">
              <a:extLst>
                <a:ext uri="{FF2B5EF4-FFF2-40B4-BE49-F238E27FC236}">
                  <a16:creationId xmlns:a16="http://schemas.microsoft.com/office/drawing/2014/main" xmlns="" id="{B01D6F79-DC43-352E-7483-DF3D11E9A1F0}"/>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30877319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6A37FA-961D-E598-1757-09F6F5E74121}"/>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924FC103-0B0A-3B0F-1588-8A3FAAB6FAC7}"/>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2729BEDD-4386-1543-9526-0336AFC13A05}"/>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0F9DD87F-59C6-7CFF-A2FB-1E2CF0BC71B3}"/>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2889E6D0-61D7-6A59-E167-5CBDE78E917C}"/>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C17A236F-AFF4-8FF9-5CE1-CEDAE653E594}"/>
              </a:ext>
            </a:extLst>
          </p:cNvPr>
          <p:cNvSpPr txBox="1"/>
          <p:nvPr/>
        </p:nvSpPr>
        <p:spPr>
          <a:xfrm>
            <a:off x="612451" y="3204575"/>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4.3.1 ACTIVIDAD MINERA CONTINUA</a:t>
            </a:r>
            <a:endParaRPr lang="es-PE" sz="4000" b="1" dirty="0">
              <a:solidFill>
                <a:srgbClr val="A42F0F"/>
              </a:solidFill>
              <a:latin typeface="Futura Ultra-Bold"/>
              <a:sym typeface="Futura Ultra-Bold"/>
            </a:endParaRPr>
          </a:p>
        </p:txBody>
      </p:sp>
      <p:sp>
        <p:nvSpPr>
          <p:cNvPr id="9" name="CuadroTexto 8">
            <a:extLst>
              <a:ext uri="{FF2B5EF4-FFF2-40B4-BE49-F238E27FC236}">
                <a16:creationId xmlns:a16="http://schemas.microsoft.com/office/drawing/2014/main" xmlns="" id="{C4B66285-B2F4-E338-EE0C-873D9C5295E2}"/>
              </a:ext>
            </a:extLst>
          </p:cNvPr>
          <p:cNvSpPr txBox="1"/>
          <p:nvPr/>
        </p:nvSpPr>
        <p:spPr>
          <a:xfrm>
            <a:off x="612451" y="4381500"/>
            <a:ext cx="14017949" cy="4524315"/>
          </a:xfrm>
          <a:prstGeom prst="rect">
            <a:avLst/>
          </a:prstGeom>
          <a:noFill/>
        </p:spPr>
        <p:txBody>
          <a:bodyPr wrap="square">
            <a:spAutoFit/>
          </a:bodyPr>
          <a:lstStyle/>
          <a:p>
            <a:r>
              <a:rPr lang="es-PE" sz="2400" b="1" dirty="0">
                <a:latin typeface="Inter" panose="020B0604020202020204" charset="0"/>
                <a:ea typeface="Inter" panose="020B0604020202020204" charset="0"/>
              </a:rPr>
              <a:t>Artículo 29 del Reglamento de Seguridad y Salud Ocupacional en Minería (DS 024-2016-EM, modificado  por el DS 023-2017-EM)</a:t>
            </a:r>
          </a:p>
          <a:p>
            <a:endParaRPr lang="es-PE" sz="2400" b="1" dirty="0">
              <a:latin typeface="Inter" panose="020B0604020202020204" charset="0"/>
              <a:ea typeface="Inter" panose="020B0604020202020204" charset="0"/>
            </a:endParaRPr>
          </a:p>
          <a:p>
            <a:r>
              <a:rPr lang="es-PE" sz="2400" b="1" i="1" dirty="0">
                <a:latin typeface="Inter" panose="020B0604020202020204" charset="0"/>
                <a:ea typeface="Inter" panose="020B0604020202020204" charset="0"/>
              </a:rPr>
              <a:t>Artículo 29.- </a:t>
            </a:r>
            <a:r>
              <a:rPr lang="es-PE" sz="2400" i="1" dirty="0">
                <a:latin typeface="Inter" panose="020B0604020202020204" charset="0"/>
                <a:ea typeface="Inter" panose="020B0604020202020204" charset="0"/>
              </a:rPr>
              <a:t>Los titulares de actividades mineras deben cumplir las obligaciones establecidas en la Ley y sus reglamentos que les resulten aplicables, y sólo pueden desarrollar actividades mineras en los siguientes casos:</a:t>
            </a:r>
          </a:p>
          <a:p>
            <a:r>
              <a:rPr lang="es-PE" sz="2400" b="1" i="1" dirty="0">
                <a:latin typeface="Inter" panose="020B0604020202020204" charset="0"/>
                <a:ea typeface="Inter" panose="020B0604020202020204" charset="0"/>
              </a:rPr>
              <a:t>a) Actividades de exploración</a:t>
            </a:r>
          </a:p>
          <a:p>
            <a:r>
              <a:rPr lang="es-PE" sz="2400" i="1" dirty="0">
                <a:latin typeface="Inter" panose="020B0604020202020204" charset="0"/>
                <a:ea typeface="Inter" panose="020B0604020202020204" charset="0"/>
              </a:rPr>
              <a:t>Si cuentan con la resolución de autorización de inicio o reinicio de actividades de exploración, otorgada por la Dirección General de Minería o Gobierno Regional, según corresponda.</a:t>
            </a:r>
            <a:endParaRPr lang="es-PE" sz="2400" b="1" i="1" dirty="0">
              <a:latin typeface="Inter" panose="020B0604020202020204" charset="0"/>
              <a:ea typeface="Inter" panose="020B0604020202020204" charset="0"/>
            </a:endParaRPr>
          </a:p>
          <a:p>
            <a:r>
              <a:rPr lang="es-PE" sz="2400" b="1" i="1" dirty="0">
                <a:latin typeface="Inter" panose="020B0604020202020204" charset="0"/>
                <a:ea typeface="Inter" panose="020B0604020202020204" charset="0"/>
              </a:rPr>
              <a:t>b) Actividades de explotación (incluye desarrollo y preparación)</a:t>
            </a:r>
          </a:p>
          <a:p>
            <a:r>
              <a:rPr lang="es-PE" sz="2400" i="1" dirty="0">
                <a:latin typeface="Inter" panose="020B0604020202020204" charset="0"/>
                <a:ea typeface="Inter" panose="020B0604020202020204" charset="0"/>
              </a:rPr>
              <a:t>1. Si cuentan con la resolución de autorización de inicio o reinicio de actividades de explotación, otorgada por la Dirección General de Minería o Gobierno Regional, según corresponda.</a:t>
            </a:r>
          </a:p>
        </p:txBody>
      </p:sp>
      <p:grpSp>
        <p:nvGrpSpPr>
          <p:cNvPr id="10" name="Group 2">
            <a:extLst>
              <a:ext uri="{FF2B5EF4-FFF2-40B4-BE49-F238E27FC236}">
                <a16:creationId xmlns:a16="http://schemas.microsoft.com/office/drawing/2014/main" xmlns="" id="{60AF3840-2CBB-A79E-90AA-09B78C3E764D}"/>
              </a:ext>
            </a:extLst>
          </p:cNvPr>
          <p:cNvGrpSpPr/>
          <p:nvPr/>
        </p:nvGrpSpPr>
        <p:grpSpPr>
          <a:xfrm>
            <a:off x="6397409" y="7556924"/>
            <a:ext cx="10861891" cy="2730076"/>
            <a:chOff x="0" y="0"/>
            <a:chExt cx="1363973" cy="342827"/>
          </a:xfrm>
        </p:grpSpPr>
        <p:sp>
          <p:nvSpPr>
            <p:cNvPr id="11" name="Freeform 3">
              <a:extLst>
                <a:ext uri="{FF2B5EF4-FFF2-40B4-BE49-F238E27FC236}">
                  <a16:creationId xmlns:a16="http://schemas.microsoft.com/office/drawing/2014/main" xmlns="" id="{4FB38C15-000B-031E-3439-9781D8076B64}"/>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2" name="TextBox 4">
              <a:extLst>
                <a:ext uri="{FF2B5EF4-FFF2-40B4-BE49-F238E27FC236}">
                  <a16:creationId xmlns:a16="http://schemas.microsoft.com/office/drawing/2014/main" xmlns="" id="{4AC62F58-A255-BF80-110C-8FD428F33508}"/>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812943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24C5E1D-8BAF-9109-1096-917B673F05C2}"/>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348A7406-4AFD-20B1-E32F-A364B14DCC4A}"/>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47733BDE-E93F-7344-0591-319AD0C5F931}"/>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ED98CAB7-F778-1A92-75E4-7C7C9D3A8663}"/>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66710949-B5AE-9BF3-A64D-C878A305B7DE}"/>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A783A7DB-8EA8-ABD9-F12A-123454673C90}"/>
              </a:ext>
            </a:extLst>
          </p:cNvPr>
          <p:cNvSpPr txBox="1"/>
          <p:nvPr/>
        </p:nvSpPr>
        <p:spPr>
          <a:xfrm>
            <a:off x="811505" y="2846715"/>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4.3.1 ACTIVIDAD MINERA CONTINUA</a:t>
            </a:r>
            <a:endParaRPr lang="es-PE" sz="4000" b="1" dirty="0">
              <a:solidFill>
                <a:srgbClr val="A42F0F"/>
              </a:solidFill>
              <a:latin typeface="Futura Ultra-Bold"/>
              <a:sym typeface="Futura Ultra-Bold"/>
            </a:endParaRPr>
          </a:p>
        </p:txBody>
      </p:sp>
      <p:sp>
        <p:nvSpPr>
          <p:cNvPr id="2" name="Diagrama de flujo: retraso 1">
            <a:extLst>
              <a:ext uri="{FF2B5EF4-FFF2-40B4-BE49-F238E27FC236}">
                <a16:creationId xmlns:a16="http://schemas.microsoft.com/office/drawing/2014/main" xmlns="" id="{8E457B81-ABED-B2AA-4E14-971E2EE082D4}"/>
              </a:ext>
            </a:extLst>
          </p:cNvPr>
          <p:cNvSpPr/>
          <p:nvPr/>
        </p:nvSpPr>
        <p:spPr>
          <a:xfrm>
            <a:off x="811505" y="4000500"/>
            <a:ext cx="2859579" cy="5042939"/>
          </a:xfrm>
          <a:prstGeom prst="flowChartDelay">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PE" sz="2400" b="1" dirty="0"/>
              <a:t>Artículo 29 del Reglamento de Seguridad y Salud Ocupacional en Minería (DS 024-2016-EM, modificado  por el DS 023-2017-EM)</a:t>
            </a:r>
          </a:p>
        </p:txBody>
      </p:sp>
      <p:sp>
        <p:nvSpPr>
          <p:cNvPr id="3" name="Marcador de contenido 2">
            <a:extLst>
              <a:ext uri="{FF2B5EF4-FFF2-40B4-BE49-F238E27FC236}">
                <a16:creationId xmlns:a16="http://schemas.microsoft.com/office/drawing/2014/main" xmlns="" id="{0B126347-B000-5489-3C4D-A39D0B52B2EA}"/>
              </a:ext>
            </a:extLst>
          </p:cNvPr>
          <p:cNvSpPr txBox="1">
            <a:spLocks/>
          </p:cNvSpPr>
          <p:nvPr/>
        </p:nvSpPr>
        <p:spPr>
          <a:xfrm>
            <a:off x="4023728" y="4000499"/>
            <a:ext cx="11658600" cy="504293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alibri" panose="020F0502020204030204" pitchFamily="34" charset="0"/>
                <a:ea typeface="Calibri" panose="020F0502020204030204" pitchFamily="34"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Calibri" panose="020F0502020204030204" pitchFamily="34" charset="0"/>
                <a:ea typeface="Calibri" panose="020F0502020204030204" pitchFamily="34"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Calibri" panose="020F0502020204030204" pitchFamily="34" charset="0"/>
                <a:ea typeface="Calibri" panose="020F0502020204030204" pitchFamily="34"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alibri" panose="020F0502020204030204" pitchFamily="34" charset="0"/>
                <a:ea typeface="Calibri" panose="020F0502020204030204" pitchFamily="34"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alibri" panose="020F0502020204030204" pitchFamily="34" charset="0"/>
                <a:ea typeface="Calibri" panose="020F0502020204030204" pitchFamily="34"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PE" b="1" dirty="0">
                <a:latin typeface="Inter" panose="020B0604020202020204" charset="0"/>
                <a:ea typeface="Inter" panose="020B0604020202020204" charset="0"/>
              </a:rPr>
              <a:t>Artículo 29 del Reglamento de Seguridad y Salud Ocupacional en Minería (DS 024-2016-EM, modificado  por el DS 023-2017-EM)</a:t>
            </a:r>
          </a:p>
          <a:p>
            <a:pPr algn="l"/>
            <a:r>
              <a:rPr lang="es-PE" b="1" i="1" dirty="0">
                <a:latin typeface="Inter" panose="020B0604020202020204" charset="0"/>
                <a:ea typeface="Inter" panose="020B0604020202020204" charset="0"/>
              </a:rPr>
              <a:t>Artículo 29.- </a:t>
            </a:r>
            <a:r>
              <a:rPr lang="es-PE" i="1" dirty="0">
                <a:latin typeface="Inter" panose="020B0604020202020204" charset="0"/>
                <a:ea typeface="Inter" panose="020B0604020202020204" charset="0"/>
              </a:rPr>
              <a:t>Los titulares de actividades mineras deben cumplir las obligaciones establecidas en la Ley y sus reglamentos que les resulten aplicables, y sólo pueden desarrollar actividades mineras en los siguientes casos:</a:t>
            </a:r>
          </a:p>
          <a:p>
            <a:pPr algn="l"/>
            <a:r>
              <a:rPr lang="es-PE" b="1" i="1" dirty="0">
                <a:latin typeface="Inter" panose="020B0604020202020204" charset="0"/>
                <a:ea typeface="Inter" panose="020B0604020202020204" charset="0"/>
              </a:rPr>
              <a:t>a) Actividades de exploración</a:t>
            </a:r>
          </a:p>
          <a:p>
            <a:pPr algn="l"/>
            <a:r>
              <a:rPr lang="es-PE" i="1" dirty="0">
                <a:latin typeface="Inter" panose="020B0604020202020204" charset="0"/>
                <a:ea typeface="Inter" panose="020B0604020202020204" charset="0"/>
              </a:rPr>
              <a:t>Si cuentan con la resolución de autorización de inicio o reinicio de actividades de exploración, otorgada por la Dirección General de Minería o Gobierno Regional, según corresponda.</a:t>
            </a:r>
            <a:endParaRPr lang="es-PE" b="1" i="1" dirty="0">
              <a:latin typeface="Inter" panose="020B0604020202020204" charset="0"/>
              <a:ea typeface="Inter" panose="020B0604020202020204" charset="0"/>
            </a:endParaRPr>
          </a:p>
          <a:p>
            <a:pPr algn="l"/>
            <a:r>
              <a:rPr lang="es-PE" b="1" i="1" dirty="0">
                <a:latin typeface="Inter" panose="020B0604020202020204" charset="0"/>
                <a:ea typeface="Inter" panose="020B0604020202020204" charset="0"/>
              </a:rPr>
              <a:t>b) Actividades de explotación (incluye desarrollo y preparación)</a:t>
            </a:r>
          </a:p>
          <a:p>
            <a:pPr algn="l"/>
            <a:r>
              <a:rPr lang="es-PE" i="1" dirty="0">
                <a:latin typeface="Inter" panose="020B0604020202020204" charset="0"/>
                <a:ea typeface="Inter" panose="020B0604020202020204" charset="0"/>
              </a:rPr>
              <a:t>1. Si cuentan con la resolución de autorización de inicio o reinicio de actividades de explotación, otorgada por la Dirección General de Minería o Gobierno Regional, según corresponda.</a:t>
            </a:r>
          </a:p>
        </p:txBody>
      </p:sp>
      <p:grpSp>
        <p:nvGrpSpPr>
          <p:cNvPr id="10" name="Group 2">
            <a:extLst>
              <a:ext uri="{FF2B5EF4-FFF2-40B4-BE49-F238E27FC236}">
                <a16:creationId xmlns:a16="http://schemas.microsoft.com/office/drawing/2014/main" xmlns="" id="{B6A93867-110F-463B-947F-9DA0388CD687}"/>
              </a:ext>
            </a:extLst>
          </p:cNvPr>
          <p:cNvGrpSpPr/>
          <p:nvPr/>
        </p:nvGrpSpPr>
        <p:grpSpPr>
          <a:xfrm>
            <a:off x="6397409" y="7556924"/>
            <a:ext cx="10861891" cy="2730076"/>
            <a:chOff x="0" y="0"/>
            <a:chExt cx="1363973" cy="342827"/>
          </a:xfrm>
        </p:grpSpPr>
        <p:sp>
          <p:nvSpPr>
            <p:cNvPr id="11" name="Freeform 3">
              <a:extLst>
                <a:ext uri="{FF2B5EF4-FFF2-40B4-BE49-F238E27FC236}">
                  <a16:creationId xmlns:a16="http://schemas.microsoft.com/office/drawing/2014/main" xmlns="" id="{9D156782-C96D-13B9-A57E-D9BFC8528096}"/>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2" name="TextBox 4">
              <a:extLst>
                <a:ext uri="{FF2B5EF4-FFF2-40B4-BE49-F238E27FC236}">
                  <a16:creationId xmlns:a16="http://schemas.microsoft.com/office/drawing/2014/main" xmlns="" id="{4F798AD9-6499-3D75-32AE-50A526EF5037}"/>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3562540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C701349-5C01-12BF-554D-C3C47FF459E4}"/>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C6074DF6-F04A-5F61-5A19-1F345BB17433}"/>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A57136F0-621B-CEC7-6AAC-0E4056716097}"/>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1306FEDA-86DA-8E15-63CF-D5F95A8A4D99}"/>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669EAA3B-63C2-78A6-0C55-8BB2274E8DDD}"/>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EAF3353C-DD97-24D2-F0E2-9D61B1C13A1F}"/>
              </a:ext>
            </a:extLst>
          </p:cNvPr>
          <p:cNvSpPr txBox="1"/>
          <p:nvPr/>
        </p:nvSpPr>
        <p:spPr>
          <a:xfrm>
            <a:off x="811505" y="2846715"/>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4.3.1 ACTIVIDAD MINERA CONTINUA</a:t>
            </a:r>
            <a:endParaRPr lang="es-PE" sz="4000" b="1" dirty="0">
              <a:solidFill>
                <a:srgbClr val="A42F0F"/>
              </a:solidFill>
              <a:latin typeface="Futura Ultra-Bold"/>
              <a:sym typeface="Futura Ultra-Bold"/>
            </a:endParaRPr>
          </a:p>
        </p:txBody>
      </p:sp>
      <p:sp>
        <p:nvSpPr>
          <p:cNvPr id="2" name="Diagrama de flujo: retraso 1">
            <a:extLst>
              <a:ext uri="{FF2B5EF4-FFF2-40B4-BE49-F238E27FC236}">
                <a16:creationId xmlns:a16="http://schemas.microsoft.com/office/drawing/2014/main" xmlns="" id="{44AE32CF-B6F9-4E4A-8747-69B0F7D9BD32}"/>
              </a:ext>
            </a:extLst>
          </p:cNvPr>
          <p:cNvSpPr/>
          <p:nvPr/>
        </p:nvSpPr>
        <p:spPr>
          <a:xfrm>
            <a:off x="811505" y="4000500"/>
            <a:ext cx="2859579" cy="5042939"/>
          </a:xfrm>
          <a:prstGeom prst="flowChartDelay">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PE" sz="2400" b="1" dirty="0"/>
              <a:t>Artículo 29 del Reglamento de Seguridad y Salud Ocupacional en Minería (DS 024-2016-EM, modificado  por el DS 023-2017-EM)</a:t>
            </a:r>
          </a:p>
        </p:txBody>
      </p:sp>
      <p:sp>
        <p:nvSpPr>
          <p:cNvPr id="3" name="Marcador de contenido 2">
            <a:extLst>
              <a:ext uri="{FF2B5EF4-FFF2-40B4-BE49-F238E27FC236}">
                <a16:creationId xmlns:a16="http://schemas.microsoft.com/office/drawing/2014/main" xmlns="" id="{29BAFDB1-AA90-A0AC-A61D-0168D8F17538}"/>
              </a:ext>
            </a:extLst>
          </p:cNvPr>
          <p:cNvSpPr txBox="1">
            <a:spLocks/>
          </p:cNvSpPr>
          <p:nvPr/>
        </p:nvSpPr>
        <p:spPr>
          <a:xfrm>
            <a:off x="4038600" y="4000500"/>
            <a:ext cx="11658600" cy="504293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alibri" panose="020F0502020204030204" pitchFamily="34" charset="0"/>
                <a:ea typeface="Calibri" panose="020F0502020204030204" pitchFamily="34"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Calibri" panose="020F0502020204030204" pitchFamily="34" charset="0"/>
                <a:ea typeface="Calibri" panose="020F0502020204030204" pitchFamily="34"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Calibri" panose="020F0502020204030204" pitchFamily="34" charset="0"/>
                <a:ea typeface="Calibri" panose="020F0502020204030204" pitchFamily="34"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alibri" panose="020F0502020204030204" pitchFamily="34" charset="0"/>
                <a:ea typeface="Calibri" panose="020F0502020204030204" pitchFamily="34"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alibri" panose="020F0502020204030204" pitchFamily="34" charset="0"/>
                <a:ea typeface="Calibri" panose="020F0502020204030204" pitchFamily="34"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PE" i="1" dirty="0">
                <a:latin typeface="Inter" panose="020B0604020202020204" charset="0"/>
                <a:ea typeface="Inter" panose="020B0604020202020204" charset="0"/>
              </a:rPr>
              <a:t>(…)</a:t>
            </a:r>
          </a:p>
          <a:p>
            <a:pPr algn="l"/>
            <a:r>
              <a:rPr lang="es-PE" i="1" dirty="0">
                <a:latin typeface="Inter" panose="020B0604020202020204" charset="0"/>
                <a:ea typeface="Inter" panose="020B0604020202020204" charset="0"/>
              </a:rPr>
              <a:t>2. De haber iniciado sus actividades de explotación antes de la vigencia del Decreto Supremo Nº 046-2001-EM, publicado en el Diario Oficial “El Peruano” el 26 de julio de 2001, son consideradas como actividad minera continua. </a:t>
            </a:r>
            <a:r>
              <a:rPr lang="es-PE" b="1" i="1" dirty="0">
                <a:latin typeface="Inter" panose="020B0604020202020204" charset="0"/>
                <a:ea typeface="Inter" panose="020B0604020202020204" charset="0"/>
              </a:rPr>
              <a:t>En este caso, la aprobación del plan de minado la realiza la Gerencia General del titular de actividad minera o el órgano que haga sus veces dentro de la Unidad Minera o Unidad de Producción</a:t>
            </a:r>
            <a:r>
              <a:rPr lang="es-PE" i="1" dirty="0">
                <a:latin typeface="Inter" panose="020B0604020202020204" charset="0"/>
                <a:ea typeface="Inter" panose="020B0604020202020204" charset="0"/>
              </a:rPr>
              <a:t>, la que verifica el cumplimiento de lo establecido en el ANEXO 1 del reglamento y </a:t>
            </a:r>
            <a:r>
              <a:rPr lang="es-PE" b="1" i="1" dirty="0">
                <a:latin typeface="Inter" panose="020B0604020202020204" charset="0"/>
                <a:ea typeface="Inter" panose="020B0604020202020204" charset="0"/>
              </a:rPr>
              <a:t>emite el documento de aprobación </a:t>
            </a:r>
            <a:r>
              <a:rPr lang="es-PE" i="1" dirty="0">
                <a:latin typeface="Inter" panose="020B0604020202020204" charset="0"/>
                <a:ea typeface="Inter" panose="020B0604020202020204" charset="0"/>
              </a:rPr>
              <a:t>correspondiente, </a:t>
            </a:r>
            <a:r>
              <a:rPr lang="es-PE" b="1" i="1" dirty="0">
                <a:latin typeface="Inter" panose="020B0604020202020204" charset="0"/>
                <a:ea typeface="Inter" panose="020B0604020202020204" charset="0"/>
              </a:rPr>
              <a:t>pudiendo ser actualizado</a:t>
            </a:r>
            <a:r>
              <a:rPr lang="es-PE" i="1" dirty="0">
                <a:latin typeface="Inter" panose="020B0604020202020204" charset="0"/>
                <a:ea typeface="Inter" panose="020B0604020202020204" charset="0"/>
              </a:rPr>
              <a:t> cada vez que sea necesario.</a:t>
            </a:r>
          </a:p>
          <a:p>
            <a:pPr algn="l"/>
            <a:r>
              <a:rPr lang="es-PE" i="1" dirty="0">
                <a:latin typeface="Inter" panose="020B0604020202020204" charset="0"/>
                <a:ea typeface="Inter" panose="020B0604020202020204" charset="0"/>
              </a:rPr>
              <a:t>El titular de actividad minera presenta copia del documento de aprobación del plan de minado a la autoridad competente hasta el 31 de diciembre de cada año. Además, corresponde presentar el documento de aprobación del plan de minado cada vez que éste sea actualizado. Sin perjuicio de lo anterior, presenta copia del plan de minado documentado en cualquier oportunidad en que le sea requerida por la autoridad competente. </a:t>
            </a:r>
          </a:p>
        </p:txBody>
      </p:sp>
      <p:grpSp>
        <p:nvGrpSpPr>
          <p:cNvPr id="9" name="Group 2">
            <a:extLst>
              <a:ext uri="{FF2B5EF4-FFF2-40B4-BE49-F238E27FC236}">
                <a16:creationId xmlns:a16="http://schemas.microsoft.com/office/drawing/2014/main" xmlns="" id="{9B963CB5-BE3C-9C6B-8B65-4BD13DDBBE9B}"/>
              </a:ext>
            </a:extLst>
          </p:cNvPr>
          <p:cNvGrpSpPr/>
          <p:nvPr/>
        </p:nvGrpSpPr>
        <p:grpSpPr>
          <a:xfrm>
            <a:off x="6397409" y="7556924"/>
            <a:ext cx="10861891" cy="2730076"/>
            <a:chOff x="0" y="0"/>
            <a:chExt cx="1363973" cy="342827"/>
          </a:xfrm>
        </p:grpSpPr>
        <p:sp>
          <p:nvSpPr>
            <p:cNvPr id="10" name="Freeform 3">
              <a:extLst>
                <a:ext uri="{FF2B5EF4-FFF2-40B4-BE49-F238E27FC236}">
                  <a16:creationId xmlns:a16="http://schemas.microsoft.com/office/drawing/2014/main" xmlns="" id="{6B018E00-C385-1ADF-7625-3D74C5D53154}"/>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 name="TextBox 4">
              <a:extLst>
                <a:ext uri="{FF2B5EF4-FFF2-40B4-BE49-F238E27FC236}">
                  <a16:creationId xmlns:a16="http://schemas.microsoft.com/office/drawing/2014/main" xmlns="" id="{DD4A6910-3860-817B-8D70-E876CEDE23F5}"/>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3183095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BD7459B-46CB-B446-BB12-471EBF860A71}"/>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E9DCFF9E-3CEF-A9DB-1AD4-57EC0DD7C21C}"/>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81CC5B5F-4510-19E8-F7FF-6D8F2FC5511A}"/>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4DF2D961-4B9F-3BF4-1736-0114E5914C9D}"/>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E3210417-D986-6186-3AC4-22864A3CCA90}"/>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763241AB-C583-1785-4010-739166C46B33}"/>
              </a:ext>
            </a:extLst>
          </p:cNvPr>
          <p:cNvSpPr txBox="1"/>
          <p:nvPr/>
        </p:nvSpPr>
        <p:spPr>
          <a:xfrm>
            <a:off x="811505" y="2846715"/>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4.3.1 ACTIVIDAD MINERA CONTINUA</a:t>
            </a:r>
            <a:endParaRPr lang="es-PE" sz="4000" b="1" dirty="0">
              <a:solidFill>
                <a:srgbClr val="A42F0F"/>
              </a:solidFill>
              <a:latin typeface="Futura Ultra-Bold"/>
              <a:sym typeface="Futura Ultra-Bold"/>
            </a:endParaRPr>
          </a:p>
        </p:txBody>
      </p:sp>
      <p:sp>
        <p:nvSpPr>
          <p:cNvPr id="3" name="Marcador de contenido 2">
            <a:extLst>
              <a:ext uri="{FF2B5EF4-FFF2-40B4-BE49-F238E27FC236}">
                <a16:creationId xmlns:a16="http://schemas.microsoft.com/office/drawing/2014/main" xmlns="" id="{BD7F33A3-FCED-C3B2-E6C6-44BA10125C7A}"/>
              </a:ext>
            </a:extLst>
          </p:cNvPr>
          <p:cNvSpPr txBox="1">
            <a:spLocks/>
          </p:cNvSpPr>
          <p:nvPr/>
        </p:nvSpPr>
        <p:spPr>
          <a:xfrm>
            <a:off x="811505" y="4457700"/>
            <a:ext cx="13514095" cy="342899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alibri" panose="020F0502020204030204" pitchFamily="34" charset="0"/>
                <a:ea typeface="Calibri" panose="020F0502020204030204" pitchFamily="34"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Calibri" panose="020F0502020204030204" pitchFamily="34" charset="0"/>
                <a:ea typeface="Calibri" panose="020F0502020204030204" pitchFamily="34"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Calibri" panose="020F0502020204030204" pitchFamily="34" charset="0"/>
                <a:ea typeface="Calibri" panose="020F0502020204030204" pitchFamily="34"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alibri" panose="020F0502020204030204" pitchFamily="34" charset="0"/>
                <a:ea typeface="Calibri" panose="020F0502020204030204" pitchFamily="34"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alibri" panose="020F0502020204030204" pitchFamily="34" charset="0"/>
                <a:ea typeface="Calibri" panose="020F0502020204030204" pitchFamily="34"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PE" b="1" dirty="0">
                <a:latin typeface="Inter" panose="020B0604020202020204" charset="0"/>
                <a:ea typeface="Inter" panose="020B0604020202020204" charset="0"/>
              </a:rPr>
              <a:t>ARTÍCULO 106.- ACTIVIDAD MINERA CONTINUA</a:t>
            </a:r>
          </a:p>
          <a:p>
            <a:pPr algn="l"/>
            <a:endParaRPr lang="es-PE" b="1" dirty="0">
              <a:latin typeface="Inter" panose="020B0604020202020204" charset="0"/>
              <a:ea typeface="Inter" panose="020B0604020202020204" charset="0"/>
            </a:endParaRPr>
          </a:p>
          <a:p>
            <a:pPr algn="l"/>
            <a:r>
              <a:rPr lang="es-PE" dirty="0">
                <a:latin typeface="Inter" panose="020B0604020202020204" charset="0"/>
                <a:ea typeface="Inter" panose="020B0604020202020204" charset="0"/>
              </a:rPr>
              <a:t>106.1 Se considera como </a:t>
            </a:r>
            <a:r>
              <a:rPr lang="es-PE" b="1" dirty="0">
                <a:latin typeface="Inter" panose="020B0604020202020204" charset="0"/>
                <a:ea typeface="Inter" panose="020B0604020202020204" charset="0"/>
              </a:rPr>
              <a:t>actividad minera continua</a:t>
            </a:r>
            <a:r>
              <a:rPr lang="es-PE" dirty="0">
                <a:latin typeface="Inter" panose="020B0604020202020204" charset="0"/>
                <a:ea typeface="Inter" panose="020B0604020202020204" charset="0"/>
              </a:rPr>
              <a:t>, aquella actividad de explotación iniciada antes de la vigencia del Decreto Supremo Nº 046-2001-EM, publicado en el Diario Oficial El Peruano el 26 de julio de 2001, norma que a la fecha se encuentra derogada. </a:t>
            </a:r>
          </a:p>
          <a:p>
            <a:pPr algn="l"/>
            <a:r>
              <a:rPr lang="es-PE" dirty="0">
                <a:latin typeface="Inter" panose="020B0604020202020204" charset="0"/>
                <a:ea typeface="Inter" panose="020B0604020202020204" charset="0"/>
              </a:rPr>
              <a:t>En este caso, </a:t>
            </a:r>
            <a:r>
              <a:rPr lang="es-PE" b="1" dirty="0">
                <a:latin typeface="Inter" panose="020B0604020202020204" charset="0"/>
                <a:ea typeface="Inter" panose="020B0604020202020204" charset="0"/>
              </a:rPr>
              <a:t>el Plan de Minado </a:t>
            </a:r>
            <a:r>
              <a:rPr lang="es-PE" dirty="0">
                <a:latin typeface="Inter" panose="020B0604020202020204" charset="0"/>
                <a:ea typeface="Inter" panose="020B0604020202020204" charset="0"/>
              </a:rPr>
              <a:t>y </a:t>
            </a:r>
            <a:r>
              <a:rPr lang="es-PE" b="1" dirty="0">
                <a:latin typeface="Inter" panose="020B0604020202020204" charset="0"/>
                <a:ea typeface="Inter" panose="020B0604020202020204" charset="0"/>
              </a:rPr>
              <a:t>todas sus modificatorias </a:t>
            </a:r>
            <a:r>
              <a:rPr lang="es-PE" dirty="0">
                <a:latin typeface="Inter" panose="020B0604020202020204" charset="0"/>
                <a:ea typeface="Inter" panose="020B0604020202020204" charset="0"/>
              </a:rPr>
              <a:t>son aprobados por la Gerencia General o el órgano que haga sus veces dentro de la Unidad Minera o Unidad de Producción, conforme al artículo 29 del Reglamento de Seguridad y Salud Ocupacional en Minería, aprobado por Decreto Supremo Nº 024-2016-EM o norma que la reemplace.</a:t>
            </a:r>
          </a:p>
        </p:txBody>
      </p:sp>
      <p:grpSp>
        <p:nvGrpSpPr>
          <p:cNvPr id="9" name="Group 2">
            <a:extLst>
              <a:ext uri="{FF2B5EF4-FFF2-40B4-BE49-F238E27FC236}">
                <a16:creationId xmlns:a16="http://schemas.microsoft.com/office/drawing/2014/main" xmlns="" id="{2F190C53-63AA-4EC0-B3BB-C5511C0E37C8}"/>
              </a:ext>
            </a:extLst>
          </p:cNvPr>
          <p:cNvGrpSpPr/>
          <p:nvPr/>
        </p:nvGrpSpPr>
        <p:grpSpPr>
          <a:xfrm>
            <a:off x="6397409" y="7556924"/>
            <a:ext cx="10861891" cy="2730076"/>
            <a:chOff x="0" y="0"/>
            <a:chExt cx="1363973" cy="342827"/>
          </a:xfrm>
        </p:grpSpPr>
        <p:sp>
          <p:nvSpPr>
            <p:cNvPr id="10" name="Freeform 3">
              <a:extLst>
                <a:ext uri="{FF2B5EF4-FFF2-40B4-BE49-F238E27FC236}">
                  <a16:creationId xmlns:a16="http://schemas.microsoft.com/office/drawing/2014/main" xmlns="" id="{4C513CD1-7B12-9ACE-3B50-EA5168EFFBF4}"/>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 name="TextBox 4">
              <a:extLst>
                <a:ext uri="{FF2B5EF4-FFF2-40B4-BE49-F238E27FC236}">
                  <a16:creationId xmlns:a16="http://schemas.microsoft.com/office/drawing/2014/main" xmlns="" id="{2C540135-01D9-04DC-B84D-A2EEDF954341}"/>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8948232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E9468EB-18D7-6897-7CA7-8F7F59C99E8D}"/>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F248E2E3-384C-91E9-986F-A4A5BC37A6A4}"/>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867CA228-89D3-FDDA-BF60-3516E2870584}"/>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D6A4C780-9E76-0F2E-AF12-86C9F027D0A4}"/>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D0F775DB-8FC1-8779-F86B-431FD7D2B577}"/>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30A78A46-56FA-C834-F4CB-9838580406C5}"/>
              </a:ext>
            </a:extLst>
          </p:cNvPr>
          <p:cNvSpPr txBox="1"/>
          <p:nvPr/>
        </p:nvSpPr>
        <p:spPr>
          <a:xfrm>
            <a:off x="811505" y="2846715"/>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ea typeface="Futura Ultra-Bold"/>
                <a:cs typeface="Futura Ultra-Bold"/>
                <a:sym typeface="Futura Ultra-Bold"/>
              </a:rPr>
              <a:t>4.3.1 ACTIVIDAD MINERA CONTINUA</a:t>
            </a:r>
            <a:endParaRPr lang="es-PE" sz="4000" b="1" dirty="0">
              <a:solidFill>
                <a:srgbClr val="A42F0F"/>
              </a:solidFill>
              <a:latin typeface="Futura Ultra-Bold"/>
              <a:sym typeface="Futura Ultra-Bold"/>
            </a:endParaRPr>
          </a:p>
        </p:txBody>
      </p:sp>
      <p:sp>
        <p:nvSpPr>
          <p:cNvPr id="3" name="Marcador de contenido 2">
            <a:extLst>
              <a:ext uri="{FF2B5EF4-FFF2-40B4-BE49-F238E27FC236}">
                <a16:creationId xmlns:a16="http://schemas.microsoft.com/office/drawing/2014/main" xmlns="" id="{36E4F1F0-833F-03CD-C7B6-5E759CA538EC}"/>
              </a:ext>
            </a:extLst>
          </p:cNvPr>
          <p:cNvSpPr txBox="1">
            <a:spLocks/>
          </p:cNvSpPr>
          <p:nvPr/>
        </p:nvSpPr>
        <p:spPr>
          <a:xfrm>
            <a:off x="811505" y="3857690"/>
            <a:ext cx="13514095" cy="471481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alibri" panose="020F0502020204030204" pitchFamily="34" charset="0"/>
                <a:ea typeface="Calibri" panose="020F0502020204030204" pitchFamily="34"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Calibri" panose="020F0502020204030204" pitchFamily="34" charset="0"/>
                <a:ea typeface="Calibri" panose="020F0502020204030204" pitchFamily="34"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Calibri" panose="020F0502020204030204" pitchFamily="34" charset="0"/>
                <a:ea typeface="Calibri" panose="020F0502020204030204" pitchFamily="34"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alibri" panose="020F0502020204030204" pitchFamily="34" charset="0"/>
                <a:ea typeface="Calibri" panose="020F0502020204030204" pitchFamily="34"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alibri" panose="020F0502020204030204" pitchFamily="34" charset="0"/>
                <a:ea typeface="Calibri" panose="020F0502020204030204" pitchFamily="34"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PE" b="1" dirty="0">
                <a:latin typeface="Inter" panose="020B0604020202020204" charset="0"/>
                <a:ea typeface="Inter" panose="020B0604020202020204" charset="0"/>
              </a:rPr>
              <a:t>ARTÍCULO 106.- ACTIVIDAD MINERA CONTINUA</a:t>
            </a:r>
          </a:p>
          <a:p>
            <a:pPr algn="l"/>
            <a:endParaRPr lang="es-PE" b="1" dirty="0">
              <a:latin typeface="Inter" panose="020B0604020202020204" charset="0"/>
              <a:ea typeface="Inter" panose="020B0604020202020204" charset="0"/>
            </a:endParaRPr>
          </a:p>
          <a:p>
            <a:pPr algn="l"/>
            <a:r>
              <a:rPr lang="es-PE" dirty="0">
                <a:latin typeface="Inter" panose="020B0604020202020204" charset="0"/>
                <a:ea typeface="Inter" panose="020B0604020202020204" charset="0"/>
              </a:rPr>
              <a:t>(…)</a:t>
            </a:r>
          </a:p>
          <a:p>
            <a:pPr algn="l"/>
            <a:endParaRPr lang="es-PE" dirty="0">
              <a:latin typeface="Inter" panose="020B0604020202020204" charset="0"/>
              <a:ea typeface="Inter" panose="020B0604020202020204" charset="0"/>
            </a:endParaRPr>
          </a:p>
          <a:p>
            <a:pPr algn="l"/>
            <a:r>
              <a:rPr lang="es-PE" dirty="0">
                <a:latin typeface="Inter" panose="020B0604020202020204" charset="0"/>
                <a:ea typeface="Inter" panose="020B0604020202020204" charset="0"/>
              </a:rPr>
              <a:t>106.2 Si las actividades consideradas como actividad minera continua requieren de </a:t>
            </a:r>
            <a:r>
              <a:rPr lang="es-PE" b="1" dirty="0">
                <a:latin typeface="Inter" panose="020B0604020202020204" charset="0"/>
                <a:ea typeface="Inter" panose="020B0604020202020204" charset="0"/>
              </a:rPr>
              <a:t>cambio en el método de explotación </a:t>
            </a:r>
            <a:r>
              <a:rPr lang="es-PE" dirty="0">
                <a:latin typeface="Inter" panose="020B0604020202020204" charset="0"/>
                <a:ea typeface="Inter" panose="020B0604020202020204" charset="0"/>
              </a:rPr>
              <a:t>superficial a subterráneo o viceversa, total o parcial, o la incorporación </a:t>
            </a:r>
            <a:r>
              <a:rPr lang="es-PE" b="1" dirty="0">
                <a:latin typeface="Inter" panose="020B0604020202020204" charset="0"/>
                <a:ea typeface="Inter" panose="020B0604020202020204" charset="0"/>
              </a:rPr>
              <a:t>de nuevos tajos </a:t>
            </a:r>
            <a:r>
              <a:rPr lang="es-PE" dirty="0">
                <a:latin typeface="Inter" panose="020B0604020202020204" charset="0"/>
                <a:ea typeface="Inter" panose="020B0604020202020204" charset="0"/>
              </a:rPr>
              <a:t>y </a:t>
            </a:r>
            <a:r>
              <a:rPr lang="es-PE" b="1" dirty="0">
                <a:latin typeface="Inter" panose="020B0604020202020204" charset="0"/>
                <a:ea typeface="Inter" panose="020B0604020202020204" charset="0"/>
              </a:rPr>
              <a:t>nuevos botaderos</a:t>
            </a:r>
            <a:r>
              <a:rPr lang="es-PE" dirty="0">
                <a:latin typeface="Inter" panose="020B0604020202020204" charset="0"/>
                <a:ea typeface="Inter" panose="020B0604020202020204" charset="0"/>
              </a:rPr>
              <a:t>, </a:t>
            </a:r>
            <a:r>
              <a:rPr lang="es-PE" u="sng" dirty="0">
                <a:effectLst>
                  <a:outerShdw blurRad="38100" dist="38100" dir="2700000" algn="tl">
                    <a:srgbClr val="000000">
                      <a:alpha val="43137"/>
                    </a:srgbClr>
                  </a:outerShdw>
                </a:effectLst>
                <a:latin typeface="Inter" panose="020B0604020202020204" charset="0"/>
                <a:ea typeface="Inter" panose="020B0604020202020204" charset="0"/>
              </a:rPr>
              <a:t>el titular de actividad minera </a:t>
            </a:r>
            <a:r>
              <a:rPr lang="es-PE" dirty="0">
                <a:latin typeface="Inter" panose="020B0604020202020204" charset="0"/>
                <a:ea typeface="Inter" panose="020B0604020202020204" charset="0"/>
              </a:rPr>
              <a:t>debe solicitar la autorización correspondiente a la Dirección General de Minería o Gobierno Regional, conforme al procedimiento señalado en el artículo 103 del presente Reglamento.</a:t>
            </a:r>
          </a:p>
          <a:p>
            <a:pPr algn="l"/>
            <a:r>
              <a:rPr lang="es-PE" b="1" dirty="0">
                <a:solidFill>
                  <a:schemeClr val="accent2">
                    <a:lumMod val="50000"/>
                  </a:schemeClr>
                </a:solidFill>
                <a:latin typeface="Inter" panose="020B0604020202020204" charset="0"/>
                <a:ea typeface="Inter" panose="020B0604020202020204" charset="0"/>
              </a:rPr>
              <a:t>EL artículo 103 del RPM corresponde a los procedimientos de Modificación de la autorización de explotación.</a:t>
            </a:r>
          </a:p>
        </p:txBody>
      </p:sp>
      <p:grpSp>
        <p:nvGrpSpPr>
          <p:cNvPr id="2" name="Group 2">
            <a:extLst>
              <a:ext uri="{FF2B5EF4-FFF2-40B4-BE49-F238E27FC236}">
                <a16:creationId xmlns:a16="http://schemas.microsoft.com/office/drawing/2014/main" xmlns="" id="{8DC9B50F-740E-B3C2-72A0-128F691160C2}"/>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E7C42E53-9916-2439-CB6F-8C29F7971021}"/>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E41E6208-827E-63FD-39A8-05C2BD65546E}"/>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0779391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6F9AEA-C603-EC2D-A4AE-5C780399BF98}"/>
            </a:ext>
          </a:extLst>
        </p:cNvPr>
        <p:cNvGrpSpPr/>
        <p:nvPr/>
      </p:nvGrpSpPr>
      <p:grpSpPr>
        <a:xfrm>
          <a:off x="0" y="0"/>
          <a:ext cx="0" cy="0"/>
          <a:chOff x="0" y="0"/>
          <a:chExt cx="0" cy="0"/>
        </a:xfrm>
      </p:grpSpPr>
      <p:sp>
        <p:nvSpPr>
          <p:cNvPr id="29" name="Freeform 26">
            <a:extLst>
              <a:ext uri="{FF2B5EF4-FFF2-40B4-BE49-F238E27FC236}">
                <a16:creationId xmlns:a16="http://schemas.microsoft.com/office/drawing/2014/main" xmlns="" id="{EAF893DB-D104-0D05-B54D-E3D29C803576}"/>
              </a:ext>
            </a:extLst>
          </p:cNvPr>
          <p:cNvSpPr/>
          <p:nvPr/>
        </p:nvSpPr>
        <p:spPr>
          <a:xfrm flipV="1">
            <a:off x="1" y="7700772"/>
            <a:ext cx="8621468"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2" name="Group 2">
            <a:extLst>
              <a:ext uri="{FF2B5EF4-FFF2-40B4-BE49-F238E27FC236}">
                <a16:creationId xmlns:a16="http://schemas.microsoft.com/office/drawing/2014/main" xmlns="" id="{1967D262-3AD1-E5CD-BA70-4BE201D9575B}"/>
              </a:ext>
            </a:extLst>
          </p:cNvPr>
          <p:cNvGrpSpPr/>
          <p:nvPr/>
        </p:nvGrpSpPr>
        <p:grpSpPr>
          <a:xfrm>
            <a:off x="8233660" y="3843226"/>
            <a:ext cx="12164805" cy="12164805"/>
            <a:chOff x="0" y="0"/>
            <a:chExt cx="812800" cy="812800"/>
          </a:xfrm>
          <a:solidFill>
            <a:schemeClr val="tx1"/>
          </a:solidFill>
        </p:grpSpPr>
        <p:sp>
          <p:nvSpPr>
            <p:cNvPr id="3" name="Freeform 3">
              <a:extLst>
                <a:ext uri="{FF2B5EF4-FFF2-40B4-BE49-F238E27FC236}">
                  <a16:creationId xmlns:a16="http://schemas.microsoft.com/office/drawing/2014/main" xmlns="" id="{85F097D2-DFCB-7BA9-2BF6-7362D2E34E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pFill/>
          </p:spPr>
        </p:sp>
        <p:sp>
          <p:nvSpPr>
            <p:cNvPr id="4" name="TextBox 4">
              <a:extLst>
                <a:ext uri="{FF2B5EF4-FFF2-40B4-BE49-F238E27FC236}">
                  <a16:creationId xmlns:a16="http://schemas.microsoft.com/office/drawing/2014/main" xmlns="" id="{BDD4EC95-17E3-E764-56A5-5C8BD2FAD603}"/>
                </a:ext>
              </a:extLst>
            </p:cNvPr>
            <p:cNvSpPr txBox="1"/>
            <p:nvPr/>
          </p:nvSpPr>
          <p:spPr>
            <a:xfrm>
              <a:off x="76200" y="76200"/>
              <a:ext cx="660400" cy="660400"/>
            </a:xfrm>
            <a:prstGeom prst="rect">
              <a:avLst/>
            </a:prstGeom>
            <a:grpFill/>
          </p:spPr>
          <p:txBody>
            <a:bodyPr lIns="50800" tIns="50800" rIns="50800" bIns="50800" rtlCol="0" anchor="ctr"/>
            <a:lstStyle/>
            <a:p>
              <a:pPr algn="ctr">
                <a:lnSpc>
                  <a:spcPts val="2157"/>
                </a:lnSpc>
              </a:pPr>
              <a:endParaRPr dirty="0"/>
            </a:p>
          </p:txBody>
        </p:sp>
      </p:grpSp>
      <p:grpSp>
        <p:nvGrpSpPr>
          <p:cNvPr id="5" name="Group 5">
            <a:extLst>
              <a:ext uri="{FF2B5EF4-FFF2-40B4-BE49-F238E27FC236}">
                <a16:creationId xmlns:a16="http://schemas.microsoft.com/office/drawing/2014/main" xmlns="" id="{64D44585-3DA8-3F40-E599-881A922C5C66}"/>
              </a:ext>
            </a:extLst>
          </p:cNvPr>
          <p:cNvGrpSpPr>
            <a:grpSpLocks noChangeAspect="1"/>
          </p:cNvGrpSpPr>
          <p:nvPr/>
        </p:nvGrpSpPr>
        <p:grpSpPr>
          <a:xfrm>
            <a:off x="13757357" y="806171"/>
            <a:ext cx="4151041" cy="8213549"/>
            <a:chOff x="0" y="0"/>
            <a:chExt cx="2620010" cy="5184140"/>
          </a:xfrm>
        </p:grpSpPr>
        <p:sp>
          <p:nvSpPr>
            <p:cNvPr id="6" name="Freeform 6">
              <a:extLst>
                <a:ext uri="{FF2B5EF4-FFF2-40B4-BE49-F238E27FC236}">
                  <a16:creationId xmlns:a16="http://schemas.microsoft.com/office/drawing/2014/main" xmlns="" id="{746D3C3E-C0A3-AC8D-3458-37B54F34A1CC}"/>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a:extLst>
                <a:ext uri="{FF2B5EF4-FFF2-40B4-BE49-F238E27FC236}">
                  <a16:creationId xmlns:a16="http://schemas.microsoft.com/office/drawing/2014/main" xmlns="" id="{F8BE885F-DFBB-08A2-E480-24CB03EF913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38913" r="-185735"/>
              </a:stretch>
            </a:blipFill>
          </p:spPr>
        </p:sp>
        <p:sp>
          <p:nvSpPr>
            <p:cNvPr id="8" name="Freeform 8">
              <a:extLst>
                <a:ext uri="{FF2B5EF4-FFF2-40B4-BE49-F238E27FC236}">
                  <a16:creationId xmlns:a16="http://schemas.microsoft.com/office/drawing/2014/main" xmlns="" id="{736D41B9-5ED4-FD83-960D-610150CBD246}"/>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a:extLst>
                <a:ext uri="{FF2B5EF4-FFF2-40B4-BE49-F238E27FC236}">
                  <a16:creationId xmlns:a16="http://schemas.microsoft.com/office/drawing/2014/main" xmlns="" id="{9BC83336-0ADB-4DCD-419B-935E8322F26B}"/>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a:extLst>
                <a:ext uri="{FF2B5EF4-FFF2-40B4-BE49-F238E27FC236}">
                  <a16:creationId xmlns:a16="http://schemas.microsoft.com/office/drawing/2014/main" xmlns="" id="{BC25D13A-E791-D7DD-FB5F-5A93702B2FCD}"/>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a:extLst>
                <a:ext uri="{FF2B5EF4-FFF2-40B4-BE49-F238E27FC236}">
                  <a16:creationId xmlns:a16="http://schemas.microsoft.com/office/drawing/2014/main" xmlns="" id="{982BF20E-C0BA-FF55-2B15-8115290A2A41}"/>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a:extLst>
                <a:ext uri="{FF2B5EF4-FFF2-40B4-BE49-F238E27FC236}">
                  <a16:creationId xmlns:a16="http://schemas.microsoft.com/office/drawing/2014/main" xmlns="" id="{C42DE475-4AD0-2693-75FD-10C359F4D14D}"/>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a:extLst>
                <a:ext uri="{FF2B5EF4-FFF2-40B4-BE49-F238E27FC236}">
                  <a16:creationId xmlns:a16="http://schemas.microsoft.com/office/drawing/2014/main" xmlns="" id="{B679817F-3666-1EA1-4660-FBD6E4CF9B34}"/>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a:extLst>
                <a:ext uri="{FF2B5EF4-FFF2-40B4-BE49-F238E27FC236}">
                  <a16:creationId xmlns:a16="http://schemas.microsoft.com/office/drawing/2014/main" xmlns="" id="{A1A75C92-7296-26F4-23BD-6223D0BEDAFB}"/>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6" name="Group 16">
            <a:extLst>
              <a:ext uri="{FF2B5EF4-FFF2-40B4-BE49-F238E27FC236}">
                <a16:creationId xmlns:a16="http://schemas.microsoft.com/office/drawing/2014/main" xmlns="" id="{0EF90D75-4235-A65C-23F1-184EF3B7B98D}"/>
              </a:ext>
            </a:extLst>
          </p:cNvPr>
          <p:cNvGrpSpPr>
            <a:grpSpLocks noChangeAspect="1"/>
          </p:cNvGrpSpPr>
          <p:nvPr/>
        </p:nvGrpSpPr>
        <p:grpSpPr>
          <a:xfrm>
            <a:off x="9602083" y="4152900"/>
            <a:ext cx="3920541" cy="7757463"/>
            <a:chOff x="0" y="0"/>
            <a:chExt cx="2620010" cy="5184140"/>
          </a:xfrm>
        </p:grpSpPr>
        <p:sp>
          <p:nvSpPr>
            <p:cNvPr id="17" name="Freeform 17">
              <a:extLst>
                <a:ext uri="{FF2B5EF4-FFF2-40B4-BE49-F238E27FC236}">
                  <a16:creationId xmlns:a16="http://schemas.microsoft.com/office/drawing/2014/main" xmlns="" id="{3E502AFA-E327-1851-5A44-724421A42BD3}"/>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8" name="Freeform 18">
              <a:extLst>
                <a:ext uri="{FF2B5EF4-FFF2-40B4-BE49-F238E27FC236}">
                  <a16:creationId xmlns:a16="http://schemas.microsoft.com/office/drawing/2014/main" xmlns="" id="{A7842C5E-6E30-6231-5045-65016D6B6251}"/>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67653" r="-121283"/>
              </a:stretch>
            </a:blipFill>
          </p:spPr>
        </p:sp>
        <p:sp>
          <p:nvSpPr>
            <p:cNvPr id="19" name="Freeform 19">
              <a:extLst>
                <a:ext uri="{FF2B5EF4-FFF2-40B4-BE49-F238E27FC236}">
                  <a16:creationId xmlns:a16="http://schemas.microsoft.com/office/drawing/2014/main" xmlns="" id="{91CDE71F-1AA9-E9E7-ACF3-5ABD8AC57F98}"/>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20" name="Freeform 20">
              <a:extLst>
                <a:ext uri="{FF2B5EF4-FFF2-40B4-BE49-F238E27FC236}">
                  <a16:creationId xmlns:a16="http://schemas.microsoft.com/office/drawing/2014/main" xmlns="" id="{0C58DF02-4142-6DFA-DACA-444E99619EC7}"/>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1" name="Freeform 21">
              <a:extLst>
                <a:ext uri="{FF2B5EF4-FFF2-40B4-BE49-F238E27FC236}">
                  <a16:creationId xmlns:a16="http://schemas.microsoft.com/office/drawing/2014/main" xmlns="" id="{E05C6A8F-0207-ED99-9C4C-F433EDF81FCE}"/>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2" name="Freeform 22">
              <a:extLst>
                <a:ext uri="{FF2B5EF4-FFF2-40B4-BE49-F238E27FC236}">
                  <a16:creationId xmlns:a16="http://schemas.microsoft.com/office/drawing/2014/main" xmlns="" id="{30222D19-24C4-1C9C-6239-6FB25254946D}"/>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3" name="Freeform 23">
              <a:extLst>
                <a:ext uri="{FF2B5EF4-FFF2-40B4-BE49-F238E27FC236}">
                  <a16:creationId xmlns:a16="http://schemas.microsoft.com/office/drawing/2014/main" xmlns="" id="{7DF478FA-C0DB-C055-0B1E-D57D6D25CED3}"/>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4" name="Freeform 24">
              <a:extLst>
                <a:ext uri="{FF2B5EF4-FFF2-40B4-BE49-F238E27FC236}">
                  <a16:creationId xmlns:a16="http://schemas.microsoft.com/office/drawing/2014/main" xmlns="" id="{0BAE917F-2658-D7B5-2F56-8AC2FE31B75A}"/>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5" name="Freeform 25">
              <a:extLst>
                <a:ext uri="{FF2B5EF4-FFF2-40B4-BE49-F238E27FC236}">
                  <a16:creationId xmlns:a16="http://schemas.microsoft.com/office/drawing/2014/main" xmlns="" id="{01C320F0-2D11-9965-05E7-2B133D11DCF7}"/>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7" name="Freeform 27">
            <a:extLst>
              <a:ext uri="{FF2B5EF4-FFF2-40B4-BE49-F238E27FC236}">
                <a16:creationId xmlns:a16="http://schemas.microsoft.com/office/drawing/2014/main" xmlns="" id="{5B511C04-102D-E012-DF4D-75373D7B7B83}"/>
              </a:ext>
            </a:extLst>
          </p:cNvPr>
          <p:cNvSpPr/>
          <p:nvPr/>
        </p:nvSpPr>
        <p:spPr>
          <a:xfrm>
            <a:off x="0"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6"/>
            <a:stretch>
              <a:fillRect/>
            </a:stretch>
          </a:blipFill>
        </p:spPr>
      </p:sp>
      <p:sp>
        <p:nvSpPr>
          <p:cNvPr id="28" name="TextBox 28">
            <a:extLst>
              <a:ext uri="{FF2B5EF4-FFF2-40B4-BE49-F238E27FC236}">
                <a16:creationId xmlns:a16="http://schemas.microsoft.com/office/drawing/2014/main" xmlns="" id="{751B4F59-E8B6-5389-FC1D-2E930E8DE89B}"/>
              </a:ext>
            </a:extLst>
          </p:cNvPr>
          <p:cNvSpPr txBox="1"/>
          <p:nvPr/>
        </p:nvSpPr>
        <p:spPr>
          <a:xfrm>
            <a:off x="1466556" y="3296840"/>
            <a:ext cx="6821462" cy="3077766"/>
          </a:xfrm>
          <a:prstGeom prst="rect">
            <a:avLst/>
          </a:prstGeom>
        </p:spPr>
        <p:txBody>
          <a:bodyPr wrap="square" lIns="0" tIns="0" rIns="0" bIns="0" rtlCol="0" anchor="t">
            <a:spAutoFit/>
          </a:bodyPr>
          <a:lstStyle/>
          <a:p>
            <a:pPr algn="ctr">
              <a:lnSpc>
                <a:spcPts val="4800"/>
              </a:lnSpc>
            </a:pPr>
            <a:r>
              <a:rPr lang="es-PE" sz="4800" b="1" dirty="0">
                <a:solidFill>
                  <a:srgbClr val="303030"/>
                </a:solidFill>
                <a:latin typeface="Futura Std Book" panose="020B0802020204020204" pitchFamily="34" charset="0"/>
                <a:ea typeface="Montserrat Bold"/>
                <a:cs typeface="Montserrat Bold"/>
                <a:sym typeface="Montserrat Bold"/>
              </a:rPr>
              <a:t>TEMA 05: </a:t>
            </a:r>
          </a:p>
          <a:p>
            <a:pPr algn="ctr">
              <a:lnSpc>
                <a:spcPts val="4800"/>
              </a:lnSpc>
            </a:pPr>
            <a:endParaRPr lang="es-PE" sz="4800" b="1" dirty="0">
              <a:solidFill>
                <a:srgbClr val="303030"/>
              </a:solidFill>
              <a:latin typeface="Futura Std Book" panose="020B0802020204020204" pitchFamily="34" charset="0"/>
              <a:ea typeface="Montserrat Bold"/>
              <a:cs typeface="Montserrat Bold"/>
              <a:sym typeface="Montserrat Bold"/>
            </a:endParaRPr>
          </a:p>
          <a:p>
            <a:pPr algn="ctr">
              <a:lnSpc>
                <a:spcPts val="4800"/>
              </a:lnSpc>
            </a:pPr>
            <a:r>
              <a:rPr lang="es-PE" sz="4800" b="1" dirty="0">
                <a:solidFill>
                  <a:srgbClr val="303030"/>
                </a:solidFill>
                <a:latin typeface="Futura Std Book" panose="020B0802020204020204" pitchFamily="34" charset="0"/>
                <a:sym typeface="Montserrat Bold"/>
              </a:rPr>
              <a:t>CONCESIÓN DE BENEFICIOS Y SUS MODIFICACIONES</a:t>
            </a:r>
          </a:p>
        </p:txBody>
      </p:sp>
    </p:spTree>
    <p:extLst>
      <p:ext uri="{BB962C8B-B14F-4D97-AF65-F5344CB8AC3E}">
        <p14:creationId xmlns:p14="http://schemas.microsoft.com/office/powerpoint/2010/main" val="22898611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97EAD4-7FD7-FE02-244A-3AC2F288D16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E93650A6-EE50-754B-31DC-940A9D032110}"/>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9CCA2BA2-9F9E-C767-47A0-B42919EFBE0F}"/>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65E6F0C6-1C1C-2DEA-9ABD-598993D67A98}"/>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EFA01DFE-7449-0321-AEC6-F4CFDC4E3B39}"/>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009FC70E-8B6A-5A2D-7476-C14D848F1F89}"/>
              </a:ext>
            </a:extLst>
          </p:cNvPr>
          <p:cNvSpPr txBox="1"/>
          <p:nvPr/>
        </p:nvSpPr>
        <p:spPr>
          <a:xfrm>
            <a:off x="784611" y="3166856"/>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sym typeface="Futura Ultra-Bold"/>
              </a:rPr>
              <a:t>5.1 CONCESIÓN DE BENEFICIO</a:t>
            </a:r>
          </a:p>
        </p:txBody>
      </p:sp>
      <p:sp>
        <p:nvSpPr>
          <p:cNvPr id="2" name="CuadroTexto 1">
            <a:extLst>
              <a:ext uri="{FF2B5EF4-FFF2-40B4-BE49-F238E27FC236}">
                <a16:creationId xmlns:a16="http://schemas.microsoft.com/office/drawing/2014/main" xmlns="" id="{07EAA8F3-6B51-637F-96A0-83031B4AAC29}"/>
              </a:ext>
            </a:extLst>
          </p:cNvPr>
          <p:cNvSpPr txBox="1"/>
          <p:nvPr/>
        </p:nvSpPr>
        <p:spPr>
          <a:xfrm>
            <a:off x="784611" y="4830663"/>
            <a:ext cx="14188678" cy="1169551"/>
          </a:xfrm>
          <a:prstGeom prst="rect">
            <a:avLst/>
          </a:prstGeom>
          <a:noFill/>
        </p:spPr>
        <p:txBody>
          <a:bodyPr wrap="square">
            <a:spAutoFit/>
          </a:bodyPr>
          <a:lstStyle/>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OTORGAMIENTO DE CONCESIÓN DE BENEFICIO</a:t>
            </a:r>
          </a:p>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MODIFICACIÓN DE CONCESIÓN DE BENEFICIO</a:t>
            </a:r>
          </a:p>
        </p:txBody>
      </p:sp>
      <p:grpSp>
        <p:nvGrpSpPr>
          <p:cNvPr id="9" name="Group 2">
            <a:extLst>
              <a:ext uri="{FF2B5EF4-FFF2-40B4-BE49-F238E27FC236}">
                <a16:creationId xmlns:a16="http://schemas.microsoft.com/office/drawing/2014/main" xmlns="" id="{E918025E-7D33-D94A-38EA-1D5ECF228084}"/>
              </a:ext>
            </a:extLst>
          </p:cNvPr>
          <p:cNvGrpSpPr/>
          <p:nvPr/>
        </p:nvGrpSpPr>
        <p:grpSpPr>
          <a:xfrm>
            <a:off x="6397409" y="7556924"/>
            <a:ext cx="10861891" cy="2730076"/>
            <a:chOff x="0" y="0"/>
            <a:chExt cx="1363973" cy="342827"/>
          </a:xfrm>
        </p:grpSpPr>
        <p:sp>
          <p:nvSpPr>
            <p:cNvPr id="10" name="Freeform 3">
              <a:extLst>
                <a:ext uri="{FF2B5EF4-FFF2-40B4-BE49-F238E27FC236}">
                  <a16:creationId xmlns:a16="http://schemas.microsoft.com/office/drawing/2014/main" xmlns="" id="{44BB6313-BFA9-26F5-7D97-143B04DA234F}"/>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 name="TextBox 4">
              <a:extLst>
                <a:ext uri="{FF2B5EF4-FFF2-40B4-BE49-F238E27FC236}">
                  <a16:creationId xmlns:a16="http://schemas.microsoft.com/office/drawing/2014/main" xmlns="" id="{CE29AB51-7043-9669-5885-1862582A1704}"/>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17073233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C165B4E-CE0E-75B5-0229-B4F7E0258429}"/>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325BEC6F-79C3-6493-329A-1CB47A00D992}"/>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129C45F7-A27B-4108-707B-04DC29909C0D}"/>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652C5854-E14D-6EBC-96AE-6A3C7E2D150B}"/>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27B8B045-A6F3-A2EE-6BF2-2C5B7085AEA6}"/>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53118AD8-9C27-2306-D98C-7FA65539DED5}"/>
              </a:ext>
            </a:extLst>
          </p:cNvPr>
          <p:cNvSpPr txBox="1"/>
          <p:nvPr/>
        </p:nvSpPr>
        <p:spPr>
          <a:xfrm>
            <a:off x="784611" y="3166856"/>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sym typeface="Futura Ultra-Bold"/>
              </a:rPr>
              <a:t>5.1 CONCESIÓN DE BENEFICIO</a:t>
            </a:r>
          </a:p>
        </p:txBody>
      </p:sp>
      <p:sp>
        <p:nvSpPr>
          <p:cNvPr id="10" name="CuadroTexto 9">
            <a:extLst>
              <a:ext uri="{FF2B5EF4-FFF2-40B4-BE49-F238E27FC236}">
                <a16:creationId xmlns:a16="http://schemas.microsoft.com/office/drawing/2014/main" xmlns="" id="{4D760C29-8C93-A010-2FB3-F91246B082F6}"/>
              </a:ext>
            </a:extLst>
          </p:cNvPr>
          <p:cNvSpPr txBox="1"/>
          <p:nvPr/>
        </p:nvSpPr>
        <p:spPr>
          <a:xfrm>
            <a:off x="1143000" y="4414660"/>
            <a:ext cx="5475095" cy="4154984"/>
          </a:xfrm>
          <a:prstGeom prst="rect">
            <a:avLst/>
          </a:prstGeom>
          <a:noFill/>
        </p:spPr>
        <p:txBody>
          <a:bodyPr wrap="square">
            <a:spAutoFit/>
          </a:bodyPr>
          <a:lstStyle/>
          <a:p>
            <a:r>
              <a:rPr lang="es-PE" sz="2400" b="1" dirty="0">
                <a:latin typeface="Inter" panose="020B0604020202020204" charset="0"/>
                <a:ea typeface="Inter" panose="020B0604020202020204" charset="0"/>
                <a:cs typeface="Arial" pitchFamily="34" charset="0"/>
              </a:rPr>
              <a:t>EL BENEFICIO </a:t>
            </a:r>
            <a:r>
              <a:rPr lang="es-PE" sz="2400" dirty="0">
                <a:solidFill>
                  <a:srgbClr val="C00000"/>
                </a:solidFill>
                <a:latin typeface="Inter" panose="020B0604020202020204" charset="0"/>
                <a:ea typeface="Inter" panose="020B0604020202020204" charset="0"/>
                <a:cs typeface="Arial" pitchFamily="34" charset="0"/>
              </a:rPr>
              <a:t>es el conjunto de procesos físicos, químicos y/o físico-químico que se realizan para extraer o concentrar las partes valiosas de un agregado de minerales y/o para purificar, fundir o refinar metales; </a:t>
            </a:r>
            <a:r>
              <a:rPr lang="es-PE" sz="2400" dirty="0">
                <a:latin typeface="Inter" panose="020B0604020202020204" charset="0"/>
                <a:ea typeface="Inter" panose="020B0604020202020204" charset="0"/>
                <a:cs typeface="Arial" pitchFamily="34" charset="0"/>
              </a:rPr>
              <a:t>comprende las siguientes etapas:</a:t>
            </a:r>
          </a:p>
          <a:p>
            <a:pPr marL="342900" indent="-342900">
              <a:buFont typeface="Arial" panose="020B0604020202020204" pitchFamily="34" charset="0"/>
              <a:buChar char="•"/>
              <a:defRPr/>
            </a:pPr>
            <a:r>
              <a:rPr lang="es-PE" sz="2400" b="1" dirty="0">
                <a:latin typeface="Inter" panose="020B0604020202020204" charset="0"/>
                <a:ea typeface="Inter" panose="020B0604020202020204" charset="0"/>
                <a:cs typeface="Arial" pitchFamily="34" charset="0"/>
              </a:rPr>
              <a:t>Preparación Mecánica</a:t>
            </a:r>
            <a:r>
              <a:rPr lang="es-PE" sz="2400" dirty="0">
                <a:latin typeface="Inter" panose="020B0604020202020204" charset="0"/>
                <a:ea typeface="Inter" panose="020B0604020202020204" charset="0"/>
                <a:cs typeface="Arial" pitchFamily="34" charset="0"/>
              </a:rPr>
              <a:t>.-</a:t>
            </a:r>
            <a:r>
              <a:rPr lang="es-PE" sz="2400" b="1" dirty="0">
                <a:latin typeface="Inter" panose="020B0604020202020204" charset="0"/>
                <a:ea typeface="Inter" panose="020B0604020202020204" charset="0"/>
                <a:cs typeface="Arial" pitchFamily="34" charset="0"/>
              </a:rPr>
              <a:t> </a:t>
            </a:r>
          </a:p>
          <a:p>
            <a:pPr marL="342900" indent="-342900">
              <a:buFont typeface="Arial" panose="020B0604020202020204" pitchFamily="34" charset="0"/>
              <a:buChar char="•"/>
              <a:defRPr/>
            </a:pPr>
            <a:r>
              <a:rPr lang="es-PE" sz="2400" b="1" dirty="0">
                <a:latin typeface="Inter" panose="020B0604020202020204" charset="0"/>
                <a:ea typeface="Inter" panose="020B0604020202020204" charset="0"/>
                <a:cs typeface="Arial" pitchFamily="34" charset="0"/>
              </a:rPr>
              <a:t>Metalurgia</a:t>
            </a:r>
          </a:p>
          <a:p>
            <a:pPr marL="342900" indent="-342900">
              <a:buFont typeface="Arial" panose="020B0604020202020204" pitchFamily="34" charset="0"/>
              <a:buChar char="•"/>
              <a:defRPr/>
            </a:pPr>
            <a:r>
              <a:rPr lang="es-PE" sz="2400" b="1" dirty="0">
                <a:latin typeface="Inter" panose="020B0604020202020204" charset="0"/>
                <a:ea typeface="Inter" panose="020B0604020202020204" charset="0"/>
                <a:cs typeface="Arial" pitchFamily="34" charset="0"/>
              </a:rPr>
              <a:t>Refinación</a:t>
            </a:r>
            <a:endParaRPr lang="es-PE" sz="2400" dirty="0">
              <a:latin typeface="Inter" panose="020B0604020202020204" charset="0"/>
              <a:ea typeface="Inter" panose="020B0604020202020204" charset="0"/>
              <a:cs typeface="Arial" pitchFamily="34" charset="0"/>
            </a:endParaRPr>
          </a:p>
        </p:txBody>
      </p:sp>
      <p:sp>
        <p:nvSpPr>
          <p:cNvPr id="12" name="CuadroTexto 11">
            <a:extLst>
              <a:ext uri="{FF2B5EF4-FFF2-40B4-BE49-F238E27FC236}">
                <a16:creationId xmlns:a16="http://schemas.microsoft.com/office/drawing/2014/main" xmlns="" id="{F6E5CF11-AEDB-2DEF-1763-63FAAA469F69}"/>
              </a:ext>
            </a:extLst>
          </p:cNvPr>
          <p:cNvSpPr txBox="1"/>
          <p:nvPr/>
        </p:nvSpPr>
        <p:spPr>
          <a:xfrm>
            <a:off x="7620000" y="4414660"/>
            <a:ext cx="7420223" cy="4893647"/>
          </a:xfrm>
          <a:prstGeom prst="rect">
            <a:avLst/>
          </a:prstGeom>
          <a:noFill/>
        </p:spPr>
        <p:txBody>
          <a:bodyPr wrap="square">
            <a:spAutoFit/>
          </a:bodyPr>
          <a:lstStyle/>
          <a:p>
            <a:pPr marL="0" indent="0">
              <a:buNone/>
              <a:defRPr/>
            </a:pPr>
            <a:r>
              <a:rPr lang="es-PE" sz="2400" dirty="0">
                <a:latin typeface="Inter" panose="020B0604020202020204" charset="0"/>
                <a:ea typeface="Inter" panose="020B0604020202020204" charset="0"/>
              </a:rPr>
              <a:t>La </a:t>
            </a:r>
            <a:r>
              <a:rPr lang="es-PE" sz="2400" b="1" dirty="0">
                <a:solidFill>
                  <a:srgbClr val="C00000"/>
                </a:solidFill>
                <a:latin typeface="Inter" panose="020B0604020202020204" charset="0"/>
                <a:ea typeface="Inter" panose="020B0604020202020204" charset="0"/>
              </a:rPr>
              <a:t>concesión de beneficio otorga a su titular </a:t>
            </a:r>
            <a:r>
              <a:rPr lang="es-PE" sz="2400" dirty="0">
                <a:latin typeface="Inter" panose="020B0604020202020204" charset="0"/>
                <a:ea typeface="Inter" panose="020B0604020202020204" charset="0"/>
              </a:rPr>
              <a:t>el derecho a extraer o concentrar la parte valiosa de un agregado de minerales desarraigados y/o a fundir, purificar o refinar metales, ya sea mediante un conjunto de procesos físicos, químicos y/o físico-químicos</a:t>
            </a:r>
            <a:r>
              <a:rPr lang="es-PE" sz="2400" i="1" dirty="0">
                <a:latin typeface="Inter" panose="020B0604020202020204" charset="0"/>
                <a:ea typeface="Inter" panose="020B0604020202020204" charset="0"/>
              </a:rPr>
              <a:t>. (Artículo 18 del D.S. Nº 014-92-EM - Texto Único Ordenado de la Ley General de Minería)</a:t>
            </a:r>
          </a:p>
          <a:p>
            <a:pPr marL="0" indent="0">
              <a:buNone/>
              <a:defRPr/>
            </a:pPr>
            <a:r>
              <a:rPr lang="es-PE" sz="2400" dirty="0">
                <a:latin typeface="Inter" panose="020B0604020202020204" charset="0"/>
                <a:ea typeface="Inter" panose="020B0604020202020204" charset="0"/>
              </a:rPr>
              <a:t>La concesión de beneficio otorga a su titular un </a:t>
            </a:r>
            <a:r>
              <a:rPr lang="es-PE" sz="2400" b="1" dirty="0">
                <a:solidFill>
                  <a:srgbClr val="C00000"/>
                </a:solidFill>
                <a:latin typeface="Inter" panose="020B0604020202020204" charset="0"/>
                <a:ea typeface="Inter" panose="020B0604020202020204" charset="0"/>
              </a:rPr>
              <a:t>derecho real</a:t>
            </a:r>
            <a:r>
              <a:rPr lang="es-PE" sz="2400" dirty="0">
                <a:solidFill>
                  <a:srgbClr val="C00000"/>
                </a:solidFill>
                <a:latin typeface="Inter" panose="020B0604020202020204" charset="0"/>
                <a:ea typeface="Inter" panose="020B0604020202020204" charset="0"/>
              </a:rPr>
              <a:t>. </a:t>
            </a:r>
            <a:r>
              <a:rPr lang="es-PE" sz="2400" i="1" dirty="0">
                <a:latin typeface="Inter" panose="020B0604020202020204" charset="0"/>
                <a:ea typeface="Inter" panose="020B0604020202020204" charset="0"/>
              </a:rPr>
              <a:t>(Artículo 38 del D.S. 018-92-EM)</a:t>
            </a:r>
          </a:p>
          <a:p>
            <a:pPr marL="0" indent="0">
              <a:buNone/>
              <a:defRPr/>
            </a:pPr>
            <a:r>
              <a:rPr lang="es-PE" sz="2400" dirty="0">
                <a:latin typeface="Inter" panose="020B0604020202020204" charset="0"/>
                <a:ea typeface="Inter" panose="020B0604020202020204" charset="0"/>
              </a:rPr>
              <a:t>Las concesiones </a:t>
            </a:r>
            <a:r>
              <a:rPr lang="es-PE" sz="2400" b="1" dirty="0">
                <a:solidFill>
                  <a:srgbClr val="C00000"/>
                </a:solidFill>
                <a:latin typeface="Inter" panose="020B0604020202020204" charset="0"/>
                <a:ea typeface="Inter" panose="020B0604020202020204" charset="0"/>
              </a:rPr>
              <a:t>son irrevocables</a:t>
            </a:r>
            <a:r>
              <a:rPr lang="es-PE" sz="2400" dirty="0">
                <a:solidFill>
                  <a:srgbClr val="C00000"/>
                </a:solidFill>
                <a:latin typeface="Inter" panose="020B0604020202020204" charset="0"/>
                <a:ea typeface="Inter" panose="020B0604020202020204" charset="0"/>
              </a:rPr>
              <a:t>, </a:t>
            </a:r>
            <a:r>
              <a:rPr lang="es-PE" sz="2400" dirty="0">
                <a:latin typeface="Inter" panose="020B0604020202020204" charset="0"/>
                <a:ea typeface="Inter" panose="020B0604020202020204" charset="0"/>
              </a:rPr>
              <a:t>es concordante con el </a:t>
            </a:r>
            <a:r>
              <a:rPr lang="es-PE" sz="2400" b="1" dirty="0">
                <a:latin typeface="Inter" panose="020B0604020202020204" charset="0"/>
                <a:ea typeface="Inter" panose="020B0604020202020204" charset="0"/>
              </a:rPr>
              <a:t>artículo</a:t>
            </a:r>
            <a:r>
              <a:rPr lang="es-PE" sz="2400" dirty="0">
                <a:latin typeface="Inter" panose="020B0604020202020204" charset="0"/>
                <a:ea typeface="Inter" panose="020B0604020202020204" charset="0"/>
              </a:rPr>
              <a:t> </a:t>
            </a:r>
            <a:r>
              <a:rPr lang="es-PE" sz="2400" b="1" dirty="0">
                <a:latin typeface="Inter" panose="020B0604020202020204" charset="0"/>
                <a:ea typeface="Inter" panose="020B0604020202020204" charset="0"/>
              </a:rPr>
              <a:t>10 del TUO de la Ley General de Minería</a:t>
            </a:r>
            <a:r>
              <a:rPr lang="es-PE" sz="2400" dirty="0">
                <a:latin typeface="Inter" panose="020B0604020202020204" charset="0"/>
                <a:ea typeface="Inter" panose="020B0604020202020204" charset="0"/>
              </a:rPr>
              <a:t> (DS 014-92-EM).</a:t>
            </a:r>
          </a:p>
        </p:txBody>
      </p:sp>
      <p:grpSp>
        <p:nvGrpSpPr>
          <p:cNvPr id="13" name="Group 2">
            <a:extLst>
              <a:ext uri="{FF2B5EF4-FFF2-40B4-BE49-F238E27FC236}">
                <a16:creationId xmlns:a16="http://schemas.microsoft.com/office/drawing/2014/main" xmlns="" id="{00701FED-721B-48AF-9B58-7456A9CA0214}"/>
              </a:ext>
            </a:extLst>
          </p:cNvPr>
          <p:cNvGrpSpPr/>
          <p:nvPr/>
        </p:nvGrpSpPr>
        <p:grpSpPr>
          <a:xfrm>
            <a:off x="6397409" y="7556924"/>
            <a:ext cx="10861891" cy="2730076"/>
            <a:chOff x="0" y="0"/>
            <a:chExt cx="1363973" cy="342827"/>
          </a:xfrm>
        </p:grpSpPr>
        <p:sp>
          <p:nvSpPr>
            <p:cNvPr id="14" name="Freeform 3">
              <a:extLst>
                <a:ext uri="{FF2B5EF4-FFF2-40B4-BE49-F238E27FC236}">
                  <a16:creationId xmlns:a16="http://schemas.microsoft.com/office/drawing/2014/main" xmlns="" id="{77113C91-B3EB-16C2-9079-095D3ABACF29}"/>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5" name="TextBox 4">
              <a:extLst>
                <a:ext uri="{FF2B5EF4-FFF2-40B4-BE49-F238E27FC236}">
                  <a16:creationId xmlns:a16="http://schemas.microsoft.com/office/drawing/2014/main" xmlns="" id="{04B0D351-8BA6-3F6A-3EF2-94CE62E6E4E7}"/>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2127777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5242D3-6DDD-DE8A-9743-B0BA9F4BDE3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E5DD40D0-7169-B916-874C-ED4BECE5E551}"/>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2402A6F9-C97A-3FDF-CEDC-5B623A3EB77D}"/>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4F5AA025-6BC3-E04C-EC98-CC3E1695CB37}"/>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87AB2D0C-D5AF-73D7-7362-E3309D0C965F}"/>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F41C34AE-2486-EFB7-0718-66A1B3C1D29C}"/>
              </a:ext>
            </a:extLst>
          </p:cNvPr>
          <p:cNvSpPr txBox="1"/>
          <p:nvPr/>
        </p:nvSpPr>
        <p:spPr>
          <a:xfrm>
            <a:off x="784611" y="3166856"/>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sym typeface="Futura Ultra-Bold"/>
              </a:rPr>
              <a:t>5.1 CONCESIÓN DE BENEFICIO</a:t>
            </a:r>
          </a:p>
        </p:txBody>
      </p:sp>
      <p:sp>
        <p:nvSpPr>
          <p:cNvPr id="10" name="CuadroTexto 9">
            <a:extLst>
              <a:ext uri="{FF2B5EF4-FFF2-40B4-BE49-F238E27FC236}">
                <a16:creationId xmlns:a16="http://schemas.microsoft.com/office/drawing/2014/main" xmlns="" id="{3891370B-415B-AC43-F081-4CC7856FE956}"/>
              </a:ext>
            </a:extLst>
          </p:cNvPr>
          <p:cNvSpPr txBox="1"/>
          <p:nvPr/>
        </p:nvSpPr>
        <p:spPr>
          <a:xfrm>
            <a:off x="784611" y="4229993"/>
            <a:ext cx="5475095" cy="5262979"/>
          </a:xfrm>
          <a:prstGeom prst="rect">
            <a:avLst/>
          </a:prstGeom>
          <a:noFill/>
        </p:spPr>
        <p:txBody>
          <a:bodyPr wrap="square">
            <a:spAutoFit/>
          </a:bodyPr>
          <a:lstStyle/>
          <a:p>
            <a:r>
              <a:rPr lang="es-PE" sz="2400" dirty="0">
                <a:latin typeface="Inter" panose="020B0604020202020204" charset="0"/>
                <a:ea typeface="Inter" panose="020B0604020202020204" charset="0"/>
                <a:cs typeface="Arial" pitchFamily="34" charset="0"/>
              </a:rPr>
              <a:t>La </a:t>
            </a:r>
            <a:r>
              <a:rPr lang="es-PE" sz="2400" b="1" dirty="0">
                <a:solidFill>
                  <a:srgbClr val="C00000"/>
                </a:solidFill>
                <a:latin typeface="Inter" panose="020B0604020202020204" charset="0"/>
                <a:ea typeface="Inter" panose="020B0604020202020204" charset="0"/>
                <a:cs typeface="Arial" pitchFamily="34" charset="0"/>
              </a:rPr>
              <a:t>concesión de beneficio </a:t>
            </a:r>
            <a:r>
              <a:rPr lang="es-PE" sz="2400" dirty="0">
                <a:latin typeface="Inter" panose="020B0604020202020204" charset="0"/>
                <a:ea typeface="Inter" panose="020B0604020202020204" charset="0"/>
                <a:cs typeface="Arial" pitchFamily="34" charset="0"/>
              </a:rPr>
              <a:t>podrá ser solicitada en área menor a cien (100) hectáreas, la que </a:t>
            </a:r>
            <a:r>
              <a:rPr lang="es-PE" sz="2400" b="1" dirty="0">
                <a:solidFill>
                  <a:srgbClr val="C00000"/>
                </a:solidFill>
                <a:latin typeface="Inter" panose="020B0604020202020204" charset="0"/>
                <a:ea typeface="Inter" panose="020B0604020202020204" charset="0"/>
                <a:cs typeface="Arial" pitchFamily="34" charset="0"/>
              </a:rPr>
              <a:t>deberá tener la forma de una poligonal cerrada</a:t>
            </a:r>
            <a:r>
              <a:rPr lang="es-PE" sz="2400" dirty="0">
                <a:latin typeface="Inter" panose="020B0604020202020204" charset="0"/>
                <a:ea typeface="Inter" panose="020B0604020202020204" charset="0"/>
                <a:cs typeface="Arial" pitchFamily="34" charset="0"/>
              </a:rPr>
              <a:t>, debiéndose señalar las coordenadas UTM de cada uno de sus vértices. </a:t>
            </a:r>
          </a:p>
          <a:p>
            <a:endParaRPr lang="es-PE" sz="2400" dirty="0">
              <a:latin typeface="Inter" panose="020B0604020202020204" charset="0"/>
              <a:ea typeface="Inter" panose="020B0604020202020204" charset="0"/>
              <a:cs typeface="Arial" pitchFamily="34" charset="0"/>
            </a:endParaRPr>
          </a:p>
          <a:p>
            <a:r>
              <a:rPr lang="es-PE" sz="2400" dirty="0">
                <a:latin typeface="Inter" panose="020B0604020202020204" charset="0"/>
                <a:ea typeface="Inter" panose="020B0604020202020204" charset="0"/>
                <a:cs typeface="Arial" pitchFamily="34" charset="0"/>
              </a:rPr>
              <a:t>La concesión de beneficio, a partir del título de la misma, otorga a su titular el </a:t>
            </a:r>
            <a:r>
              <a:rPr lang="es-PE" sz="2400" b="1" dirty="0">
                <a:solidFill>
                  <a:srgbClr val="C00000"/>
                </a:solidFill>
                <a:latin typeface="Inter" panose="020B0604020202020204" charset="0"/>
                <a:ea typeface="Inter" panose="020B0604020202020204" charset="0"/>
                <a:cs typeface="Arial" pitchFamily="34" charset="0"/>
              </a:rPr>
              <a:t>derecho a realizar uno o más de los procesos minero metalúrgicos</a:t>
            </a:r>
            <a:r>
              <a:rPr lang="es-PE" sz="2400" dirty="0">
                <a:latin typeface="Inter" panose="020B0604020202020204" charset="0"/>
                <a:ea typeface="Inter" panose="020B0604020202020204" charset="0"/>
                <a:cs typeface="Arial" pitchFamily="34" charset="0"/>
              </a:rPr>
              <a:t> mencionados en el Artículo 17 de la Ley</a:t>
            </a:r>
          </a:p>
        </p:txBody>
      </p:sp>
      <p:sp>
        <p:nvSpPr>
          <p:cNvPr id="12" name="CuadroTexto 11">
            <a:extLst>
              <a:ext uri="{FF2B5EF4-FFF2-40B4-BE49-F238E27FC236}">
                <a16:creationId xmlns:a16="http://schemas.microsoft.com/office/drawing/2014/main" xmlns="" id="{F3775DE7-2222-C281-4C62-94B365C7ADCF}"/>
              </a:ext>
            </a:extLst>
          </p:cNvPr>
          <p:cNvSpPr txBox="1"/>
          <p:nvPr/>
        </p:nvSpPr>
        <p:spPr>
          <a:xfrm>
            <a:off x="7086600" y="4045326"/>
            <a:ext cx="8305800" cy="4893647"/>
          </a:xfrm>
          <a:prstGeom prst="rect">
            <a:avLst/>
          </a:prstGeom>
          <a:noFill/>
        </p:spPr>
        <p:txBody>
          <a:bodyPr wrap="square">
            <a:spAutoFit/>
          </a:bodyPr>
          <a:lstStyle/>
          <a:p>
            <a:pPr marL="0" indent="0">
              <a:buNone/>
            </a:pPr>
            <a:r>
              <a:rPr lang="es-PE" sz="2400" b="1" dirty="0">
                <a:latin typeface="Inter" panose="020B0604020202020204" charset="0"/>
                <a:ea typeface="Inter" panose="020B0604020202020204" charset="0"/>
                <a:cs typeface="Arial" pitchFamily="34" charset="0"/>
              </a:rPr>
              <a:t>INSTALACIONES ADICIONALES. AUTORIZACION</a:t>
            </a:r>
          </a:p>
          <a:p>
            <a:pPr marL="0" indent="0">
              <a:buNone/>
            </a:pPr>
            <a:r>
              <a:rPr lang="es-PE" sz="2400" dirty="0">
                <a:latin typeface="Inter" panose="020B0604020202020204" charset="0"/>
                <a:ea typeface="Inter" panose="020B0604020202020204" charset="0"/>
                <a:cs typeface="Arial" pitchFamily="34" charset="0"/>
              </a:rPr>
              <a:t>Los titulares de la actividad minera requerirán la autorización de la Dirección General de Minería para el funcionamiento de las instalaciones adicionales y/o complementarias a las plantas de beneficio que tengan por objeto utilizar cualquier elemento resultante de su proceso minero-metalúrgico.</a:t>
            </a:r>
          </a:p>
          <a:p>
            <a:pPr marL="0" indent="0">
              <a:buNone/>
            </a:pPr>
            <a:endParaRPr lang="es-PE" sz="2400" dirty="0">
              <a:latin typeface="Inter" panose="020B0604020202020204" charset="0"/>
              <a:ea typeface="Inter" panose="020B0604020202020204" charset="0"/>
              <a:cs typeface="Arial" pitchFamily="34" charset="0"/>
            </a:endParaRPr>
          </a:p>
          <a:p>
            <a:pPr marL="0" indent="0">
              <a:buNone/>
            </a:pPr>
            <a:r>
              <a:rPr lang="es-PE" sz="2400" b="1" dirty="0">
                <a:latin typeface="Inter" panose="020B0604020202020204" charset="0"/>
                <a:ea typeface="Inter" panose="020B0604020202020204" charset="0"/>
                <a:cs typeface="Arial" pitchFamily="34" charset="0"/>
              </a:rPr>
              <a:t>DESMONTES, RELAVES Y ESCORIAS</a:t>
            </a:r>
          </a:p>
          <a:p>
            <a:pPr marL="0" indent="0">
              <a:buNone/>
            </a:pPr>
            <a:r>
              <a:rPr lang="es-PE" sz="2400" dirty="0">
                <a:latin typeface="Inter" panose="020B0604020202020204" charset="0"/>
                <a:ea typeface="Inter" panose="020B0604020202020204" charset="0"/>
                <a:cs typeface="Arial" pitchFamily="34" charset="0"/>
              </a:rPr>
              <a:t>Los desmontes son parte accesoria de la concesión minera de la que proceden; y los relaves y escorias lo son de la concesión de beneficio de la que provienen, en tanto las mismas se encuentren vigentes. </a:t>
            </a:r>
            <a:endParaRPr lang="es-PE" sz="2400" dirty="0">
              <a:latin typeface="Inter" panose="020B0604020202020204" charset="0"/>
              <a:ea typeface="Inter" panose="020B0604020202020204" charset="0"/>
            </a:endParaRPr>
          </a:p>
        </p:txBody>
      </p:sp>
      <p:grpSp>
        <p:nvGrpSpPr>
          <p:cNvPr id="3" name="Group 2">
            <a:extLst>
              <a:ext uri="{FF2B5EF4-FFF2-40B4-BE49-F238E27FC236}">
                <a16:creationId xmlns:a16="http://schemas.microsoft.com/office/drawing/2014/main" xmlns="" id="{5A56C292-D8AB-C3BD-1AA1-CC2CD2DC7181}"/>
              </a:ext>
            </a:extLst>
          </p:cNvPr>
          <p:cNvGrpSpPr/>
          <p:nvPr/>
        </p:nvGrpSpPr>
        <p:grpSpPr>
          <a:xfrm>
            <a:off x="6397409" y="7556924"/>
            <a:ext cx="10861891" cy="2730076"/>
            <a:chOff x="0" y="0"/>
            <a:chExt cx="1363973" cy="342827"/>
          </a:xfrm>
        </p:grpSpPr>
        <p:sp>
          <p:nvSpPr>
            <p:cNvPr id="8" name="Freeform 3">
              <a:extLst>
                <a:ext uri="{FF2B5EF4-FFF2-40B4-BE49-F238E27FC236}">
                  <a16:creationId xmlns:a16="http://schemas.microsoft.com/office/drawing/2014/main" xmlns="" id="{F2CED89D-4BAC-8F7D-A933-9914EB5C5DC9}"/>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9" name="TextBox 4">
              <a:extLst>
                <a:ext uri="{FF2B5EF4-FFF2-40B4-BE49-F238E27FC236}">
                  <a16:creationId xmlns:a16="http://schemas.microsoft.com/office/drawing/2014/main" xmlns="" id="{D952B265-EFB0-1F3B-AD25-07C8BF969136}"/>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29136233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56DD75E-399B-E709-1067-1AC59B84E76C}"/>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6744CBB7-7A86-542C-8F66-5B737E5467FB}"/>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C50E6FA6-684C-3785-76FA-F3B7D2B30D76}"/>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67BEC588-713B-D46F-D0FF-7039C145CDCF}"/>
              </a:ext>
            </a:extLst>
          </p:cNvPr>
          <p:cNvSpPr txBox="1">
            <a:spLocks/>
          </p:cNvSpPr>
          <p:nvPr/>
        </p:nvSpPr>
        <p:spPr>
          <a:xfrm>
            <a:off x="457199" y="1409700"/>
            <a:ext cx="3810001" cy="17724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Otorgamiento del título de la concesión de beneficio</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36445595-C28B-06DF-9F37-0368CFA384F7}"/>
              </a:ext>
            </a:extLst>
          </p:cNvPr>
          <p:cNvSpPr txBox="1">
            <a:spLocks/>
          </p:cNvSpPr>
          <p:nvPr/>
        </p:nvSpPr>
        <p:spPr>
          <a:xfrm>
            <a:off x="457200" y="3182101"/>
            <a:ext cx="38100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82,83, 84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noventa (90)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negativo.</a:t>
            </a:r>
          </a:p>
        </p:txBody>
      </p:sp>
      <p:grpSp>
        <p:nvGrpSpPr>
          <p:cNvPr id="8" name="Grupo 7">
            <a:extLst>
              <a:ext uri="{FF2B5EF4-FFF2-40B4-BE49-F238E27FC236}">
                <a16:creationId xmlns:a16="http://schemas.microsoft.com/office/drawing/2014/main" xmlns="" id="{E249493F-F38A-0638-27CC-6C260025C4A9}"/>
              </a:ext>
            </a:extLst>
          </p:cNvPr>
          <p:cNvGrpSpPr/>
          <p:nvPr/>
        </p:nvGrpSpPr>
        <p:grpSpPr>
          <a:xfrm>
            <a:off x="4495800" y="952500"/>
            <a:ext cx="11353800" cy="8967982"/>
            <a:chOff x="1776851" y="636143"/>
            <a:chExt cx="6090283" cy="6320118"/>
          </a:xfrm>
        </p:grpSpPr>
        <p:sp>
          <p:nvSpPr>
            <p:cNvPr id="9" name="3 Elipse">
              <a:extLst>
                <a:ext uri="{FF2B5EF4-FFF2-40B4-BE49-F238E27FC236}">
                  <a16:creationId xmlns:a16="http://schemas.microsoft.com/office/drawing/2014/main" xmlns="" id="{7F9231A5-0411-2434-2DF2-AD198A9DA445}"/>
                </a:ext>
              </a:extLst>
            </p:cNvPr>
            <p:cNvSpPr/>
            <p:nvPr/>
          </p:nvSpPr>
          <p:spPr>
            <a:xfrm>
              <a:off x="4596704" y="636143"/>
              <a:ext cx="1916446" cy="760413"/>
            </a:xfrm>
            <a:prstGeom prst="ellipse">
              <a:avLst/>
            </a:prstGeom>
            <a:solidFill>
              <a:srgbClr val="92D050"/>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10" name="5 Conector recto de flecha">
              <a:extLst>
                <a:ext uri="{FF2B5EF4-FFF2-40B4-BE49-F238E27FC236}">
                  <a16:creationId xmlns:a16="http://schemas.microsoft.com/office/drawing/2014/main" xmlns="" id="{0F2A957A-A35D-961F-00EF-010D893D0A1D}"/>
                </a:ext>
              </a:extLst>
            </p:cNvPr>
            <p:cNvCxnSpPr>
              <a:cxnSpLocks/>
              <a:stCxn id="9" idx="4"/>
              <a:endCxn id="66" idx="0"/>
            </p:cNvCxnSpPr>
            <p:nvPr/>
          </p:nvCxnSpPr>
          <p:spPr>
            <a:xfrm>
              <a:off x="5554927" y="1396556"/>
              <a:ext cx="1" cy="185314"/>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11" name="10 Conector recto de flecha">
              <a:extLst>
                <a:ext uri="{FF2B5EF4-FFF2-40B4-BE49-F238E27FC236}">
                  <a16:creationId xmlns:a16="http://schemas.microsoft.com/office/drawing/2014/main" xmlns="" id="{F1B7FB22-864C-74B5-51C6-4C7D0C72AE32}"/>
                </a:ext>
              </a:extLst>
            </p:cNvPr>
            <p:cNvCxnSpPr>
              <a:cxnSpLocks/>
              <a:stCxn id="24" idx="2"/>
              <a:endCxn id="13" idx="0"/>
            </p:cNvCxnSpPr>
            <p:nvPr/>
          </p:nvCxnSpPr>
          <p:spPr>
            <a:xfrm>
              <a:off x="5567106" y="3090792"/>
              <a:ext cx="5976" cy="203387"/>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2" name="9 Título">
              <a:extLst>
                <a:ext uri="{FF2B5EF4-FFF2-40B4-BE49-F238E27FC236}">
                  <a16:creationId xmlns:a16="http://schemas.microsoft.com/office/drawing/2014/main" xmlns="" id="{E86C9F8A-C47A-E2ED-8E6E-3D64D909242D}"/>
                </a:ext>
              </a:extLst>
            </p:cNvPr>
            <p:cNvSpPr txBox="1">
              <a:spLocks/>
            </p:cNvSpPr>
            <p:nvPr/>
          </p:nvSpPr>
          <p:spPr>
            <a:xfrm>
              <a:off x="1776852" y="655193"/>
              <a:ext cx="2207669" cy="766763"/>
            </a:xfrm>
            <a:prstGeom prst="rect">
              <a:avLst/>
            </a:prstGeom>
            <a:solidFill>
              <a:srgbClr val="FFFFCC"/>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700" dirty="0">
                  <a:solidFill>
                    <a:srgbClr val="000000"/>
                  </a:solidFill>
                  <a:latin typeface="Inter" panose="020B0604020202020204" charset="0"/>
                  <a:ea typeface="Inter" panose="020B0604020202020204" charset="0"/>
                  <a:cs typeface="Arial" panose="020B0604020202020204" pitchFamily="34" charset="0"/>
                </a:rPr>
                <a:t>Si se advierte en forma referencial que el proyecto se encuentra en PPII se solicita opinión a OGGS.</a:t>
              </a:r>
            </a:p>
          </p:txBody>
        </p:sp>
        <p:sp>
          <p:nvSpPr>
            <p:cNvPr id="13" name="24 Rectángulo">
              <a:extLst>
                <a:ext uri="{FF2B5EF4-FFF2-40B4-BE49-F238E27FC236}">
                  <a16:creationId xmlns:a16="http://schemas.microsoft.com/office/drawing/2014/main" xmlns="" id="{772186E0-E14A-F108-A73E-5FC8CD74E339}"/>
                </a:ext>
              </a:extLst>
            </p:cNvPr>
            <p:cNvSpPr/>
            <p:nvPr/>
          </p:nvSpPr>
          <p:spPr>
            <a:xfrm>
              <a:off x="4827842" y="3294179"/>
              <a:ext cx="1490479" cy="265113"/>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Entrega de avisos al titular</a:t>
              </a:r>
            </a:p>
          </p:txBody>
        </p:sp>
        <p:sp>
          <p:nvSpPr>
            <p:cNvPr id="14" name="25 Rectángulo">
              <a:extLst>
                <a:ext uri="{FF2B5EF4-FFF2-40B4-BE49-F238E27FC236}">
                  <a16:creationId xmlns:a16="http://schemas.microsoft.com/office/drawing/2014/main" xmlns="" id="{A7C3029D-B0A3-6ACF-9472-3C08D60F74EE}"/>
                </a:ext>
              </a:extLst>
            </p:cNvPr>
            <p:cNvSpPr/>
            <p:nvPr/>
          </p:nvSpPr>
          <p:spPr>
            <a:xfrm>
              <a:off x="4718360" y="4300034"/>
              <a:ext cx="1706159" cy="293688"/>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Presentación de publicaciones</a:t>
              </a:r>
            </a:p>
          </p:txBody>
        </p:sp>
        <p:sp>
          <p:nvSpPr>
            <p:cNvPr id="15" name="26 Rectángulo">
              <a:extLst>
                <a:ext uri="{FF2B5EF4-FFF2-40B4-BE49-F238E27FC236}">
                  <a16:creationId xmlns:a16="http://schemas.microsoft.com/office/drawing/2014/main" xmlns="" id="{E5CBF3E1-1811-D8AD-F4B5-30B11A933F3F}"/>
                </a:ext>
              </a:extLst>
            </p:cNvPr>
            <p:cNvSpPr/>
            <p:nvPr/>
          </p:nvSpPr>
          <p:spPr>
            <a:xfrm>
              <a:off x="4561151" y="3807689"/>
              <a:ext cx="2016171" cy="215900"/>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Publicación de avisos</a:t>
              </a:r>
            </a:p>
          </p:txBody>
        </p:sp>
        <p:cxnSp>
          <p:nvCxnSpPr>
            <p:cNvPr id="16" name="172 Conector recto de flecha">
              <a:extLst>
                <a:ext uri="{FF2B5EF4-FFF2-40B4-BE49-F238E27FC236}">
                  <a16:creationId xmlns:a16="http://schemas.microsoft.com/office/drawing/2014/main" xmlns="" id="{654F6A2B-26A8-46C7-8B74-3221EEEFD36B}"/>
                </a:ext>
              </a:extLst>
            </p:cNvPr>
            <p:cNvCxnSpPr>
              <a:cxnSpLocks/>
              <a:stCxn id="13" idx="2"/>
              <a:endCxn id="15" idx="0"/>
            </p:cNvCxnSpPr>
            <p:nvPr/>
          </p:nvCxnSpPr>
          <p:spPr>
            <a:xfrm flipH="1">
              <a:off x="5569237" y="3559292"/>
              <a:ext cx="3845" cy="248397"/>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17" name="176 Conector recto de flecha">
              <a:extLst>
                <a:ext uri="{FF2B5EF4-FFF2-40B4-BE49-F238E27FC236}">
                  <a16:creationId xmlns:a16="http://schemas.microsoft.com/office/drawing/2014/main" xmlns="" id="{504C7AEF-2057-65FB-1140-9D770E46B7F1}"/>
                </a:ext>
              </a:extLst>
            </p:cNvPr>
            <p:cNvCxnSpPr>
              <a:cxnSpLocks/>
              <a:stCxn id="15" idx="2"/>
              <a:endCxn id="14" idx="0"/>
            </p:cNvCxnSpPr>
            <p:nvPr/>
          </p:nvCxnSpPr>
          <p:spPr>
            <a:xfrm>
              <a:off x="5569237" y="4023589"/>
              <a:ext cx="2203" cy="276445"/>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18" name="177 Conector recto de flecha">
              <a:extLst>
                <a:ext uri="{FF2B5EF4-FFF2-40B4-BE49-F238E27FC236}">
                  <a16:creationId xmlns:a16="http://schemas.microsoft.com/office/drawing/2014/main" xmlns="" id="{11840859-0220-FE0E-2055-C23BED2A2DB5}"/>
                </a:ext>
              </a:extLst>
            </p:cNvPr>
            <p:cNvCxnSpPr>
              <a:cxnSpLocks/>
              <a:stCxn id="14" idx="2"/>
              <a:endCxn id="26" idx="0"/>
            </p:cNvCxnSpPr>
            <p:nvPr/>
          </p:nvCxnSpPr>
          <p:spPr>
            <a:xfrm>
              <a:off x="5571440" y="4593722"/>
              <a:ext cx="6505" cy="402277"/>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9" name="72 CuadroTexto">
              <a:extLst>
                <a:ext uri="{FF2B5EF4-FFF2-40B4-BE49-F238E27FC236}">
                  <a16:creationId xmlns:a16="http://schemas.microsoft.com/office/drawing/2014/main" xmlns="" id="{82390BE0-2706-E5FE-AF32-880DC096E38E}"/>
                </a:ext>
              </a:extLst>
            </p:cNvPr>
            <p:cNvSpPr txBox="1">
              <a:spLocks noChangeArrowheads="1"/>
            </p:cNvSpPr>
            <p:nvPr/>
          </p:nvSpPr>
          <p:spPr bwMode="auto">
            <a:xfrm>
              <a:off x="7370678" y="3135337"/>
              <a:ext cx="461769" cy="173522"/>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5 dh</a:t>
              </a:r>
            </a:p>
          </p:txBody>
        </p:sp>
        <p:sp>
          <p:nvSpPr>
            <p:cNvPr id="20" name="72 CuadroTexto">
              <a:extLst>
                <a:ext uri="{FF2B5EF4-FFF2-40B4-BE49-F238E27FC236}">
                  <a16:creationId xmlns:a16="http://schemas.microsoft.com/office/drawing/2014/main" xmlns="" id="{9B3A9650-CAD0-B5B5-E12F-A38F8415B940}"/>
                </a:ext>
              </a:extLst>
            </p:cNvPr>
            <p:cNvSpPr txBox="1">
              <a:spLocks noChangeArrowheads="1"/>
            </p:cNvSpPr>
            <p:nvPr/>
          </p:nvSpPr>
          <p:spPr bwMode="auto">
            <a:xfrm>
              <a:off x="7338160" y="3643242"/>
              <a:ext cx="528974" cy="173522"/>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10 dh</a:t>
              </a:r>
            </a:p>
          </p:txBody>
        </p:sp>
        <p:sp>
          <p:nvSpPr>
            <p:cNvPr id="21" name="72 CuadroTexto">
              <a:extLst>
                <a:ext uri="{FF2B5EF4-FFF2-40B4-BE49-F238E27FC236}">
                  <a16:creationId xmlns:a16="http://schemas.microsoft.com/office/drawing/2014/main" xmlns="" id="{3D2FF24E-70ED-86A9-0D5A-A79FF7F97D05}"/>
                </a:ext>
              </a:extLst>
            </p:cNvPr>
            <p:cNvSpPr txBox="1">
              <a:spLocks noChangeArrowheads="1"/>
            </p:cNvSpPr>
            <p:nvPr/>
          </p:nvSpPr>
          <p:spPr bwMode="auto">
            <a:xfrm>
              <a:off x="7359839" y="4114730"/>
              <a:ext cx="496455" cy="173522"/>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sp>
          <p:nvSpPr>
            <p:cNvPr id="22" name="72 CuadroTexto">
              <a:extLst>
                <a:ext uri="{FF2B5EF4-FFF2-40B4-BE49-F238E27FC236}">
                  <a16:creationId xmlns:a16="http://schemas.microsoft.com/office/drawing/2014/main" xmlns="" id="{B10BB9AD-7FEC-849A-EFB3-A4DC78230B04}"/>
                </a:ext>
              </a:extLst>
            </p:cNvPr>
            <p:cNvSpPr txBox="1">
              <a:spLocks noChangeArrowheads="1"/>
            </p:cNvSpPr>
            <p:nvPr/>
          </p:nvSpPr>
          <p:spPr bwMode="auto">
            <a:xfrm>
              <a:off x="7396825" y="5022473"/>
              <a:ext cx="433585" cy="173522"/>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23" name="56 Rectángulo">
              <a:extLst>
                <a:ext uri="{FF2B5EF4-FFF2-40B4-BE49-F238E27FC236}">
                  <a16:creationId xmlns:a16="http://schemas.microsoft.com/office/drawing/2014/main" xmlns="" id="{B76A3E72-E8EA-142A-F8D3-4D0F0CA14B63}"/>
                </a:ext>
              </a:extLst>
            </p:cNvPr>
            <p:cNvSpPr/>
            <p:nvPr/>
          </p:nvSpPr>
          <p:spPr>
            <a:xfrm>
              <a:off x="1776852" y="5266793"/>
              <a:ext cx="2338978" cy="1545008"/>
            </a:xfrm>
            <a:prstGeom prst="rect">
              <a:avLst/>
            </a:prstGeom>
            <a:solidFill>
              <a:srgbClr val="FF9933"/>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startAt="5"/>
                <a:defRPr/>
              </a:pPr>
              <a:r>
                <a:rPr lang="es-PE" sz="1700" dirty="0">
                  <a:solidFill>
                    <a:srgbClr val="000000"/>
                  </a:solidFill>
                  <a:latin typeface="Inter" panose="020B0604020202020204" charset="0"/>
                  <a:ea typeface="Inter" panose="020B0604020202020204" charset="0"/>
                  <a:cs typeface="Arial" panose="020B0604020202020204" pitchFamily="34" charset="0"/>
                </a:rPr>
                <a:t>Memoria descriptiva y Estudio Técnico del proyecto</a:t>
              </a:r>
            </a:p>
            <a:p>
              <a:pPr marL="228600" indent="-228600" eaLnBrk="1" hangingPunct="1">
                <a:buFont typeface="+mj-lt"/>
                <a:buAutoNum type="arabicPeriod" startAt="5"/>
                <a:defRPr/>
              </a:pPr>
              <a:r>
                <a:rPr lang="es-PE" sz="1700" dirty="0">
                  <a:solidFill>
                    <a:srgbClr val="000000"/>
                  </a:solidFill>
                  <a:latin typeface="Inter" panose="020B0604020202020204" charset="0"/>
                  <a:ea typeface="Inter" panose="020B0604020202020204" charset="0"/>
                  <a:cs typeface="Arial" panose="020B0604020202020204" pitchFamily="34" charset="0"/>
                </a:rPr>
                <a:t>CIRA</a:t>
              </a:r>
            </a:p>
            <a:p>
              <a:pPr marL="228600" indent="-228600">
                <a:buFont typeface="+mj-lt"/>
                <a:buAutoNum type="arabicPeriod" startAt="5"/>
                <a:defRPr/>
              </a:pPr>
              <a:r>
                <a:rPr lang="es-PE" sz="1700" dirty="0">
                  <a:solidFill>
                    <a:srgbClr val="000000"/>
                  </a:solidFill>
                  <a:latin typeface="Inter" panose="020B0604020202020204" charset="0"/>
                  <a:ea typeface="Inter" panose="020B0604020202020204" charset="0"/>
                  <a:cs typeface="Arial" panose="020B0604020202020204" pitchFamily="34" charset="0"/>
                </a:rPr>
                <a:t>DJ de no afectación al derecho de vía o constancia de autoridad competente.</a:t>
              </a:r>
            </a:p>
            <a:p>
              <a:pPr marL="228600" indent="-228600">
                <a:buFont typeface="+mj-lt"/>
                <a:buAutoNum type="arabicPeriod" startAt="5"/>
                <a:defRPr/>
              </a:pPr>
              <a:r>
                <a:rPr lang="es-PE" sz="1700" dirty="0">
                  <a:solidFill>
                    <a:srgbClr val="000000"/>
                  </a:solidFill>
                  <a:latin typeface="Inter" panose="020B0604020202020204" charset="0"/>
                  <a:ea typeface="Inter" panose="020B0604020202020204" charset="0"/>
                  <a:cs typeface="Arial" panose="020B0604020202020204" pitchFamily="34" charset="0"/>
                </a:rPr>
                <a:t>Instrumento de Gestion ambiental aprobado.</a:t>
              </a:r>
            </a:p>
          </p:txBody>
        </p:sp>
        <p:sp>
          <p:nvSpPr>
            <p:cNvPr id="24" name="Rectángulo 23">
              <a:extLst>
                <a:ext uri="{FF2B5EF4-FFF2-40B4-BE49-F238E27FC236}">
                  <a16:creationId xmlns:a16="http://schemas.microsoft.com/office/drawing/2014/main" xmlns="" id="{ABFFD2EC-7F36-F3DB-245F-D3E179F1BD6D}"/>
                </a:ext>
              </a:extLst>
            </p:cNvPr>
            <p:cNvSpPr/>
            <p:nvPr/>
          </p:nvSpPr>
          <p:spPr>
            <a:xfrm>
              <a:off x="4827843" y="2876480"/>
              <a:ext cx="1478526" cy="214312"/>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Expide los avisos </a:t>
              </a:r>
            </a:p>
          </p:txBody>
        </p:sp>
        <p:sp>
          <p:nvSpPr>
            <p:cNvPr id="25" name="56 Rectángulo">
              <a:extLst>
                <a:ext uri="{FF2B5EF4-FFF2-40B4-BE49-F238E27FC236}">
                  <a16:creationId xmlns:a16="http://schemas.microsoft.com/office/drawing/2014/main" xmlns="" id="{3F5EACA6-5E2C-D215-C506-956C1C30727A}"/>
                </a:ext>
              </a:extLst>
            </p:cNvPr>
            <p:cNvSpPr/>
            <p:nvPr/>
          </p:nvSpPr>
          <p:spPr>
            <a:xfrm>
              <a:off x="1776852" y="1744218"/>
              <a:ext cx="2207669" cy="1040901"/>
            </a:xfrm>
            <a:prstGeom prst="rect">
              <a:avLst/>
            </a:prstGeom>
            <a:solidFill>
              <a:srgbClr val="FF9933"/>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sz="1700" dirty="0">
                  <a:solidFill>
                    <a:srgbClr val="000000"/>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sz="1700" dirty="0">
                  <a:solidFill>
                    <a:srgbClr val="000000"/>
                  </a:solidFill>
                  <a:latin typeface="Inter" panose="020B0604020202020204" charset="0"/>
                  <a:ea typeface="Inter" panose="020B0604020202020204" charset="0"/>
                  <a:cs typeface="Arial" panose="020B0604020202020204" pitchFamily="34" charset="0"/>
                </a:rPr>
                <a:t>Derecho de vigencia</a:t>
              </a:r>
              <a:endParaRPr lang="es-PE" sz="1700" i="1" dirty="0">
                <a:solidFill>
                  <a:srgbClr val="000000"/>
                </a:solidFill>
                <a:latin typeface="Inter" panose="020B0604020202020204" charset="0"/>
                <a:ea typeface="Inter" panose="020B0604020202020204" charset="0"/>
                <a:cs typeface="Arial" panose="020B0604020202020204" pitchFamily="34" charset="0"/>
              </a:endParaRPr>
            </a:p>
            <a:p>
              <a:pPr marL="228600" indent="-228600">
                <a:buFont typeface="+mj-lt"/>
                <a:buAutoNum type="arabicPeriod"/>
                <a:defRPr/>
              </a:pPr>
              <a:r>
                <a:rPr lang="es-PE" sz="1700" dirty="0">
                  <a:solidFill>
                    <a:srgbClr val="000000"/>
                  </a:solidFill>
                  <a:latin typeface="Inter" panose="020B0604020202020204" charset="0"/>
                  <a:ea typeface="Inter" panose="020B0604020202020204" charset="0"/>
                  <a:cs typeface="Arial" panose="020B0604020202020204" pitchFamily="34" charset="0"/>
                </a:rPr>
                <a:t>Autorización del terreno superficial.</a:t>
              </a:r>
            </a:p>
            <a:p>
              <a:pPr marL="228600" indent="-228600">
                <a:buFont typeface="+mj-lt"/>
                <a:buAutoNum type="arabicPeriod"/>
                <a:defRPr/>
              </a:pPr>
              <a:r>
                <a:rPr lang="es-PE" sz="1700" dirty="0">
                  <a:solidFill>
                    <a:srgbClr val="000000"/>
                  </a:solidFill>
                  <a:latin typeface="Inter" panose="020B0604020202020204" charset="0"/>
                  <a:ea typeface="Inter" panose="020B0604020202020204" charset="0"/>
                  <a:cs typeface="Arial" panose="020B0604020202020204" pitchFamily="34" charset="0"/>
                </a:rPr>
                <a:t>Cargo de presentación del Instrumento de Gestión Ambiental</a:t>
              </a:r>
            </a:p>
          </p:txBody>
        </p:sp>
        <p:sp>
          <p:nvSpPr>
            <p:cNvPr id="26" name="56 Rectángulo">
              <a:extLst>
                <a:ext uri="{FF2B5EF4-FFF2-40B4-BE49-F238E27FC236}">
                  <a16:creationId xmlns:a16="http://schemas.microsoft.com/office/drawing/2014/main" xmlns="" id="{8D1F4D63-35CB-05F4-DC12-6621EC9CCE98}"/>
                </a:ext>
              </a:extLst>
            </p:cNvPr>
            <p:cNvSpPr/>
            <p:nvPr/>
          </p:nvSpPr>
          <p:spPr>
            <a:xfrm>
              <a:off x="5147612" y="4995999"/>
              <a:ext cx="860665" cy="184539"/>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27" name="177 Conector recto de flecha">
              <a:extLst>
                <a:ext uri="{FF2B5EF4-FFF2-40B4-BE49-F238E27FC236}">
                  <a16:creationId xmlns:a16="http://schemas.microsoft.com/office/drawing/2014/main" xmlns="" id="{F89D688C-0A29-56A9-2EC9-D24F4F066404}"/>
                </a:ext>
              </a:extLst>
            </p:cNvPr>
            <p:cNvCxnSpPr>
              <a:cxnSpLocks/>
              <a:stCxn id="68" idx="2"/>
              <a:endCxn id="24" idx="0"/>
            </p:cNvCxnSpPr>
            <p:nvPr/>
          </p:nvCxnSpPr>
          <p:spPr>
            <a:xfrm>
              <a:off x="5561391" y="2426733"/>
              <a:ext cx="5716" cy="449747"/>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8" name="Conector: angular 338">
              <a:extLst>
                <a:ext uri="{FF2B5EF4-FFF2-40B4-BE49-F238E27FC236}">
                  <a16:creationId xmlns:a16="http://schemas.microsoft.com/office/drawing/2014/main" xmlns="" id="{95C9C318-5647-9126-B28B-CE65C2B21D3A}"/>
                </a:ext>
              </a:extLst>
            </p:cNvPr>
            <p:cNvCxnSpPr>
              <a:cxnSpLocks/>
              <a:stCxn id="66" idx="1"/>
              <a:endCxn id="12" idx="3"/>
            </p:cNvCxnSpPr>
            <p:nvPr/>
          </p:nvCxnSpPr>
          <p:spPr>
            <a:xfrm rot="10800000">
              <a:off x="3984521" y="1038574"/>
              <a:ext cx="688061" cy="727835"/>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angular 368">
              <a:extLst>
                <a:ext uri="{FF2B5EF4-FFF2-40B4-BE49-F238E27FC236}">
                  <a16:creationId xmlns:a16="http://schemas.microsoft.com/office/drawing/2014/main" xmlns="" id="{BAC04065-CD49-A01E-C393-EF7ED48313ED}"/>
                </a:ext>
              </a:extLst>
            </p:cNvPr>
            <p:cNvCxnSpPr>
              <a:cxnSpLocks/>
              <a:stCxn id="19" idx="2"/>
              <a:endCxn id="13" idx="3"/>
            </p:cNvCxnSpPr>
            <p:nvPr/>
          </p:nvCxnSpPr>
          <p:spPr>
            <a:xfrm rot="5400000">
              <a:off x="6901004" y="2726176"/>
              <a:ext cx="117877" cy="1283242"/>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angular 378">
              <a:extLst>
                <a:ext uri="{FF2B5EF4-FFF2-40B4-BE49-F238E27FC236}">
                  <a16:creationId xmlns:a16="http://schemas.microsoft.com/office/drawing/2014/main" xmlns="" id="{845B5AC7-90E9-DB32-896A-405F32E5BE18}"/>
                </a:ext>
              </a:extLst>
            </p:cNvPr>
            <p:cNvCxnSpPr>
              <a:stCxn id="20" idx="2"/>
              <a:endCxn id="15" idx="3"/>
            </p:cNvCxnSpPr>
            <p:nvPr/>
          </p:nvCxnSpPr>
          <p:spPr>
            <a:xfrm rot="5400000">
              <a:off x="7040547" y="3353539"/>
              <a:ext cx="98876" cy="102532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xmlns="" id="{CCEFD6B1-7CB9-FC10-8643-91EC6FD03BD3}"/>
                </a:ext>
              </a:extLst>
            </p:cNvPr>
            <p:cNvSpPr txBox="1"/>
            <p:nvPr/>
          </p:nvSpPr>
          <p:spPr>
            <a:xfrm>
              <a:off x="4461865" y="6333441"/>
              <a:ext cx="2115896" cy="622820"/>
            </a:xfrm>
            <a:prstGeom prst="rect">
              <a:avLst/>
            </a:prstGeom>
            <a:ln w="12700">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s-PE" sz="1600"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dirty="0">
                  <a:solidFill>
                    <a:srgbClr val="000000"/>
                  </a:solidFill>
                  <a:latin typeface="Inter" panose="020B0604020202020204" charset="0"/>
                  <a:ea typeface="Inter" panose="020B0604020202020204" charset="0"/>
                  <a:cs typeface="Arial" panose="020B0604020202020204" pitchFamily="34" charset="0"/>
                </a:rPr>
                <a:t>Otorga la Concesión de Beneficio</a:t>
              </a:r>
            </a:p>
            <a:p>
              <a:pPr marL="85725" indent="-85725">
                <a:buFontTx/>
                <a:buChar char="-"/>
                <a:defRPr/>
              </a:pPr>
              <a:r>
                <a:rPr lang="es-PE" sz="1600" dirty="0">
                  <a:solidFill>
                    <a:srgbClr val="000000"/>
                  </a:solidFill>
                  <a:latin typeface="Inter" panose="020B0604020202020204" charset="0"/>
                  <a:ea typeface="Inter" panose="020B0604020202020204" charset="0"/>
                  <a:cs typeface="Arial" panose="020B0604020202020204" pitchFamily="34" charset="0"/>
                </a:rPr>
                <a:t>Autoriza la construcción</a:t>
              </a:r>
            </a:p>
          </p:txBody>
        </p:sp>
        <p:cxnSp>
          <p:nvCxnSpPr>
            <p:cNvPr id="32" name="Conector: angular 443">
              <a:extLst>
                <a:ext uri="{FF2B5EF4-FFF2-40B4-BE49-F238E27FC236}">
                  <a16:creationId xmlns:a16="http://schemas.microsoft.com/office/drawing/2014/main" xmlns="" id="{17770B19-EC96-93F6-6253-14137498FF66}"/>
                </a:ext>
              </a:extLst>
            </p:cNvPr>
            <p:cNvCxnSpPr>
              <a:cxnSpLocks/>
              <a:stCxn id="21" idx="0"/>
              <a:endCxn id="15" idx="3"/>
            </p:cNvCxnSpPr>
            <p:nvPr/>
          </p:nvCxnSpPr>
          <p:spPr>
            <a:xfrm rot="16200000" flipV="1">
              <a:off x="6993149" y="3499813"/>
              <a:ext cx="199090" cy="103074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r 447">
              <a:extLst>
                <a:ext uri="{FF2B5EF4-FFF2-40B4-BE49-F238E27FC236}">
                  <a16:creationId xmlns:a16="http://schemas.microsoft.com/office/drawing/2014/main" xmlns="" id="{C120BBD4-C332-86AD-429A-C3D7A07E0EA1}"/>
                </a:ext>
              </a:extLst>
            </p:cNvPr>
            <p:cNvCxnSpPr>
              <a:stCxn id="21" idx="2"/>
              <a:endCxn id="14" idx="3"/>
            </p:cNvCxnSpPr>
            <p:nvPr/>
          </p:nvCxnSpPr>
          <p:spPr>
            <a:xfrm rot="5400000">
              <a:off x="6936980" y="3775791"/>
              <a:ext cx="158626" cy="1183548"/>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angular 449">
              <a:extLst>
                <a:ext uri="{FF2B5EF4-FFF2-40B4-BE49-F238E27FC236}">
                  <a16:creationId xmlns:a16="http://schemas.microsoft.com/office/drawing/2014/main" xmlns="" id="{E24B16A2-859C-A83A-D9F4-D19FF310A752}"/>
                </a:ext>
              </a:extLst>
            </p:cNvPr>
            <p:cNvCxnSpPr>
              <a:stCxn id="22" idx="0"/>
              <a:endCxn id="14" idx="3"/>
            </p:cNvCxnSpPr>
            <p:nvPr/>
          </p:nvCxnSpPr>
          <p:spPr>
            <a:xfrm rot="16200000" flipV="1">
              <a:off x="6731271" y="4140126"/>
              <a:ext cx="575595" cy="1189099"/>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ector: angular 451">
              <a:extLst>
                <a:ext uri="{FF2B5EF4-FFF2-40B4-BE49-F238E27FC236}">
                  <a16:creationId xmlns:a16="http://schemas.microsoft.com/office/drawing/2014/main" xmlns="" id="{782DB12D-14A2-4F5B-D0BC-1A734EE26763}"/>
                </a:ext>
              </a:extLst>
            </p:cNvPr>
            <p:cNvCxnSpPr>
              <a:stCxn id="22" idx="2"/>
              <a:endCxn id="31" idx="3"/>
            </p:cNvCxnSpPr>
            <p:nvPr/>
          </p:nvCxnSpPr>
          <p:spPr>
            <a:xfrm rot="5400000">
              <a:off x="6371261" y="5402495"/>
              <a:ext cx="1448857" cy="1035856"/>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72 CuadroTexto">
              <a:extLst>
                <a:ext uri="{FF2B5EF4-FFF2-40B4-BE49-F238E27FC236}">
                  <a16:creationId xmlns:a16="http://schemas.microsoft.com/office/drawing/2014/main" xmlns="" id="{08532E05-B56A-7855-6D60-9169809BA28D}"/>
                </a:ext>
              </a:extLst>
            </p:cNvPr>
            <p:cNvSpPr txBox="1">
              <a:spLocks noChangeArrowheads="1"/>
            </p:cNvSpPr>
            <p:nvPr/>
          </p:nvSpPr>
          <p:spPr bwMode="auto">
            <a:xfrm>
              <a:off x="7342496" y="1833117"/>
              <a:ext cx="509462" cy="184539"/>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63" name="Conector: angular 77">
              <a:extLst>
                <a:ext uri="{FF2B5EF4-FFF2-40B4-BE49-F238E27FC236}">
                  <a16:creationId xmlns:a16="http://schemas.microsoft.com/office/drawing/2014/main" xmlns="" id="{7E480E22-7209-B583-8306-A10F374F7C38}"/>
                </a:ext>
              </a:extLst>
            </p:cNvPr>
            <p:cNvCxnSpPr>
              <a:cxnSpLocks/>
              <a:stCxn id="62" idx="0"/>
              <a:endCxn id="9" idx="6"/>
            </p:cNvCxnSpPr>
            <p:nvPr/>
          </p:nvCxnSpPr>
          <p:spPr>
            <a:xfrm rot="16200000" flipV="1">
              <a:off x="6646805" y="882695"/>
              <a:ext cx="816767" cy="1084077"/>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ector: angular 78">
              <a:extLst>
                <a:ext uri="{FF2B5EF4-FFF2-40B4-BE49-F238E27FC236}">
                  <a16:creationId xmlns:a16="http://schemas.microsoft.com/office/drawing/2014/main" xmlns="" id="{3BC44521-D9A8-07D7-3EDF-3AAD6B4A806B}"/>
                </a:ext>
              </a:extLst>
            </p:cNvPr>
            <p:cNvCxnSpPr>
              <a:cxnSpLocks/>
              <a:stCxn id="62" idx="2"/>
              <a:endCxn id="24" idx="3"/>
            </p:cNvCxnSpPr>
            <p:nvPr/>
          </p:nvCxnSpPr>
          <p:spPr>
            <a:xfrm rot="5400000">
              <a:off x="6468808" y="1855217"/>
              <a:ext cx="965980" cy="1290858"/>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CuadroTexto 64">
              <a:extLst>
                <a:ext uri="{FF2B5EF4-FFF2-40B4-BE49-F238E27FC236}">
                  <a16:creationId xmlns:a16="http://schemas.microsoft.com/office/drawing/2014/main" xmlns="" id="{6F0D5C2A-BA5C-68CD-2397-5BC11E4D2978}"/>
                </a:ext>
              </a:extLst>
            </p:cNvPr>
            <p:cNvSpPr txBox="1"/>
            <p:nvPr/>
          </p:nvSpPr>
          <p:spPr>
            <a:xfrm flipH="1">
              <a:off x="5292236" y="2475980"/>
              <a:ext cx="223296" cy="173522"/>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66" name="Rectángulo 65">
              <a:extLst>
                <a:ext uri="{FF2B5EF4-FFF2-40B4-BE49-F238E27FC236}">
                  <a16:creationId xmlns:a16="http://schemas.microsoft.com/office/drawing/2014/main" xmlns="" id="{E59C5173-C6FA-01A9-C7F7-6ABA729FF8B7}"/>
                </a:ext>
              </a:extLst>
            </p:cNvPr>
            <p:cNvSpPr/>
            <p:nvPr/>
          </p:nvSpPr>
          <p:spPr>
            <a:xfrm>
              <a:off x="4672582" y="1581870"/>
              <a:ext cx="1764691" cy="369079"/>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los requisitos de la solicitud</a:t>
              </a:r>
            </a:p>
          </p:txBody>
        </p:sp>
        <p:cxnSp>
          <p:nvCxnSpPr>
            <p:cNvPr id="67" name="Conector angular 39">
              <a:extLst>
                <a:ext uri="{FF2B5EF4-FFF2-40B4-BE49-F238E27FC236}">
                  <a16:creationId xmlns:a16="http://schemas.microsoft.com/office/drawing/2014/main" xmlns="" id="{2A33572D-CCFD-5CE6-A97E-9D4D0E639424}"/>
                </a:ext>
              </a:extLst>
            </p:cNvPr>
            <p:cNvCxnSpPr>
              <a:stCxn id="66" idx="1"/>
              <a:endCxn id="25" idx="3"/>
            </p:cNvCxnSpPr>
            <p:nvPr/>
          </p:nvCxnSpPr>
          <p:spPr>
            <a:xfrm rot="10800000" flipV="1">
              <a:off x="3984521" y="1766410"/>
              <a:ext cx="688061" cy="498259"/>
            </a:xfrm>
            <a:prstGeom prst="bentConnector3">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Decisión 40">
              <a:extLst>
                <a:ext uri="{FF2B5EF4-FFF2-40B4-BE49-F238E27FC236}">
                  <a16:creationId xmlns:a16="http://schemas.microsoft.com/office/drawing/2014/main" xmlns="" id="{13490377-2DD3-2523-437F-4A33DBEE89F3}"/>
                </a:ext>
              </a:extLst>
            </p:cNvPr>
            <p:cNvSpPr/>
            <p:nvPr/>
          </p:nvSpPr>
          <p:spPr>
            <a:xfrm>
              <a:off x="5104114" y="2060153"/>
              <a:ext cx="914554" cy="366580"/>
            </a:xfrm>
            <a:prstGeom prst="flowChartDecision">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69" name="CuadroTexto 68">
              <a:extLst>
                <a:ext uri="{FF2B5EF4-FFF2-40B4-BE49-F238E27FC236}">
                  <a16:creationId xmlns:a16="http://schemas.microsoft.com/office/drawing/2014/main" xmlns="" id="{D4BF53C5-D923-3416-21A6-539A4A78D7DF}"/>
                </a:ext>
              </a:extLst>
            </p:cNvPr>
            <p:cNvSpPr txBox="1"/>
            <p:nvPr/>
          </p:nvSpPr>
          <p:spPr>
            <a:xfrm>
              <a:off x="5976843" y="2004027"/>
              <a:ext cx="234136" cy="173522"/>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sp>
          <p:nvSpPr>
            <p:cNvPr id="70" name="CuadroTexto 69">
              <a:extLst>
                <a:ext uri="{FF2B5EF4-FFF2-40B4-BE49-F238E27FC236}">
                  <a16:creationId xmlns:a16="http://schemas.microsoft.com/office/drawing/2014/main" xmlns="" id="{74C39DA7-DFC9-FE20-6E1C-0264219F0306}"/>
                </a:ext>
              </a:extLst>
            </p:cNvPr>
            <p:cNvSpPr txBox="1"/>
            <p:nvPr/>
          </p:nvSpPr>
          <p:spPr>
            <a:xfrm>
              <a:off x="6312615" y="2061202"/>
              <a:ext cx="1020996" cy="369079"/>
            </a:xfrm>
            <a:prstGeom prst="rect">
              <a:avLst/>
            </a:prstGeom>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71" name="CuadroTexto 70">
              <a:extLst>
                <a:ext uri="{FF2B5EF4-FFF2-40B4-BE49-F238E27FC236}">
                  <a16:creationId xmlns:a16="http://schemas.microsoft.com/office/drawing/2014/main" xmlns="" id="{F03E74A1-1408-0842-19D6-BDADBD76625D}"/>
                </a:ext>
              </a:extLst>
            </p:cNvPr>
            <p:cNvSpPr txBox="1"/>
            <p:nvPr/>
          </p:nvSpPr>
          <p:spPr>
            <a:xfrm>
              <a:off x="6383390" y="2581338"/>
              <a:ext cx="892832" cy="369079"/>
            </a:xfrm>
            <a:prstGeom prst="rect">
              <a:avLst/>
            </a:prstGeom>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defPPr>
                <a:defRPr lang="es-PE"/>
              </a:defPPr>
              <a:lvl1pPr algn="ctr">
                <a:defRPr sz="900">
                  <a:latin typeface="Calibri" panose="020F0502020204030204" pitchFamily="34" charset="0"/>
                  <a:cs typeface="Calibri" panose="020F0502020204030204" pitchFamily="34" charset="0"/>
                </a:defRPr>
              </a:lvl1pPr>
            </a:lstStyle>
            <a:p>
              <a:r>
                <a:rPr lang="es-PE" sz="1600" dirty="0">
                  <a:latin typeface="Inter" panose="020B0604020202020204" charset="0"/>
                  <a:ea typeface="Inter" panose="020B0604020202020204" charset="0"/>
                  <a:cs typeface="Arial" panose="020B0604020202020204" pitchFamily="34" charset="0"/>
                </a:rPr>
                <a:t>Subsana observaciones</a:t>
              </a:r>
            </a:p>
          </p:txBody>
        </p:sp>
        <p:cxnSp>
          <p:nvCxnSpPr>
            <p:cNvPr id="72" name="Conector recto de flecha 71">
              <a:extLst>
                <a:ext uri="{FF2B5EF4-FFF2-40B4-BE49-F238E27FC236}">
                  <a16:creationId xmlns:a16="http://schemas.microsoft.com/office/drawing/2014/main" xmlns="" id="{80A7C96E-5BFD-E590-A655-6290FD541697}"/>
                </a:ext>
              </a:extLst>
            </p:cNvPr>
            <p:cNvCxnSpPr>
              <a:stCxn id="68" idx="3"/>
              <a:endCxn id="70" idx="1"/>
            </p:cNvCxnSpPr>
            <p:nvPr/>
          </p:nvCxnSpPr>
          <p:spPr>
            <a:xfrm>
              <a:off x="6018668" y="2243443"/>
              <a:ext cx="293947" cy="2299"/>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72 CuadroTexto">
              <a:extLst>
                <a:ext uri="{FF2B5EF4-FFF2-40B4-BE49-F238E27FC236}">
                  <a16:creationId xmlns:a16="http://schemas.microsoft.com/office/drawing/2014/main" xmlns="" id="{09CD1637-5A30-1DA0-7885-115658B73F09}"/>
                </a:ext>
              </a:extLst>
            </p:cNvPr>
            <p:cNvSpPr txBox="1">
              <a:spLocks noChangeArrowheads="1"/>
            </p:cNvSpPr>
            <p:nvPr/>
          </p:nvSpPr>
          <p:spPr bwMode="auto">
            <a:xfrm>
              <a:off x="6609876" y="1552195"/>
              <a:ext cx="403234" cy="184539"/>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74" name="Conector angular 46">
              <a:extLst>
                <a:ext uri="{FF2B5EF4-FFF2-40B4-BE49-F238E27FC236}">
                  <a16:creationId xmlns:a16="http://schemas.microsoft.com/office/drawing/2014/main" xmlns="" id="{2DDCB4A2-CDAB-BCC6-1CCD-084AA904A66A}"/>
                </a:ext>
              </a:extLst>
            </p:cNvPr>
            <p:cNvCxnSpPr>
              <a:stCxn id="73" idx="0"/>
              <a:endCxn id="9" idx="6"/>
            </p:cNvCxnSpPr>
            <p:nvPr/>
          </p:nvCxnSpPr>
          <p:spPr>
            <a:xfrm rot="16200000" flipV="1">
              <a:off x="6394399" y="1135101"/>
              <a:ext cx="535845" cy="298343"/>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ector recto de flecha 74">
              <a:extLst>
                <a:ext uri="{FF2B5EF4-FFF2-40B4-BE49-F238E27FC236}">
                  <a16:creationId xmlns:a16="http://schemas.microsoft.com/office/drawing/2014/main" xmlns="" id="{4A8CD99E-3B85-8E2C-E162-E807A74992CF}"/>
                </a:ext>
              </a:extLst>
            </p:cNvPr>
            <p:cNvCxnSpPr>
              <a:stCxn id="73" idx="2"/>
              <a:endCxn id="70" idx="0"/>
            </p:cNvCxnSpPr>
            <p:nvPr/>
          </p:nvCxnSpPr>
          <p:spPr>
            <a:xfrm>
              <a:off x="6811493" y="1736734"/>
              <a:ext cx="11620" cy="324468"/>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ector recto de flecha 75">
              <a:extLst>
                <a:ext uri="{FF2B5EF4-FFF2-40B4-BE49-F238E27FC236}">
                  <a16:creationId xmlns:a16="http://schemas.microsoft.com/office/drawing/2014/main" xmlns="" id="{3E3D5C5A-0710-72AB-3EBD-587D5B186FE4}"/>
                </a:ext>
              </a:extLst>
            </p:cNvPr>
            <p:cNvCxnSpPr>
              <a:stCxn id="70" idx="2"/>
              <a:endCxn id="71" idx="0"/>
            </p:cNvCxnSpPr>
            <p:nvPr/>
          </p:nvCxnSpPr>
          <p:spPr>
            <a:xfrm>
              <a:off x="6823113" y="2430282"/>
              <a:ext cx="6693" cy="151056"/>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ector angular 49">
              <a:extLst>
                <a:ext uri="{FF2B5EF4-FFF2-40B4-BE49-F238E27FC236}">
                  <a16:creationId xmlns:a16="http://schemas.microsoft.com/office/drawing/2014/main" xmlns="" id="{310FD8C2-A485-6E65-B2C7-574AE0929348}"/>
                </a:ext>
              </a:extLst>
            </p:cNvPr>
            <p:cNvCxnSpPr>
              <a:stCxn id="71" idx="1"/>
              <a:endCxn id="24" idx="0"/>
            </p:cNvCxnSpPr>
            <p:nvPr/>
          </p:nvCxnSpPr>
          <p:spPr>
            <a:xfrm rot="10800000" flipV="1">
              <a:off x="5567106" y="2765877"/>
              <a:ext cx="816284" cy="110602"/>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8" name="72 CuadroTexto">
              <a:extLst>
                <a:ext uri="{FF2B5EF4-FFF2-40B4-BE49-F238E27FC236}">
                  <a16:creationId xmlns:a16="http://schemas.microsoft.com/office/drawing/2014/main" xmlns="" id="{245307D9-B472-837A-D56E-027C23326268}"/>
                </a:ext>
              </a:extLst>
            </p:cNvPr>
            <p:cNvSpPr txBox="1">
              <a:spLocks noChangeArrowheads="1"/>
            </p:cNvSpPr>
            <p:nvPr/>
          </p:nvSpPr>
          <p:spPr bwMode="auto">
            <a:xfrm>
              <a:off x="7019739" y="2408288"/>
              <a:ext cx="656528" cy="184539"/>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Hasta 20 dh</a:t>
              </a:r>
            </a:p>
          </p:txBody>
        </p:sp>
        <p:cxnSp>
          <p:nvCxnSpPr>
            <p:cNvPr id="79" name="Conector angular 51">
              <a:extLst>
                <a:ext uri="{FF2B5EF4-FFF2-40B4-BE49-F238E27FC236}">
                  <a16:creationId xmlns:a16="http://schemas.microsoft.com/office/drawing/2014/main" xmlns="" id="{8DBCEB9D-F542-D715-89EE-A26B250A2928}"/>
                </a:ext>
              </a:extLst>
            </p:cNvPr>
            <p:cNvCxnSpPr>
              <a:stCxn id="19" idx="0"/>
              <a:endCxn id="24" idx="3"/>
            </p:cNvCxnSpPr>
            <p:nvPr/>
          </p:nvCxnSpPr>
          <p:spPr>
            <a:xfrm rot="16200000" flipV="1">
              <a:off x="6878116" y="2411890"/>
              <a:ext cx="151701" cy="1295193"/>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ector angular 52">
              <a:extLst>
                <a:ext uri="{FF2B5EF4-FFF2-40B4-BE49-F238E27FC236}">
                  <a16:creationId xmlns:a16="http://schemas.microsoft.com/office/drawing/2014/main" xmlns="" id="{B27A8C47-21E9-C6F8-391D-74A70D02CDB9}"/>
                </a:ext>
              </a:extLst>
            </p:cNvPr>
            <p:cNvCxnSpPr>
              <a:cxnSpLocks/>
              <a:stCxn id="20" idx="0"/>
              <a:endCxn id="13" idx="3"/>
            </p:cNvCxnSpPr>
            <p:nvPr/>
          </p:nvCxnSpPr>
          <p:spPr>
            <a:xfrm rot="16200000" flipV="1">
              <a:off x="6852231" y="2892825"/>
              <a:ext cx="216507" cy="1284326"/>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CuadroTexto 80">
              <a:extLst>
                <a:ext uri="{FF2B5EF4-FFF2-40B4-BE49-F238E27FC236}">
                  <a16:creationId xmlns:a16="http://schemas.microsoft.com/office/drawing/2014/main" xmlns="" id="{F19550C4-E37D-32AB-8D10-BBCA93415E03}"/>
                </a:ext>
              </a:extLst>
            </p:cNvPr>
            <p:cNvSpPr txBox="1"/>
            <p:nvPr/>
          </p:nvSpPr>
          <p:spPr>
            <a:xfrm flipH="1">
              <a:off x="4913042" y="5250801"/>
              <a:ext cx="223296" cy="173522"/>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82" name="Decisión 54">
              <a:extLst>
                <a:ext uri="{FF2B5EF4-FFF2-40B4-BE49-F238E27FC236}">
                  <a16:creationId xmlns:a16="http://schemas.microsoft.com/office/drawing/2014/main" xmlns="" id="{3F7361BC-4F01-BAA1-3B03-A498B9956154}"/>
                </a:ext>
              </a:extLst>
            </p:cNvPr>
            <p:cNvSpPr/>
            <p:nvPr/>
          </p:nvSpPr>
          <p:spPr>
            <a:xfrm>
              <a:off x="5154906" y="5260687"/>
              <a:ext cx="846075" cy="366580"/>
            </a:xfrm>
            <a:prstGeom prst="flowChartDecision">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83" name="CuadroTexto 82">
              <a:extLst>
                <a:ext uri="{FF2B5EF4-FFF2-40B4-BE49-F238E27FC236}">
                  <a16:creationId xmlns:a16="http://schemas.microsoft.com/office/drawing/2014/main" xmlns="" id="{6B2E0FCC-6D34-85A2-9EEB-95324803340B}"/>
                </a:ext>
              </a:extLst>
            </p:cNvPr>
            <p:cNvSpPr txBox="1"/>
            <p:nvPr/>
          </p:nvSpPr>
          <p:spPr>
            <a:xfrm>
              <a:off x="6240396" y="5253597"/>
              <a:ext cx="1118649" cy="369079"/>
            </a:xfrm>
            <a:prstGeom prst="rect">
              <a:avLst/>
            </a:prstGeom>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84" name="CuadroTexto 83">
              <a:extLst>
                <a:ext uri="{FF2B5EF4-FFF2-40B4-BE49-F238E27FC236}">
                  <a16:creationId xmlns:a16="http://schemas.microsoft.com/office/drawing/2014/main" xmlns="" id="{C7C6D2B8-764F-E027-6B0C-972700EBB09A}"/>
                </a:ext>
              </a:extLst>
            </p:cNvPr>
            <p:cNvSpPr txBox="1"/>
            <p:nvPr/>
          </p:nvSpPr>
          <p:spPr>
            <a:xfrm>
              <a:off x="6318321" y="5789171"/>
              <a:ext cx="967949" cy="369079"/>
            </a:xfrm>
            <a:prstGeom prst="rect">
              <a:avLst/>
            </a:prstGeom>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defPPr>
                <a:defRPr lang="es-PE"/>
              </a:defPPr>
              <a:lvl1pPr algn="ctr">
                <a:defRPr sz="900">
                  <a:latin typeface="Calibri" panose="020F0502020204030204" pitchFamily="34" charset="0"/>
                  <a:cs typeface="Calibri" panose="020F0502020204030204" pitchFamily="34" charset="0"/>
                </a:defRPr>
              </a:lvl1pPr>
            </a:lstStyle>
            <a:p>
              <a:r>
                <a:rPr lang="es-PE" sz="1600" dirty="0">
                  <a:latin typeface="Inter" panose="020B0604020202020204" charset="0"/>
                  <a:ea typeface="Inter" panose="020B0604020202020204" charset="0"/>
                  <a:cs typeface="Arial" panose="020B0604020202020204" pitchFamily="34" charset="0"/>
                </a:rPr>
                <a:t>Subsana observaciones</a:t>
              </a:r>
            </a:p>
          </p:txBody>
        </p:sp>
        <p:sp>
          <p:nvSpPr>
            <p:cNvPr id="85" name="72 CuadroTexto">
              <a:extLst>
                <a:ext uri="{FF2B5EF4-FFF2-40B4-BE49-F238E27FC236}">
                  <a16:creationId xmlns:a16="http://schemas.microsoft.com/office/drawing/2014/main" xmlns="" id="{7C7C8AC8-3E43-E781-62C1-A1C47A927ED1}"/>
                </a:ext>
              </a:extLst>
            </p:cNvPr>
            <p:cNvSpPr txBox="1">
              <a:spLocks noChangeArrowheads="1"/>
            </p:cNvSpPr>
            <p:nvPr/>
          </p:nvSpPr>
          <p:spPr bwMode="auto">
            <a:xfrm>
              <a:off x="7020646" y="5606553"/>
              <a:ext cx="654714" cy="173522"/>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Hasta 20 dh</a:t>
              </a:r>
            </a:p>
          </p:txBody>
        </p:sp>
        <p:sp>
          <p:nvSpPr>
            <p:cNvPr id="86" name="CuadroTexto 85">
              <a:extLst>
                <a:ext uri="{FF2B5EF4-FFF2-40B4-BE49-F238E27FC236}">
                  <a16:creationId xmlns:a16="http://schemas.microsoft.com/office/drawing/2014/main" xmlns="" id="{F810D1A5-6E74-E706-A640-427C6DC7BA4E}"/>
                </a:ext>
              </a:extLst>
            </p:cNvPr>
            <p:cNvSpPr txBox="1"/>
            <p:nvPr/>
          </p:nvSpPr>
          <p:spPr>
            <a:xfrm>
              <a:off x="5937194" y="5229108"/>
              <a:ext cx="234136" cy="173522"/>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87" name="Conector recto de flecha 86">
              <a:extLst>
                <a:ext uri="{FF2B5EF4-FFF2-40B4-BE49-F238E27FC236}">
                  <a16:creationId xmlns:a16="http://schemas.microsoft.com/office/drawing/2014/main" xmlns="" id="{E6471077-59B3-8F5E-6E11-D85AF1BE2FF5}"/>
                </a:ext>
              </a:extLst>
            </p:cNvPr>
            <p:cNvCxnSpPr>
              <a:stCxn id="83" idx="2"/>
              <a:endCxn id="84" idx="0"/>
            </p:cNvCxnSpPr>
            <p:nvPr/>
          </p:nvCxnSpPr>
          <p:spPr>
            <a:xfrm>
              <a:off x="6799720" y="5622676"/>
              <a:ext cx="2575" cy="166494"/>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8" name="72 CuadroTexto">
              <a:extLst>
                <a:ext uri="{FF2B5EF4-FFF2-40B4-BE49-F238E27FC236}">
                  <a16:creationId xmlns:a16="http://schemas.microsoft.com/office/drawing/2014/main" xmlns="" id="{1B14FCFB-C845-FF35-E23A-6F7AA7ACE062}"/>
                </a:ext>
              </a:extLst>
            </p:cNvPr>
            <p:cNvSpPr txBox="1">
              <a:spLocks noChangeArrowheads="1"/>
            </p:cNvSpPr>
            <p:nvPr/>
          </p:nvSpPr>
          <p:spPr bwMode="auto">
            <a:xfrm>
              <a:off x="6551456" y="4843018"/>
              <a:ext cx="496455" cy="173522"/>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89" name="Conector angular 61">
              <a:extLst>
                <a:ext uri="{FF2B5EF4-FFF2-40B4-BE49-F238E27FC236}">
                  <a16:creationId xmlns:a16="http://schemas.microsoft.com/office/drawing/2014/main" xmlns="" id="{83A4491F-D46A-0985-35E8-CA198207E624}"/>
                </a:ext>
              </a:extLst>
            </p:cNvPr>
            <p:cNvCxnSpPr>
              <a:stCxn id="88" idx="0"/>
              <a:endCxn id="14" idx="3"/>
            </p:cNvCxnSpPr>
            <p:nvPr/>
          </p:nvCxnSpPr>
          <p:spPr>
            <a:xfrm rot="16200000" flipV="1">
              <a:off x="6414031" y="4457366"/>
              <a:ext cx="396140" cy="37516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onector recto de flecha 89">
              <a:extLst>
                <a:ext uri="{FF2B5EF4-FFF2-40B4-BE49-F238E27FC236}">
                  <a16:creationId xmlns:a16="http://schemas.microsoft.com/office/drawing/2014/main" xmlns="" id="{728DBF52-B8CD-2B04-DB13-BBB52E3F0B3C}"/>
                </a:ext>
              </a:extLst>
            </p:cNvPr>
            <p:cNvCxnSpPr>
              <a:stCxn id="88" idx="2"/>
              <a:endCxn id="83" idx="0"/>
            </p:cNvCxnSpPr>
            <p:nvPr/>
          </p:nvCxnSpPr>
          <p:spPr>
            <a:xfrm>
              <a:off x="6799683" y="5016540"/>
              <a:ext cx="37" cy="237057"/>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ector recto de flecha 90">
              <a:extLst>
                <a:ext uri="{FF2B5EF4-FFF2-40B4-BE49-F238E27FC236}">
                  <a16:creationId xmlns:a16="http://schemas.microsoft.com/office/drawing/2014/main" xmlns="" id="{1AA65E01-4CAC-2100-689C-37608A925D6B}"/>
                </a:ext>
              </a:extLst>
            </p:cNvPr>
            <p:cNvCxnSpPr>
              <a:stCxn id="82" idx="3"/>
              <a:endCxn id="83" idx="1"/>
            </p:cNvCxnSpPr>
            <p:nvPr/>
          </p:nvCxnSpPr>
          <p:spPr>
            <a:xfrm flipV="1">
              <a:off x="6000981" y="5438137"/>
              <a:ext cx="239415" cy="5841"/>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2" name="Conector recto 2">
              <a:extLst>
                <a:ext uri="{FF2B5EF4-FFF2-40B4-BE49-F238E27FC236}">
                  <a16:creationId xmlns:a16="http://schemas.microsoft.com/office/drawing/2014/main" xmlns="" id="{7DC0143C-FB88-460C-EE65-88482FE88C1C}"/>
                </a:ext>
              </a:extLst>
            </p:cNvPr>
            <p:cNvCxnSpPr>
              <a:cxnSpLocks noChangeShapeType="1"/>
              <a:stCxn id="66" idx="2"/>
              <a:endCxn id="68" idx="0"/>
            </p:cNvCxnSpPr>
            <p:nvPr/>
          </p:nvCxnSpPr>
          <p:spPr bwMode="auto">
            <a:xfrm>
              <a:off x="5554928" y="1950949"/>
              <a:ext cx="6463" cy="109204"/>
            </a:xfrm>
            <a:prstGeom prst="line">
              <a:avLst/>
            </a:prstGeom>
            <a:noFill/>
            <a:ln w="9525">
              <a:solidFill>
                <a:schemeClr val="accent2">
                  <a:lumMod val="50000"/>
                </a:schemeClr>
              </a:solidFill>
              <a:round/>
              <a:headEnd/>
              <a:tailEnd/>
            </a:ln>
            <a:extLst>
              <a:ext uri="{909E8E84-426E-40DD-AFC4-6F175D3DCCD1}">
                <a14:hiddenFill xmlns:a14="http://schemas.microsoft.com/office/drawing/2010/main">
                  <a:noFill/>
                </a14:hiddenFill>
              </a:ext>
            </a:extLst>
          </p:spPr>
        </p:cxnSp>
        <p:sp>
          <p:nvSpPr>
            <p:cNvPr id="93" name="Rectángulo 92">
              <a:extLst>
                <a:ext uri="{FF2B5EF4-FFF2-40B4-BE49-F238E27FC236}">
                  <a16:creationId xmlns:a16="http://schemas.microsoft.com/office/drawing/2014/main" xmlns="" id="{D2B07B15-93FE-763C-61DC-51B00F8F4055}"/>
                </a:ext>
              </a:extLst>
            </p:cNvPr>
            <p:cNvSpPr/>
            <p:nvPr/>
          </p:nvSpPr>
          <p:spPr>
            <a:xfrm>
              <a:off x="4883895" y="5782646"/>
              <a:ext cx="1254710" cy="369079"/>
            </a:xfrm>
            <a:prstGeom prst="rect">
              <a:avLst/>
            </a:prstGeom>
            <a:ln w="12700">
              <a:solidFill>
                <a:schemeClr val="accent2">
                  <a:lumMod val="50000"/>
                </a:schemeClr>
              </a:solidFill>
            </a:ln>
          </p:spPr>
          <p:style>
            <a:lnRef idx="2">
              <a:schemeClr val="accent5"/>
            </a:lnRef>
            <a:fillRef idx="1">
              <a:schemeClr val="lt1"/>
            </a:fillRef>
            <a:effectRef idx="0">
              <a:schemeClr val="accent5"/>
            </a:effectRef>
            <a:fontRef idx="minor">
              <a:schemeClr val="dk1"/>
            </a:fontRef>
          </p:style>
          <p:txBody>
            <a:bodyPr wrap="square" lIns="0" tIns="0" rIns="0" bIns="0">
              <a:spAutoFit/>
            </a:bodyPr>
            <a:lstStyle/>
            <a:p>
              <a:pPr marL="0" lvl="1"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Informe favorable que Aprueba el proyecto</a:t>
              </a:r>
            </a:p>
          </p:txBody>
        </p:sp>
        <p:sp>
          <p:nvSpPr>
            <p:cNvPr id="94" name="CuadroTexto 93">
              <a:extLst>
                <a:ext uri="{FF2B5EF4-FFF2-40B4-BE49-F238E27FC236}">
                  <a16:creationId xmlns:a16="http://schemas.microsoft.com/office/drawing/2014/main" xmlns="" id="{8B1522C1-68D6-7A8A-11F8-5B7816B363DF}"/>
                </a:ext>
              </a:extLst>
            </p:cNvPr>
            <p:cNvSpPr txBox="1"/>
            <p:nvPr/>
          </p:nvSpPr>
          <p:spPr>
            <a:xfrm>
              <a:off x="3250042" y="4066150"/>
              <a:ext cx="645880" cy="216087"/>
            </a:xfrm>
            <a:prstGeom prst="rect">
              <a:avLst/>
            </a:prstGeom>
            <a:solidFill>
              <a:schemeClr val="accent4">
                <a:lumMod val="20000"/>
                <a:lumOff val="80000"/>
              </a:schemeClr>
            </a:solidFill>
            <a:ln w="12700">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lIns="36000" tIns="36000" rIns="36000" bIns="36000" anchor="ctr"/>
            <a:lstStyle>
              <a:defPPr>
                <a:defRPr lang="es-PE"/>
              </a:defPPr>
              <a:lvl1pPr algn="ctr">
                <a:defRPr sz="1000">
                  <a:solidFill>
                    <a:srgbClr val="000000"/>
                  </a:solidFill>
                  <a:latin typeface="Calibri" panose="020F0502020204030204" pitchFamily="34" charset="0"/>
                  <a:cs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PE" sz="1600" dirty="0">
                  <a:latin typeface="Inter" panose="020B0604020202020204" charset="0"/>
                  <a:ea typeface="Inter" panose="020B0604020202020204" charset="0"/>
                  <a:cs typeface="Arial" panose="020B0604020202020204" pitchFamily="34" charset="0"/>
                </a:rPr>
                <a:t>Oposición</a:t>
              </a:r>
            </a:p>
          </p:txBody>
        </p:sp>
        <p:sp>
          <p:nvSpPr>
            <p:cNvPr id="95" name="72 CuadroTexto">
              <a:extLst>
                <a:ext uri="{FF2B5EF4-FFF2-40B4-BE49-F238E27FC236}">
                  <a16:creationId xmlns:a16="http://schemas.microsoft.com/office/drawing/2014/main" xmlns="" id="{6C34750F-EA03-9FC0-DA54-238A2A1AD27E}"/>
                </a:ext>
              </a:extLst>
            </p:cNvPr>
            <p:cNvSpPr txBox="1">
              <a:spLocks noChangeArrowheads="1"/>
            </p:cNvSpPr>
            <p:nvPr/>
          </p:nvSpPr>
          <p:spPr bwMode="auto">
            <a:xfrm>
              <a:off x="3839396" y="3684885"/>
              <a:ext cx="464300" cy="173522"/>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sp>
          <p:nvSpPr>
            <p:cNvPr id="96" name="25 Rectángulo">
              <a:extLst>
                <a:ext uri="{FF2B5EF4-FFF2-40B4-BE49-F238E27FC236}">
                  <a16:creationId xmlns:a16="http://schemas.microsoft.com/office/drawing/2014/main" xmlns="" id="{B8F6E3D7-7DF9-E163-7555-11460AFAE15C}"/>
                </a:ext>
              </a:extLst>
            </p:cNvPr>
            <p:cNvSpPr/>
            <p:nvPr/>
          </p:nvSpPr>
          <p:spPr>
            <a:xfrm>
              <a:off x="1776851" y="3604599"/>
              <a:ext cx="1150251" cy="922695"/>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Se declara improcedente la solicitud  o  se repone a estado de volver a evaluar.</a:t>
              </a:r>
            </a:p>
          </p:txBody>
        </p:sp>
        <p:cxnSp>
          <p:nvCxnSpPr>
            <p:cNvPr id="97" name="Conector recto 96">
              <a:extLst>
                <a:ext uri="{FF2B5EF4-FFF2-40B4-BE49-F238E27FC236}">
                  <a16:creationId xmlns:a16="http://schemas.microsoft.com/office/drawing/2014/main" xmlns="" id="{4A02C193-8247-E313-EB66-5B6F69A79F54}"/>
                </a:ext>
              </a:extLst>
            </p:cNvPr>
            <p:cNvCxnSpPr>
              <a:stCxn id="26" idx="2"/>
              <a:endCxn id="82" idx="0"/>
            </p:cNvCxnSpPr>
            <p:nvPr/>
          </p:nvCxnSpPr>
          <p:spPr>
            <a:xfrm flipH="1">
              <a:off x="5577944" y="5180538"/>
              <a:ext cx="1" cy="80149"/>
            </a:xfrm>
            <a:prstGeom prst="line">
              <a:avLst/>
            </a:prstGeom>
            <a:ln w="12700">
              <a:solidFill>
                <a:schemeClr val="accent2">
                  <a:lumMod val="50000"/>
                </a:schemeClr>
              </a:solidFill>
            </a:ln>
          </p:spPr>
          <p:style>
            <a:lnRef idx="3">
              <a:schemeClr val="accent6"/>
            </a:lnRef>
            <a:fillRef idx="0">
              <a:schemeClr val="accent6"/>
            </a:fillRef>
            <a:effectRef idx="2">
              <a:schemeClr val="accent6"/>
            </a:effectRef>
            <a:fontRef idx="minor">
              <a:schemeClr val="tx1"/>
            </a:fontRef>
          </p:style>
        </p:cxnSp>
        <p:cxnSp>
          <p:nvCxnSpPr>
            <p:cNvPr id="98" name="Conector angular 70">
              <a:extLst>
                <a:ext uri="{FF2B5EF4-FFF2-40B4-BE49-F238E27FC236}">
                  <a16:creationId xmlns:a16="http://schemas.microsoft.com/office/drawing/2014/main" xmlns="" id="{AD94E6BD-258E-C37D-BC44-88AB2BAE86D7}"/>
                </a:ext>
              </a:extLst>
            </p:cNvPr>
            <p:cNvCxnSpPr>
              <a:stCxn id="15" idx="1"/>
              <a:endCxn id="94" idx="0"/>
            </p:cNvCxnSpPr>
            <p:nvPr/>
          </p:nvCxnSpPr>
          <p:spPr>
            <a:xfrm rot="10800000" flipV="1">
              <a:off x="3572983" y="3915638"/>
              <a:ext cx="988169" cy="150511"/>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Decisión 71">
              <a:extLst>
                <a:ext uri="{FF2B5EF4-FFF2-40B4-BE49-F238E27FC236}">
                  <a16:creationId xmlns:a16="http://schemas.microsoft.com/office/drawing/2014/main" xmlns="" id="{A787715D-A2D3-3098-6152-6737BFDBCC86}"/>
                </a:ext>
              </a:extLst>
            </p:cNvPr>
            <p:cNvSpPr/>
            <p:nvPr/>
          </p:nvSpPr>
          <p:spPr>
            <a:xfrm>
              <a:off x="2937577" y="4386276"/>
              <a:ext cx="1266546" cy="366580"/>
            </a:xfrm>
            <a:prstGeom prst="flowChartDecision">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nchor="ctr" anchorCtr="0">
              <a:spAutoFit/>
            </a:bodyP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Resolución</a:t>
              </a:r>
            </a:p>
          </p:txBody>
        </p:sp>
        <p:cxnSp>
          <p:nvCxnSpPr>
            <p:cNvPr id="100" name="Conector recto 99">
              <a:extLst>
                <a:ext uri="{FF2B5EF4-FFF2-40B4-BE49-F238E27FC236}">
                  <a16:creationId xmlns:a16="http://schemas.microsoft.com/office/drawing/2014/main" xmlns="" id="{9E2BCD02-3582-84EF-0921-8B9BBDAC64C0}"/>
                </a:ext>
              </a:extLst>
            </p:cNvPr>
            <p:cNvCxnSpPr>
              <a:stCxn id="94" idx="2"/>
              <a:endCxn id="99" idx="0"/>
            </p:cNvCxnSpPr>
            <p:nvPr/>
          </p:nvCxnSpPr>
          <p:spPr>
            <a:xfrm flipH="1">
              <a:off x="3570850" y="4282237"/>
              <a:ext cx="2132" cy="104039"/>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1" name="56 Rectángulo">
              <a:extLst>
                <a:ext uri="{FF2B5EF4-FFF2-40B4-BE49-F238E27FC236}">
                  <a16:creationId xmlns:a16="http://schemas.microsoft.com/office/drawing/2014/main" xmlns="" id="{29E2D617-EE95-9127-F29D-39D804675472}"/>
                </a:ext>
              </a:extLst>
            </p:cNvPr>
            <p:cNvSpPr/>
            <p:nvPr/>
          </p:nvSpPr>
          <p:spPr>
            <a:xfrm>
              <a:off x="2496507" y="4747687"/>
              <a:ext cx="569591" cy="184539"/>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Fundada</a:t>
              </a:r>
            </a:p>
          </p:txBody>
        </p:sp>
        <p:sp>
          <p:nvSpPr>
            <p:cNvPr id="102" name="56 Rectángulo">
              <a:extLst>
                <a:ext uri="{FF2B5EF4-FFF2-40B4-BE49-F238E27FC236}">
                  <a16:creationId xmlns:a16="http://schemas.microsoft.com/office/drawing/2014/main" xmlns="" id="{E8CB3AF8-C6A9-BCD8-189D-69BF3A37D997}"/>
                </a:ext>
              </a:extLst>
            </p:cNvPr>
            <p:cNvSpPr/>
            <p:nvPr/>
          </p:nvSpPr>
          <p:spPr>
            <a:xfrm>
              <a:off x="4073792" y="4781864"/>
              <a:ext cx="658957" cy="184539"/>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Infundada</a:t>
              </a:r>
            </a:p>
          </p:txBody>
        </p:sp>
        <p:cxnSp>
          <p:nvCxnSpPr>
            <p:cNvPr id="103" name="Conector angular 75">
              <a:extLst>
                <a:ext uri="{FF2B5EF4-FFF2-40B4-BE49-F238E27FC236}">
                  <a16:creationId xmlns:a16="http://schemas.microsoft.com/office/drawing/2014/main" xmlns="" id="{4A3FC597-F99C-9393-0B79-1F04462460E6}"/>
                </a:ext>
              </a:extLst>
            </p:cNvPr>
            <p:cNvCxnSpPr>
              <a:stCxn id="102" idx="3"/>
              <a:endCxn id="26" idx="0"/>
            </p:cNvCxnSpPr>
            <p:nvPr/>
          </p:nvCxnSpPr>
          <p:spPr>
            <a:xfrm>
              <a:off x="4732749" y="4874134"/>
              <a:ext cx="845195" cy="12186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Conector angular 76">
              <a:extLst>
                <a:ext uri="{FF2B5EF4-FFF2-40B4-BE49-F238E27FC236}">
                  <a16:creationId xmlns:a16="http://schemas.microsoft.com/office/drawing/2014/main" xmlns="" id="{4AA671AB-B846-97BE-CBE4-331B9A42E091}"/>
                </a:ext>
              </a:extLst>
            </p:cNvPr>
            <p:cNvCxnSpPr>
              <a:cxnSpLocks/>
              <a:stCxn id="26" idx="1"/>
              <a:endCxn id="23" idx="0"/>
            </p:cNvCxnSpPr>
            <p:nvPr/>
          </p:nvCxnSpPr>
          <p:spPr>
            <a:xfrm rot="10800000" flipV="1">
              <a:off x="2946341" y="5088269"/>
              <a:ext cx="2201271" cy="178524"/>
            </a:xfrm>
            <a:prstGeom prst="bentConnector2">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5" name="Conector angular 77">
              <a:extLst>
                <a:ext uri="{FF2B5EF4-FFF2-40B4-BE49-F238E27FC236}">
                  <a16:creationId xmlns:a16="http://schemas.microsoft.com/office/drawing/2014/main" xmlns="" id="{05DBB2E5-730A-F40D-922C-23B25C6A5104}"/>
                </a:ext>
              </a:extLst>
            </p:cNvPr>
            <p:cNvCxnSpPr>
              <a:stCxn id="99" idx="3"/>
              <a:endCxn id="102" idx="0"/>
            </p:cNvCxnSpPr>
            <p:nvPr/>
          </p:nvCxnSpPr>
          <p:spPr>
            <a:xfrm>
              <a:off x="4204123" y="4569566"/>
              <a:ext cx="199148" cy="212298"/>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ector angular 78">
              <a:extLst>
                <a:ext uri="{FF2B5EF4-FFF2-40B4-BE49-F238E27FC236}">
                  <a16:creationId xmlns:a16="http://schemas.microsoft.com/office/drawing/2014/main" xmlns="" id="{6B948831-5534-4B4C-835D-BC2E82F5ABB7}"/>
                </a:ext>
              </a:extLst>
            </p:cNvPr>
            <p:cNvCxnSpPr>
              <a:stCxn id="99" idx="1"/>
              <a:endCxn id="101" idx="0"/>
            </p:cNvCxnSpPr>
            <p:nvPr/>
          </p:nvCxnSpPr>
          <p:spPr>
            <a:xfrm rot="10800000" flipV="1">
              <a:off x="2781303" y="4569566"/>
              <a:ext cx="156274" cy="178121"/>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Conector angular 79">
              <a:extLst>
                <a:ext uri="{FF2B5EF4-FFF2-40B4-BE49-F238E27FC236}">
                  <a16:creationId xmlns:a16="http://schemas.microsoft.com/office/drawing/2014/main" xmlns="" id="{16E97A34-9262-8B1D-0EB9-988497A44A8C}"/>
                </a:ext>
              </a:extLst>
            </p:cNvPr>
            <p:cNvCxnSpPr>
              <a:stCxn id="101" idx="1"/>
              <a:endCxn id="96" idx="2"/>
            </p:cNvCxnSpPr>
            <p:nvPr/>
          </p:nvCxnSpPr>
          <p:spPr>
            <a:xfrm rot="10800000">
              <a:off x="2351977" y="4527294"/>
              <a:ext cx="144530" cy="312663"/>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Conector angular 80">
              <a:extLst>
                <a:ext uri="{FF2B5EF4-FFF2-40B4-BE49-F238E27FC236}">
                  <a16:creationId xmlns:a16="http://schemas.microsoft.com/office/drawing/2014/main" xmlns="" id="{0C573576-72DF-8AFE-8D1F-C96572B23269}"/>
                </a:ext>
              </a:extLst>
            </p:cNvPr>
            <p:cNvCxnSpPr>
              <a:stCxn id="82" idx="1"/>
              <a:endCxn id="93" idx="1"/>
            </p:cNvCxnSpPr>
            <p:nvPr/>
          </p:nvCxnSpPr>
          <p:spPr>
            <a:xfrm rot="10800000" flipV="1">
              <a:off x="4883895" y="5443977"/>
              <a:ext cx="271011" cy="523208"/>
            </a:xfrm>
            <a:prstGeom prst="bentConnector3">
              <a:avLst>
                <a:gd name="adj1" fmla="val 146818"/>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ector recto de flecha 108">
              <a:extLst>
                <a:ext uri="{FF2B5EF4-FFF2-40B4-BE49-F238E27FC236}">
                  <a16:creationId xmlns:a16="http://schemas.microsoft.com/office/drawing/2014/main" xmlns="" id="{7A714307-7CA8-E975-10A0-055AE2C6D90D}"/>
                </a:ext>
              </a:extLst>
            </p:cNvPr>
            <p:cNvCxnSpPr>
              <a:stCxn id="84" idx="1"/>
              <a:endCxn id="93" idx="3"/>
            </p:cNvCxnSpPr>
            <p:nvPr/>
          </p:nvCxnSpPr>
          <p:spPr>
            <a:xfrm flipH="1" flipV="1">
              <a:off x="6138605" y="5967185"/>
              <a:ext cx="179716" cy="6525"/>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ector recto de flecha 109">
              <a:extLst>
                <a:ext uri="{FF2B5EF4-FFF2-40B4-BE49-F238E27FC236}">
                  <a16:creationId xmlns:a16="http://schemas.microsoft.com/office/drawing/2014/main" xmlns="" id="{E0C00A17-E08E-473A-D9C7-6B48B885FDE5}"/>
                </a:ext>
              </a:extLst>
            </p:cNvPr>
            <p:cNvCxnSpPr>
              <a:stCxn id="93" idx="2"/>
              <a:endCxn id="31" idx="0"/>
            </p:cNvCxnSpPr>
            <p:nvPr/>
          </p:nvCxnSpPr>
          <p:spPr>
            <a:xfrm>
              <a:off x="5511250" y="6151725"/>
              <a:ext cx="8563" cy="181716"/>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Conector recto 110">
              <a:extLst>
                <a:ext uri="{FF2B5EF4-FFF2-40B4-BE49-F238E27FC236}">
                  <a16:creationId xmlns:a16="http://schemas.microsoft.com/office/drawing/2014/main" xmlns="" id="{86ADF3A8-7246-34D1-E313-837569D09BE7}"/>
                </a:ext>
              </a:extLst>
            </p:cNvPr>
            <p:cNvCxnSpPr>
              <a:stCxn id="66" idx="2"/>
              <a:endCxn id="68" idx="0"/>
            </p:cNvCxnSpPr>
            <p:nvPr/>
          </p:nvCxnSpPr>
          <p:spPr>
            <a:xfrm>
              <a:off x="5554928" y="1950949"/>
              <a:ext cx="6463" cy="109204"/>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13" name="Group 2">
            <a:extLst>
              <a:ext uri="{FF2B5EF4-FFF2-40B4-BE49-F238E27FC236}">
                <a16:creationId xmlns:a16="http://schemas.microsoft.com/office/drawing/2014/main" xmlns="" id="{C4CC9FC4-46F8-BD71-3AE7-58F1EE70E2A3}"/>
              </a:ext>
            </a:extLst>
          </p:cNvPr>
          <p:cNvGrpSpPr/>
          <p:nvPr/>
        </p:nvGrpSpPr>
        <p:grpSpPr>
          <a:xfrm>
            <a:off x="6397409" y="7556924"/>
            <a:ext cx="10861891" cy="2730076"/>
            <a:chOff x="0" y="0"/>
            <a:chExt cx="1363973" cy="342827"/>
          </a:xfrm>
        </p:grpSpPr>
        <p:sp>
          <p:nvSpPr>
            <p:cNvPr id="114" name="Freeform 3">
              <a:extLst>
                <a:ext uri="{FF2B5EF4-FFF2-40B4-BE49-F238E27FC236}">
                  <a16:creationId xmlns:a16="http://schemas.microsoft.com/office/drawing/2014/main" xmlns="" id="{773B22AB-2175-815D-D888-5F7661327383}"/>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5" name="TextBox 4">
              <a:extLst>
                <a:ext uri="{FF2B5EF4-FFF2-40B4-BE49-F238E27FC236}">
                  <a16:creationId xmlns:a16="http://schemas.microsoft.com/office/drawing/2014/main" xmlns="" id="{6A2E2A72-5B32-6C4F-9C75-4E9A43303C6B}"/>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18195552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504D92F-4390-2975-3049-3ED60D5EDE6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DB3B23C5-C7EC-4C5B-6CF7-E18BD52DB545}"/>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FDB658D0-077A-062D-2AD2-AB9F05E72EFA}"/>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885DEDC5-0B2B-B132-D13D-68B06695DA20}"/>
              </a:ext>
            </a:extLst>
          </p:cNvPr>
          <p:cNvSpPr txBox="1">
            <a:spLocks/>
          </p:cNvSpPr>
          <p:nvPr/>
        </p:nvSpPr>
        <p:spPr>
          <a:xfrm>
            <a:off x="457199" y="1409700"/>
            <a:ext cx="3810001" cy="17724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Autorización de funcionamiento de la concesión de beneficio y de su modificación</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C69893BF-3482-E862-1FEF-31E40282DD89}"/>
              </a:ext>
            </a:extLst>
          </p:cNvPr>
          <p:cNvSpPr txBox="1">
            <a:spLocks/>
          </p:cNvSpPr>
          <p:nvPr/>
        </p:nvSpPr>
        <p:spPr>
          <a:xfrm>
            <a:off x="457200" y="3182101"/>
            <a:ext cx="38100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85, 86 del RPM (D.S. 024-2020-EM)</a:t>
            </a:r>
          </a:p>
          <a:p>
            <a:r>
              <a:rPr lang="es-PE" sz="2400" b="1" dirty="0">
                <a:solidFill>
                  <a:schemeClr val="accent2">
                    <a:lumMod val="50000"/>
                  </a:schemeClr>
                </a:solidFill>
                <a:latin typeface="Inter" panose="020B0604020202020204" charset="0"/>
                <a:ea typeface="Inter" panose="020B0604020202020204" charset="0"/>
              </a:rPr>
              <a:t>El plazo máximo de evaluación: es de treinta (30)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positivo.</a:t>
            </a:r>
          </a:p>
        </p:txBody>
      </p:sp>
      <p:grpSp>
        <p:nvGrpSpPr>
          <p:cNvPr id="6" name="Grupo 5">
            <a:extLst>
              <a:ext uri="{FF2B5EF4-FFF2-40B4-BE49-F238E27FC236}">
                <a16:creationId xmlns:a16="http://schemas.microsoft.com/office/drawing/2014/main" xmlns="" id="{8D59D728-09DE-6E0E-F64C-204DD290A411}"/>
              </a:ext>
            </a:extLst>
          </p:cNvPr>
          <p:cNvGrpSpPr/>
          <p:nvPr/>
        </p:nvGrpSpPr>
        <p:grpSpPr>
          <a:xfrm>
            <a:off x="4800600" y="920291"/>
            <a:ext cx="11201400" cy="8446418"/>
            <a:chOff x="956603" y="725537"/>
            <a:chExt cx="5635904" cy="5486614"/>
          </a:xfrm>
        </p:grpSpPr>
        <p:cxnSp>
          <p:nvCxnSpPr>
            <p:cNvPr id="7" name="Conector recto de flecha 6">
              <a:extLst>
                <a:ext uri="{FF2B5EF4-FFF2-40B4-BE49-F238E27FC236}">
                  <a16:creationId xmlns:a16="http://schemas.microsoft.com/office/drawing/2014/main" xmlns="" id="{F2DB1571-B27E-4399-E31B-D0E773988331}"/>
                </a:ext>
              </a:extLst>
            </p:cNvPr>
            <p:cNvCxnSpPr/>
            <p:nvPr/>
          </p:nvCxnSpPr>
          <p:spPr>
            <a:xfrm>
              <a:off x="3040380" y="3097530"/>
              <a:ext cx="820" cy="569661"/>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73 Rectángulo">
              <a:extLst>
                <a:ext uri="{FF2B5EF4-FFF2-40B4-BE49-F238E27FC236}">
                  <a16:creationId xmlns:a16="http://schemas.microsoft.com/office/drawing/2014/main" xmlns="" id="{08CFB5A4-D9FB-C96F-B2C1-CDBC1B61B146}"/>
                </a:ext>
              </a:extLst>
            </p:cNvPr>
            <p:cNvSpPr/>
            <p:nvPr/>
          </p:nvSpPr>
          <p:spPr>
            <a:xfrm>
              <a:off x="3667730" y="2871722"/>
              <a:ext cx="1828800" cy="442913"/>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700" dirty="0">
                  <a:solidFill>
                    <a:srgbClr val="000000"/>
                  </a:solidFill>
                  <a:latin typeface="Inter" panose="020B0604020202020204" charset="0"/>
                  <a:ea typeface="Inter" panose="020B0604020202020204" charset="0"/>
                  <a:cs typeface="Arial" panose="020B0604020202020204" pitchFamily="34" charset="0"/>
                </a:rPr>
                <a:t>Inspección de Verificación</a:t>
              </a:r>
            </a:p>
          </p:txBody>
        </p:sp>
        <p:sp>
          <p:nvSpPr>
            <p:cNvPr id="36" name="92 Rectángulo">
              <a:extLst>
                <a:ext uri="{FF2B5EF4-FFF2-40B4-BE49-F238E27FC236}">
                  <a16:creationId xmlns:a16="http://schemas.microsoft.com/office/drawing/2014/main" xmlns="" id="{EC0750EB-5EEB-557D-9FA1-9A488527AEDA}"/>
                </a:ext>
              </a:extLst>
            </p:cNvPr>
            <p:cNvSpPr/>
            <p:nvPr/>
          </p:nvSpPr>
          <p:spPr>
            <a:xfrm>
              <a:off x="3556322" y="1712072"/>
              <a:ext cx="2051616" cy="635820"/>
            </a:xfrm>
            <a:prstGeom prst="rect">
              <a:avLst/>
            </a:prstGeom>
            <a:solidFill>
              <a:srgbClr val="FFFFCC"/>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700" dirty="0">
                  <a:solidFill>
                    <a:srgbClr val="000000"/>
                  </a:solidFill>
                  <a:latin typeface="Inter" panose="020B0604020202020204" charset="0"/>
                  <a:ea typeface="Inter" panose="020B0604020202020204" charset="0"/>
                  <a:cs typeface="Arial" panose="020B0604020202020204" pitchFamily="34" charset="0"/>
                </a:rPr>
                <a:t>El concesionario de beneficio comunica la culminación de construcción y solicita la inspección de Verificación</a:t>
              </a:r>
            </a:p>
          </p:txBody>
        </p:sp>
        <p:sp>
          <p:nvSpPr>
            <p:cNvPr id="37" name="98 Rectángulo">
              <a:extLst>
                <a:ext uri="{FF2B5EF4-FFF2-40B4-BE49-F238E27FC236}">
                  <a16:creationId xmlns:a16="http://schemas.microsoft.com/office/drawing/2014/main" xmlns="" id="{D6A4F526-BD8C-EE75-784C-C04443DB38D5}"/>
                </a:ext>
              </a:extLst>
            </p:cNvPr>
            <p:cNvSpPr/>
            <p:nvPr/>
          </p:nvSpPr>
          <p:spPr>
            <a:xfrm>
              <a:off x="3312929" y="5472428"/>
              <a:ext cx="2538399" cy="739723"/>
            </a:xfrm>
            <a:prstGeom prst="rect">
              <a:avLst/>
            </a:prstGeom>
            <a:ln w="12700">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700" dirty="0">
                  <a:solidFill>
                    <a:srgbClr val="000000"/>
                  </a:solidFill>
                  <a:latin typeface="Inter" panose="020B0604020202020204" charset="0"/>
                  <a:ea typeface="Inter" panose="020B0604020202020204" charset="0"/>
                  <a:cs typeface="Arial" panose="020B0604020202020204" pitchFamily="34" charset="0"/>
                </a:rPr>
                <a:t>Resolución Directoral que:</a:t>
              </a:r>
            </a:p>
            <a:p>
              <a:pPr marL="85725" indent="-85725">
                <a:buFontTx/>
                <a:buChar char="-"/>
                <a:defRPr/>
              </a:pPr>
              <a:r>
                <a:rPr lang="es-PE" sz="1700" dirty="0">
                  <a:solidFill>
                    <a:srgbClr val="000000"/>
                  </a:solidFill>
                  <a:latin typeface="Inter" panose="020B0604020202020204" charset="0"/>
                  <a:ea typeface="Inter" panose="020B0604020202020204" charset="0"/>
                  <a:cs typeface="Arial" panose="020B0604020202020204" pitchFamily="34" charset="0"/>
                </a:rPr>
                <a:t>Aprueba la Inspección de verificación</a:t>
              </a:r>
            </a:p>
            <a:p>
              <a:pPr marL="85725" indent="-85725">
                <a:buFontTx/>
                <a:buChar char="-"/>
                <a:defRPr/>
              </a:pPr>
              <a:r>
                <a:rPr lang="es-PE" sz="1700" dirty="0">
                  <a:solidFill>
                    <a:srgbClr val="000000"/>
                  </a:solidFill>
                  <a:latin typeface="Inter" panose="020B0604020202020204" charset="0"/>
                  <a:ea typeface="Inter" panose="020B0604020202020204" charset="0"/>
                  <a:cs typeface="Arial" panose="020B0604020202020204" pitchFamily="34" charset="0"/>
                </a:rPr>
                <a:t>Autoriza de funcionamiento de la Planta de beneficio y sus componentes </a:t>
              </a:r>
            </a:p>
          </p:txBody>
        </p:sp>
        <p:cxnSp>
          <p:nvCxnSpPr>
            <p:cNvPr id="38" name="79 Conector recto de flecha">
              <a:extLst>
                <a:ext uri="{FF2B5EF4-FFF2-40B4-BE49-F238E27FC236}">
                  <a16:creationId xmlns:a16="http://schemas.microsoft.com/office/drawing/2014/main" xmlns="" id="{91130D0D-A6C2-44FE-B628-6BE4AF1B4363}"/>
                </a:ext>
              </a:extLst>
            </p:cNvPr>
            <p:cNvCxnSpPr>
              <a:cxnSpLocks/>
              <a:stCxn id="36" idx="2"/>
              <a:endCxn id="35" idx="0"/>
            </p:cNvCxnSpPr>
            <p:nvPr/>
          </p:nvCxnSpPr>
          <p:spPr>
            <a:xfrm>
              <a:off x="4582130" y="2347892"/>
              <a:ext cx="0" cy="523830"/>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39" name="3 Elipse">
              <a:extLst>
                <a:ext uri="{FF2B5EF4-FFF2-40B4-BE49-F238E27FC236}">
                  <a16:creationId xmlns:a16="http://schemas.microsoft.com/office/drawing/2014/main" xmlns="" id="{4517D3D3-7456-F43D-41C6-A5CBC10A9DA9}"/>
                </a:ext>
              </a:extLst>
            </p:cNvPr>
            <p:cNvSpPr/>
            <p:nvPr/>
          </p:nvSpPr>
          <p:spPr>
            <a:xfrm>
              <a:off x="3777880" y="725537"/>
              <a:ext cx="1608499" cy="724198"/>
            </a:xfrm>
            <a:prstGeom prst="ellipse">
              <a:avLst/>
            </a:prstGeom>
            <a:solidFill>
              <a:srgbClr val="92D050"/>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700" dirty="0">
                  <a:solidFill>
                    <a:srgbClr val="000000"/>
                  </a:solidFill>
                  <a:latin typeface="Inter" panose="020B0604020202020204" charset="0"/>
                  <a:ea typeface="Inter" panose="020B0604020202020204" charset="0"/>
                  <a:cs typeface="Arial" panose="020B0604020202020204" pitchFamily="34" charset="0"/>
                </a:rPr>
                <a:t>SOLICITUD</a:t>
              </a:r>
            </a:p>
            <a:p>
              <a:pPr algn="ctr">
                <a:defRPr/>
              </a:pPr>
              <a:r>
                <a:rPr lang="es-PE" sz="17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a:defRPr/>
              </a:pPr>
              <a:r>
                <a:rPr lang="es-PE" sz="17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40" name="5 Conector recto de flecha">
              <a:extLst>
                <a:ext uri="{FF2B5EF4-FFF2-40B4-BE49-F238E27FC236}">
                  <a16:creationId xmlns:a16="http://schemas.microsoft.com/office/drawing/2014/main" xmlns="" id="{56D46437-94B2-81C4-6C01-FB1677004DB1}"/>
                </a:ext>
              </a:extLst>
            </p:cNvPr>
            <p:cNvCxnSpPr>
              <a:cxnSpLocks/>
              <a:stCxn id="39" idx="4"/>
              <a:endCxn id="36" idx="0"/>
            </p:cNvCxnSpPr>
            <p:nvPr/>
          </p:nvCxnSpPr>
          <p:spPr>
            <a:xfrm>
              <a:off x="4582129" y="1449735"/>
              <a:ext cx="1" cy="262337"/>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41" name="72 CuadroTexto">
              <a:extLst>
                <a:ext uri="{FF2B5EF4-FFF2-40B4-BE49-F238E27FC236}">
                  <a16:creationId xmlns:a16="http://schemas.microsoft.com/office/drawing/2014/main" xmlns="" id="{CEEF9A13-4B8C-80E5-C9FE-D6D79D92BE9E}"/>
                </a:ext>
              </a:extLst>
            </p:cNvPr>
            <p:cNvSpPr txBox="1">
              <a:spLocks noChangeArrowheads="1"/>
            </p:cNvSpPr>
            <p:nvPr/>
          </p:nvSpPr>
          <p:spPr bwMode="auto">
            <a:xfrm>
              <a:off x="5968813" y="2448241"/>
              <a:ext cx="612947" cy="229914"/>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700" b="1" dirty="0">
                  <a:solidFill>
                    <a:srgbClr val="000000"/>
                  </a:solidFill>
                  <a:latin typeface="Inter" panose="020B0604020202020204" charset="0"/>
                  <a:ea typeface="Inter" panose="020B0604020202020204" charset="0"/>
                  <a:cs typeface="Arial" panose="020B0604020202020204" pitchFamily="34" charset="0"/>
                </a:rPr>
                <a:t>15 dh</a:t>
              </a:r>
            </a:p>
          </p:txBody>
        </p:sp>
        <p:sp>
          <p:nvSpPr>
            <p:cNvPr id="42" name="72 CuadroTexto">
              <a:extLst>
                <a:ext uri="{FF2B5EF4-FFF2-40B4-BE49-F238E27FC236}">
                  <a16:creationId xmlns:a16="http://schemas.microsoft.com/office/drawing/2014/main" xmlns="" id="{26D72006-C63D-ABE5-8E58-8306B6FCAE13}"/>
                </a:ext>
              </a:extLst>
            </p:cNvPr>
            <p:cNvSpPr txBox="1">
              <a:spLocks noChangeArrowheads="1"/>
            </p:cNvSpPr>
            <p:nvPr/>
          </p:nvSpPr>
          <p:spPr bwMode="auto">
            <a:xfrm>
              <a:off x="5979560" y="4247173"/>
              <a:ext cx="612947" cy="229914"/>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700" b="1" dirty="0">
                  <a:solidFill>
                    <a:srgbClr val="000000"/>
                  </a:solidFill>
                  <a:latin typeface="Inter" panose="020B0604020202020204" charset="0"/>
                  <a:ea typeface="Inter" panose="020B0604020202020204" charset="0"/>
                  <a:cs typeface="Arial" panose="020B0604020202020204" pitchFamily="34" charset="0"/>
                </a:rPr>
                <a:t>15 dh</a:t>
              </a:r>
            </a:p>
          </p:txBody>
        </p:sp>
        <p:sp>
          <p:nvSpPr>
            <p:cNvPr id="43" name="56 Rectángulo">
              <a:extLst>
                <a:ext uri="{FF2B5EF4-FFF2-40B4-BE49-F238E27FC236}">
                  <a16:creationId xmlns:a16="http://schemas.microsoft.com/office/drawing/2014/main" xmlns="" id="{A9053A99-5CB2-6720-BE7D-99C9F4DD53CD}"/>
                </a:ext>
              </a:extLst>
            </p:cNvPr>
            <p:cNvSpPr/>
            <p:nvPr/>
          </p:nvSpPr>
          <p:spPr>
            <a:xfrm>
              <a:off x="956603" y="4357451"/>
              <a:ext cx="2199968" cy="717469"/>
            </a:xfrm>
            <a:prstGeom prst="rect">
              <a:avLst/>
            </a:prstGeom>
            <a:solidFill>
              <a:srgbClr val="FF9933"/>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buFont typeface="+mj-lt"/>
                <a:buAutoNum type="arabicPeriod" startAt="5"/>
                <a:defRPr/>
              </a:pPr>
              <a:r>
                <a:rPr lang="es-PE" sz="1700" dirty="0">
                  <a:solidFill>
                    <a:srgbClr val="000000"/>
                  </a:solidFill>
                  <a:latin typeface="Inter" panose="020B0604020202020204" charset="0"/>
                  <a:ea typeface="Inter" panose="020B0604020202020204" charset="0"/>
                  <a:cs typeface="Arial" panose="020B0604020202020204" pitchFamily="34" charset="0"/>
                </a:rPr>
                <a:t>Licencia de uso de agua para fines mineros</a:t>
              </a:r>
            </a:p>
            <a:p>
              <a:pPr marL="228600" indent="-228600">
                <a:buFont typeface="+mj-lt"/>
                <a:buAutoNum type="arabicPeriod" startAt="5"/>
                <a:defRPr/>
              </a:pPr>
              <a:r>
                <a:rPr lang="es-PE" sz="1700" dirty="0">
                  <a:solidFill>
                    <a:srgbClr val="000000"/>
                  </a:solidFill>
                  <a:latin typeface="Inter" panose="020B0604020202020204" charset="0"/>
                  <a:ea typeface="Inter" panose="020B0604020202020204" charset="0"/>
                  <a:cs typeface="Arial" panose="020B0604020202020204" pitchFamily="34" charset="0"/>
                </a:rPr>
                <a:t>Autorización de vertimiento de aguas residuales tratadas </a:t>
              </a:r>
            </a:p>
          </p:txBody>
        </p:sp>
        <p:sp>
          <p:nvSpPr>
            <p:cNvPr id="44" name="56 Rectángulo">
              <a:extLst>
                <a:ext uri="{FF2B5EF4-FFF2-40B4-BE49-F238E27FC236}">
                  <a16:creationId xmlns:a16="http://schemas.microsoft.com/office/drawing/2014/main" xmlns="" id="{BE4D6712-C8B2-1F0A-AFE0-8FBF86A23D48}"/>
                </a:ext>
              </a:extLst>
            </p:cNvPr>
            <p:cNvSpPr/>
            <p:nvPr/>
          </p:nvSpPr>
          <p:spPr>
            <a:xfrm>
              <a:off x="3876794" y="3659492"/>
              <a:ext cx="1410672" cy="352563"/>
            </a:xfrm>
            <a:prstGeom prst="rect">
              <a:avLst/>
            </a:prstGeom>
            <a:solidFill>
              <a:srgbClr val="FFFFCC"/>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700" dirty="0">
                  <a:solidFill>
                    <a:srgbClr val="000000"/>
                  </a:solidFill>
                  <a:latin typeface="Inter" panose="020B0604020202020204" charset="0"/>
                  <a:ea typeface="Inter" panose="020B0604020202020204" charset="0"/>
                  <a:cs typeface="Arial" panose="020B0604020202020204" pitchFamily="34" charset="0"/>
                </a:rPr>
                <a:t>Acta de Inspección favorable</a:t>
              </a:r>
            </a:p>
          </p:txBody>
        </p:sp>
        <p:sp>
          <p:nvSpPr>
            <p:cNvPr id="45" name="56 Rectángulo">
              <a:extLst>
                <a:ext uri="{FF2B5EF4-FFF2-40B4-BE49-F238E27FC236}">
                  <a16:creationId xmlns:a16="http://schemas.microsoft.com/office/drawing/2014/main" xmlns="" id="{D325ED85-5599-A058-1AFD-484A0AB7E62B}"/>
                </a:ext>
              </a:extLst>
            </p:cNvPr>
            <p:cNvSpPr/>
            <p:nvPr/>
          </p:nvSpPr>
          <p:spPr>
            <a:xfrm>
              <a:off x="956603" y="1369464"/>
              <a:ext cx="2199968" cy="1315403"/>
            </a:xfrm>
            <a:prstGeom prst="rect">
              <a:avLst/>
            </a:prstGeom>
            <a:solidFill>
              <a:srgbClr val="FF9933"/>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sz="1700" dirty="0">
                  <a:solidFill>
                    <a:srgbClr val="000000"/>
                  </a:solidFill>
                  <a:latin typeface="Inter" panose="020B0604020202020204" charset="0"/>
                  <a:ea typeface="Inter" panose="020B0604020202020204" charset="0"/>
                  <a:cs typeface="Arial" panose="020B0604020202020204" pitchFamily="34" charset="0"/>
                </a:rPr>
                <a:t>Certificado de aseguramiento de calidad (CQA)</a:t>
              </a:r>
            </a:p>
            <a:p>
              <a:pPr marL="228600" indent="-228600" eaLnBrk="1" hangingPunct="1">
                <a:buFont typeface="+mj-lt"/>
                <a:buAutoNum type="arabicPeriod"/>
                <a:defRPr/>
              </a:pPr>
              <a:r>
                <a:rPr lang="es-PE" sz="1700" dirty="0">
                  <a:solidFill>
                    <a:srgbClr val="000000"/>
                  </a:solidFill>
                  <a:latin typeface="Inter" panose="020B0604020202020204" charset="0"/>
                  <a:ea typeface="Inter" panose="020B0604020202020204" charset="0"/>
                  <a:cs typeface="Arial" panose="020B0604020202020204" pitchFamily="34" charset="0"/>
                </a:rPr>
                <a:t>Informe Final de obra</a:t>
              </a:r>
            </a:p>
            <a:p>
              <a:pPr marL="228600" indent="-228600" eaLnBrk="1" hangingPunct="1">
                <a:buFont typeface="+mj-lt"/>
                <a:buAutoNum type="arabicPeriod"/>
                <a:defRPr/>
              </a:pPr>
              <a:r>
                <a:rPr lang="es-PE" sz="1700" dirty="0">
                  <a:solidFill>
                    <a:srgbClr val="000000"/>
                  </a:solidFill>
                  <a:latin typeface="Inter" panose="020B0604020202020204" charset="0"/>
                  <a:ea typeface="Inter" panose="020B0604020202020204" charset="0"/>
                  <a:cs typeface="Arial" panose="020B0604020202020204" pitchFamily="34" charset="0"/>
                </a:rPr>
                <a:t>Planos de obra terminada (as built)</a:t>
              </a:r>
            </a:p>
            <a:p>
              <a:pPr marL="228600" indent="-228600">
                <a:buFont typeface="+mj-lt"/>
                <a:buAutoNum type="arabicPeriod"/>
                <a:defRPr/>
              </a:pPr>
              <a:r>
                <a:rPr lang="es-PE" sz="1700" dirty="0">
                  <a:solidFill>
                    <a:srgbClr val="000000"/>
                  </a:solidFill>
                  <a:latin typeface="Inter" panose="020B0604020202020204" charset="0"/>
                  <a:ea typeface="Inter" panose="020B0604020202020204" charset="0"/>
                  <a:cs typeface="Arial" panose="020B0604020202020204" pitchFamily="34" charset="0"/>
                </a:rPr>
                <a:t>Plan de cierre de minas o cargo de presentación del Plan adjuntando garantía preliminar</a:t>
              </a:r>
            </a:p>
          </p:txBody>
        </p:sp>
        <p:cxnSp>
          <p:nvCxnSpPr>
            <p:cNvPr id="46" name="79 Conector recto de flecha">
              <a:extLst>
                <a:ext uri="{FF2B5EF4-FFF2-40B4-BE49-F238E27FC236}">
                  <a16:creationId xmlns:a16="http://schemas.microsoft.com/office/drawing/2014/main" xmlns="" id="{52D3E490-A3CC-906E-3909-C69D18A11B42}"/>
                </a:ext>
              </a:extLst>
            </p:cNvPr>
            <p:cNvCxnSpPr>
              <a:cxnSpLocks/>
              <a:stCxn id="44" idx="2"/>
              <a:endCxn id="51" idx="0"/>
            </p:cNvCxnSpPr>
            <p:nvPr/>
          </p:nvCxnSpPr>
          <p:spPr>
            <a:xfrm>
              <a:off x="4582130" y="4012055"/>
              <a:ext cx="2" cy="483985"/>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47" name="Conector: angular 416">
              <a:extLst>
                <a:ext uri="{FF2B5EF4-FFF2-40B4-BE49-F238E27FC236}">
                  <a16:creationId xmlns:a16="http://schemas.microsoft.com/office/drawing/2014/main" xmlns="" id="{4D8749DF-61B7-FADE-4F36-539DD41E045C}"/>
                </a:ext>
              </a:extLst>
            </p:cNvPr>
            <p:cNvCxnSpPr>
              <a:cxnSpLocks/>
              <a:stCxn id="41" idx="0"/>
              <a:endCxn id="36" idx="3"/>
            </p:cNvCxnSpPr>
            <p:nvPr/>
          </p:nvCxnSpPr>
          <p:spPr>
            <a:xfrm rot="16200000" flipV="1">
              <a:off x="5732483" y="1905437"/>
              <a:ext cx="418259" cy="667349"/>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ector: angular 419">
              <a:extLst>
                <a:ext uri="{FF2B5EF4-FFF2-40B4-BE49-F238E27FC236}">
                  <a16:creationId xmlns:a16="http://schemas.microsoft.com/office/drawing/2014/main" xmlns="" id="{02F9260E-ABDE-76B6-78BA-9D215A1EB410}"/>
                </a:ext>
              </a:extLst>
            </p:cNvPr>
            <p:cNvCxnSpPr>
              <a:stCxn id="41" idx="2"/>
              <a:endCxn id="35" idx="3"/>
            </p:cNvCxnSpPr>
            <p:nvPr/>
          </p:nvCxnSpPr>
          <p:spPr>
            <a:xfrm rot="5400000">
              <a:off x="5678397" y="2496288"/>
              <a:ext cx="415024" cy="778757"/>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ector: angular 421">
              <a:extLst>
                <a:ext uri="{FF2B5EF4-FFF2-40B4-BE49-F238E27FC236}">
                  <a16:creationId xmlns:a16="http://schemas.microsoft.com/office/drawing/2014/main" xmlns="" id="{D5D2400B-4EBA-CFFA-004C-B43665CB6BBD}"/>
                </a:ext>
              </a:extLst>
            </p:cNvPr>
            <p:cNvCxnSpPr>
              <a:cxnSpLocks/>
              <a:stCxn id="42" idx="0"/>
              <a:endCxn id="35" idx="3"/>
            </p:cNvCxnSpPr>
            <p:nvPr/>
          </p:nvCxnSpPr>
          <p:spPr>
            <a:xfrm rot="16200000" flipV="1">
              <a:off x="5314284" y="3275424"/>
              <a:ext cx="1153995" cy="789504"/>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angular 424">
              <a:extLst>
                <a:ext uri="{FF2B5EF4-FFF2-40B4-BE49-F238E27FC236}">
                  <a16:creationId xmlns:a16="http://schemas.microsoft.com/office/drawing/2014/main" xmlns="" id="{20369EAC-6297-080F-EF9B-C8276B64B3C9}"/>
                </a:ext>
              </a:extLst>
            </p:cNvPr>
            <p:cNvCxnSpPr>
              <a:stCxn id="42" idx="2"/>
              <a:endCxn id="37" idx="3"/>
            </p:cNvCxnSpPr>
            <p:nvPr/>
          </p:nvCxnSpPr>
          <p:spPr>
            <a:xfrm rot="5400000">
              <a:off x="5386080" y="4942336"/>
              <a:ext cx="1365203" cy="434706"/>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56 Rectángulo">
              <a:extLst>
                <a:ext uri="{FF2B5EF4-FFF2-40B4-BE49-F238E27FC236}">
                  <a16:creationId xmlns:a16="http://schemas.microsoft.com/office/drawing/2014/main" xmlns="" id="{6EAB8BFA-ABB6-ECCE-EC5A-A9B8CB8DA6E4}"/>
                </a:ext>
              </a:extLst>
            </p:cNvPr>
            <p:cNvSpPr/>
            <p:nvPr/>
          </p:nvSpPr>
          <p:spPr>
            <a:xfrm>
              <a:off x="3975707" y="4496040"/>
              <a:ext cx="1212849" cy="430212"/>
            </a:xfrm>
            <a:prstGeom prst="rect">
              <a:avLst/>
            </a:prstGeom>
            <a:solidFill>
              <a:srgbClr val="FFFFCC"/>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700" dirty="0">
                  <a:solidFill>
                    <a:srgbClr val="000000"/>
                  </a:solidFill>
                  <a:latin typeface="Inter" panose="020B0604020202020204" charset="0"/>
                  <a:ea typeface="Inter" panose="020B0604020202020204" charset="0"/>
                  <a:cs typeface="Arial" panose="020B0604020202020204" pitchFamily="34" charset="0"/>
                </a:rPr>
                <a:t>Informe Técnico  favorable </a:t>
              </a:r>
            </a:p>
          </p:txBody>
        </p:sp>
        <p:cxnSp>
          <p:nvCxnSpPr>
            <p:cNvPr id="52" name="79 Conector recto de flecha">
              <a:extLst>
                <a:ext uri="{FF2B5EF4-FFF2-40B4-BE49-F238E27FC236}">
                  <a16:creationId xmlns:a16="http://schemas.microsoft.com/office/drawing/2014/main" xmlns="" id="{BBFEFC81-0422-3382-A9D0-85E6D4E6F11B}"/>
                </a:ext>
              </a:extLst>
            </p:cNvPr>
            <p:cNvCxnSpPr>
              <a:cxnSpLocks/>
              <a:stCxn id="51" idx="2"/>
              <a:endCxn id="37" idx="0"/>
            </p:cNvCxnSpPr>
            <p:nvPr/>
          </p:nvCxnSpPr>
          <p:spPr>
            <a:xfrm flipH="1">
              <a:off x="4582128" y="4926252"/>
              <a:ext cx="3" cy="546176"/>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53" name="79 Conector recto de flecha">
              <a:extLst>
                <a:ext uri="{FF2B5EF4-FFF2-40B4-BE49-F238E27FC236}">
                  <a16:creationId xmlns:a16="http://schemas.microsoft.com/office/drawing/2014/main" xmlns="" id="{F532AFA8-E3E4-AA5F-A245-F9880FE9C360}"/>
                </a:ext>
              </a:extLst>
            </p:cNvPr>
            <p:cNvCxnSpPr>
              <a:cxnSpLocks/>
              <a:stCxn id="35" idx="2"/>
              <a:endCxn id="44" idx="0"/>
            </p:cNvCxnSpPr>
            <p:nvPr/>
          </p:nvCxnSpPr>
          <p:spPr>
            <a:xfrm>
              <a:off x="4582130" y="3314635"/>
              <a:ext cx="0" cy="344857"/>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54" name="Conector recto 53">
              <a:extLst>
                <a:ext uri="{FF2B5EF4-FFF2-40B4-BE49-F238E27FC236}">
                  <a16:creationId xmlns:a16="http://schemas.microsoft.com/office/drawing/2014/main" xmlns="" id="{EFB81F0F-9849-EA5D-57BF-7422B75E455B}"/>
                </a:ext>
              </a:extLst>
            </p:cNvPr>
            <p:cNvCxnSpPr>
              <a:stCxn id="45" idx="3"/>
              <a:endCxn id="36" idx="1"/>
            </p:cNvCxnSpPr>
            <p:nvPr/>
          </p:nvCxnSpPr>
          <p:spPr>
            <a:xfrm>
              <a:off x="3156571" y="2027166"/>
              <a:ext cx="399752" cy="2816"/>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xmlns="" id="{B2A9B272-F08D-AFDD-6C05-595E9775D257}"/>
                </a:ext>
              </a:extLst>
            </p:cNvPr>
            <p:cNvCxnSpPr>
              <a:stCxn id="43" idx="3"/>
              <a:endCxn id="51" idx="1"/>
            </p:cNvCxnSpPr>
            <p:nvPr/>
          </p:nvCxnSpPr>
          <p:spPr>
            <a:xfrm flipV="1">
              <a:off x="3156571" y="4711146"/>
              <a:ext cx="819136" cy="504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xmlns="" id="{AEA85554-79D3-AD4E-3FEA-75C922EA08D9}"/>
                </a:ext>
              </a:extLst>
            </p:cNvPr>
            <p:cNvCxnSpPr>
              <a:stCxn id="35" idx="1"/>
            </p:cNvCxnSpPr>
            <p:nvPr/>
          </p:nvCxnSpPr>
          <p:spPr>
            <a:xfrm flipH="1" flipV="1">
              <a:off x="3040380" y="3093178"/>
              <a:ext cx="627350" cy="1"/>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xmlns="" id="{67A7211E-E016-C352-30C7-9D84B36B375F}"/>
                </a:ext>
              </a:extLst>
            </p:cNvPr>
            <p:cNvCxnSpPr>
              <a:endCxn id="44" idx="1"/>
            </p:cNvCxnSpPr>
            <p:nvPr/>
          </p:nvCxnSpPr>
          <p:spPr>
            <a:xfrm flipV="1">
              <a:off x="3457409" y="3835774"/>
              <a:ext cx="419385" cy="6030"/>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56 Rectángulo">
              <a:extLst>
                <a:ext uri="{FF2B5EF4-FFF2-40B4-BE49-F238E27FC236}">
                  <a16:creationId xmlns:a16="http://schemas.microsoft.com/office/drawing/2014/main" xmlns="" id="{E510530C-382F-029D-8B24-70F8B71435D7}"/>
                </a:ext>
              </a:extLst>
            </p:cNvPr>
            <p:cNvSpPr/>
            <p:nvPr/>
          </p:nvSpPr>
          <p:spPr>
            <a:xfrm>
              <a:off x="3975707" y="4483269"/>
              <a:ext cx="1212849" cy="430212"/>
            </a:xfrm>
            <a:prstGeom prst="rect">
              <a:avLst/>
            </a:prstGeom>
            <a:solidFill>
              <a:srgbClr val="FFFFCC"/>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700" dirty="0">
                  <a:solidFill>
                    <a:srgbClr val="000000"/>
                  </a:solidFill>
                  <a:latin typeface="Inter" panose="020B0604020202020204" charset="0"/>
                  <a:ea typeface="Inter" panose="020B0604020202020204" charset="0"/>
                  <a:cs typeface="Arial" panose="020B0604020202020204" pitchFamily="34" charset="0"/>
                </a:rPr>
                <a:t>Informe Técnico  favorable </a:t>
              </a:r>
            </a:p>
          </p:txBody>
        </p:sp>
        <p:sp>
          <p:nvSpPr>
            <p:cNvPr id="59" name="25 Rectángulo">
              <a:extLst>
                <a:ext uri="{FF2B5EF4-FFF2-40B4-BE49-F238E27FC236}">
                  <a16:creationId xmlns:a16="http://schemas.microsoft.com/office/drawing/2014/main" xmlns="" id="{41258219-C94D-87A8-9445-97EA44B22B3F}"/>
                </a:ext>
              </a:extLst>
            </p:cNvPr>
            <p:cNvSpPr/>
            <p:nvPr/>
          </p:nvSpPr>
          <p:spPr>
            <a:xfrm>
              <a:off x="2293035" y="3678621"/>
              <a:ext cx="1250266" cy="283900"/>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eaLnBrk="1" hangingPunct="1">
                <a:defRPr/>
              </a:pPr>
              <a:r>
                <a:rPr lang="es-PE" sz="1700" dirty="0">
                  <a:solidFill>
                    <a:srgbClr val="000000"/>
                  </a:solidFill>
                  <a:latin typeface="Inter" panose="020B0604020202020204" charset="0"/>
                  <a:ea typeface="Inter" panose="020B0604020202020204" charset="0"/>
                  <a:cs typeface="Arial" panose="020B0604020202020204" pitchFamily="34" charset="0"/>
                </a:rPr>
                <a:t>Levantamiento de observaciones</a:t>
              </a:r>
            </a:p>
          </p:txBody>
        </p:sp>
        <p:sp>
          <p:nvSpPr>
            <p:cNvPr id="60" name="72 CuadroTexto">
              <a:extLst>
                <a:ext uri="{FF2B5EF4-FFF2-40B4-BE49-F238E27FC236}">
                  <a16:creationId xmlns:a16="http://schemas.microsoft.com/office/drawing/2014/main" xmlns="" id="{DEEF5BF3-FCFF-40DD-3846-3BD43E708A6E}"/>
                </a:ext>
              </a:extLst>
            </p:cNvPr>
            <p:cNvSpPr txBox="1">
              <a:spLocks noChangeArrowheads="1"/>
            </p:cNvSpPr>
            <p:nvPr/>
          </p:nvSpPr>
          <p:spPr bwMode="auto">
            <a:xfrm>
              <a:off x="2762842" y="3228076"/>
              <a:ext cx="543160" cy="229914"/>
            </a:xfrm>
            <a:prstGeom prst="rect">
              <a:avLst/>
            </a:prstGeom>
            <a:solidFill>
              <a:schemeClr val="bg1"/>
            </a:solidFill>
            <a:ln w="12700">
              <a:solidFill>
                <a:schemeClr val="accent2">
                  <a:lumMod val="50000"/>
                </a:schemeClr>
              </a:solidFill>
            </a:ln>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700" b="1" dirty="0">
                  <a:solidFill>
                    <a:srgbClr val="000000"/>
                  </a:solidFill>
                  <a:latin typeface="Inter" panose="020B0604020202020204" charset="0"/>
                  <a:ea typeface="Inter" panose="020B0604020202020204" charset="0"/>
                  <a:cs typeface="Arial" panose="020B0604020202020204" pitchFamily="34" charset="0"/>
                </a:rPr>
                <a:t>10 dh</a:t>
              </a:r>
            </a:p>
          </p:txBody>
        </p:sp>
      </p:grpSp>
      <p:grpSp>
        <p:nvGrpSpPr>
          <p:cNvPr id="113" name="Group 2">
            <a:extLst>
              <a:ext uri="{FF2B5EF4-FFF2-40B4-BE49-F238E27FC236}">
                <a16:creationId xmlns:a16="http://schemas.microsoft.com/office/drawing/2014/main" xmlns="" id="{96408347-8C04-F098-650D-37C98AA66851}"/>
              </a:ext>
            </a:extLst>
          </p:cNvPr>
          <p:cNvGrpSpPr/>
          <p:nvPr/>
        </p:nvGrpSpPr>
        <p:grpSpPr>
          <a:xfrm>
            <a:off x="6397409" y="7556924"/>
            <a:ext cx="10861891" cy="2730076"/>
            <a:chOff x="0" y="0"/>
            <a:chExt cx="1363973" cy="342827"/>
          </a:xfrm>
        </p:grpSpPr>
        <p:sp>
          <p:nvSpPr>
            <p:cNvPr id="114" name="Freeform 3">
              <a:extLst>
                <a:ext uri="{FF2B5EF4-FFF2-40B4-BE49-F238E27FC236}">
                  <a16:creationId xmlns:a16="http://schemas.microsoft.com/office/drawing/2014/main" xmlns="" id="{4CAE73FB-F7B5-3D56-2F27-1C0CBB990EB4}"/>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5" name="TextBox 4">
              <a:extLst>
                <a:ext uri="{FF2B5EF4-FFF2-40B4-BE49-F238E27FC236}">
                  <a16:creationId xmlns:a16="http://schemas.microsoft.com/office/drawing/2014/main" xmlns="" id="{CF74F1AB-FA4B-8334-6D86-CA996BF317E1}"/>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13654537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AECF38-90DA-B9C2-2D20-5F6DF4531E54}"/>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170804E0-9B4B-92A2-C66E-5041D5FBA890}"/>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57E05AB6-2F73-AE59-1DB8-D10C99D54DBC}"/>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7AB62042-353C-F08F-1727-1DADD602F59A}"/>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9F66D1C4-4D25-8CDA-F051-CF220F5DC228}"/>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2" name="TextBox 8">
            <a:extLst>
              <a:ext uri="{FF2B5EF4-FFF2-40B4-BE49-F238E27FC236}">
                <a16:creationId xmlns:a16="http://schemas.microsoft.com/office/drawing/2014/main" xmlns="" id="{493A2B8F-748A-9A2A-14B0-FC7C68572CB5}"/>
              </a:ext>
            </a:extLst>
          </p:cNvPr>
          <p:cNvSpPr txBox="1"/>
          <p:nvPr/>
        </p:nvSpPr>
        <p:spPr>
          <a:xfrm>
            <a:off x="784611" y="3166856"/>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sym typeface="Futura Ultra-Bold"/>
              </a:rPr>
              <a:t>5.2 MODIFICACIÓN DE CONCESIÓN DE BENEFICIO</a:t>
            </a:r>
          </a:p>
        </p:txBody>
      </p:sp>
      <p:sp>
        <p:nvSpPr>
          <p:cNvPr id="8" name="CuadroTexto 7">
            <a:extLst>
              <a:ext uri="{FF2B5EF4-FFF2-40B4-BE49-F238E27FC236}">
                <a16:creationId xmlns:a16="http://schemas.microsoft.com/office/drawing/2014/main" xmlns="" id="{22449FAB-6CF6-5AFE-F93E-6B259CCEF67C}"/>
              </a:ext>
            </a:extLst>
          </p:cNvPr>
          <p:cNvSpPr txBox="1"/>
          <p:nvPr/>
        </p:nvSpPr>
        <p:spPr>
          <a:xfrm>
            <a:off x="784611" y="4414660"/>
            <a:ext cx="14318267" cy="4524315"/>
          </a:xfrm>
          <a:prstGeom prst="rect">
            <a:avLst/>
          </a:prstGeom>
          <a:noFill/>
        </p:spPr>
        <p:txBody>
          <a:bodyPr wrap="square">
            <a:spAutoFit/>
          </a:bodyPr>
          <a:lstStyle/>
          <a:p>
            <a:r>
              <a:rPr lang="es-PE" sz="2400" dirty="0">
                <a:latin typeface="Inter" panose="020B0604020202020204" charset="0"/>
                <a:ea typeface="Inter" panose="020B0604020202020204" charset="0"/>
              </a:rPr>
              <a:t>87.1 El titular de la actividad minera puede iniciar un procedimiento de modificación de concesión de beneficio en los siguientes casos:</a:t>
            </a:r>
          </a:p>
          <a:p>
            <a:pPr marL="542925" indent="-271463">
              <a:buNone/>
            </a:pPr>
            <a:r>
              <a:rPr lang="es-PE" sz="2400" dirty="0">
                <a:latin typeface="Inter" panose="020B0604020202020204" charset="0"/>
                <a:ea typeface="Inter" panose="020B0604020202020204" charset="0"/>
              </a:rPr>
              <a:t>1. </a:t>
            </a:r>
            <a:r>
              <a:rPr lang="es-PE" sz="2400" dirty="0">
                <a:solidFill>
                  <a:srgbClr val="C00000"/>
                </a:solidFill>
                <a:latin typeface="Inter" panose="020B0604020202020204" charset="0"/>
                <a:ea typeface="Inter" panose="020B0604020202020204" charset="0"/>
              </a:rPr>
              <a:t>Para la instalación y/o construcción de instalaciones adicionales, </a:t>
            </a:r>
            <a:r>
              <a:rPr lang="es-PE" sz="2400" dirty="0">
                <a:latin typeface="Inter" panose="020B0604020202020204" charset="0"/>
                <a:ea typeface="Inter" panose="020B0604020202020204" charset="0"/>
              </a:rPr>
              <a:t>que incluyen depósitos de relaves y/o plataformas o pads de lixiviación y sus recrecimientos, </a:t>
            </a:r>
            <a:r>
              <a:rPr lang="es-PE" sz="2400" dirty="0">
                <a:solidFill>
                  <a:srgbClr val="C00000"/>
                </a:solidFill>
                <a:latin typeface="Inter" panose="020B0604020202020204" charset="0"/>
                <a:ea typeface="Inter" panose="020B0604020202020204" charset="0"/>
              </a:rPr>
              <a:t>con ampliación de la capacidad instalada</a:t>
            </a:r>
            <a:r>
              <a:rPr lang="es-PE" sz="2400" dirty="0">
                <a:latin typeface="Inter" panose="020B0604020202020204" charset="0"/>
                <a:ea typeface="Inter" panose="020B0604020202020204" charset="0"/>
              </a:rPr>
              <a:t> y la </a:t>
            </a:r>
            <a:r>
              <a:rPr lang="es-PE" sz="2400" dirty="0">
                <a:solidFill>
                  <a:srgbClr val="C00000"/>
                </a:solidFill>
                <a:latin typeface="Inter" panose="020B0604020202020204" charset="0"/>
                <a:ea typeface="Inter" panose="020B0604020202020204" charset="0"/>
              </a:rPr>
              <a:t>ampliación de área de la concesión de beneficio;</a:t>
            </a:r>
          </a:p>
          <a:p>
            <a:pPr marL="542925" indent="-271463">
              <a:buNone/>
            </a:pPr>
            <a:r>
              <a:rPr lang="es-PE" sz="2400" dirty="0">
                <a:latin typeface="Inter" panose="020B0604020202020204" charset="0"/>
                <a:ea typeface="Inter" panose="020B0604020202020204" charset="0"/>
              </a:rPr>
              <a:t>2. </a:t>
            </a:r>
            <a:r>
              <a:rPr lang="es-PE" sz="2400" dirty="0">
                <a:solidFill>
                  <a:srgbClr val="C00000"/>
                </a:solidFill>
                <a:latin typeface="Inter" panose="020B0604020202020204" charset="0"/>
                <a:ea typeface="Inter" panose="020B0604020202020204" charset="0"/>
              </a:rPr>
              <a:t>Para la instalación y/o construcción de instalaciones adicionales, </a:t>
            </a:r>
            <a:r>
              <a:rPr lang="es-PE" sz="2400" dirty="0">
                <a:latin typeface="Inter" panose="020B0604020202020204" charset="0"/>
                <a:ea typeface="Inter" panose="020B0604020202020204" charset="0"/>
              </a:rPr>
              <a:t>que incluyen depósitos de relaves y/o plataformas o pads de lixiviación y sus recrecimientos, y/o mejora de procesos </a:t>
            </a:r>
            <a:r>
              <a:rPr lang="es-PE" sz="2400" dirty="0">
                <a:solidFill>
                  <a:srgbClr val="C00000"/>
                </a:solidFill>
                <a:latin typeface="Inter" panose="020B0604020202020204" charset="0"/>
                <a:ea typeface="Inter" panose="020B0604020202020204" charset="0"/>
              </a:rPr>
              <a:t>con ampliación de la capacidad instalada </a:t>
            </a:r>
            <a:r>
              <a:rPr lang="es-PE" sz="2400" dirty="0">
                <a:latin typeface="Inter" panose="020B0604020202020204" charset="0"/>
                <a:ea typeface="Inter" panose="020B0604020202020204" charset="0"/>
              </a:rPr>
              <a:t>y </a:t>
            </a:r>
            <a:r>
              <a:rPr lang="es-PE" sz="2400" dirty="0">
                <a:solidFill>
                  <a:srgbClr val="C00000"/>
                </a:solidFill>
                <a:latin typeface="Inter" panose="020B0604020202020204" charset="0"/>
                <a:ea typeface="Inter" panose="020B0604020202020204" charset="0"/>
              </a:rPr>
              <a:t>sin ampliación de área </a:t>
            </a:r>
            <a:r>
              <a:rPr lang="es-PE" sz="2400" dirty="0">
                <a:latin typeface="Inter" panose="020B0604020202020204" charset="0"/>
                <a:ea typeface="Inter" panose="020B0604020202020204" charset="0"/>
              </a:rPr>
              <a:t>aprobada;</a:t>
            </a:r>
          </a:p>
          <a:p>
            <a:pPr marL="542925" indent="-271463">
              <a:buNone/>
            </a:pPr>
            <a:r>
              <a:rPr lang="es-PE" sz="2400" dirty="0">
                <a:latin typeface="Inter" panose="020B0604020202020204" charset="0"/>
                <a:ea typeface="Inter" panose="020B0604020202020204" charset="0"/>
              </a:rPr>
              <a:t>3. </a:t>
            </a:r>
            <a:r>
              <a:rPr lang="es-PE" sz="2400" dirty="0">
                <a:solidFill>
                  <a:srgbClr val="C00000"/>
                </a:solidFill>
                <a:latin typeface="Inter" panose="020B0604020202020204" charset="0"/>
                <a:ea typeface="Inter" panose="020B0604020202020204" charset="0"/>
              </a:rPr>
              <a:t>Para la instalación y/o construcción de instalaciones adicionales,</a:t>
            </a:r>
            <a:r>
              <a:rPr lang="es-PE" sz="2400" dirty="0">
                <a:latin typeface="Inter" panose="020B0604020202020204" charset="0"/>
                <a:ea typeface="Inter" panose="020B0604020202020204" charset="0"/>
              </a:rPr>
              <a:t> que incluyan depósitos de relaves y/o plataformas o pads de lixiviación y sus recrecimientos, y/o mejoras de procesos </a:t>
            </a:r>
            <a:r>
              <a:rPr lang="es-PE" sz="2400" dirty="0">
                <a:solidFill>
                  <a:srgbClr val="C00000"/>
                </a:solidFill>
                <a:latin typeface="Inter" panose="020B0604020202020204" charset="0"/>
                <a:ea typeface="Inter" panose="020B0604020202020204" charset="0"/>
              </a:rPr>
              <a:t>sin modificar la capacidad instalada aprobada </a:t>
            </a:r>
            <a:r>
              <a:rPr lang="es-PE" sz="2400" dirty="0">
                <a:latin typeface="Inter" panose="020B0604020202020204" charset="0"/>
                <a:ea typeface="Inter" panose="020B0604020202020204" charset="0"/>
              </a:rPr>
              <a:t>y</a:t>
            </a:r>
            <a:r>
              <a:rPr lang="es-PE" sz="2400" dirty="0">
                <a:solidFill>
                  <a:srgbClr val="C00000"/>
                </a:solidFill>
                <a:latin typeface="Inter" panose="020B0604020202020204" charset="0"/>
                <a:ea typeface="Inter" panose="020B0604020202020204" charset="0"/>
              </a:rPr>
              <a:t> sin ampliación de área </a:t>
            </a:r>
            <a:r>
              <a:rPr lang="es-PE" sz="2400" dirty="0">
                <a:latin typeface="Inter" panose="020B0604020202020204" charset="0"/>
                <a:ea typeface="Inter" panose="020B0604020202020204" charset="0"/>
              </a:rPr>
              <a:t>de la concesión de beneficio.</a:t>
            </a:r>
          </a:p>
        </p:txBody>
      </p:sp>
      <p:grpSp>
        <p:nvGrpSpPr>
          <p:cNvPr id="9" name="Group 2">
            <a:extLst>
              <a:ext uri="{FF2B5EF4-FFF2-40B4-BE49-F238E27FC236}">
                <a16:creationId xmlns:a16="http://schemas.microsoft.com/office/drawing/2014/main" xmlns="" id="{2C21A5B5-CDB9-068D-A9BB-29FBB7AF3B22}"/>
              </a:ext>
            </a:extLst>
          </p:cNvPr>
          <p:cNvGrpSpPr/>
          <p:nvPr/>
        </p:nvGrpSpPr>
        <p:grpSpPr>
          <a:xfrm>
            <a:off x="6397409" y="7556924"/>
            <a:ext cx="10861891" cy="2730076"/>
            <a:chOff x="0" y="0"/>
            <a:chExt cx="1363973" cy="342827"/>
          </a:xfrm>
        </p:grpSpPr>
        <p:sp>
          <p:nvSpPr>
            <p:cNvPr id="11" name="Freeform 3">
              <a:extLst>
                <a:ext uri="{FF2B5EF4-FFF2-40B4-BE49-F238E27FC236}">
                  <a16:creationId xmlns:a16="http://schemas.microsoft.com/office/drawing/2014/main" xmlns="" id="{692A4001-2C9B-36A7-3087-0C6E7CD05ACC}"/>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3" name="TextBox 4">
              <a:extLst>
                <a:ext uri="{FF2B5EF4-FFF2-40B4-BE49-F238E27FC236}">
                  <a16:creationId xmlns:a16="http://schemas.microsoft.com/office/drawing/2014/main" xmlns="" id="{02583351-0AD9-7011-D50B-6AD568BC8534}"/>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13678521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768C6C3-7215-7217-7592-8A660A091FA3}"/>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4C13A055-DD12-0126-D56F-E275ED9AADE4}"/>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22EFCA90-1F34-795D-5168-0DD65C07772E}"/>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DA470B5F-C8CB-EC60-99DC-EBBFE14E3D9B}"/>
              </a:ext>
            </a:extLst>
          </p:cNvPr>
          <p:cNvSpPr txBox="1">
            <a:spLocks/>
          </p:cNvSpPr>
          <p:nvPr/>
        </p:nvSpPr>
        <p:spPr>
          <a:xfrm>
            <a:off x="457199" y="1409700"/>
            <a:ext cx="3581401" cy="17724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rmAutofit fontScale="925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concesión de beneficio con ampliación de área y ampliación de capacidad instalada</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0AFA9035-5C96-3BDB-9AFE-A23CBA598108}"/>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87, 87.3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noventa (90)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a:t>
            </a:r>
          </a:p>
        </p:txBody>
      </p:sp>
      <p:grpSp>
        <p:nvGrpSpPr>
          <p:cNvPr id="8" name="Group 2">
            <a:extLst>
              <a:ext uri="{FF2B5EF4-FFF2-40B4-BE49-F238E27FC236}">
                <a16:creationId xmlns:a16="http://schemas.microsoft.com/office/drawing/2014/main" xmlns="" id="{622EA3C6-875D-97E3-7B35-AD356B22E752}"/>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340F7669-C80F-C714-DE1B-1959DFA94473}"/>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AC957D75-5A90-D443-0530-9378BAD867BA}"/>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grpSp>
        <p:nvGrpSpPr>
          <p:cNvPr id="11" name="Grupo 10">
            <a:extLst>
              <a:ext uri="{FF2B5EF4-FFF2-40B4-BE49-F238E27FC236}">
                <a16:creationId xmlns:a16="http://schemas.microsoft.com/office/drawing/2014/main" xmlns="" id="{3B09C579-D3D4-FA2C-9FC0-4D2B3E6F0920}"/>
              </a:ext>
            </a:extLst>
          </p:cNvPr>
          <p:cNvGrpSpPr/>
          <p:nvPr/>
        </p:nvGrpSpPr>
        <p:grpSpPr>
          <a:xfrm>
            <a:off x="4169656" y="952500"/>
            <a:ext cx="11907980" cy="9043326"/>
            <a:chOff x="1576727" y="636143"/>
            <a:chExt cx="6290407" cy="6430330"/>
          </a:xfrm>
        </p:grpSpPr>
        <p:sp>
          <p:nvSpPr>
            <p:cNvPr id="12" name="3 Elipse">
              <a:extLst>
                <a:ext uri="{FF2B5EF4-FFF2-40B4-BE49-F238E27FC236}">
                  <a16:creationId xmlns:a16="http://schemas.microsoft.com/office/drawing/2014/main" xmlns="" id="{412975A2-3FEB-2B84-AFD4-E1611BA923B2}"/>
                </a:ext>
              </a:extLst>
            </p:cNvPr>
            <p:cNvSpPr/>
            <p:nvPr/>
          </p:nvSpPr>
          <p:spPr>
            <a:xfrm>
              <a:off x="4596704" y="636143"/>
              <a:ext cx="1916446" cy="760413"/>
            </a:xfrm>
            <a:prstGeom prst="ellipse">
              <a:avLst/>
            </a:prstGeom>
            <a:solidFill>
              <a:srgbClr val="92D050"/>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13" name="5 Conector recto de flecha">
              <a:extLst>
                <a:ext uri="{FF2B5EF4-FFF2-40B4-BE49-F238E27FC236}">
                  <a16:creationId xmlns:a16="http://schemas.microsoft.com/office/drawing/2014/main" xmlns="" id="{9D73AD3D-6E9E-18A3-2151-A48F1FF88B1E}"/>
                </a:ext>
              </a:extLst>
            </p:cNvPr>
            <p:cNvCxnSpPr>
              <a:cxnSpLocks/>
              <a:stCxn id="12" idx="4"/>
              <a:endCxn id="69" idx="0"/>
            </p:cNvCxnSpPr>
            <p:nvPr/>
          </p:nvCxnSpPr>
          <p:spPr>
            <a:xfrm>
              <a:off x="5554927" y="1396556"/>
              <a:ext cx="1" cy="185314"/>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14" name="10 Conector recto de flecha">
              <a:extLst>
                <a:ext uri="{FF2B5EF4-FFF2-40B4-BE49-F238E27FC236}">
                  <a16:creationId xmlns:a16="http://schemas.microsoft.com/office/drawing/2014/main" xmlns="" id="{5491A417-8C47-B0C0-A00D-019A16DEB3EA}"/>
                </a:ext>
              </a:extLst>
            </p:cNvPr>
            <p:cNvCxnSpPr>
              <a:cxnSpLocks/>
              <a:stCxn id="27" idx="2"/>
              <a:endCxn id="16" idx="0"/>
            </p:cNvCxnSpPr>
            <p:nvPr/>
          </p:nvCxnSpPr>
          <p:spPr>
            <a:xfrm>
              <a:off x="5567106" y="3090792"/>
              <a:ext cx="4336" cy="203387"/>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5" name="9 Título">
              <a:extLst>
                <a:ext uri="{FF2B5EF4-FFF2-40B4-BE49-F238E27FC236}">
                  <a16:creationId xmlns:a16="http://schemas.microsoft.com/office/drawing/2014/main" xmlns="" id="{F171EAD2-4E94-077F-006A-51F46FBD025B}"/>
                </a:ext>
              </a:extLst>
            </p:cNvPr>
            <p:cNvSpPr txBox="1">
              <a:spLocks/>
            </p:cNvSpPr>
            <p:nvPr/>
          </p:nvSpPr>
          <p:spPr>
            <a:xfrm>
              <a:off x="2251914" y="655193"/>
              <a:ext cx="1732605" cy="766763"/>
            </a:xfrm>
            <a:prstGeom prst="rect">
              <a:avLst/>
            </a:prstGeom>
            <a:solidFill>
              <a:srgbClr val="FFFFCC"/>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600" dirty="0">
                  <a:solidFill>
                    <a:srgbClr val="000000"/>
                  </a:solidFill>
                  <a:latin typeface="Inter" panose="020B0604020202020204" charset="0"/>
                  <a:ea typeface="Inter" panose="020B0604020202020204" charset="0"/>
                  <a:cs typeface="Arial" panose="020B0604020202020204" pitchFamily="34" charset="0"/>
                </a:rPr>
                <a:t>Si se advierte en forma referencial que el proyecto se encuentra en PPII se solicita opinión a OGGS.</a:t>
              </a:r>
            </a:p>
          </p:txBody>
        </p:sp>
        <p:sp>
          <p:nvSpPr>
            <p:cNvPr id="16" name="24 Rectángulo">
              <a:extLst>
                <a:ext uri="{FF2B5EF4-FFF2-40B4-BE49-F238E27FC236}">
                  <a16:creationId xmlns:a16="http://schemas.microsoft.com/office/drawing/2014/main" xmlns="" id="{AE21E135-9225-ADF0-6950-B7D047D4F9F5}"/>
                </a:ext>
              </a:extLst>
            </p:cNvPr>
            <p:cNvSpPr/>
            <p:nvPr/>
          </p:nvSpPr>
          <p:spPr>
            <a:xfrm>
              <a:off x="4569860" y="3294179"/>
              <a:ext cx="2003164" cy="265113"/>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Entrega de avisos al titular</a:t>
              </a:r>
            </a:p>
          </p:txBody>
        </p:sp>
        <p:sp>
          <p:nvSpPr>
            <p:cNvPr id="17" name="25 Rectángulo">
              <a:extLst>
                <a:ext uri="{FF2B5EF4-FFF2-40B4-BE49-F238E27FC236}">
                  <a16:creationId xmlns:a16="http://schemas.microsoft.com/office/drawing/2014/main" xmlns="" id="{0F51A892-39CA-0E28-E86D-4B4FD27267F7}"/>
                </a:ext>
              </a:extLst>
            </p:cNvPr>
            <p:cNvSpPr/>
            <p:nvPr/>
          </p:nvSpPr>
          <p:spPr>
            <a:xfrm>
              <a:off x="4718360" y="4149080"/>
              <a:ext cx="1706159" cy="293688"/>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Presentación de publicaciones</a:t>
              </a:r>
            </a:p>
          </p:txBody>
        </p:sp>
        <p:sp>
          <p:nvSpPr>
            <p:cNvPr id="18" name="26 Rectángulo">
              <a:extLst>
                <a:ext uri="{FF2B5EF4-FFF2-40B4-BE49-F238E27FC236}">
                  <a16:creationId xmlns:a16="http://schemas.microsoft.com/office/drawing/2014/main" xmlns="" id="{720F5F3B-0B4B-A437-5F11-2B1A87E5949F}"/>
                </a:ext>
              </a:extLst>
            </p:cNvPr>
            <p:cNvSpPr/>
            <p:nvPr/>
          </p:nvSpPr>
          <p:spPr>
            <a:xfrm>
              <a:off x="4561151" y="3717032"/>
              <a:ext cx="2016171" cy="215900"/>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Publicación de avisos</a:t>
              </a:r>
            </a:p>
          </p:txBody>
        </p:sp>
        <p:cxnSp>
          <p:nvCxnSpPr>
            <p:cNvPr id="19" name="172 Conector recto de flecha">
              <a:extLst>
                <a:ext uri="{FF2B5EF4-FFF2-40B4-BE49-F238E27FC236}">
                  <a16:creationId xmlns:a16="http://schemas.microsoft.com/office/drawing/2014/main" xmlns="" id="{562B5E50-0125-CEC4-B0F5-6870626A417D}"/>
                </a:ext>
              </a:extLst>
            </p:cNvPr>
            <p:cNvCxnSpPr>
              <a:cxnSpLocks/>
              <a:stCxn id="16" idx="2"/>
              <a:endCxn id="18" idx="0"/>
            </p:cNvCxnSpPr>
            <p:nvPr/>
          </p:nvCxnSpPr>
          <p:spPr>
            <a:xfrm flipH="1">
              <a:off x="5569237" y="3559292"/>
              <a:ext cx="2205" cy="157740"/>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0" name="176 Conector recto de flecha">
              <a:extLst>
                <a:ext uri="{FF2B5EF4-FFF2-40B4-BE49-F238E27FC236}">
                  <a16:creationId xmlns:a16="http://schemas.microsoft.com/office/drawing/2014/main" xmlns="" id="{1AE7467A-5853-E793-2D6E-1BB6710E3555}"/>
                </a:ext>
              </a:extLst>
            </p:cNvPr>
            <p:cNvCxnSpPr>
              <a:cxnSpLocks/>
              <a:stCxn id="18" idx="2"/>
              <a:endCxn id="17" idx="0"/>
            </p:cNvCxnSpPr>
            <p:nvPr/>
          </p:nvCxnSpPr>
          <p:spPr>
            <a:xfrm>
              <a:off x="5569237" y="3932932"/>
              <a:ext cx="2203" cy="216148"/>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1" name="177 Conector recto de flecha">
              <a:extLst>
                <a:ext uri="{FF2B5EF4-FFF2-40B4-BE49-F238E27FC236}">
                  <a16:creationId xmlns:a16="http://schemas.microsoft.com/office/drawing/2014/main" xmlns="" id="{6A8BC1CC-D84A-BA00-A9AF-124DF6C7A4ED}"/>
                </a:ext>
              </a:extLst>
            </p:cNvPr>
            <p:cNvCxnSpPr>
              <a:cxnSpLocks/>
              <a:stCxn id="17" idx="2"/>
              <a:endCxn id="29" idx="0"/>
            </p:cNvCxnSpPr>
            <p:nvPr/>
          </p:nvCxnSpPr>
          <p:spPr>
            <a:xfrm>
              <a:off x="5571440" y="4442768"/>
              <a:ext cx="6505" cy="354384"/>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22" name="72 CuadroTexto">
              <a:extLst>
                <a:ext uri="{FF2B5EF4-FFF2-40B4-BE49-F238E27FC236}">
                  <a16:creationId xmlns:a16="http://schemas.microsoft.com/office/drawing/2014/main" xmlns="" id="{5924EE78-C254-1493-BE3A-4D47208EE864}"/>
                </a:ext>
              </a:extLst>
            </p:cNvPr>
            <p:cNvSpPr txBox="1">
              <a:spLocks noChangeArrowheads="1"/>
            </p:cNvSpPr>
            <p:nvPr/>
          </p:nvSpPr>
          <p:spPr bwMode="auto">
            <a:xfrm>
              <a:off x="7370678" y="3135336"/>
              <a:ext cx="461769"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5 dh</a:t>
              </a:r>
            </a:p>
          </p:txBody>
        </p:sp>
        <p:sp>
          <p:nvSpPr>
            <p:cNvPr id="23" name="72 CuadroTexto">
              <a:extLst>
                <a:ext uri="{FF2B5EF4-FFF2-40B4-BE49-F238E27FC236}">
                  <a16:creationId xmlns:a16="http://schemas.microsoft.com/office/drawing/2014/main" xmlns="" id="{D0856162-04B6-30DE-4D47-698C66EE5474}"/>
                </a:ext>
              </a:extLst>
            </p:cNvPr>
            <p:cNvSpPr txBox="1">
              <a:spLocks noChangeArrowheads="1"/>
            </p:cNvSpPr>
            <p:nvPr/>
          </p:nvSpPr>
          <p:spPr bwMode="auto">
            <a:xfrm>
              <a:off x="7338160" y="3578534"/>
              <a:ext cx="528974"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10 dh</a:t>
              </a:r>
            </a:p>
          </p:txBody>
        </p:sp>
        <p:sp>
          <p:nvSpPr>
            <p:cNvPr id="24" name="72 CuadroTexto">
              <a:extLst>
                <a:ext uri="{FF2B5EF4-FFF2-40B4-BE49-F238E27FC236}">
                  <a16:creationId xmlns:a16="http://schemas.microsoft.com/office/drawing/2014/main" xmlns="" id="{146D17D6-C928-ABE6-6BC9-B0252394514A}"/>
                </a:ext>
              </a:extLst>
            </p:cNvPr>
            <p:cNvSpPr txBox="1">
              <a:spLocks noChangeArrowheads="1"/>
            </p:cNvSpPr>
            <p:nvPr/>
          </p:nvSpPr>
          <p:spPr bwMode="auto">
            <a:xfrm>
              <a:off x="7359839" y="4005064"/>
              <a:ext cx="496455"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sp>
          <p:nvSpPr>
            <p:cNvPr id="25" name="72 CuadroTexto">
              <a:extLst>
                <a:ext uri="{FF2B5EF4-FFF2-40B4-BE49-F238E27FC236}">
                  <a16:creationId xmlns:a16="http://schemas.microsoft.com/office/drawing/2014/main" xmlns="" id="{77F5E7A1-69C5-A6CA-6537-FB79FF2CF52C}"/>
                </a:ext>
              </a:extLst>
            </p:cNvPr>
            <p:cNvSpPr txBox="1">
              <a:spLocks noChangeArrowheads="1"/>
            </p:cNvSpPr>
            <p:nvPr/>
          </p:nvSpPr>
          <p:spPr bwMode="auto">
            <a:xfrm>
              <a:off x="7396825" y="4869160"/>
              <a:ext cx="433585"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26" name="56 Rectángulo">
              <a:extLst>
                <a:ext uri="{FF2B5EF4-FFF2-40B4-BE49-F238E27FC236}">
                  <a16:creationId xmlns:a16="http://schemas.microsoft.com/office/drawing/2014/main" xmlns="" id="{1C268802-63B1-0A22-FACC-EF774AF87D75}"/>
                </a:ext>
              </a:extLst>
            </p:cNvPr>
            <p:cNvSpPr/>
            <p:nvPr/>
          </p:nvSpPr>
          <p:spPr>
            <a:xfrm>
              <a:off x="1579876" y="4937217"/>
              <a:ext cx="2888717" cy="1278423"/>
            </a:xfrm>
            <a:prstGeom prst="rect">
              <a:avLst/>
            </a:prstGeom>
            <a:solidFill>
              <a:srgbClr val="FF9933"/>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startAt="5"/>
                <a:defRPr/>
              </a:pPr>
              <a:r>
                <a:rPr lang="es-PE" sz="1600" dirty="0">
                  <a:solidFill>
                    <a:srgbClr val="000000"/>
                  </a:solidFill>
                  <a:latin typeface="Inter" panose="020B0604020202020204" charset="0"/>
                  <a:ea typeface="Inter" panose="020B0604020202020204" charset="0"/>
                  <a:cs typeface="Arial" panose="020B0604020202020204" pitchFamily="34" charset="0"/>
                </a:rPr>
                <a:t>Memoria descriptiva y Estudio Técnico del proyecto</a:t>
              </a:r>
            </a:p>
            <a:p>
              <a:pPr marL="228600" indent="-228600">
                <a:buFont typeface="+mj-lt"/>
                <a:buAutoNum type="arabicPeriod" startAt="5"/>
                <a:defRPr/>
              </a:pPr>
              <a:r>
                <a:rPr lang="es-PE" sz="1600" dirty="0">
                  <a:solidFill>
                    <a:srgbClr val="000000"/>
                  </a:solidFill>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a:t>
              </a:r>
            </a:p>
            <a:p>
              <a:pPr marL="228600" indent="-228600">
                <a:buFont typeface="+mj-lt"/>
                <a:buAutoNum type="arabicPeriod" startAt="5"/>
                <a:defRPr/>
              </a:pPr>
              <a:r>
                <a:rPr lang="es-PE" sz="1600" dirty="0">
                  <a:solidFill>
                    <a:srgbClr val="000000"/>
                  </a:solidFill>
                  <a:latin typeface="Inter" panose="020B0604020202020204" charset="0"/>
                  <a:ea typeface="Inter" panose="020B0604020202020204" charset="0"/>
                  <a:cs typeface="Arial" panose="020B0604020202020204" pitchFamily="34" charset="0"/>
                </a:rPr>
                <a:t>DJ de no afectación al derecho de vía o constancia de autoridad competente.</a:t>
              </a:r>
            </a:p>
            <a:p>
              <a:pPr marL="228600" indent="-228600">
                <a:buFont typeface="+mj-lt"/>
                <a:buAutoNum type="arabicPeriod" startAt="5"/>
                <a:defRPr/>
              </a:pPr>
              <a:r>
                <a:rPr lang="es-PE" sz="1600" dirty="0">
                  <a:solidFill>
                    <a:srgbClr val="000000"/>
                  </a:solidFill>
                  <a:latin typeface="Inter" panose="020B0604020202020204" charset="0"/>
                  <a:ea typeface="Inter" panose="020B0604020202020204" charset="0"/>
                  <a:cs typeface="Arial" panose="020B0604020202020204" pitchFamily="34" charset="0"/>
                </a:rPr>
                <a:t>Instrumento de Gestion ambiental aprobado.</a:t>
              </a:r>
            </a:p>
          </p:txBody>
        </p:sp>
        <p:sp>
          <p:nvSpPr>
            <p:cNvPr id="27" name="Rectángulo 26">
              <a:extLst>
                <a:ext uri="{FF2B5EF4-FFF2-40B4-BE49-F238E27FC236}">
                  <a16:creationId xmlns:a16="http://schemas.microsoft.com/office/drawing/2014/main" xmlns="" id="{97D1564F-3DD4-0877-5025-E8977C7EE237}"/>
                </a:ext>
              </a:extLst>
            </p:cNvPr>
            <p:cNvSpPr/>
            <p:nvPr/>
          </p:nvSpPr>
          <p:spPr>
            <a:xfrm>
              <a:off x="4827843" y="2876480"/>
              <a:ext cx="1478526" cy="214312"/>
            </a:xfrm>
            <a:prstGeom prst="rect">
              <a:avLst/>
            </a:prstGeom>
            <a:solidFill>
              <a:srgbClr val="E2F4C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Expide los avisos </a:t>
              </a:r>
            </a:p>
          </p:txBody>
        </p:sp>
        <p:sp>
          <p:nvSpPr>
            <p:cNvPr id="28" name="56 Rectángulo">
              <a:extLst>
                <a:ext uri="{FF2B5EF4-FFF2-40B4-BE49-F238E27FC236}">
                  <a16:creationId xmlns:a16="http://schemas.microsoft.com/office/drawing/2014/main" xmlns="" id="{A4CED33D-38F9-C2CA-1611-4931F17A1413}"/>
                </a:ext>
              </a:extLst>
            </p:cNvPr>
            <p:cNvSpPr/>
            <p:nvPr/>
          </p:nvSpPr>
          <p:spPr>
            <a:xfrm>
              <a:off x="1586311" y="1744218"/>
              <a:ext cx="2398210" cy="1040901"/>
            </a:xfrm>
            <a:prstGeom prst="rect">
              <a:avLst/>
            </a:prstGeom>
            <a:solidFill>
              <a:srgbClr val="FF9933"/>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Derecho de vigencia</a:t>
              </a:r>
              <a:endParaRPr lang="es-PE" sz="1600" i="1" dirty="0">
                <a:solidFill>
                  <a:srgbClr val="000000"/>
                </a:solidFill>
                <a:latin typeface="Inter" panose="020B0604020202020204" charset="0"/>
                <a:ea typeface="Inter" panose="020B0604020202020204" charset="0"/>
                <a:cs typeface="Arial" panose="020B0604020202020204" pitchFamily="34" charset="0"/>
              </a:endParaRP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Autorización del terreno superficial.</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Cargo de presentación del Instrumento de Gestión Ambiental</a:t>
              </a:r>
            </a:p>
          </p:txBody>
        </p:sp>
        <p:sp>
          <p:nvSpPr>
            <p:cNvPr id="29" name="56 Rectángulo">
              <a:extLst>
                <a:ext uri="{FF2B5EF4-FFF2-40B4-BE49-F238E27FC236}">
                  <a16:creationId xmlns:a16="http://schemas.microsoft.com/office/drawing/2014/main" xmlns="" id="{A68CDFE1-185E-9ECE-761B-D611DC79ED1C}"/>
                </a:ext>
              </a:extLst>
            </p:cNvPr>
            <p:cNvSpPr/>
            <p:nvPr/>
          </p:nvSpPr>
          <p:spPr>
            <a:xfrm>
              <a:off x="5147612" y="4797152"/>
              <a:ext cx="860665" cy="175077"/>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30" name="177 Conector recto de flecha">
              <a:extLst>
                <a:ext uri="{FF2B5EF4-FFF2-40B4-BE49-F238E27FC236}">
                  <a16:creationId xmlns:a16="http://schemas.microsoft.com/office/drawing/2014/main" xmlns="" id="{09648857-001A-71DE-B8F3-9AB5CDE0EA41}"/>
                </a:ext>
              </a:extLst>
            </p:cNvPr>
            <p:cNvCxnSpPr>
              <a:cxnSpLocks/>
              <a:stCxn id="71" idx="2"/>
              <a:endCxn id="27" idx="0"/>
            </p:cNvCxnSpPr>
            <p:nvPr/>
          </p:nvCxnSpPr>
          <p:spPr>
            <a:xfrm>
              <a:off x="5561391" y="2407938"/>
              <a:ext cx="5715" cy="468542"/>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31" name="Conector: angular 338">
              <a:extLst>
                <a:ext uri="{FF2B5EF4-FFF2-40B4-BE49-F238E27FC236}">
                  <a16:creationId xmlns:a16="http://schemas.microsoft.com/office/drawing/2014/main" xmlns="" id="{21E14C1A-E8AE-4A46-16AE-FAF8B64BBF0B}"/>
                </a:ext>
              </a:extLst>
            </p:cNvPr>
            <p:cNvCxnSpPr>
              <a:cxnSpLocks/>
              <a:stCxn id="69" idx="1"/>
              <a:endCxn id="15" idx="3"/>
            </p:cNvCxnSpPr>
            <p:nvPr/>
          </p:nvCxnSpPr>
          <p:spPr>
            <a:xfrm rot="10800000">
              <a:off x="3984520" y="1038575"/>
              <a:ext cx="688063" cy="718373"/>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68">
              <a:extLst>
                <a:ext uri="{FF2B5EF4-FFF2-40B4-BE49-F238E27FC236}">
                  <a16:creationId xmlns:a16="http://schemas.microsoft.com/office/drawing/2014/main" xmlns="" id="{E159A677-4916-28B9-F6E7-87C0CECC926B}"/>
                </a:ext>
              </a:extLst>
            </p:cNvPr>
            <p:cNvCxnSpPr>
              <a:stCxn id="22" idx="2"/>
              <a:endCxn id="16" idx="3"/>
            </p:cNvCxnSpPr>
            <p:nvPr/>
          </p:nvCxnSpPr>
          <p:spPr>
            <a:xfrm rot="5400000">
              <a:off x="7029132" y="2854305"/>
              <a:ext cx="116323" cy="1028538"/>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r 378">
              <a:extLst>
                <a:ext uri="{FF2B5EF4-FFF2-40B4-BE49-F238E27FC236}">
                  <a16:creationId xmlns:a16="http://schemas.microsoft.com/office/drawing/2014/main" xmlns="" id="{D92F8D29-8DE6-1254-C7A5-0F43784EE19F}"/>
                </a:ext>
              </a:extLst>
            </p:cNvPr>
            <p:cNvCxnSpPr>
              <a:stCxn id="23" idx="2"/>
              <a:endCxn id="18" idx="3"/>
            </p:cNvCxnSpPr>
            <p:nvPr/>
          </p:nvCxnSpPr>
          <p:spPr>
            <a:xfrm rot="5400000">
              <a:off x="7054299" y="3276633"/>
              <a:ext cx="71371" cy="102532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CuadroTexto 33">
              <a:extLst>
                <a:ext uri="{FF2B5EF4-FFF2-40B4-BE49-F238E27FC236}">
                  <a16:creationId xmlns:a16="http://schemas.microsoft.com/office/drawing/2014/main" xmlns="" id="{C58FEDF3-DD19-8980-363F-BA0564FBBFDA}"/>
                </a:ext>
              </a:extLst>
            </p:cNvPr>
            <p:cNvSpPr txBox="1"/>
            <p:nvPr/>
          </p:nvSpPr>
          <p:spPr>
            <a:xfrm>
              <a:off x="4051785" y="6300508"/>
              <a:ext cx="2896986" cy="765965"/>
            </a:xfrm>
            <a:prstGeom prst="rect">
              <a:avLst/>
            </a:prstGeom>
            <a:ln w="12700">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600"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dirty="0">
                  <a:solidFill>
                    <a:srgbClr val="000000"/>
                  </a:solidFill>
                  <a:latin typeface="Inter" panose="020B0604020202020204" charset="0"/>
                  <a:ea typeface="Inter" panose="020B0604020202020204" charset="0"/>
                  <a:cs typeface="Arial" panose="020B0604020202020204" pitchFamily="34" charset="0"/>
                </a:rPr>
                <a:t>Modifica el área de la Concesión de Beneficio</a:t>
              </a:r>
            </a:p>
            <a:p>
              <a:pPr marL="85725" indent="-85725">
                <a:buFontTx/>
                <a:buChar char="-"/>
                <a:defRPr/>
              </a:pPr>
              <a:r>
                <a:rPr lang="es-PE" sz="1600" dirty="0">
                  <a:solidFill>
                    <a:srgbClr val="000000"/>
                  </a:solidFill>
                  <a:latin typeface="Inter" panose="020B0604020202020204" charset="0"/>
                  <a:ea typeface="Inter" panose="020B0604020202020204" charset="0"/>
                  <a:cs typeface="Arial" panose="020B0604020202020204" pitchFamily="34" charset="0"/>
                </a:rPr>
                <a:t>Ampliación de Capacidad Instalada</a:t>
              </a:r>
            </a:p>
            <a:p>
              <a:pPr marL="85725" indent="-85725">
                <a:buFontTx/>
                <a:buChar char="-"/>
                <a:defRPr/>
              </a:pPr>
              <a:r>
                <a:rPr lang="es-PE" sz="1600" dirty="0">
                  <a:solidFill>
                    <a:srgbClr val="000000"/>
                  </a:solidFill>
                  <a:latin typeface="Inter" panose="020B0604020202020204" charset="0"/>
                  <a:ea typeface="Inter" panose="020B0604020202020204" charset="0"/>
                  <a:cs typeface="Arial" panose="020B0604020202020204" pitchFamily="34" charset="0"/>
                </a:rPr>
                <a:t>Autoriza la construcción del proyecto aprobado</a:t>
              </a:r>
            </a:p>
          </p:txBody>
        </p:sp>
        <p:cxnSp>
          <p:nvCxnSpPr>
            <p:cNvPr id="61" name="Conector: angular 443">
              <a:extLst>
                <a:ext uri="{FF2B5EF4-FFF2-40B4-BE49-F238E27FC236}">
                  <a16:creationId xmlns:a16="http://schemas.microsoft.com/office/drawing/2014/main" xmlns="" id="{20214ED0-2F22-E7B4-2010-0B5F98BA30D3}"/>
                </a:ext>
              </a:extLst>
            </p:cNvPr>
            <p:cNvCxnSpPr>
              <a:cxnSpLocks/>
              <a:stCxn id="24" idx="0"/>
              <a:endCxn id="18" idx="3"/>
            </p:cNvCxnSpPr>
            <p:nvPr/>
          </p:nvCxnSpPr>
          <p:spPr>
            <a:xfrm rot="16200000" flipV="1">
              <a:off x="7002654" y="3399650"/>
              <a:ext cx="180082" cy="103074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ector: angular 447">
              <a:extLst>
                <a:ext uri="{FF2B5EF4-FFF2-40B4-BE49-F238E27FC236}">
                  <a16:creationId xmlns:a16="http://schemas.microsoft.com/office/drawing/2014/main" xmlns="" id="{EA8D4810-EA8B-396B-2778-2B05EDE318A8}"/>
                </a:ext>
              </a:extLst>
            </p:cNvPr>
            <p:cNvCxnSpPr>
              <a:stCxn id="24" idx="2"/>
              <a:endCxn id="17" idx="3"/>
            </p:cNvCxnSpPr>
            <p:nvPr/>
          </p:nvCxnSpPr>
          <p:spPr>
            <a:xfrm rot="5400000">
              <a:off x="6958401" y="3646258"/>
              <a:ext cx="115784" cy="1183547"/>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ector: angular 449">
              <a:extLst>
                <a:ext uri="{FF2B5EF4-FFF2-40B4-BE49-F238E27FC236}">
                  <a16:creationId xmlns:a16="http://schemas.microsoft.com/office/drawing/2014/main" xmlns="" id="{14E317BB-4F8F-CF22-5887-2FE40C27B30F}"/>
                </a:ext>
              </a:extLst>
            </p:cNvPr>
            <p:cNvCxnSpPr>
              <a:stCxn id="25" idx="0"/>
              <a:endCxn id="17" idx="3"/>
            </p:cNvCxnSpPr>
            <p:nvPr/>
          </p:nvCxnSpPr>
          <p:spPr>
            <a:xfrm rot="16200000" flipV="1">
              <a:off x="6732451" y="3987993"/>
              <a:ext cx="573236" cy="1189099"/>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ector: angular 451">
              <a:extLst>
                <a:ext uri="{FF2B5EF4-FFF2-40B4-BE49-F238E27FC236}">
                  <a16:creationId xmlns:a16="http://schemas.microsoft.com/office/drawing/2014/main" xmlns="" id="{D3CDC793-9DCD-9E1B-0063-952F14677CEA}"/>
                </a:ext>
              </a:extLst>
            </p:cNvPr>
            <p:cNvCxnSpPr>
              <a:stCxn id="25" idx="2"/>
              <a:endCxn id="34" idx="3"/>
            </p:cNvCxnSpPr>
            <p:nvPr/>
          </p:nvCxnSpPr>
          <p:spPr>
            <a:xfrm rot="5400000">
              <a:off x="6461568" y="5531440"/>
              <a:ext cx="1639254" cy="664847"/>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72 CuadroTexto">
              <a:extLst>
                <a:ext uri="{FF2B5EF4-FFF2-40B4-BE49-F238E27FC236}">
                  <a16:creationId xmlns:a16="http://schemas.microsoft.com/office/drawing/2014/main" xmlns="" id="{61A8971B-F016-B46B-01DF-99663D73B1C2}"/>
                </a:ext>
              </a:extLst>
            </p:cNvPr>
            <p:cNvSpPr txBox="1">
              <a:spLocks noChangeArrowheads="1"/>
            </p:cNvSpPr>
            <p:nvPr/>
          </p:nvSpPr>
          <p:spPr bwMode="auto">
            <a:xfrm>
              <a:off x="7342496" y="1833118"/>
              <a:ext cx="509462"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66" name="Conector: angular 77">
              <a:extLst>
                <a:ext uri="{FF2B5EF4-FFF2-40B4-BE49-F238E27FC236}">
                  <a16:creationId xmlns:a16="http://schemas.microsoft.com/office/drawing/2014/main" xmlns="" id="{21BB6E50-89E0-C46E-B13A-5C04637FD17E}"/>
                </a:ext>
              </a:extLst>
            </p:cNvPr>
            <p:cNvCxnSpPr>
              <a:cxnSpLocks/>
              <a:stCxn id="65" idx="0"/>
              <a:endCxn id="12" idx="6"/>
            </p:cNvCxnSpPr>
            <p:nvPr/>
          </p:nvCxnSpPr>
          <p:spPr>
            <a:xfrm rot="16200000" flipV="1">
              <a:off x="6646804" y="882695"/>
              <a:ext cx="816768" cy="1084078"/>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ector: angular 78">
              <a:extLst>
                <a:ext uri="{FF2B5EF4-FFF2-40B4-BE49-F238E27FC236}">
                  <a16:creationId xmlns:a16="http://schemas.microsoft.com/office/drawing/2014/main" xmlns="" id="{5A59AABF-7E9E-3C88-DF2D-525B563CA3B5}"/>
                </a:ext>
              </a:extLst>
            </p:cNvPr>
            <p:cNvCxnSpPr>
              <a:cxnSpLocks/>
              <a:stCxn id="65" idx="2"/>
              <a:endCxn id="27" idx="3"/>
            </p:cNvCxnSpPr>
            <p:nvPr/>
          </p:nvCxnSpPr>
          <p:spPr>
            <a:xfrm rot="5400000">
              <a:off x="6464077" y="1850486"/>
              <a:ext cx="975442" cy="1290858"/>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CuadroTexto 67">
              <a:extLst>
                <a:ext uri="{FF2B5EF4-FFF2-40B4-BE49-F238E27FC236}">
                  <a16:creationId xmlns:a16="http://schemas.microsoft.com/office/drawing/2014/main" xmlns="" id="{C14DA8AD-9785-B706-CDFF-6427041D1F7B}"/>
                </a:ext>
              </a:extLst>
            </p:cNvPr>
            <p:cNvSpPr txBox="1"/>
            <p:nvPr/>
          </p:nvSpPr>
          <p:spPr>
            <a:xfrm flipH="1">
              <a:off x="5304408" y="2385317"/>
              <a:ext cx="223296" cy="175077"/>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69" name="Rectángulo 68">
              <a:extLst>
                <a:ext uri="{FF2B5EF4-FFF2-40B4-BE49-F238E27FC236}">
                  <a16:creationId xmlns:a16="http://schemas.microsoft.com/office/drawing/2014/main" xmlns="" id="{47518DF7-54C8-DE8B-B00F-D41D22B00B20}"/>
                </a:ext>
              </a:extLst>
            </p:cNvPr>
            <p:cNvSpPr/>
            <p:nvPr/>
          </p:nvSpPr>
          <p:spPr>
            <a:xfrm>
              <a:off x="4672582" y="1581870"/>
              <a:ext cx="1764691" cy="350156"/>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los requisitos de la solicitud</a:t>
              </a:r>
            </a:p>
          </p:txBody>
        </p:sp>
        <p:cxnSp>
          <p:nvCxnSpPr>
            <p:cNvPr id="70" name="Conector angular 39">
              <a:extLst>
                <a:ext uri="{FF2B5EF4-FFF2-40B4-BE49-F238E27FC236}">
                  <a16:creationId xmlns:a16="http://schemas.microsoft.com/office/drawing/2014/main" xmlns="" id="{36D961AB-7EAD-4388-C09B-776D10A8D340}"/>
                </a:ext>
              </a:extLst>
            </p:cNvPr>
            <p:cNvCxnSpPr>
              <a:cxnSpLocks/>
              <a:stCxn id="69" idx="1"/>
              <a:endCxn id="28" idx="3"/>
            </p:cNvCxnSpPr>
            <p:nvPr/>
          </p:nvCxnSpPr>
          <p:spPr>
            <a:xfrm rot="10800000" flipV="1">
              <a:off x="3984522" y="1756948"/>
              <a:ext cx="688061" cy="507720"/>
            </a:xfrm>
            <a:prstGeom prst="bentConnector3">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1" name="Decisión 40">
              <a:extLst>
                <a:ext uri="{FF2B5EF4-FFF2-40B4-BE49-F238E27FC236}">
                  <a16:creationId xmlns:a16="http://schemas.microsoft.com/office/drawing/2014/main" xmlns="" id="{F63EEDA6-2749-3BBE-A626-8C5E801CD542}"/>
                </a:ext>
              </a:extLst>
            </p:cNvPr>
            <p:cNvSpPr/>
            <p:nvPr/>
          </p:nvSpPr>
          <p:spPr>
            <a:xfrm>
              <a:off x="5104114" y="2060153"/>
              <a:ext cx="914554" cy="347785"/>
            </a:xfrm>
            <a:prstGeom prst="flowChartDecision">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72" name="CuadroTexto 71">
              <a:extLst>
                <a:ext uri="{FF2B5EF4-FFF2-40B4-BE49-F238E27FC236}">
                  <a16:creationId xmlns:a16="http://schemas.microsoft.com/office/drawing/2014/main" xmlns="" id="{A4C845C7-8CD9-9274-9121-FDF546090E39}"/>
                </a:ext>
              </a:extLst>
            </p:cNvPr>
            <p:cNvSpPr txBox="1"/>
            <p:nvPr/>
          </p:nvSpPr>
          <p:spPr>
            <a:xfrm>
              <a:off x="5976843" y="2004027"/>
              <a:ext cx="234136" cy="175077"/>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sp>
          <p:nvSpPr>
            <p:cNvPr id="73" name="CuadroTexto 72">
              <a:extLst>
                <a:ext uri="{FF2B5EF4-FFF2-40B4-BE49-F238E27FC236}">
                  <a16:creationId xmlns:a16="http://schemas.microsoft.com/office/drawing/2014/main" xmlns="" id="{32A608CF-CFEC-0D32-CB06-C17CF1A81546}"/>
                </a:ext>
              </a:extLst>
            </p:cNvPr>
            <p:cNvSpPr txBox="1"/>
            <p:nvPr/>
          </p:nvSpPr>
          <p:spPr>
            <a:xfrm>
              <a:off x="6312615" y="2061202"/>
              <a:ext cx="1020996" cy="350156"/>
            </a:xfrm>
            <a:prstGeom prst="rect">
              <a:avLst/>
            </a:prstGeom>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74" name="CuadroTexto 73">
              <a:extLst>
                <a:ext uri="{FF2B5EF4-FFF2-40B4-BE49-F238E27FC236}">
                  <a16:creationId xmlns:a16="http://schemas.microsoft.com/office/drawing/2014/main" xmlns="" id="{34588C0E-69A6-784C-389D-C3B095583F4E}"/>
                </a:ext>
              </a:extLst>
            </p:cNvPr>
            <p:cNvSpPr txBox="1"/>
            <p:nvPr/>
          </p:nvSpPr>
          <p:spPr>
            <a:xfrm>
              <a:off x="6383390" y="2581338"/>
              <a:ext cx="892832" cy="350156"/>
            </a:xfrm>
            <a:prstGeom prst="rect">
              <a:avLst/>
            </a:prstGeom>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defPPr>
                <a:defRPr lang="es-PE"/>
              </a:defPPr>
              <a:lvl1pPr algn="ctr">
                <a:defRPr sz="900">
                  <a:latin typeface="Calibri" panose="020F0502020204030204" pitchFamily="34" charset="0"/>
                  <a:cs typeface="Calibri" panose="020F0502020204030204" pitchFamily="34" charset="0"/>
                </a:defRPr>
              </a:lvl1pPr>
            </a:lstStyle>
            <a:p>
              <a:r>
                <a:rPr lang="es-PE" sz="1600" dirty="0">
                  <a:latin typeface="Inter" panose="020B0604020202020204" charset="0"/>
                  <a:ea typeface="Inter" panose="020B0604020202020204" charset="0"/>
                  <a:cs typeface="Arial" panose="020B0604020202020204" pitchFamily="34" charset="0"/>
                </a:rPr>
                <a:t>Subsana observaciones</a:t>
              </a:r>
            </a:p>
          </p:txBody>
        </p:sp>
        <p:cxnSp>
          <p:nvCxnSpPr>
            <p:cNvPr id="75" name="Conector recto de flecha 74">
              <a:extLst>
                <a:ext uri="{FF2B5EF4-FFF2-40B4-BE49-F238E27FC236}">
                  <a16:creationId xmlns:a16="http://schemas.microsoft.com/office/drawing/2014/main" xmlns="" id="{8062BE6D-3004-258B-9177-3DE4C8C624DB}"/>
                </a:ext>
              </a:extLst>
            </p:cNvPr>
            <p:cNvCxnSpPr>
              <a:stCxn id="71" idx="3"/>
              <a:endCxn id="73" idx="1"/>
            </p:cNvCxnSpPr>
            <p:nvPr/>
          </p:nvCxnSpPr>
          <p:spPr>
            <a:xfrm>
              <a:off x="6018668" y="2234046"/>
              <a:ext cx="293947" cy="2235"/>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72 CuadroTexto">
              <a:extLst>
                <a:ext uri="{FF2B5EF4-FFF2-40B4-BE49-F238E27FC236}">
                  <a16:creationId xmlns:a16="http://schemas.microsoft.com/office/drawing/2014/main" xmlns="" id="{122BCC2A-0921-EF9B-5DCA-ADAFEF63C56F}"/>
                </a:ext>
              </a:extLst>
            </p:cNvPr>
            <p:cNvSpPr txBox="1">
              <a:spLocks noChangeArrowheads="1"/>
            </p:cNvSpPr>
            <p:nvPr/>
          </p:nvSpPr>
          <p:spPr bwMode="auto">
            <a:xfrm>
              <a:off x="6609876" y="1552195"/>
              <a:ext cx="403234"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77" name="Conector angular 46">
              <a:extLst>
                <a:ext uri="{FF2B5EF4-FFF2-40B4-BE49-F238E27FC236}">
                  <a16:creationId xmlns:a16="http://schemas.microsoft.com/office/drawing/2014/main" xmlns="" id="{5F2EF110-35E7-3B1F-9602-42820A01D633}"/>
                </a:ext>
              </a:extLst>
            </p:cNvPr>
            <p:cNvCxnSpPr>
              <a:stCxn id="76" idx="0"/>
              <a:endCxn id="12" idx="6"/>
            </p:cNvCxnSpPr>
            <p:nvPr/>
          </p:nvCxnSpPr>
          <p:spPr>
            <a:xfrm rot="16200000" flipV="1">
              <a:off x="6394399" y="1135101"/>
              <a:ext cx="535845" cy="298344"/>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ector recto de flecha 77">
              <a:extLst>
                <a:ext uri="{FF2B5EF4-FFF2-40B4-BE49-F238E27FC236}">
                  <a16:creationId xmlns:a16="http://schemas.microsoft.com/office/drawing/2014/main" xmlns="" id="{C6C743C9-1FD3-BB52-521A-FA9492ED6693}"/>
                </a:ext>
              </a:extLst>
            </p:cNvPr>
            <p:cNvCxnSpPr>
              <a:stCxn id="76" idx="2"/>
              <a:endCxn id="73" idx="0"/>
            </p:cNvCxnSpPr>
            <p:nvPr/>
          </p:nvCxnSpPr>
          <p:spPr>
            <a:xfrm>
              <a:off x="6811493" y="1727272"/>
              <a:ext cx="11619" cy="333931"/>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ector recto de flecha 78">
              <a:extLst>
                <a:ext uri="{FF2B5EF4-FFF2-40B4-BE49-F238E27FC236}">
                  <a16:creationId xmlns:a16="http://schemas.microsoft.com/office/drawing/2014/main" xmlns="" id="{19B1E3E7-3D09-FD5F-D4B6-B3440C97D1F9}"/>
                </a:ext>
              </a:extLst>
            </p:cNvPr>
            <p:cNvCxnSpPr>
              <a:stCxn id="73" idx="2"/>
              <a:endCxn id="74" idx="0"/>
            </p:cNvCxnSpPr>
            <p:nvPr/>
          </p:nvCxnSpPr>
          <p:spPr>
            <a:xfrm>
              <a:off x="6823113" y="2411359"/>
              <a:ext cx="6693" cy="169979"/>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ector angular 49">
              <a:extLst>
                <a:ext uri="{FF2B5EF4-FFF2-40B4-BE49-F238E27FC236}">
                  <a16:creationId xmlns:a16="http://schemas.microsoft.com/office/drawing/2014/main" xmlns="" id="{209718B5-40CA-73E3-D287-734A3FEFCECB}"/>
                </a:ext>
              </a:extLst>
            </p:cNvPr>
            <p:cNvCxnSpPr>
              <a:stCxn id="74" idx="1"/>
              <a:endCxn id="27" idx="0"/>
            </p:cNvCxnSpPr>
            <p:nvPr/>
          </p:nvCxnSpPr>
          <p:spPr>
            <a:xfrm rot="10800000" flipV="1">
              <a:off x="5567106" y="2756415"/>
              <a:ext cx="816284" cy="120064"/>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72 CuadroTexto">
              <a:extLst>
                <a:ext uri="{FF2B5EF4-FFF2-40B4-BE49-F238E27FC236}">
                  <a16:creationId xmlns:a16="http://schemas.microsoft.com/office/drawing/2014/main" xmlns="" id="{0CFC2EB4-80D7-B33A-D15D-49F76985DAFB}"/>
                </a:ext>
              </a:extLst>
            </p:cNvPr>
            <p:cNvSpPr txBox="1">
              <a:spLocks noChangeArrowheads="1"/>
            </p:cNvSpPr>
            <p:nvPr/>
          </p:nvSpPr>
          <p:spPr bwMode="auto">
            <a:xfrm>
              <a:off x="6988686" y="2421719"/>
              <a:ext cx="656528"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Hasta 20 dh</a:t>
              </a:r>
            </a:p>
          </p:txBody>
        </p:sp>
        <p:cxnSp>
          <p:nvCxnSpPr>
            <p:cNvPr id="82" name="Conector angular 51">
              <a:extLst>
                <a:ext uri="{FF2B5EF4-FFF2-40B4-BE49-F238E27FC236}">
                  <a16:creationId xmlns:a16="http://schemas.microsoft.com/office/drawing/2014/main" xmlns="" id="{488A7B93-A621-05F1-3169-B60CB750A8B4}"/>
                </a:ext>
              </a:extLst>
            </p:cNvPr>
            <p:cNvCxnSpPr>
              <a:stCxn id="22" idx="0"/>
              <a:endCxn id="27" idx="3"/>
            </p:cNvCxnSpPr>
            <p:nvPr/>
          </p:nvCxnSpPr>
          <p:spPr>
            <a:xfrm rot="16200000" flipV="1">
              <a:off x="6878117" y="2411889"/>
              <a:ext cx="151699" cy="1295194"/>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ector angular 52">
              <a:extLst>
                <a:ext uri="{FF2B5EF4-FFF2-40B4-BE49-F238E27FC236}">
                  <a16:creationId xmlns:a16="http://schemas.microsoft.com/office/drawing/2014/main" xmlns="" id="{583B8BC4-55EF-81B3-7C28-B67296517046}"/>
                </a:ext>
              </a:extLst>
            </p:cNvPr>
            <p:cNvCxnSpPr>
              <a:stCxn id="23" idx="0"/>
              <a:endCxn id="16" idx="3"/>
            </p:cNvCxnSpPr>
            <p:nvPr/>
          </p:nvCxnSpPr>
          <p:spPr>
            <a:xfrm rot="16200000" flipV="1">
              <a:off x="7011937" y="2987823"/>
              <a:ext cx="151798" cy="1029623"/>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4" name="CuadroTexto 83">
              <a:extLst>
                <a:ext uri="{FF2B5EF4-FFF2-40B4-BE49-F238E27FC236}">
                  <a16:creationId xmlns:a16="http://schemas.microsoft.com/office/drawing/2014/main" xmlns="" id="{1FCCCB79-84FA-7D5A-082A-CC50F738324B}"/>
                </a:ext>
              </a:extLst>
            </p:cNvPr>
            <p:cNvSpPr txBox="1"/>
            <p:nvPr/>
          </p:nvSpPr>
          <p:spPr>
            <a:xfrm flipH="1">
              <a:off x="4913042" y="5085184"/>
              <a:ext cx="223296" cy="175077"/>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85" name="Decisión 54">
              <a:extLst>
                <a:ext uri="{FF2B5EF4-FFF2-40B4-BE49-F238E27FC236}">
                  <a16:creationId xmlns:a16="http://schemas.microsoft.com/office/drawing/2014/main" xmlns="" id="{7F729FEF-64CD-8F46-EF0C-B8F69CF3EDE6}"/>
                </a:ext>
              </a:extLst>
            </p:cNvPr>
            <p:cNvSpPr/>
            <p:nvPr/>
          </p:nvSpPr>
          <p:spPr>
            <a:xfrm>
              <a:off x="5154906" y="5157192"/>
              <a:ext cx="846075" cy="347785"/>
            </a:xfrm>
            <a:prstGeom prst="flowChartDecision">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86" name="CuadroTexto 85">
              <a:extLst>
                <a:ext uri="{FF2B5EF4-FFF2-40B4-BE49-F238E27FC236}">
                  <a16:creationId xmlns:a16="http://schemas.microsoft.com/office/drawing/2014/main" xmlns="" id="{5D434D05-2F86-3833-2133-E1240AFC56BE}"/>
                </a:ext>
              </a:extLst>
            </p:cNvPr>
            <p:cNvSpPr txBox="1"/>
            <p:nvPr/>
          </p:nvSpPr>
          <p:spPr>
            <a:xfrm>
              <a:off x="6240396" y="5157192"/>
              <a:ext cx="1118649" cy="350156"/>
            </a:xfrm>
            <a:prstGeom prst="rect">
              <a:avLst/>
            </a:prstGeom>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87" name="CuadroTexto 86">
              <a:extLst>
                <a:ext uri="{FF2B5EF4-FFF2-40B4-BE49-F238E27FC236}">
                  <a16:creationId xmlns:a16="http://schemas.microsoft.com/office/drawing/2014/main" xmlns="" id="{90E6914F-0E8B-190E-DD1C-81BAABE832A8}"/>
                </a:ext>
              </a:extLst>
            </p:cNvPr>
            <p:cNvSpPr txBox="1"/>
            <p:nvPr/>
          </p:nvSpPr>
          <p:spPr>
            <a:xfrm>
              <a:off x="6318321" y="5733255"/>
              <a:ext cx="967949" cy="350156"/>
            </a:xfrm>
            <a:prstGeom prst="rect">
              <a:avLst/>
            </a:prstGeom>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defPPr>
                <a:defRPr lang="es-PE"/>
              </a:defPPr>
              <a:lvl1pPr algn="ctr">
                <a:defRPr sz="900">
                  <a:latin typeface="Calibri" panose="020F0502020204030204" pitchFamily="34" charset="0"/>
                  <a:cs typeface="Calibri" panose="020F0502020204030204" pitchFamily="34" charset="0"/>
                </a:defRPr>
              </a:lvl1pPr>
            </a:lstStyle>
            <a:p>
              <a:r>
                <a:rPr lang="es-PE" sz="1600" dirty="0">
                  <a:latin typeface="Inter" panose="020B0604020202020204" charset="0"/>
                  <a:ea typeface="Inter" panose="020B0604020202020204" charset="0"/>
                  <a:cs typeface="Arial" panose="020B0604020202020204" pitchFamily="34" charset="0"/>
                </a:rPr>
                <a:t>Subsana observaciones</a:t>
              </a:r>
            </a:p>
          </p:txBody>
        </p:sp>
        <p:sp>
          <p:nvSpPr>
            <p:cNvPr id="88" name="72 CuadroTexto">
              <a:extLst>
                <a:ext uri="{FF2B5EF4-FFF2-40B4-BE49-F238E27FC236}">
                  <a16:creationId xmlns:a16="http://schemas.microsoft.com/office/drawing/2014/main" xmlns="" id="{AB65BB9A-AF96-283D-FF0F-81A7324C9062}"/>
                </a:ext>
              </a:extLst>
            </p:cNvPr>
            <p:cNvSpPr txBox="1">
              <a:spLocks noChangeArrowheads="1"/>
            </p:cNvSpPr>
            <p:nvPr/>
          </p:nvSpPr>
          <p:spPr bwMode="auto">
            <a:xfrm>
              <a:off x="6877728" y="5556205"/>
              <a:ext cx="654714"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Hasta 20 dh</a:t>
              </a:r>
            </a:p>
          </p:txBody>
        </p:sp>
        <p:sp>
          <p:nvSpPr>
            <p:cNvPr id="89" name="CuadroTexto 88">
              <a:extLst>
                <a:ext uri="{FF2B5EF4-FFF2-40B4-BE49-F238E27FC236}">
                  <a16:creationId xmlns:a16="http://schemas.microsoft.com/office/drawing/2014/main" xmlns="" id="{CCDB884C-EF0C-F0C7-B832-44517A7A0171}"/>
                </a:ext>
              </a:extLst>
            </p:cNvPr>
            <p:cNvSpPr txBox="1"/>
            <p:nvPr/>
          </p:nvSpPr>
          <p:spPr>
            <a:xfrm>
              <a:off x="5937194" y="5085184"/>
              <a:ext cx="234136" cy="175077"/>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90" name="Conector recto de flecha 89">
              <a:extLst>
                <a:ext uri="{FF2B5EF4-FFF2-40B4-BE49-F238E27FC236}">
                  <a16:creationId xmlns:a16="http://schemas.microsoft.com/office/drawing/2014/main" xmlns="" id="{7F1B2534-1770-87B5-1720-39308A0350BE}"/>
                </a:ext>
              </a:extLst>
            </p:cNvPr>
            <p:cNvCxnSpPr>
              <a:stCxn id="86" idx="2"/>
              <a:endCxn id="87" idx="0"/>
            </p:cNvCxnSpPr>
            <p:nvPr/>
          </p:nvCxnSpPr>
          <p:spPr>
            <a:xfrm>
              <a:off x="6799721" y="5507348"/>
              <a:ext cx="2575" cy="225907"/>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1" name="72 CuadroTexto">
              <a:extLst>
                <a:ext uri="{FF2B5EF4-FFF2-40B4-BE49-F238E27FC236}">
                  <a16:creationId xmlns:a16="http://schemas.microsoft.com/office/drawing/2014/main" xmlns="" id="{9A5BB2EE-34D4-3A9E-AD14-16823DB713D1}"/>
                </a:ext>
              </a:extLst>
            </p:cNvPr>
            <p:cNvSpPr txBox="1">
              <a:spLocks noChangeArrowheads="1"/>
            </p:cNvSpPr>
            <p:nvPr/>
          </p:nvSpPr>
          <p:spPr bwMode="auto">
            <a:xfrm>
              <a:off x="6551456" y="4843018"/>
              <a:ext cx="496455"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92" name="Conector angular 61">
              <a:extLst>
                <a:ext uri="{FF2B5EF4-FFF2-40B4-BE49-F238E27FC236}">
                  <a16:creationId xmlns:a16="http://schemas.microsoft.com/office/drawing/2014/main" xmlns="" id="{4F4715C1-A069-3AFC-9870-605A3058FE76}"/>
                </a:ext>
              </a:extLst>
            </p:cNvPr>
            <p:cNvCxnSpPr>
              <a:stCxn id="91" idx="0"/>
              <a:endCxn id="17" idx="3"/>
            </p:cNvCxnSpPr>
            <p:nvPr/>
          </p:nvCxnSpPr>
          <p:spPr>
            <a:xfrm rot="16200000" flipV="1">
              <a:off x="6338554" y="4381889"/>
              <a:ext cx="547094" cy="375164"/>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Conector recto de flecha 92">
              <a:extLst>
                <a:ext uri="{FF2B5EF4-FFF2-40B4-BE49-F238E27FC236}">
                  <a16:creationId xmlns:a16="http://schemas.microsoft.com/office/drawing/2014/main" xmlns="" id="{0C7AEFBA-45E7-22F8-DC90-215655206E2A}"/>
                </a:ext>
              </a:extLst>
            </p:cNvPr>
            <p:cNvCxnSpPr>
              <a:stCxn id="91" idx="2"/>
              <a:endCxn id="86" idx="0"/>
            </p:cNvCxnSpPr>
            <p:nvPr/>
          </p:nvCxnSpPr>
          <p:spPr>
            <a:xfrm>
              <a:off x="6799683" y="5018095"/>
              <a:ext cx="38" cy="139097"/>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ector recto de flecha 93">
              <a:extLst>
                <a:ext uri="{FF2B5EF4-FFF2-40B4-BE49-F238E27FC236}">
                  <a16:creationId xmlns:a16="http://schemas.microsoft.com/office/drawing/2014/main" xmlns="" id="{6768D724-9C82-E114-0D65-5A0E36FE8463}"/>
                </a:ext>
              </a:extLst>
            </p:cNvPr>
            <p:cNvCxnSpPr>
              <a:stCxn id="85" idx="3"/>
              <a:endCxn id="86" idx="1"/>
            </p:cNvCxnSpPr>
            <p:nvPr/>
          </p:nvCxnSpPr>
          <p:spPr>
            <a:xfrm>
              <a:off x="6000981" y="5331085"/>
              <a:ext cx="239415" cy="1185"/>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Conector recto 2">
              <a:extLst>
                <a:ext uri="{FF2B5EF4-FFF2-40B4-BE49-F238E27FC236}">
                  <a16:creationId xmlns:a16="http://schemas.microsoft.com/office/drawing/2014/main" xmlns="" id="{ECBF725A-7443-B009-46B2-8B8CAB7AE069}"/>
                </a:ext>
              </a:extLst>
            </p:cNvPr>
            <p:cNvCxnSpPr>
              <a:cxnSpLocks noChangeShapeType="1"/>
              <a:stCxn id="69" idx="2"/>
              <a:endCxn id="71" idx="0"/>
            </p:cNvCxnSpPr>
            <p:nvPr/>
          </p:nvCxnSpPr>
          <p:spPr bwMode="auto">
            <a:xfrm>
              <a:off x="5554927" y="1932026"/>
              <a:ext cx="6464" cy="128126"/>
            </a:xfrm>
            <a:prstGeom prst="line">
              <a:avLst/>
            </a:prstGeom>
            <a:noFill/>
            <a:ln w="9525">
              <a:solidFill>
                <a:schemeClr val="accent2">
                  <a:lumMod val="50000"/>
                </a:schemeClr>
              </a:solidFill>
              <a:round/>
              <a:headEnd/>
              <a:tailEnd/>
            </a:ln>
            <a:extLst>
              <a:ext uri="{909E8E84-426E-40DD-AFC4-6F175D3DCCD1}">
                <a14:hiddenFill xmlns:a14="http://schemas.microsoft.com/office/drawing/2010/main">
                  <a:noFill/>
                </a14:hiddenFill>
              </a:ext>
            </a:extLst>
          </p:spPr>
        </p:cxnSp>
        <p:sp>
          <p:nvSpPr>
            <p:cNvPr id="96" name="Rectángulo 95">
              <a:extLst>
                <a:ext uri="{FF2B5EF4-FFF2-40B4-BE49-F238E27FC236}">
                  <a16:creationId xmlns:a16="http://schemas.microsoft.com/office/drawing/2014/main" xmlns="" id="{168F3C7F-6A03-C052-BEE7-8B0F8F0E7500}"/>
                </a:ext>
              </a:extLst>
            </p:cNvPr>
            <p:cNvSpPr/>
            <p:nvPr/>
          </p:nvSpPr>
          <p:spPr>
            <a:xfrm>
              <a:off x="4827843" y="5733255"/>
              <a:ext cx="1328333" cy="350156"/>
            </a:xfrm>
            <a:prstGeom prst="rect">
              <a:avLst/>
            </a:prstGeom>
            <a:ln w="12700">
              <a:solidFill>
                <a:schemeClr val="accent2">
                  <a:lumMod val="50000"/>
                </a:schemeClr>
              </a:solidFill>
            </a:ln>
          </p:spPr>
          <p:style>
            <a:lnRef idx="2">
              <a:schemeClr val="accent5"/>
            </a:lnRef>
            <a:fillRef idx="1">
              <a:schemeClr val="lt1"/>
            </a:fillRef>
            <a:effectRef idx="0">
              <a:schemeClr val="accent5"/>
            </a:effectRef>
            <a:fontRef idx="minor">
              <a:schemeClr val="dk1"/>
            </a:fontRef>
          </p:style>
          <p:txBody>
            <a:bodyPr wrap="square" lIns="0" tIns="0" rIns="0" bIns="0">
              <a:spAutoFit/>
            </a:bodyPr>
            <a:lstStyle/>
            <a:p>
              <a:pPr marL="0" lvl="1"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Informe favorable que Aprueba el proyecto</a:t>
              </a:r>
            </a:p>
          </p:txBody>
        </p:sp>
        <p:sp>
          <p:nvSpPr>
            <p:cNvPr id="97" name="CuadroTexto 96">
              <a:extLst>
                <a:ext uri="{FF2B5EF4-FFF2-40B4-BE49-F238E27FC236}">
                  <a16:creationId xmlns:a16="http://schemas.microsoft.com/office/drawing/2014/main" xmlns="" id="{642A51E0-ABEE-0422-49B2-7B502A3A5B9F}"/>
                </a:ext>
              </a:extLst>
            </p:cNvPr>
            <p:cNvSpPr txBox="1"/>
            <p:nvPr/>
          </p:nvSpPr>
          <p:spPr>
            <a:xfrm>
              <a:off x="3250042" y="4005064"/>
              <a:ext cx="645880" cy="216087"/>
            </a:xfrm>
            <a:prstGeom prst="rect">
              <a:avLst/>
            </a:prstGeom>
            <a:solidFill>
              <a:schemeClr val="accent4">
                <a:lumMod val="20000"/>
                <a:lumOff val="80000"/>
              </a:schemeClr>
            </a:solidFill>
            <a:ln w="12700">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lIns="36000" tIns="36000" rIns="36000" bIns="36000" anchor="ctr"/>
            <a:lstStyle>
              <a:defPPr>
                <a:defRPr lang="es-PE"/>
              </a:defPPr>
              <a:lvl1pPr algn="ctr">
                <a:defRPr sz="1000">
                  <a:solidFill>
                    <a:srgbClr val="000000"/>
                  </a:solidFill>
                  <a:latin typeface="Calibri" panose="020F0502020204030204" pitchFamily="34" charset="0"/>
                  <a:cs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PE" sz="1600" dirty="0">
                  <a:latin typeface="Inter" panose="020B0604020202020204" charset="0"/>
                  <a:ea typeface="Inter" panose="020B0604020202020204" charset="0"/>
                  <a:cs typeface="Arial" panose="020B0604020202020204" pitchFamily="34" charset="0"/>
                </a:rPr>
                <a:t>Oposición</a:t>
              </a:r>
            </a:p>
          </p:txBody>
        </p:sp>
        <p:sp>
          <p:nvSpPr>
            <p:cNvPr id="98" name="72 CuadroTexto">
              <a:extLst>
                <a:ext uri="{FF2B5EF4-FFF2-40B4-BE49-F238E27FC236}">
                  <a16:creationId xmlns:a16="http://schemas.microsoft.com/office/drawing/2014/main" xmlns="" id="{C835A5EC-AA8C-6B21-21CE-E6D8EE8E56ED}"/>
                </a:ext>
              </a:extLst>
            </p:cNvPr>
            <p:cNvSpPr txBox="1">
              <a:spLocks noChangeArrowheads="1"/>
            </p:cNvSpPr>
            <p:nvPr/>
          </p:nvSpPr>
          <p:spPr bwMode="auto">
            <a:xfrm>
              <a:off x="3819636" y="3665996"/>
              <a:ext cx="464300" cy="17507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15 dh</a:t>
              </a:r>
            </a:p>
          </p:txBody>
        </p:sp>
        <p:sp>
          <p:nvSpPr>
            <p:cNvPr id="99" name="25 Rectángulo">
              <a:extLst>
                <a:ext uri="{FF2B5EF4-FFF2-40B4-BE49-F238E27FC236}">
                  <a16:creationId xmlns:a16="http://schemas.microsoft.com/office/drawing/2014/main" xmlns="" id="{E59822DE-B985-055F-CA14-356424A23CF3}"/>
                </a:ext>
              </a:extLst>
            </p:cNvPr>
            <p:cNvSpPr/>
            <p:nvPr/>
          </p:nvSpPr>
          <p:spPr>
            <a:xfrm>
              <a:off x="1576727" y="3239772"/>
              <a:ext cx="1350375" cy="700310"/>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Se declara improcedente la solicitud  o  se repone a estado de volver a evaluar.</a:t>
              </a:r>
            </a:p>
          </p:txBody>
        </p:sp>
        <p:cxnSp>
          <p:nvCxnSpPr>
            <p:cNvPr id="100" name="Conector recto 99">
              <a:extLst>
                <a:ext uri="{FF2B5EF4-FFF2-40B4-BE49-F238E27FC236}">
                  <a16:creationId xmlns:a16="http://schemas.microsoft.com/office/drawing/2014/main" xmlns="" id="{5271D4EB-344C-618E-7F91-AB827240343B}"/>
                </a:ext>
              </a:extLst>
            </p:cNvPr>
            <p:cNvCxnSpPr>
              <a:stCxn id="29" idx="2"/>
              <a:endCxn id="85" idx="0"/>
            </p:cNvCxnSpPr>
            <p:nvPr/>
          </p:nvCxnSpPr>
          <p:spPr>
            <a:xfrm flipH="1">
              <a:off x="5577943" y="4972228"/>
              <a:ext cx="1" cy="184963"/>
            </a:xfrm>
            <a:prstGeom prst="line">
              <a:avLst/>
            </a:prstGeom>
            <a:ln w="12700">
              <a:solidFill>
                <a:schemeClr val="accent2">
                  <a:lumMod val="50000"/>
                </a:schemeClr>
              </a:solidFill>
            </a:ln>
          </p:spPr>
          <p:style>
            <a:lnRef idx="3">
              <a:schemeClr val="accent6"/>
            </a:lnRef>
            <a:fillRef idx="0">
              <a:schemeClr val="accent6"/>
            </a:fillRef>
            <a:effectRef idx="2">
              <a:schemeClr val="accent6"/>
            </a:effectRef>
            <a:fontRef idx="minor">
              <a:schemeClr val="tx1"/>
            </a:fontRef>
          </p:style>
        </p:cxnSp>
        <p:cxnSp>
          <p:nvCxnSpPr>
            <p:cNvPr id="101" name="Conector angular 70">
              <a:extLst>
                <a:ext uri="{FF2B5EF4-FFF2-40B4-BE49-F238E27FC236}">
                  <a16:creationId xmlns:a16="http://schemas.microsoft.com/office/drawing/2014/main" xmlns="" id="{3193744A-F6F2-9437-40D7-1D9E7F1303B2}"/>
                </a:ext>
              </a:extLst>
            </p:cNvPr>
            <p:cNvCxnSpPr>
              <a:stCxn id="18" idx="1"/>
              <a:endCxn id="97" idx="0"/>
            </p:cNvCxnSpPr>
            <p:nvPr/>
          </p:nvCxnSpPr>
          <p:spPr>
            <a:xfrm rot="10800000" flipV="1">
              <a:off x="3572983" y="3824982"/>
              <a:ext cx="988169" cy="180082"/>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2" name="Decisión 71">
              <a:extLst>
                <a:ext uri="{FF2B5EF4-FFF2-40B4-BE49-F238E27FC236}">
                  <a16:creationId xmlns:a16="http://schemas.microsoft.com/office/drawing/2014/main" xmlns="" id="{73AAD7B1-D647-B3E9-8A49-59D5B91F979A}"/>
                </a:ext>
              </a:extLst>
            </p:cNvPr>
            <p:cNvSpPr/>
            <p:nvPr/>
          </p:nvSpPr>
          <p:spPr>
            <a:xfrm>
              <a:off x="2937577" y="4269676"/>
              <a:ext cx="1266546" cy="347785"/>
            </a:xfrm>
            <a:prstGeom prst="flowChartDecision">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nchor="ctr" anchorCtr="0">
              <a:spAutoFit/>
            </a:bodyPr>
            <a:lstStyle/>
            <a:p>
              <a:pPr algn="ctr"/>
              <a:r>
                <a:rPr lang="es-PE" sz="1600" dirty="0">
                  <a:solidFill>
                    <a:srgbClr val="000000"/>
                  </a:solidFill>
                  <a:latin typeface="Inter" panose="020B0604020202020204" charset="0"/>
                  <a:ea typeface="Inter" panose="020B0604020202020204" charset="0"/>
                  <a:cs typeface="Arial" panose="020B0604020202020204" pitchFamily="34" charset="0"/>
                </a:rPr>
                <a:t>Resolución</a:t>
              </a:r>
            </a:p>
          </p:txBody>
        </p:sp>
        <p:cxnSp>
          <p:nvCxnSpPr>
            <p:cNvPr id="103" name="Conector recto 102">
              <a:extLst>
                <a:ext uri="{FF2B5EF4-FFF2-40B4-BE49-F238E27FC236}">
                  <a16:creationId xmlns:a16="http://schemas.microsoft.com/office/drawing/2014/main" xmlns="" id="{1382C4C4-D9B6-3695-5B27-C360F318CF49}"/>
                </a:ext>
              </a:extLst>
            </p:cNvPr>
            <p:cNvCxnSpPr>
              <a:stCxn id="97" idx="2"/>
              <a:endCxn id="102" idx="0"/>
            </p:cNvCxnSpPr>
            <p:nvPr/>
          </p:nvCxnSpPr>
          <p:spPr>
            <a:xfrm flipH="1">
              <a:off x="3570850" y="4221151"/>
              <a:ext cx="2132" cy="48525"/>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4" name="56 Rectángulo">
              <a:extLst>
                <a:ext uri="{FF2B5EF4-FFF2-40B4-BE49-F238E27FC236}">
                  <a16:creationId xmlns:a16="http://schemas.microsoft.com/office/drawing/2014/main" xmlns="" id="{7C3F373D-3C82-AFD2-BD41-0C13A8399754}"/>
                </a:ext>
              </a:extLst>
            </p:cNvPr>
            <p:cNvSpPr/>
            <p:nvPr/>
          </p:nvSpPr>
          <p:spPr>
            <a:xfrm>
              <a:off x="2496507" y="4581128"/>
              <a:ext cx="569591" cy="175077"/>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Fundada</a:t>
              </a:r>
            </a:p>
          </p:txBody>
        </p:sp>
        <p:sp>
          <p:nvSpPr>
            <p:cNvPr id="105" name="56 Rectángulo">
              <a:extLst>
                <a:ext uri="{FF2B5EF4-FFF2-40B4-BE49-F238E27FC236}">
                  <a16:creationId xmlns:a16="http://schemas.microsoft.com/office/drawing/2014/main" xmlns="" id="{1EDCE385-2A5C-ABB5-82C8-72718A599D8C}"/>
                </a:ext>
              </a:extLst>
            </p:cNvPr>
            <p:cNvSpPr/>
            <p:nvPr/>
          </p:nvSpPr>
          <p:spPr>
            <a:xfrm>
              <a:off x="4129067" y="4581128"/>
              <a:ext cx="658957" cy="175077"/>
            </a:xfrm>
            <a:prstGeom prst="rect">
              <a:avLst/>
            </a:prstGeom>
            <a:solidFill>
              <a:schemeClr val="accent2">
                <a:lumMod val="20000"/>
                <a:lumOff val="8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Infundada</a:t>
              </a:r>
            </a:p>
          </p:txBody>
        </p:sp>
        <p:cxnSp>
          <p:nvCxnSpPr>
            <p:cNvPr id="106" name="Conector angular 75">
              <a:extLst>
                <a:ext uri="{FF2B5EF4-FFF2-40B4-BE49-F238E27FC236}">
                  <a16:creationId xmlns:a16="http://schemas.microsoft.com/office/drawing/2014/main" xmlns="" id="{8E56DF76-F11F-D310-E702-C246008962D6}"/>
                </a:ext>
              </a:extLst>
            </p:cNvPr>
            <p:cNvCxnSpPr>
              <a:stCxn id="105" idx="3"/>
              <a:endCxn id="29" idx="0"/>
            </p:cNvCxnSpPr>
            <p:nvPr/>
          </p:nvCxnSpPr>
          <p:spPr>
            <a:xfrm>
              <a:off x="4788024" y="4668666"/>
              <a:ext cx="789920" cy="12848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Conector angular 76">
              <a:extLst>
                <a:ext uri="{FF2B5EF4-FFF2-40B4-BE49-F238E27FC236}">
                  <a16:creationId xmlns:a16="http://schemas.microsoft.com/office/drawing/2014/main" xmlns="" id="{0C7B0B76-B7C9-585A-29CC-80774ACAB0A0}"/>
                </a:ext>
              </a:extLst>
            </p:cNvPr>
            <p:cNvCxnSpPr>
              <a:cxnSpLocks/>
              <a:stCxn id="29" idx="1"/>
              <a:endCxn id="26" idx="0"/>
            </p:cNvCxnSpPr>
            <p:nvPr/>
          </p:nvCxnSpPr>
          <p:spPr>
            <a:xfrm rot="10800000" flipV="1">
              <a:off x="3024235" y="4884690"/>
              <a:ext cx="2123377" cy="52527"/>
            </a:xfrm>
            <a:prstGeom prst="bentConnector2">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 name="Conector angular 77">
              <a:extLst>
                <a:ext uri="{FF2B5EF4-FFF2-40B4-BE49-F238E27FC236}">
                  <a16:creationId xmlns:a16="http://schemas.microsoft.com/office/drawing/2014/main" xmlns="" id="{740F7ABA-7DC5-EA9E-CB60-DA3943B90990}"/>
                </a:ext>
              </a:extLst>
            </p:cNvPr>
            <p:cNvCxnSpPr>
              <a:stCxn id="102" idx="3"/>
              <a:endCxn id="105" idx="0"/>
            </p:cNvCxnSpPr>
            <p:nvPr/>
          </p:nvCxnSpPr>
          <p:spPr>
            <a:xfrm>
              <a:off x="4204123" y="4443569"/>
              <a:ext cx="254423" cy="137559"/>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ector angular 78">
              <a:extLst>
                <a:ext uri="{FF2B5EF4-FFF2-40B4-BE49-F238E27FC236}">
                  <a16:creationId xmlns:a16="http://schemas.microsoft.com/office/drawing/2014/main" xmlns="" id="{85EDAB9E-07D0-71B8-C7C8-E53A4CA62D6C}"/>
                </a:ext>
              </a:extLst>
            </p:cNvPr>
            <p:cNvCxnSpPr>
              <a:stCxn id="102" idx="1"/>
              <a:endCxn id="104" idx="0"/>
            </p:cNvCxnSpPr>
            <p:nvPr/>
          </p:nvCxnSpPr>
          <p:spPr>
            <a:xfrm rot="10800000" flipV="1">
              <a:off x="2781303" y="4443568"/>
              <a:ext cx="156274" cy="137559"/>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ector angular 79">
              <a:extLst>
                <a:ext uri="{FF2B5EF4-FFF2-40B4-BE49-F238E27FC236}">
                  <a16:creationId xmlns:a16="http://schemas.microsoft.com/office/drawing/2014/main" xmlns="" id="{E4C78EF2-ADA9-2C93-404B-B5EF9B9C8294}"/>
                </a:ext>
              </a:extLst>
            </p:cNvPr>
            <p:cNvCxnSpPr>
              <a:cxnSpLocks/>
              <a:stCxn id="104" idx="1"/>
              <a:endCxn id="99" idx="2"/>
            </p:cNvCxnSpPr>
            <p:nvPr/>
          </p:nvCxnSpPr>
          <p:spPr>
            <a:xfrm rot="10800000">
              <a:off x="2251915" y="3940082"/>
              <a:ext cx="244593" cy="72858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Conector angular 80">
              <a:extLst>
                <a:ext uri="{FF2B5EF4-FFF2-40B4-BE49-F238E27FC236}">
                  <a16:creationId xmlns:a16="http://schemas.microsoft.com/office/drawing/2014/main" xmlns="" id="{B3AAAB5F-E7B0-E62D-1D52-12BD1E5F129A}"/>
                </a:ext>
              </a:extLst>
            </p:cNvPr>
            <p:cNvCxnSpPr>
              <a:stCxn id="85" idx="1"/>
              <a:endCxn id="96" idx="1"/>
            </p:cNvCxnSpPr>
            <p:nvPr/>
          </p:nvCxnSpPr>
          <p:spPr>
            <a:xfrm rot="10800000" flipV="1">
              <a:off x="4827843" y="5331085"/>
              <a:ext cx="327063" cy="577248"/>
            </a:xfrm>
            <a:prstGeom prst="bentConnector3">
              <a:avLst>
                <a:gd name="adj1" fmla="val 13692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ector recto de flecha 111">
              <a:extLst>
                <a:ext uri="{FF2B5EF4-FFF2-40B4-BE49-F238E27FC236}">
                  <a16:creationId xmlns:a16="http://schemas.microsoft.com/office/drawing/2014/main" xmlns="" id="{6F2BCE56-8A67-9290-3CBC-DC46495EF33A}"/>
                </a:ext>
              </a:extLst>
            </p:cNvPr>
            <p:cNvCxnSpPr>
              <a:stCxn id="87" idx="1"/>
              <a:endCxn id="96" idx="3"/>
            </p:cNvCxnSpPr>
            <p:nvPr/>
          </p:nvCxnSpPr>
          <p:spPr>
            <a:xfrm flipH="1">
              <a:off x="6156176" y="5908333"/>
              <a:ext cx="162145" cy="0"/>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ector recto de flecha 112">
              <a:extLst>
                <a:ext uri="{FF2B5EF4-FFF2-40B4-BE49-F238E27FC236}">
                  <a16:creationId xmlns:a16="http://schemas.microsoft.com/office/drawing/2014/main" xmlns="" id="{61AE8D8B-731C-7259-837F-692665E7D508}"/>
                </a:ext>
              </a:extLst>
            </p:cNvPr>
            <p:cNvCxnSpPr>
              <a:stCxn id="96" idx="2"/>
              <a:endCxn id="34" idx="0"/>
            </p:cNvCxnSpPr>
            <p:nvPr/>
          </p:nvCxnSpPr>
          <p:spPr>
            <a:xfrm>
              <a:off x="5492010" y="6083411"/>
              <a:ext cx="8269" cy="217097"/>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ector recto 113">
              <a:extLst>
                <a:ext uri="{FF2B5EF4-FFF2-40B4-BE49-F238E27FC236}">
                  <a16:creationId xmlns:a16="http://schemas.microsoft.com/office/drawing/2014/main" xmlns="" id="{69B4E90A-880D-5518-EFEE-0CAB3EED213E}"/>
                </a:ext>
              </a:extLst>
            </p:cNvPr>
            <p:cNvCxnSpPr>
              <a:stCxn id="69" idx="2"/>
              <a:endCxn id="71" idx="0"/>
            </p:cNvCxnSpPr>
            <p:nvPr/>
          </p:nvCxnSpPr>
          <p:spPr>
            <a:xfrm>
              <a:off x="5554927" y="1932026"/>
              <a:ext cx="6464" cy="128126"/>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784937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F22EC15-3A0E-E660-80B2-7BB9378CCE03}"/>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77F065CF-1942-B901-ADCC-93A965226697}"/>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E1481986-CC78-0DF0-3093-7E80D3B7617C}"/>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DED4E1BB-0592-0B19-0C55-28FA1384524D}"/>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concesión de beneficio con ampliación de la capacidad instalada y sin ampliación de área aprobada</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460F0A28-38D9-832E-6237-1FFB6C1FD076}"/>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87, 87.4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noventa (90)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positivo.</a:t>
            </a:r>
          </a:p>
        </p:txBody>
      </p:sp>
      <p:grpSp>
        <p:nvGrpSpPr>
          <p:cNvPr id="8" name="Group 2">
            <a:extLst>
              <a:ext uri="{FF2B5EF4-FFF2-40B4-BE49-F238E27FC236}">
                <a16:creationId xmlns:a16="http://schemas.microsoft.com/office/drawing/2014/main" xmlns="" id="{9E01725E-8B79-0320-473A-5469829470B7}"/>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A1CB1CB5-E2F6-ED90-0CB0-DE6FECF5F36D}"/>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7830FA67-79A7-E5EA-F809-1C6374855CB2}"/>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grpSp>
        <p:nvGrpSpPr>
          <p:cNvPr id="6" name="Grupo 5">
            <a:extLst>
              <a:ext uri="{FF2B5EF4-FFF2-40B4-BE49-F238E27FC236}">
                <a16:creationId xmlns:a16="http://schemas.microsoft.com/office/drawing/2014/main" xmlns="" id="{F8EF28BF-AB40-2884-6059-D67776F823E4}"/>
              </a:ext>
            </a:extLst>
          </p:cNvPr>
          <p:cNvGrpSpPr/>
          <p:nvPr/>
        </p:nvGrpSpPr>
        <p:grpSpPr>
          <a:xfrm>
            <a:off x="4298511" y="495300"/>
            <a:ext cx="11093889" cy="8932494"/>
            <a:chOff x="2577825" y="933292"/>
            <a:chExt cx="4179493" cy="5369069"/>
          </a:xfrm>
        </p:grpSpPr>
        <p:sp>
          <p:nvSpPr>
            <p:cNvPr id="7" name="3 Elipse">
              <a:extLst>
                <a:ext uri="{FF2B5EF4-FFF2-40B4-BE49-F238E27FC236}">
                  <a16:creationId xmlns:a16="http://schemas.microsoft.com/office/drawing/2014/main" xmlns="" id="{DB16F80E-F169-7AC8-2584-85C8A8139445}"/>
                </a:ext>
              </a:extLst>
            </p:cNvPr>
            <p:cNvSpPr/>
            <p:nvPr/>
          </p:nvSpPr>
          <p:spPr bwMode="auto">
            <a:xfrm>
              <a:off x="4095476" y="933292"/>
              <a:ext cx="1403350" cy="760412"/>
            </a:xfrm>
            <a:prstGeom prst="ellipse">
              <a:avLst/>
            </a:prstGeom>
            <a:solidFill>
              <a:srgbClr val="92D050"/>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35" name="5 Conector recto de flecha">
              <a:extLst>
                <a:ext uri="{FF2B5EF4-FFF2-40B4-BE49-F238E27FC236}">
                  <a16:creationId xmlns:a16="http://schemas.microsoft.com/office/drawing/2014/main" xmlns="" id="{154FD4CD-7167-EEB3-DC44-3360541E2924}"/>
                </a:ext>
              </a:extLst>
            </p:cNvPr>
            <p:cNvCxnSpPr>
              <a:cxnSpLocks/>
              <a:stCxn id="7" idx="4"/>
              <a:endCxn id="37" idx="0"/>
            </p:cNvCxnSpPr>
            <p:nvPr/>
          </p:nvCxnSpPr>
          <p:spPr bwMode="auto">
            <a:xfrm>
              <a:off x="4797151" y="1693704"/>
              <a:ext cx="3175" cy="360363"/>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36" name="72 CuadroTexto">
              <a:extLst>
                <a:ext uri="{FF2B5EF4-FFF2-40B4-BE49-F238E27FC236}">
                  <a16:creationId xmlns:a16="http://schemas.microsoft.com/office/drawing/2014/main" xmlns="" id="{550056F1-42C7-A9E6-343A-B655DEA1801A}"/>
                </a:ext>
              </a:extLst>
            </p:cNvPr>
            <p:cNvSpPr txBox="1">
              <a:spLocks noChangeArrowheads="1"/>
            </p:cNvSpPr>
            <p:nvPr/>
          </p:nvSpPr>
          <p:spPr bwMode="auto">
            <a:xfrm>
              <a:off x="6270825" y="3407220"/>
              <a:ext cx="486493" cy="203495"/>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90 dh</a:t>
              </a:r>
            </a:p>
          </p:txBody>
        </p:sp>
        <p:sp>
          <p:nvSpPr>
            <p:cNvPr id="37" name="24 Rectángulo">
              <a:extLst>
                <a:ext uri="{FF2B5EF4-FFF2-40B4-BE49-F238E27FC236}">
                  <a16:creationId xmlns:a16="http://schemas.microsoft.com/office/drawing/2014/main" xmlns="" id="{9C61C3F0-FA61-A672-1E2E-B7ADE4AC232E}"/>
                </a:ext>
              </a:extLst>
            </p:cNvPr>
            <p:cNvSpPr/>
            <p:nvPr/>
          </p:nvSpPr>
          <p:spPr bwMode="auto">
            <a:xfrm>
              <a:off x="3990701" y="2054067"/>
              <a:ext cx="1619250" cy="585787"/>
            </a:xfrm>
            <a:prstGeom prst="rect">
              <a:avLst/>
            </a:prstGeom>
            <a:solidFill>
              <a:schemeClr val="accent5">
                <a:lumMod val="20000"/>
                <a:lumOff val="80000"/>
              </a:schemeClr>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sp>
          <p:nvSpPr>
            <p:cNvPr id="38" name="56 Rectángulo">
              <a:extLst>
                <a:ext uri="{FF2B5EF4-FFF2-40B4-BE49-F238E27FC236}">
                  <a16:creationId xmlns:a16="http://schemas.microsoft.com/office/drawing/2014/main" xmlns="" id="{7C3F8832-7BFD-AD07-C9CB-84BA97652976}"/>
                </a:ext>
              </a:extLst>
            </p:cNvPr>
            <p:cNvSpPr/>
            <p:nvPr/>
          </p:nvSpPr>
          <p:spPr bwMode="auto">
            <a:xfrm>
              <a:off x="2577825" y="2765267"/>
              <a:ext cx="1330929" cy="1205756"/>
            </a:xfrm>
            <a:prstGeom prst="rect">
              <a:avLst/>
            </a:prstGeom>
            <a:solidFill>
              <a:srgbClr val="FF9933"/>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Derecho de vigencia</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Memoria descriptiva y Estudio Técnico del proyecto</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Arial" panose="020B0604020202020204" pitchFamily="34" charset="0"/>
                </a:rPr>
                <a:t>Instrumento de Gestion ambiental aprobado.</a:t>
              </a:r>
            </a:p>
          </p:txBody>
        </p:sp>
        <p:sp>
          <p:nvSpPr>
            <p:cNvPr id="39" name="56 Rectángulo">
              <a:extLst>
                <a:ext uri="{FF2B5EF4-FFF2-40B4-BE49-F238E27FC236}">
                  <a16:creationId xmlns:a16="http://schemas.microsoft.com/office/drawing/2014/main" xmlns="" id="{67A467D5-6EC8-7494-CE99-DD181A9C616A}"/>
                </a:ext>
              </a:extLst>
            </p:cNvPr>
            <p:cNvSpPr/>
            <p:nvPr/>
          </p:nvSpPr>
          <p:spPr bwMode="auto">
            <a:xfrm>
              <a:off x="4418564" y="3193295"/>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40" name="177 Conector recto de flecha">
              <a:extLst>
                <a:ext uri="{FF2B5EF4-FFF2-40B4-BE49-F238E27FC236}">
                  <a16:creationId xmlns:a16="http://schemas.microsoft.com/office/drawing/2014/main" xmlns="" id="{24446238-0D1A-83E1-751F-04B9BD8F0397}"/>
                </a:ext>
              </a:extLst>
            </p:cNvPr>
            <p:cNvCxnSpPr>
              <a:cxnSpLocks/>
              <a:stCxn id="48" idx="2"/>
              <a:endCxn id="42" idx="0"/>
            </p:cNvCxnSpPr>
            <p:nvPr/>
          </p:nvCxnSpPr>
          <p:spPr bwMode="auto">
            <a:xfrm>
              <a:off x="4809058" y="4265012"/>
              <a:ext cx="22232" cy="1241866"/>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41" name="177 Conector recto de flecha">
              <a:extLst>
                <a:ext uri="{FF2B5EF4-FFF2-40B4-BE49-F238E27FC236}">
                  <a16:creationId xmlns:a16="http://schemas.microsoft.com/office/drawing/2014/main" xmlns="" id="{49D4C120-E596-EE04-D53A-274C919FEC3A}"/>
                </a:ext>
              </a:extLst>
            </p:cNvPr>
            <p:cNvCxnSpPr>
              <a:cxnSpLocks/>
              <a:stCxn id="37" idx="2"/>
              <a:endCxn id="39" idx="0"/>
            </p:cNvCxnSpPr>
            <p:nvPr/>
          </p:nvCxnSpPr>
          <p:spPr bwMode="auto">
            <a:xfrm>
              <a:off x="4800326" y="2639854"/>
              <a:ext cx="4000" cy="553441"/>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42" name="CuadroTexto 41">
              <a:extLst>
                <a:ext uri="{FF2B5EF4-FFF2-40B4-BE49-F238E27FC236}">
                  <a16:creationId xmlns:a16="http://schemas.microsoft.com/office/drawing/2014/main" xmlns="" id="{A5832388-9A6E-07C6-B2DC-A1E84CD0EA91}"/>
                </a:ext>
              </a:extLst>
            </p:cNvPr>
            <p:cNvSpPr txBox="1"/>
            <p:nvPr/>
          </p:nvSpPr>
          <p:spPr bwMode="auto">
            <a:xfrm>
              <a:off x="3551168" y="5506879"/>
              <a:ext cx="2560244" cy="795482"/>
            </a:xfrm>
            <a:prstGeom prst="rect">
              <a:avLst/>
            </a:prstGeom>
            <a:ln w="12700">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600" dirty="0">
                  <a:solidFill>
                    <a:srgbClr val="000000"/>
                  </a:solidFill>
                  <a:latin typeface="Inter" panose="020B0604020202020204" charset="0"/>
                  <a:ea typeface="Inter" panose="020B0604020202020204" charset="0"/>
                  <a:cs typeface="Arial" panose="020B0604020202020204" pitchFamily="34" charset="0"/>
                </a:rPr>
                <a:t>Resolución que: </a:t>
              </a:r>
            </a:p>
            <a:p>
              <a:pPr marL="180975" indent="-180975" algn="just">
                <a:buNone/>
              </a:pPr>
              <a:r>
                <a:rPr lang="es-PE" sz="1600" dirty="0">
                  <a:latin typeface="Inter" panose="020B0604020202020204" charset="0"/>
                  <a:ea typeface="Inter" panose="020B0604020202020204" charset="0"/>
                </a:rPr>
                <a:t>1. Aprobar el proyecto de modificación de concesión de beneficio.</a:t>
              </a:r>
            </a:p>
            <a:p>
              <a:pPr marL="180975" indent="-180975" algn="just">
                <a:buNone/>
              </a:pPr>
              <a:r>
                <a:rPr lang="es-PE" sz="1600" dirty="0">
                  <a:latin typeface="Inter" panose="020B0604020202020204" charset="0"/>
                  <a:ea typeface="Inter" panose="020B0604020202020204" charset="0"/>
                </a:rPr>
                <a:t>2. Aprueba la ampliación de la capacidad instalada, de ser el caso.</a:t>
              </a:r>
            </a:p>
            <a:p>
              <a:pPr marL="180975" indent="-180975" algn="just">
                <a:buNone/>
              </a:pPr>
              <a:r>
                <a:rPr lang="es-PE" sz="1600" dirty="0">
                  <a:latin typeface="Inter" panose="020B0604020202020204" charset="0"/>
                  <a:ea typeface="Inter" panose="020B0604020202020204" charset="0"/>
                </a:rPr>
                <a:t>3. Autoriza la construcción y/o instalación del proyecto de modificación y sus demás componentes</a:t>
              </a:r>
              <a:endParaRPr lang="es-PE" sz="1600" dirty="0">
                <a:solidFill>
                  <a:srgbClr val="000000"/>
                </a:solidFill>
                <a:latin typeface="Inter" panose="020B0604020202020204" charset="0"/>
                <a:ea typeface="Inter" panose="020B0604020202020204" charset="0"/>
                <a:cs typeface="Arial" panose="020B0604020202020204" pitchFamily="34" charset="0"/>
              </a:endParaRPr>
            </a:p>
          </p:txBody>
        </p:sp>
        <p:cxnSp>
          <p:nvCxnSpPr>
            <p:cNvPr id="43" name="Conector: angular 449">
              <a:extLst>
                <a:ext uri="{FF2B5EF4-FFF2-40B4-BE49-F238E27FC236}">
                  <a16:creationId xmlns:a16="http://schemas.microsoft.com/office/drawing/2014/main" xmlns="" id="{33E9436C-A7BD-BB1D-0ED7-D871E5D8E855}"/>
                </a:ext>
              </a:extLst>
            </p:cNvPr>
            <p:cNvCxnSpPr>
              <a:cxnSpLocks/>
              <a:stCxn id="36" idx="0"/>
              <a:endCxn id="7" idx="6"/>
            </p:cNvCxnSpPr>
            <p:nvPr/>
          </p:nvCxnSpPr>
          <p:spPr bwMode="auto">
            <a:xfrm rot="16200000" flipV="1">
              <a:off x="4959588" y="1852737"/>
              <a:ext cx="2093722" cy="1015246"/>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angular 451">
              <a:extLst>
                <a:ext uri="{FF2B5EF4-FFF2-40B4-BE49-F238E27FC236}">
                  <a16:creationId xmlns:a16="http://schemas.microsoft.com/office/drawing/2014/main" xmlns="" id="{0F7E246A-393A-0D78-D850-3B2D0E2E8049}"/>
                </a:ext>
              </a:extLst>
            </p:cNvPr>
            <p:cNvCxnSpPr>
              <a:cxnSpLocks/>
              <a:stCxn id="36" idx="2"/>
              <a:endCxn id="42" idx="3"/>
            </p:cNvCxnSpPr>
            <p:nvPr/>
          </p:nvCxnSpPr>
          <p:spPr bwMode="auto">
            <a:xfrm rot="5400000">
              <a:off x="5165790" y="4556338"/>
              <a:ext cx="2293905" cy="402660"/>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3">
              <a:extLst>
                <a:ext uri="{FF2B5EF4-FFF2-40B4-BE49-F238E27FC236}">
                  <a16:creationId xmlns:a16="http://schemas.microsoft.com/office/drawing/2014/main" xmlns="" id="{F8B7CEEE-9864-6D33-5604-C15E5DD796F4}"/>
                </a:ext>
              </a:extLst>
            </p:cNvPr>
            <p:cNvCxnSpPr>
              <a:cxnSpLocks/>
              <a:stCxn id="37" idx="1"/>
              <a:endCxn id="38" idx="0"/>
            </p:cNvCxnSpPr>
            <p:nvPr/>
          </p:nvCxnSpPr>
          <p:spPr bwMode="auto">
            <a:xfrm rot="10800000" flipV="1">
              <a:off x="3243290" y="2346961"/>
              <a:ext cx="747412" cy="418305"/>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xmlns="" id="{AB8D8AFE-AA49-FA83-601B-9DF2974659F1}"/>
                </a:ext>
              </a:extLst>
            </p:cNvPr>
            <p:cNvCxnSpPr>
              <a:cxnSpLocks/>
              <a:stCxn id="38" idx="3"/>
              <a:endCxn id="39" idx="1"/>
            </p:cNvCxnSpPr>
            <p:nvPr/>
          </p:nvCxnSpPr>
          <p:spPr bwMode="auto">
            <a:xfrm flipV="1">
              <a:off x="3908754" y="3352046"/>
              <a:ext cx="509810" cy="16098"/>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xmlns="" id="{55D352A1-2770-B964-132A-3B96906D3F8C}"/>
                </a:ext>
              </a:extLst>
            </p:cNvPr>
            <p:cNvSpPr txBox="1"/>
            <p:nvPr/>
          </p:nvSpPr>
          <p:spPr bwMode="auto">
            <a:xfrm flipH="1">
              <a:off x="4556519" y="4307737"/>
              <a:ext cx="200819" cy="147996"/>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wrap="square"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48" name="Decisión 21">
              <a:extLst>
                <a:ext uri="{FF2B5EF4-FFF2-40B4-BE49-F238E27FC236}">
                  <a16:creationId xmlns:a16="http://schemas.microsoft.com/office/drawing/2014/main" xmlns="" id="{CA510DED-1393-11FB-25E5-9D7D5FDF2F4E}"/>
                </a:ext>
              </a:extLst>
            </p:cNvPr>
            <p:cNvSpPr/>
            <p:nvPr/>
          </p:nvSpPr>
          <p:spPr bwMode="auto">
            <a:xfrm>
              <a:off x="4419326" y="3971022"/>
              <a:ext cx="779463" cy="293990"/>
            </a:xfrm>
            <a:prstGeom prst="flowChartDecision">
              <a:avLst/>
            </a:prstGeom>
            <a:solidFill>
              <a:schemeClr val="accent6">
                <a:lumMod val="40000"/>
                <a:lumOff val="6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49" name="CuadroTexto 48">
              <a:extLst>
                <a:ext uri="{FF2B5EF4-FFF2-40B4-BE49-F238E27FC236}">
                  <a16:creationId xmlns:a16="http://schemas.microsoft.com/office/drawing/2014/main" xmlns="" id="{4868B934-ECFB-84D7-678B-53E52FF8E193}"/>
                </a:ext>
              </a:extLst>
            </p:cNvPr>
            <p:cNvSpPr txBox="1"/>
            <p:nvPr/>
          </p:nvSpPr>
          <p:spPr bwMode="auto">
            <a:xfrm>
              <a:off x="5418146" y="3937758"/>
              <a:ext cx="684213" cy="295994"/>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observación</a:t>
              </a:r>
            </a:p>
          </p:txBody>
        </p:sp>
        <p:sp>
          <p:nvSpPr>
            <p:cNvPr id="50" name="CuadroTexto 49">
              <a:extLst>
                <a:ext uri="{FF2B5EF4-FFF2-40B4-BE49-F238E27FC236}">
                  <a16:creationId xmlns:a16="http://schemas.microsoft.com/office/drawing/2014/main" xmlns="" id="{DF2FEBA9-8087-53EB-821A-1BDEF7258C9A}"/>
                </a:ext>
              </a:extLst>
            </p:cNvPr>
            <p:cNvSpPr txBox="1"/>
            <p:nvPr/>
          </p:nvSpPr>
          <p:spPr bwMode="auto">
            <a:xfrm>
              <a:off x="5428786" y="4757579"/>
              <a:ext cx="682625" cy="295994"/>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observación</a:t>
              </a:r>
            </a:p>
          </p:txBody>
        </p:sp>
        <p:sp>
          <p:nvSpPr>
            <p:cNvPr id="51" name="72 CuadroTexto">
              <a:extLst>
                <a:ext uri="{FF2B5EF4-FFF2-40B4-BE49-F238E27FC236}">
                  <a16:creationId xmlns:a16="http://schemas.microsoft.com/office/drawing/2014/main" xmlns="" id="{D1B16E29-8038-DA80-9C69-D476EA91038B}"/>
                </a:ext>
              </a:extLst>
            </p:cNvPr>
            <p:cNvSpPr txBox="1">
              <a:spLocks noChangeArrowheads="1"/>
            </p:cNvSpPr>
            <p:nvPr/>
          </p:nvSpPr>
          <p:spPr bwMode="auto">
            <a:xfrm>
              <a:off x="5836668" y="4468592"/>
              <a:ext cx="635250" cy="147996"/>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Hasta 20 dh</a:t>
              </a:r>
            </a:p>
          </p:txBody>
        </p:sp>
        <p:sp>
          <p:nvSpPr>
            <p:cNvPr id="52" name="CuadroTexto 51">
              <a:extLst>
                <a:ext uri="{FF2B5EF4-FFF2-40B4-BE49-F238E27FC236}">
                  <a16:creationId xmlns:a16="http://schemas.microsoft.com/office/drawing/2014/main" xmlns="" id="{A1331799-A3F6-E364-267C-E2AAB4E6778C}"/>
                </a:ext>
              </a:extLst>
            </p:cNvPr>
            <p:cNvSpPr txBox="1"/>
            <p:nvPr/>
          </p:nvSpPr>
          <p:spPr bwMode="auto">
            <a:xfrm>
              <a:off x="5089251" y="3822542"/>
              <a:ext cx="171450" cy="147996"/>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53" name="Conector recto de flecha 52">
              <a:extLst>
                <a:ext uri="{FF2B5EF4-FFF2-40B4-BE49-F238E27FC236}">
                  <a16:creationId xmlns:a16="http://schemas.microsoft.com/office/drawing/2014/main" xmlns="" id="{4E4A9321-CB4A-7CFD-2372-CB19970F147F}"/>
                </a:ext>
              </a:extLst>
            </p:cNvPr>
            <p:cNvCxnSpPr>
              <a:cxnSpLocks/>
              <a:stCxn id="48" idx="3"/>
              <a:endCxn id="49" idx="1"/>
            </p:cNvCxnSpPr>
            <p:nvPr/>
          </p:nvCxnSpPr>
          <p:spPr bwMode="auto">
            <a:xfrm flipV="1">
              <a:off x="5198789" y="4085755"/>
              <a:ext cx="219357" cy="32263"/>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xmlns="" id="{689C2EFF-C09F-283E-540F-9F9400166EE7}"/>
                </a:ext>
              </a:extLst>
            </p:cNvPr>
            <p:cNvCxnSpPr>
              <a:stCxn id="39" idx="2"/>
              <a:endCxn id="48" idx="0"/>
            </p:cNvCxnSpPr>
            <p:nvPr/>
          </p:nvCxnSpPr>
          <p:spPr bwMode="auto">
            <a:xfrm>
              <a:off x="4804327" y="3510795"/>
              <a:ext cx="4731" cy="460227"/>
            </a:xfrm>
            <a:prstGeom prst="line">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55" name="Conector recto 54">
              <a:extLst>
                <a:ext uri="{FF2B5EF4-FFF2-40B4-BE49-F238E27FC236}">
                  <a16:creationId xmlns:a16="http://schemas.microsoft.com/office/drawing/2014/main" xmlns="" id="{55D46767-D648-4A6C-26C1-37325D4BED54}"/>
                </a:ext>
              </a:extLst>
            </p:cNvPr>
            <p:cNvCxnSpPr>
              <a:cxnSpLocks/>
              <a:stCxn id="49" idx="2"/>
              <a:endCxn id="50" idx="0"/>
            </p:cNvCxnSpPr>
            <p:nvPr/>
          </p:nvCxnSpPr>
          <p:spPr bwMode="auto">
            <a:xfrm>
              <a:off x="5760253" y="4233752"/>
              <a:ext cx="9846" cy="523827"/>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Conector angular 29">
              <a:extLst>
                <a:ext uri="{FF2B5EF4-FFF2-40B4-BE49-F238E27FC236}">
                  <a16:creationId xmlns:a16="http://schemas.microsoft.com/office/drawing/2014/main" xmlns="" id="{FD010B8E-104D-3491-D6D2-EF14A95DF49C}"/>
                </a:ext>
              </a:extLst>
            </p:cNvPr>
            <p:cNvCxnSpPr>
              <a:cxnSpLocks/>
              <a:stCxn id="50" idx="2"/>
              <a:endCxn id="42" idx="0"/>
            </p:cNvCxnSpPr>
            <p:nvPr/>
          </p:nvCxnSpPr>
          <p:spPr bwMode="auto">
            <a:xfrm rot="5400000">
              <a:off x="5074042" y="4810822"/>
              <a:ext cx="453305" cy="938809"/>
            </a:xfrm>
            <a:prstGeom prst="bentConnector3">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72 CuadroTexto">
              <a:extLst>
                <a:ext uri="{FF2B5EF4-FFF2-40B4-BE49-F238E27FC236}">
                  <a16:creationId xmlns:a16="http://schemas.microsoft.com/office/drawing/2014/main" xmlns="" id="{8952C85D-BD1F-88FD-2F7D-E4740F463DD5}"/>
                </a:ext>
              </a:extLst>
            </p:cNvPr>
            <p:cNvSpPr txBox="1">
              <a:spLocks noChangeArrowheads="1"/>
            </p:cNvSpPr>
            <p:nvPr/>
          </p:nvSpPr>
          <p:spPr bwMode="auto">
            <a:xfrm>
              <a:off x="5487584" y="2910945"/>
              <a:ext cx="545338" cy="203495"/>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58" name="Conector recto de flecha 57">
              <a:extLst>
                <a:ext uri="{FF2B5EF4-FFF2-40B4-BE49-F238E27FC236}">
                  <a16:creationId xmlns:a16="http://schemas.microsoft.com/office/drawing/2014/main" xmlns="" id="{C1A9CA84-4960-A2D7-2BA7-90F6B9DAE397}"/>
                </a:ext>
              </a:extLst>
            </p:cNvPr>
            <p:cNvCxnSpPr>
              <a:cxnSpLocks/>
              <a:stCxn id="57" idx="2"/>
              <a:endCxn id="49" idx="0"/>
            </p:cNvCxnSpPr>
            <p:nvPr/>
          </p:nvCxnSpPr>
          <p:spPr bwMode="auto">
            <a:xfrm flipH="1">
              <a:off x="5760253" y="3114440"/>
              <a:ext cx="1" cy="823317"/>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angular 32">
              <a:extLst>
                <a:ext uri="{FF2B5EF4-FFF2-40B4-BE49-F238E27FC236}">
                  <a16:creationId xmlns:a16="http://schemas.microsoft.com/office/drawing/2014/main" xmlns="" id="{26B9E70F-DA26-4779-4515-7A604C7079FC}"/>
                </a:ext>
              </a:extLst>
            </p:cNvPr>
            <p:cNvCxnSpPr>
              <a:stCxn id="57" idx="0"/>
              <a:endCxn id="7" idx="6"/>
            </p:cNvCxnSpPr>
            <p:nvPr/>
          </p:nvCxnSpPr>
          <p:spPr bwMode="auto">
            <a:xfrm rot="16200000" flipV="1">
              <a:off x="4830816" y="1981508"/>
              <a:ext cx="1597447" cy="261427"/>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84093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42ED14-F76D-125D-F1CC-0EA62FC6DA7F}"/>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72AD2A0B-7866-14B0-50B5-8B2F4785240E}"/>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12669587-33E0-AB05-F74C-BB7F4FD3BDC9}"/>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7F005A67-550E-CCD2-6D2A-AFBDC50EBFEB}"/>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concesión de beneficio para sin modificar la capacidad instalada aprobada y sin ampliación de área</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921BAA8C-FF5C-0B1F-033B-A788CF9AD029}"/>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87, 87.5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noventa (90)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positivo.</a:t>
            </a:r>
          </a:p>
        </p:txBody>
      </p:sp>
      <p:grpSp>
        <p:nvGrpSpPr>
          <p:cNvPr id="8" name="Group 2">
            <a:extLst>
              <a:ext uri="{FF2B5EF4-FFF2-40B4-BE49-F238E27FC236}">
                <a16:creationId xmlns:a16="http://schemas.microsoft.com/office/drawing/2014/main" xmlns="" id="{5FD50918-01EA-7D22-264C-4BA6F3EA1856}"/>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05B8925C-3799-F947-42DF-517631EB5AF3}"/>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DDDBC39A-402B-2525-822E-2260E89A8E65}"/>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grpSp>
        <p:nvGrpSpPr>
          <p:cNvPr id="11" name="Grupo 10">
            <a:extLst>
              <a:ext uri="{FF2B5EF4-FFF2-40B4-BE49-F238E27FC236}">
                <a16:creationId xmlns:a16="http://schemas.microsoft.com/office/drawing/2014/main" xmlns="" id="{834D95B3-A9E5-133E-B5A9-92E238C6BDAC}"/>
              </a:ext>
            </a:extLst>
          </p:cNvPr>
          <p:cNvGrpSpPr/>
          <p:nvPr/>
        </p:nvGrpSpPr>
        <p:grpSpPr>
          <a:xfrm>
            <a:off x="4343400" y="800100"/>
            <a:ext cx="11401048" cy="8440067"/>
            <a:chOff x="1939640" y="908720"/>
            <a:chExt cx="5109920" cy="5242085"/>
          </a:xfrm>
        </p:grpSpPr>
        <p:sp>
          <p:nvSpPr>
            <p:cNvPr id="12" name="3 Elipse">
              <a:extLst>
                <a:ext uri="{FF2B5EF4-FFF2-40B4-BE49-F238E27FC236}">
                  <a16:creationId xmlns:a16="http://schemas.microsoft.com/office/drawing/2014/main" xmlns="" id="{6DE92CA4-1C71-1DD6-D171-948DA03F96AF}"/>
                </a:ext>
              </a:extLst>
            </p:cNvPr>
            <p:cNvSpPr/>
            <p:nvPr/>
          </p:nvSpPr>
          <p:spPr bwMode="auto">
            <a:xfrm>
              <a:off x="3886618" y="908720"/>
              <a:ext cx="1498744" cy="760412"/>
            </a:xfrm>
            <a:prstGeom prst="ellipse">
              <a:avLst/>
            </a:prstGeom>
            <a:solidFill>
              <a:srgbClr val="92D050"/>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13" name="5 Conector recto de flecha">
              <a:extLst>
                <a:ext uri="{FF2B5EF4-FFF2-40B4-BE49-F238E27FC236}">
                  <a16:creationId xmlns:a16="http://schemas.microsoft.com/office/drawing/2014/main" xmlns="" id="{0EBC49B4-A78B-31EB-3D42-60F730EFDAC1}"/>
                </a:ext>
              </a:extLst>
            </p:cNvPr>
            <p:cNvCxnSpPr>
              <a:cxnSpLocks/>
              <a:stCxn id="12" idx="4"/>
              <a:endCxn id="15" idx="0"/>
            </p:cNvCxnSpPr>
            <p:nvPr/>
          </p:nvCxnSpPr>
          <p:spPr bwMode="auto">
            <a:xfrm>
              <a:off x="4635990" y="1669132"/>
              <a:ext cx="0" cy="323566"/>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4" name="72 CuadroTexto">
              <a:extLst>
                <a:ext uri="{FF2B5EF4-FFF2-40B4-BE49-F238E27FC236}">
                  <a16:creationId xmlns:a16="http://schemas.microsoft.com/office/drawing/2014/main" xmlns="" id="{D5984048-8DB9-B51F-C8B0-7BBAA4644960}"/>
                </a:ext>
              </a:extLst>
            </p:cNvPr>
            <p:cNvSpPr txBox="1">
              <a:spLocks noChangeArrowheads="1"/>
            </p:cNvSpPr>
            <p:nvPr/>
          </p:nvSpPr>
          <p:spPr bwMode="auto">
            <a:xfrm>
              <a:off x="6581881" y="3224799"/>
              <a:ext cx="467679" cy="210274"/>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90 dh</a:t>
              </a:r>
            </a:p>
          </p:txBody>
        </p:sp>
        <p:sp>
          <p:nvSpPr>
            <p:cNvPr id="15" name="24 Rectángulo">
              <a:extLst>
                <a:ext uri="{FF2B5EF4-FFF2-40B4-BE49-F238E27FC236}">
                  <a16:creationId xmlns:a16="http://schemas.microsoft.com/office/drawing/2014/main" xmlns="" id="{9B31485B-B445-0D6F-A1A3-5F52F769E41B}"/>
                </a:ext>
              </a:extLst>
            </p:cNvPr>
            <p:cNvSpPr/>
            <p:nvPr/>
          </p:nvSpPr>
          <p:spPr bwMode="auto">
            <a:xfrm>
              <a:off x="3771330" y="1992698"/>
              <a:ext cx="1729320" cy="585787"/>
            </a:xfrm>
            <a:prstGeom prst="rect">
              <a:avLst/>
            </a:prstGeom>
            <a:solidFill>
              <a:schemeClr val="accent5">
                <a:lumMod val="20000"/>
                <a:lumOff val="80000"/>
              </a:schemeClr>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sp>
          <p:nvSpPr>
            <p:cNvPr id="16" name="56 Rectángulo">
              <a:extLst>
                <a:ext uri="{FF2B5EF4-FFF2-40B4-BE49-F238E27FC236}">
                  <a16:creationId xmlns:a16="http://schemas.microsoft.com/office/drawing/2014/main" xmlns="" id="{DDB4EA16-9080-1382-9F12-9DB0DF11F220}"/>
                </a:ext>
              </a:extLst>
            </p:cNvPr>
            <p:cNvSpPr/>
            <p:nvPr/>
          </p:nvSpPr>
          <p:spPr bwMode="auto">
            <a:xfrm>
              <a:off x="1939640" y="2707241"/>
              <a:ext cx="1857744" cy="1067484"/>
            </a:xfrm>
            <a:prstGeom prst="rect">
              <a:avLst/>
            </a:prstGeom>
            <a:solidFill>
              <a:srgbClr val="FF9933"/>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dirty="0">
                  <a:solidFill>
                    <a:srgbClr val="000000"/>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Arial" panose="020B0604020202020204" pitchFamily="34" charset="0"/>
                </a:rPr>
                <a:t>Memoria descriptiva y Estudio Técnico del proyecto</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Arial" panose="020B0604020202020204" pitchFamily="34" charset="0"/>
                </a:rPr>
                <a:t>Instrumento de Gestion ambiental aprobado.</a:t>
              </a:r>
            </a:p>
          </p:txBody>
        </p:sp>
        <p:sp>
          <p:nvSpPr>
            <p:cNvPr id="17" name="56 Rectángulo">
              <a:extLst>
                <a:ext uri="{FF2B5EF4-FFF2-40B4-BE49-F238E27FC236}">
                  <a16:creationId xmlns:a16="http://schemas.microsoft.com/office/drawing/2014/main" xmlns="" id="{1D98A020-B81D-6E14-2CE8-6017732BC15C}"/>
                </a:ext>
              </a:extLst>
            </p:cNvPr>
            <p:cNvSpPr/>
            <p:nvPr/>
          </p:nvSpPr>
          <p:spPr bwMode="auto">
            <a:xfrm>
              <a:off x="4214997" y="3082854"/>
              <a:ext cx="841986" cy="328612"/>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18" name="177 Conector recto de flecha">
              <a:extLst>
                <a:ext uri="{FF2B5EF4-FFF2-40B4-BE49-F238E27FC236}">
                  <a16:creationId xmlns:a16="http://schemas.microsoft.com/office/drawing/2014/main" xmlns="" id="{67C2641C-564F-28A3-2A90-43CE6050BBBE}"/>
                </a:ext>
              </a:extLst>
            </p:cNvPr>
            <p:cNvCxnSpPr>
              <a:cxnSpLocks/>
              <a:stCxn id="26" idx="2"/>
              <a:endCxn id="62" idx="0"/>
            </p:cNvCxnSpPr>
            <p:nvPr/>
          </p:nvCxnSpPr>
          <p:spPr bwMode="auto">
            <a:xfrm>
              <a:off x="4635990" y="4071644"/>
              <a:ext cx="0" cy="740567"/>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19" name="177 Conector recto de flecha">
              <a:extLst>
                <a:ext uri="{FF2B5EF4-FFF2-40B4-BE49-F238E27FC236}">
                  <a16:creationId xmlns:a16="http://schemas.microsoft.com/office/drawing/2014/main" xmlns="" id="{59D213D1-D305-E3B1-2605-450AE812AA12}"/>
                </a:ext>
              </a:extLst>
            </p:cNvPr>
            <p:cNvCxnSpPr>
              <a:cxnSpLocks/>
              <a:stCxn id="15" idx="2"/>
              <a:endCxn id="17" idx="0"/>
            </p:cNvCxnSpPr>
            <p:nvPr/>
          </p:nvCxnSpPr>
          <p:spPr bwMode="auto">
            <a:xfrm>
              <a:off x="4635990" y="2578485"/>
              <a:ext cx="0" cy="504369"/>
            </a:xfrm>
            <a:prstGeom prst="straightConnector1">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20" name="CuadroTexto 19">
              <a:extLst>
                <a:ext uri="{FF2B5EF4-FFF2-40B4-BE49-F238E27FC236}">
                  <a16:creationId xmlns:a16="http://schemas.microsoft.com/office/drawing/2014/main" xmlns="" id="{C1C8588B-17C3-0B5F-0F6D-90D6776DCD9A}"/>
                </a:ext>
              </a:extLst>
            </p:cNvPr>
            <p:cNvSpPr txBox="1"/>
            <p:nvPr/>
          </p:nvSpPr>
          <p:spPr bwMode="auto">
            <a:xfrm>
              <a:off x="3102277" y="5481750"/>
              <a:ext cx="3087311" cy="669055"/>
            </a:xfrm>
            <a:prstGeom prst="rect">
              <a:avLst/>
            </a:prstGeom>
            <a:ln w="12700">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600" dirty="0">
                  <a:solidFill>
                    <a:srgbClr val="000000"/>
                  </a:solidFill>
                  <a:latin typeface="Inter" panose="020B0604020202020204" charset="0"/>
                  <a:ea typeface="Inter" panose="020B0604020202020204" charset="0"/>
                  <a:cs typeface="Arial" panose="020B0604020202020204" pitchFamily="34" charset="0"/>
                </a:rPr>
                <a:t>Resolución que: </a:t>
              </a:r>
            </a:p>
            <a:p>
              <a:pPr marL="180975" indent="-180975" algn="just">
                <a:buNone/>
              </a:pPr>
              <a:r>
                <a:rPr lang="es-PE" sz="1600" dirty="0">
                  <a:latin typeface="Inter" panose="020B0604020202020204" charset="0"/>
                  <a:ea typeface="Inter" panose="020B0604020202020204" charset="0"/>
                </a:rPr>
                <a:t>1. Aprobar el proyecto de modificación de concesión de beneficio.</a:t>
              </a:r>
            </a:p>
            <a:p>
              <a:pPr marL="180975" indent="-180975" algn="just">
                <a:buNone/>
              </a:pPr>
              <a:r>
                <a:rPr lang="es-PE" sz="1600" dirty="0">
                  <a:latin typeface="Inter" panose="020B0604020202020204" charset="0"/>
                  <a:ea typeface="Inter" panose="020B0604020202020204" charset="0"/>
                </a:rPr>
                <a:t>2. Autoriza la construcción y/o instalación del proyecto de modificación y sus demás componentes</a:t>
              </a:r>
              <a:endParaRPr lang="es-PE" sz="1600" dirty="0">
                <a:solidFill>
                  <a:srgbClr val="000000"/>
                </a:solidFill>
                <a:latin typeface="Inter" panose="020B0604020202020204" charset="0"/>
                <a:ea typeface="Inter" panose="020B0604020202020204" charset="0"/>
                <a:cs typeface="Arial" panose="020B0604020202020204" pitchFamily="34" charset="0"/>
              </a:endParaRPr>
            </a:p>
          </p:txBody>
        </p:sp>
        <p:cxnSp>
          <p:nvCxnSpPr>
            <p:cNvPr id="21" name="Conector: angular 449">
              <a:extLst>
                <a:ext uri="{FF2B5EF4-FFF2-40B4-BE49-F238E27FC236}">
                  <a16:creationId xmlns:a16="http://schemas.microsoft.com/office/drawing/2014/main" xmlns="" id="{2F605A90-64AD-18D0-EA75-F106725841CA}"/>
                </a:ext>
              </a:extLst>
            </p:cNvPr>
            <p:cNvCxnSpPr>
              <a:cxnSpLocks/>
              <a:stCxn id="14" idx="0"/>
              <a:endCxn id="12" idx="6"/>
            </p:cNvCxnSpPr>
            <p:nvPr/>
          </p:nvCxnSpPr>
          <p:spPr bwMode="auto">
            <a:xfrm rot="16200000" flipV="1">
              <a:off x="5132605" y="1541683"/>
              <a:ext cx="1935873" cy="1430359"/>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angular 451">
              <a:extLst>
                <a:ext uri="{FF2B5EF4-FFF2-40B4-BE49-F238E27FC236}">
                  <a16:creationId xmlns:a16="http://schemas.microsoft.com/office/drawing/2014/main" xmlns="" id="{B5D00D00-FC34-32B9-2EC5-8713F32B9001}"/>
                </a:ext>
              </a:extLst>
            </p:cNvPr>
            <p:cNvCxnSpPr>
              <a:cxnSpLocks/>
              <a:stCxn id="14" idx="2"/>
              <a:endCxn id="20" idx="3"/>
            </p:cNvCxnSpPr>
            <p:nvPr/>
          </p:nvCxnSpPr>
          <p:spPr bwMode="auto">
            <a:xfrm rot="5400000">
              <a:off x="5312052" y="4312609"/>
              <a:ext cx="2381204" cy="626133"/>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angular 3">
              <a:extLst>
                <a:ext uri="{FF2B5EF4-FFF2-40B4-BE49-F238E27FC236}">
                  <a16:creationId xmlns:a16="http://schemas.microsoft.com/office/drawing/2014/main" xmlns="" id="{E7A96C33-30E0-E54C-2219-F2DB62EC58B4}"/>
                </a:ext>
              </a:extLst>
            </p:cNvPr>
            <p:cNvCxnSpPr>
              <a:cxnSpLocks/>
              <a:stCxn id="15" idx="1"/>
              <a:endCxn id="16" idx="0"/>
            </p:cNvCxnSpPr>
            <p:nvPr/>
          </p:nvCxnSpPr>
          <p:spPr bwMode="auto">
            <a:xfrm rot="10800000" flipV="1">
              <a:off x="2868512" y="2285592"/>
              <a:ext cx="902818" cy="421650"/>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xmlns="" id="{8ACD74ED-9542-CF24-BD98-3099663C1E64}"/>
                </a:ext>
              </a:extLst>
            </p:cNvPr>
            <p:cNvCxnSpPr>
              <a:cxnSpLocks/>
              <a:stCxn id="16" idx="3"/>
              <a:endCxn id="17" idx="1"/>
            </p:cNvCxnSpPr>
            <p:nvPr/>
          </p:nvCxnSpPr>
          <p:spPr bwMode="auto">
            <a:xfrm>
              <a:off x="3797384" y="3240983"/>
              <a:ext cx="417613" cy="6177"/>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xmlns="" id="{745D8A3E-ECB1-F48A-DFDA-C7DB2B6929A1}"/>
                </a:ext>
              </a:extLst>
            </p:cNvPr>
            <p:cNvSpPr txBox="1"/>
            <p:nvPr/>
          </p:nvSpPr>
          <p:spPr bwMode="auto">
            <a:xfrm flipH="1">
              <a:off x="4343531" y="4087741"/>
              <a:ext cx="176323" cy="152927"/>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26" name="Decisión 21">
              <a:extLst>
                <a:ext uri="{FF2B5EF4-FFF2-40B4-BE49-F238E27FC236}">
                  <a16:creationId xmlns:a16="http://schemas.microsoft.com/office/drawing/2014/main" xmlns="" id="{FE21BE15-E287-BFD2-CA83-4544A3977A94}"/>
                </a:ext>
              </a:extLst>
            </p:cNvPr>
            <p:cNvSpPr/>
            <p:nvPr/>
          </p:nvSpPr>
          <p:spPr bwMode="auto">
            <a:xfrm>
              <a:off x="4083073" y="3767860"/>
              <a:ext cx="1105834" cy="303783"/>
            </a:xfrm>
            <a:prstGeom prst="flowChartDecision">
              <a:avLst/>
            </a:prstGeom>
            <a:solidFill>
              <a:schemeClr val="accent6">
                <a:lumMod val="40000"/>
                <a:lumOff val="60000"/>
              </a:schemeClr>
            </a:solidFill>
            <a:ln w="12700">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27" name="CuadroTexto 26">
              <a:extLst>
                <a:ext uri="{FF2B5EF4-FFF2-40B4-BE49-F238E27FC236}">
                  <a16:creationId xmlns:a16="http://schemas.microsoft.com/office/drawing/2014/main" xmlns="" id="{C2C43FA7-D02A-82F4-9A98-8E00A9160CB7}"/>
                </a:ext>
              </a:extLst>
            </p:cNvPr>
            <p:cNvSpPr txBox="1"/>
            <p:nvPr/>
          </p:nvSpPr>
          <p:spPr bwMode="auto">
            <a:xfrm>
              <a:off x="5398662" y="3774727"/>
              <a:ext cx="999445" cy="305854"/>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observación</a:t>
              </a:r>
            </a:p>
          </p:txBody>
        </p:sp>
        <p:sp>
          <p:nvSpPr>
            <p:cNvPr id="28" name="CuadroTexto 27">
              <a:extLst>
                <a:ext uri="{FF2B5EF4-FFF2-40B4-BE49-F238E27FC236}">
                  <a16:creationId xmlns:a16="http://schemas.microsoft.com/office/drawing/2014/main" xmlns="" id="{62CEDF03-026E-483C-1669-C0CC22D6DAAA}"/>
                </a:ext>
              </a:extLst>
            </p:cNvPr>
            <p:cNvSpPr txBox="1"/>
            <p:nvPr/>
          </p:nvSpPr>
          <p:spPr bwMode="auto">
            <a:xfrm>
              <a:off x="5500649" y="4525522"/>
              <a:ext cx="803376" cy="305854"/>
            </a:xfrm>
            <a:prstGeom prst="rect">
              <a:avLst/>
            </a:prstGeom>
            <a:ln w="12700">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observaciones</a:t>
              </a:r>
            </a:p>
          </p:txBody>
        </p:sp>
        <p:sp>
          <p:nvSpPr>
            <p:cNvPr id="29" name="72 CuadroTexto">
              <a:extLst>
                <a:ext uri="{FF2B5EF4-FFF2-40B4-BE49-F238E27FC236}">
                  <a16:creationId xmlns:a16="http://schemas.microsoft.com/office/drawing/2014/main" xmlns="" id="{31FDDE96-0D7C-8741-E372-6EC0A373831C}"/>
                </a:ext>
              </a:extLst>
            </p:cNvPr>
            <p:cNvSpPr txBox="1">
              <a:spLocks noChangeArrowheads="1"/>
            </p:cNvSpPr>
            <p:nvPr/>
          </p:nvSpPr>
          <p:spPr bwMode="auto">
            <a:xfrm>
              <a:off x="5949556" y="4217616"/>
              <a:ext cx="632326" cy="152927"/>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Hasta 20 dh</a:t>
              </a:r>
            </a:p>
          </p:txBody>
        </p:sp>
        <p:sp>
          <p:nvSpPr>
            <p:cNvPr id="30" name="CuadroTexto 29">
              <a:extLst>
                <a:ext uri="{FF2B5EF4-FFF2-40B4-BE49-F238E27FC236}">
                  <a16:creationId xmlns:a16="http://schemas.microsoft.com/office/drawing/2014/main" xmlns="" id="{318B0929-0161-8D19-58D6-99A5977038F7}"/>
                </a:ext>
              </a:extLst>
            </p:cNvPr>
            <p:cNvSpPr txBox="1"/>
            <p:nvPr/>
          </p:nvSpPr>
          <p:spPr bwMode="auto">
            <a:xfrm>
              <a:off x="4923362" y="3698804"/>
              <a:ext cx="183104" cy="152927"/>
            </a:xfrm>
            <a:prstGeom prst="rect">
              <a:avLst/>
            </a:prstGeom>
            <a:ln w="12700">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31" name="Conector recto de flecha 30">
              <a:extLst>
                <a:ext uri="{FF2B5EF4-FFF2-40B4-BE49-F238E27FC236}">
                  <a16:creationId xmlns:a16="http://schemas.microsoft.com/office/drawing/2014/main" xmlns="" id="{5A587BEA-8390-0465-1D5F-1EB86F7312CA}"/>
                </a:ext>
              </a:extLst>
            </p:cNvPr>
            <p:cNvCxnSpPr>
              <a:stCxn id="26" idx="3"/>
              <a:endCxn id="27" idx="1"/>
            </p:cNvCxnSpPr>
            <p:nvPr/>
          </p:nvCxnSpPr>
          <p:spPr bwMode="auto">
            <a:xfrm>
              <a:off x="5188907" y="3919752"/>
              <a:ext cx="209755" cy="7902"/>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xmlns="" id="{92AFD73F-2F3B-CB36-A77D-C1E5D7CA503A}"/>
                </a:ext>
              </a:extLst>
            </p:cNvPr>
            <p:cNvCxnSpPr>
              <a:stCxn id="17" idx="2"/>
              <a:endCxn id="26" idx="0"/>
            </p:cNvCxnSpPr>
            <p:nvPr/>
          </p:nvCxnSpPr>
          <p:spPr bwMode="auto">
            <a:xfrm>
              <a:off x="4635990" y="3411466"/>
              <a:ext cx="0" cy="356394"/>
            </a:xfrm>
            <a:prstGeom prst="line">
              <a:avLst/>
            </a:prstGeom>
            <a:ln w="12700">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33" name="Conector recto 32">
              <a:extLst>
                <a:ext uri="{FF2B5EF4-FFF2-40B4-BE49-F238E27FC236}">
                  <a16:creationId xmlns:a16="http://schemas.microsoft.com/office/drawing/2014/main" xmlns="" id="{E72FF075-723E-0B35-F8B8-16E59FBD8A52}"/>
                </a:ext>
              </a:extLst>
            </p:cNvPr>
            <p:cNvCxnSpPr>
              <a:cxnSpLocks/>
              <a:stCxn id="27" idx="2"/>
              <a:endCxn id="28" idx="0"/>
            </p:cNvCxnSpPr>
            <p:nvPr/>
          </p:nvCxnSpPr>
          <p:spPr bwMode="auto">
            <a:xfrm>
              <a:off x="5898385" y="4080581"/>
              <a:ext cx="3952" cy="444941"/>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4" name="72 CuadroTexto">
              <a:extLst>
                <a:ext uri="{FF2B5EF4-FFF2-40B4-BE49-F238E27FC236}">
                  <a16:creationId xmlns:a16="http://schemas.microsoft.com/office/drawing/2014/main" xmlns="" id="{B02929F8-E471-8990-F152-4BE321617BCE}"/>
                </a:ext>
              </a:extLst>
            </p:cNvPr>
            <p:cNvSpPr txBox="1">
              <a:spLocks noChangeArrowheads="1"/>
            </p:cNvSpPr>
            <p:nvPr/>
          </p:nvSpPr>
          <p:spPr bwMode="auto">
            <a:xfrm>
              <a:off x="5607180" y="2873233"/>
              <a:ext cx="582408" cy="210274"/>
            </a:xfrm>
            <a:prstGeom prst="rect">
              <a:avLst/>
            </a:prstGeom>
            <a:noFill/>
            <a:ln w="9525">
              <a:solidFill>
                <a:schemeClr val="accent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60" name="Conector recto de flecha 59">
              <a:extLst>
                <a:ext uri="{FF2B5EF4-FFF2-40B4-BE49-F238E27FC236}">
                  <a16:creationId xmlns:a16="http://schemas.microsoft.com/office/drawing/2014/main" xmlns="" id="{FCBCF922-FDFA-4D42-9C3E-AD09D274D8B0}"/>
                </a:ext>
              </a:extLst>
            </p:cNvPr>
            <p:cNvCxnSpPr>
              <a:stCxn id="34" idx="2"/>
              <a:endCxn id="27" idx="0"/>
            </p:cNvCxnSpPr>
            <p:nvPr/>
          </p:nvCxnSpPr>
          <p:spPr bwMode="auto">
            <a:xfrm>
              <a:off x="5898384" y="3083507"/>
              <a:ext cx="0" cy="691220"/>
            </a:xfrm>
            <a:prstGeom prst="straightConnector1">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ector angular 31">
              <a:extLst>
                <a:ext uri="{FF2B5EF4-FFF2-40B4-BE49-F238E27FC236}">
                  <a16:creationId xmlns:a16="http://schemas.microsoft.com/office/drawing/2014/main" xmlns="" id="{D8CCE318-40E2-38D4-A66E-005B86CFC06D}"/>
                </a:ext>
              </a:extLst>
            </p:cNvPr>
            <p:cNvCxnSpPr>
              <a:stCxn id="34" idx="0"/>
              <a:endCxn id="12" idx="6"/>
            </p:cNvCxnSpPr>
            <p:nvPr/>
          </p:nvCxnSpPr>
          <p:spPr bwMode="auto">
            <a:xfrm rot="16200000" flipV="1">
              <a:off x="4849720" y="1824568"/>
              <a:ext cx="1584307" cy="513022"/>
            </a:xfrm>
            <a:prstGeom prst="bentConnector2">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56 Rectángulo">
              <a:extLst>
                <a:ext uri="{FF2B5EF4-FFF2-40B4-BE49-F238E27FC236}">
                  <a16:creationId xmlns:a16="http://schemas.microsoft.com/office/drawing/2014/main" xmlns="" id="{D8638C51-AE88-C7B3-E175-402B166A5382}"/>
                </a:ext>
              </a:extLst>
            </p:cNvPr>
            <p:cNvSpPr/>
            <p:nvPr/>
          </p:nvSpPr>
          <p:spPr bwMode="auto">
            <a:xfrm>
              <a:off x="4137539" y="4812211"/>
              <a:ext cx="996902" cy="430212"/>
            </a:xfrm>
            <a:prstGeom prst="rect">
              <a:avLst/>
            </a:prstGeom>
            <a:solidFill>
              <a:srgbClr val="FFFF99"/>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Informe Técnico  favorable </a:t>
              </a:r>
            </a:p>
          </p:txBody>
        </p:sp>
        <p:cxnSp>
          <p:nvCxnSpPr>
            <p:cNvPr id="63" name="Conector angular 33">
              <a:extLst>
                <a:ext uri="{FF2B5EF4-FFF2-40B4-BE49-F238E27FC236}">
                  <a16:creationId xmlns:a16="http://schemas.microsoft.com/office/drawing/2014/main" xmlns="" id="{4580177E-9E9F-ACC6-A17D-8026CBEC661A}"/>
                </a:ext>
              </a:extLst>
            </p:cNvPr>
            <p:cNvCxnSpPr>
              <a:cxnSpLocks/>
              <a:stCxn id="28" idx="2"/>
              <a:endCxn id="62" idx="3"/>
            </p:cNvCxnSpPr>
            <p:nvPr/>
          </p:nvCxnSpPr>
          <p:spPr bwMode="auto">
            <a:xfrm rot="5400000">
              <a:off x="5420419" y="4545398"/>
              <a:ext cx="195941" cy="767896"/>
            </a:xfrm>
            <a:prstGeom prst="bentConnector2">
              <a:avLst/>
            </a:prstGeom>
            <a:ln>
              <a:solidFill>
                <a:schemeClr val="accent2">
                  <a:lumMod val="50000"/>
                </a:schemeClr>
              </a:solidFill>
              <a:tailEnd type="triangle"/>
            </a:ln>
          </p:spPr>
        </p:cxnSp>
        <p:cxnSp>
          <p:nvCxnSpPr>
            <p:cNvPr id="64" name="Conector angular 34">
              <a:extLst>
                <a:ext uri="{FF2B5EF4-FFF2-40B4-BE49-F238E27FC236}">
                  <a16:creationId xmlns:a16="http://schemas.microsoft.com/office/drawing/2014/main" xmlns="" id="{8C49BF5A-D392-8F7F-946D-32BFE2E8816B}"/>
                </a:ext>
              </a:extLst>
            </p:cNvPr>
            <p:cNvCxnSpPr>
              <a:cxnSpLocks/>
              <a:stCxn id="28" idx="2"/>
              <a:endCxn id="62" idx="3"/>
            </p:cNvCxnSpPr>
            <p:nvPr/>
          </p:nvCxnSpPr>
          <p:spPr bwMode="auto">
            <a:xfrm rot="5400000">
              <a:off x="5420419" y="4545398"/>
              <a:ext cx="195941" cy="767896"/>
            </a:xfrm>
            <a:prstGeom prst="bentConnector2">
              <a:avLst/>
            </a:prstGeom>
            <a:ln>
              <a:solidFill>
                <a:schemeClr val="accent2">
                  <a:lumMod val="50000"/>
                </a:schemeClr>
              </a:solidFill>
              <a:tailEnd type="triangle"/>
            </a:ln>
          </p:spPr>
        </p:cxnSp>
        <p:cxnSp>
          <p:nvCxnSpPr>
            <p:cNvPr id="65" name="Conector recto de flecha 64">
              <a:extLst>
                <a:ext uri="{FF2B5EF4-FFF2-40B4-BE49-F238E27FC236}">
                  <a16:creationId xmlns:a16="http://schemas.microsoft.com/office/drawing/2014/main" xmlns="" id="{6F23C074-9350-E39B-157A-43F467CCAFE0}"/>
                </a:ext>
              </a:extLst>
            </p:cNvPr>
            <p:cNvCxnSpPr>
              <a:stCxn id="62" idx="2"/>
              <a:endCxn id="20" idx="0"/>
            </p:cNvCxnSpPr>
            <p:nvPr/>
          </p:nvCxnSpPr>
          <p:spPr bwMode="auto">
            <a:xfrm>
              <a:off x="4635990" y="5242423"/>
              <a:ext cx="9942" cy="239327"/>
            </a:xfrm>
            <a:prstGeom prst="straightConnector1">
              <a:avLst/>
            </a:prstGeom>
            <a:ln>
              <a:solidFill>
                <a:schemeClr val="accent2">
                  <a:lumMod val="50000"/>
                </a:schemeClr>
              </a:solidFill>
              <a:tailEnd type="triangle"/>
            </a:ln>
          </p:spPr>
        </p:cxnSp>
      </p:grpSp>
    </p:spTree>
    <p:extLst>
      <p:ext uri="{BB962C8B-B14F-4D97-AF65-F5344CB8AC3E}">
        <p14:creationId xmlns:p14="http://schemas.microsoft.com/office/powerpoint/2010/main" val="2292900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7959410-5039-939D-3F21-F8AC89455C79}"/>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64C92FF9-2AC1-D049-A90C-B96678563A59}"/>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D1E82AFE-4824-91F7-FCA1-34E9E62E521B}"/>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0E3AAB2F-DBDC-B293-A1EB-729B17A53CE4}"/>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Informe Técnico Minero  (ITM) de la concesión de beneficio para modificar la capacidad instalada aprobada</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1C6BB14A-D766-7E35-DDC4-9B21D0A4F3A6}"/>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88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veinte (20)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positivo.</a:t>
            </a:r>
          </a:p>
        </p:txBody>
      </p:sp>
      <p:grpSp>
        <p:nvGrpSpPr>
          <p:cNvPr id="8" name="Group 2">
            <a:extLst>
              <a:ext uri="{FF2B5EF4-FFF2-40B4-BE49-F238E27FC236}">
                <a16:creationId xmlns:a16="http://schemas.microsoft.com/office/drawing/2014/main" xmlns="" id="{55B73B50-5A67-AA40-66F1-5A317975435A}"/>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95D66A6C-0B42-D4D6-3F00-E472A69F0C09}"/>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0B272597-B077-A784-C7A9-877F2E727C2E}"/>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grpSp>
        <p:nvGrpSpPr>
          <p:cNvPr id="6" name="Grupo 5">
            <a:extLst>
              <a:ext uri="{FF2B5EF4-FFF2-40B4-BE49-F238E27FC236}">
                <a16:creationId xmlns:a16="http://schemas.microsoft.com/office/drawing/2014/main" xmlns="" id="{D4BF0FFD-16D2-5D9E-792B-CF0A63F89409}"/>
              </a:ext>
            </a:extLst>
          </p:cNvPr>
          <p:cNvGrpSpPr/>
          <p:nvPr/>
        </p:nvGrpSpPr>
        <p:grpSpPr>
          <a:xfrm>
            <a:off x="4572000" y="1409700"/>
            <a:ext cx="12839700" cy="8089048"/>
            <a:chOff x="3316015" y="796380"/>
            <a:chExt cx="5526219" cy="5416425"/>
          </a:xfrm>
        </p:grpSpPr>
        <p:sp>
          <p:nvSpPr>
            <p:cNvPr id="7" name="3 Elipse">
              <a:extLst>
                <a:ext uri="{FF2B5EF4-FFF2-40B4-BE49-F238E27FC236}">
                  <a16:creationId xmlns:a16="http://schemas.microsoft.com/office/drawing/2014/main" xmlns="" id="{3F7B5F93-7207-859E-0EE8-E5440C468D55}"/>
                </a:ext>
              </a:extLst>
            </p:cNvPr>
            <p:cNvSpPr/>
            <p:nvPr/>
          </p:nvSpPr>
          <p:spPr bwMode="auto">
            <a:xfrm>
              <a:off x="5691484" y="796380"/>
              <a:ext cx="1403350" cy="760412"/>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Tahoma" panose="020B060403050404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Tahoma" panose="020B0604030504040204" pitchFamily="34" charset="0"/>
                </a:rPr>
                <a:t>(Formulario extranet)</a:t>
              </a:r>
            </a:p>
            <a:p>
              <a:pPr algn="ctr" eaLnBrk="1" hangingPunct="1">
                <a:defRPr/>
              </a:pPr>
              <a:r>
                <a:rPr lang="es-PE" sz="1600" dirty="0">
                  <a:solidFill>
                    <a:srgbClr val="000000"/>
                  </a:solidFill>
                  <a:latin typeface="Inter" panose="020B0604020202020204" charset="0"/>
                  <a:ea typeface="Inter" panose="020B0604020202020204" charset="0"/>
                  <a:cs typeface="Tahoma" panose="020B0604030504040204" pitchFamily="34" charset="0"/>
                </a:rPr>
                <a:t>DGM/GORE</a:t>
              </a:r>
            </a:p>
          </p:txBody>
        </p:sp>
        <p:cxnSp>
          <p:nvCxnSpPr>
            <p:cNvPr id="35" name="5 Conector recto de flecha">
              <a:extLst>
                <a:ext uri="{FF2B5EF4-FFF2-40B4-BE49-F238E27FC236}">
                  <a16:creationId xmlns:a16="http://schemas.microsoft.com/office/drawing/2014/main" xmlns="" id="{7231AA63-E818-55AC-D0CA-A845AD46B51A}"/>
                </a:ext>
              </a:extLst>
            </p:cNvPr>
            <p:cNvCxnSpPr>
              <a:cxnSpLocks/>
              <a:stCxn id="7" idx="4"/>
              <a:endCxn id="37" idx="0"/>
            </p:cNvCxnSpPr>
            <p:nvPr/>
          </p:nvCxnSpPr>
          <p:spPr bwMode="auto">
            <a:xfrm>
              <a:off x="6393160" y="1556793"/>
              <a:ext cx="3175" cy="350317"/>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36" name="72 CuadroTexto">
              <a:extLst>
                <a:ext uri="{FF2B5EF4-FFF2-40B4-BE49-F238E27FC236}">
                  <a16:creationId xmlns:a16="http://schemas.microsoft.com/office/drawing/2014/main" xmlns="" id="{492CD958-46FB-AD6B-1EEB-1B0356B2A41B}"/>
                </a:ext>
              </a:extLst>
            </p:cNvPr>
            <p:cNvSpPr txBox="1">
              <a:spLocks noChangeArrowheads="1"/>
            </p:cNvSpPr>
            <p:nvPr/>
          </p:nvSpPr>
          <p:spPr bwMode="auto">
            <a:xfrm>
              <a:off x="8296896" y="3273032"/>
              <a:ext cx="545338" cy="2266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Tahoma" panose="020B0604030504040204" pitchFamily="34" charset="0"/>
                </a:rPr>
                <a:t>20 dh</a:t>
              </a:r>
            </a:p>
          </p:txBody>
        </p:sp>
        <p:sp>
          <p:nvSpPr>
            <p:cNvPr id="37" name="24 Rectángulo">
              <a:extLst>
                <a:ext uri="{FF2B5EF4-FFF2-40B4-BE49-F238E27FC236}">
                  <a16:creationId xmlns:a16="http://schemas.microsoft.com/office/drawing/2014/main" xmlns="" id="{7EBB8FC2-7383-EF49-21C2-4624FE4EB00E}"/>
                </a:ext>
              </a:extLst>
            </p:cNvPr>
            <p:cNvSpPr/>
            <p:nvPr/>
          </p:nvSpPr>
          <p:spPr bwMode="auto">
            <a:xfrm>
              <a:off x="5586709" y="1907110"/>
              <a:ext cx="1619250"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Tahoma" panose="020B0604030504040204" pitchFamily="34" charset="0"/>
                </a:rPr>
                <a:t>Evaluación de la solicitud y los requisitos de presentación </a:t>
              </a:r>
            </a:p>
          </p:txBody>
        </p:sp>
        <p:sp>
          <p:nvSpPr>
            <p:cNvPr id="38" name="56 Rectángulo">
              <a:extLst>
                <a:ext uri="{FF2B5EF4-FFF2-40B4-BE49-F238E27FC236}">
                  <a16:creationId xmlns:a16="http://schemas.microsoft.com/office/drawing/2014/main" xmlns="" id="{7D2F9C44-354A-16D2-C28D-3DE6B974A926}"/>
                </a:ext>
              </a:extLst>
            </p:cNvPr>
            <p:cNvSpPr/>
            <p:nvPr/>
          </p:nvSpPr>
          <p:spPr bwMode="auto">
            <a:xfrm>
              <a:off x="3316015" y="2745491"/>
              <a:ext cx="2449786" cy="1944216"/>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Tahoma" panose="020B0604030504040204" pitchFamily="34" charset="0"/>
                </a:rPr>
                <a:t>Derecho de tramite</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Tahoma" panose="020B0604030504040204" pitchFamily="34" charset="0"/>
                </a:rPr>
                <a:t>Derecho de Vigencia </a:t>
              </a:r>
              <a:r>
                <a:rPr lang="es-PE" i="1" dirty="0">
                  <a:solidFill>
                    <a:srgbClr val="000000"/>
                  </a:solidFill>
                  <a:latin typeface="Inter" panose="020B0604020202020204" charset="0"/>
                  <a:ea typeface="Inter" panose="020B0604020202020204" charset="0"/>
                  <a:cs typeface="Tahoma" panose="020B0604030504040204" pitchFamily="34" charset="0"/>
                </a:rPr>
                <a:t>(en caso se amplíe la capacidad instalada)</a:t>
              </a:r>
              <a:r>
                <a:rPr lang="es-PE" dirty="0">
                  <a:solidFill>
                    <a:srgbClr val="000000"/>
                  </a:solidFill>
                  <a:latin typeface="Inter" panose="020B0604020202020204" charset="0"/>
                  <a:ea typeface="Inter" panose="020B0604020202020204" charset="0"/>
                  <a:cs typeface="Tahoma" panose="020B0604030504040204" pitchFamily="34" charset="0"/>
                </a:rPr>
                <a:t> </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Tahoma" panose="020B0604030504040204" pitchFamily="34" charset="0"/>
                </a:rPr>
                <a:t>Instrumento de Gestión ambiental aprobado (ITS).</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Tahoma" panose="020B0604030504040204" pitchFamily="34" charset="0"/>
                </a:rPr>
                <a:t>Memoria descriptiva y Estudio Técnico del proyecto.</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Tahoma" panose="020B0604030504040204" pitchFamily="34" charset="0"/>
                </a:rPr>
                <a:t>Licencia de uso de agua para fines mineros</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Tahoma" panose="020B0604030504040204" pitchFamily="34" charset="0"/>
                </a:rPr>
                <a:t>Autorización de vertimiento de aguas residuales tratadas vigente</a:t>
              </a:r>
              <a:endParaRPr lang="es-PE" dirty="0">
                <a:solidFill>
                  <a:schemeClr val="tx1"/>
                </a:solidFill>
                <a:latin typeface="Inter" panose="020B0604020202020204" charset="0"/>
                <a:ea typeface="Inter" panose="020B0604020202020204" charset="0"/>
                <a:cs typeface="Tahoma" panose="020B0604030504040204" pitchFamily="34" charset="0"/>
              </a:endParaRPr>
            </a:p>
          </p:txBody>
        </p:sp>
        <p:sp>
          <p:nvSpPr>
            <p:cNvPr id="39" name="56 Rectángulo">
              <a:extLst>
                <a:ext uri="{FF2B5EF4-FFF2-40B4-BE49-F238E27FC236}">
                  <a16:creationId xmlns:a16="http://schemas.microsoft.com/office/drawing/2014/main" xmlns="" id="{195980E4-9F38-6057-5360-F6B6D7E2722A}"/>
                </a:ext>
              </a:extLst>
            </p:cNvPr>
            <p:cNvSpPr/>
            <p:nvPr/>
          </p:nvSpPr>
          <p:spPr bwMode="auto">
            <a:xfrm>
              <a:off x="6015335" y="285293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Tahoma" panose="020B0604030504040204" pitchFamily="34" charset="0"/>
                </a:rPr>
                <a:t>Evaluación</a:t>
              </a:r>
            </a:p>
          </p:txBody>
        </p:sp>
        <p:cxnSp>
          <p:nvCxnSpPr>
            <p:cNvPr id="40" name="177 Conector recto de flecha">
              <a:extLst>
                <a:ext uri="{FF2B5EF4-FFF2-40B4-BE49-F238E27FC236}">
                  <a16:creationId xmlns:a16="http://schemas.microsoft.com/office/drawing/2014/main" xmlns="" id="{38C01952-B424-36F5-A63D-5F84BCB8057A}"/>
                </a:ext>
              </a:extLst>
            </p:cNvPr>
            <p:cNvCxnSpPr>
              <a:cxnSpLocks/>
              <a:stCxn id="47" idx="2"/>
              <a:endCxn id="42" idx="0"/>
            </p:cNvCxnSpPr>
            <p:nvPr/>
          </p:nvCxnSpPr>
          <p:spPr bwMode="auto">
            <a:xfrm>
              <a:off x="6392029" y="3893066"/>
              <a:ext cx="14275" cy="1268695"/>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41" name="177 Conector recto de flecha">
              <a:extLst>
                <a:ext uri="{FF2B5EF4-FFF2-40B4-BE49-F238E27FC236}">
                  <a16:creationId xmlns:a16="http://schemas.microsoft.com/office/drawing/2014/main" xmlns="" id="{A6AEBB77-FAD9-36B9-75D1-0804B0CBB231}"/>
                </a:ext>
              </a:extLst>
            </p:cNvPr>
            <p:cNvCxnSpPr>
              <a:cxnSpLocks/>
              <a:stCxn id="37" idx="2"/>
              <a:endCxn id="39" idx="0"/>
            </p:cNvCxnSpPr>
            <p:nvPr/>
          </p:nvCxnSpPr>
          <p:spPr bwMode="auto">
            <a:xfrm>
              <a:off x="6396335" y="2492896"/>
              <a:ext cx="4763" cy="360040"/>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42" name="CuadroTexto 41">
              <a:extLst>
                <a:ext uri="{FF2B5EF4-FFF2-40B4-BE49-F238E27FC236}">
                  <a16:creationId xmlns:a16="http://schemas.microsoft.com/office/drawing/2014/main" xmlns="" id="{981D4FE6-144F-29D2-6640-BE0867FAAC34}"/>
                </a:ext>
              </a:extLst>
            </p:cNvPr>
            <p:cNvSpPr txBox="1"/>
            <p:nvPr/>
          </p:nvSpPr>
          <p:spPr bwMode="auto">
            <a:xfrm>
              <a:off x="4760201" y="5161761"/>
              <a:ext cx="3292206" cy="1051044"/>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600" b="1" dirty="0">
                  <a:solidFill>
                    <a:srgbClr val="000000"/>
                  </a:solidFill>
                  <a:latin typeface="Inter" panose="020B0604020202020204" charset="0"/>
                  <a:ea typeface="Inter" panose="020B0604020202020204" charset="0"/>
                  <a:cs typeface="Tahoma" panose="020B0604030504040204" pitchFamily="34" charset="0"/>
                </a:rPr>
                <a:t>Resolución que: </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Tahoma" panose="020B0604030504040204" pitchFamily="34" charset="0"/>
                </a:rPr>
                <a:t>Dar la conformidad del Informe Técnico Minero.</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Tahoma" panose="020B0604030504040204" pitchFamily="34" charset="0"/>
                </a:rPr>
                <a:t>Aprueba la modificación de la capacidad instalada de la concesión de beneficio.</a:t>
              </a:r>
            </a:p>
            <a:p>
              <a:pPr marL="228600" indent="-228600">
                <a:buFont typeface="+mj-lt"/>
                <a:buAutoNum type="arabicPeriod"/>
                <a:defRPr/>
              </a:pPr>
              <a:r>
                <a:rPr lang="es-PE" sz="1600" dirty="0">
                  <a:solidFill>
                    <a:srgbClr val="000000"/>
                  </a:solidFill>
                  <a:latin typeface="Inter" panose="020B0604020202020204" charset="0"/>
                  <a:ea typeface="Inter" panose="020B0604020202020204" charset="0"/>
                  <a:cs typeface="Tahoma" panose="020B0604030504040204" pitchFamily="34" charset="0"/>
                </a:rPr>
                <a:t>Autoriza la construcción y el funcionamiento del proyecto de modificación de la concesión de beneficio y demás componentes.</a:t>
              </a:r>
            </a:p>
          </p:txBody>
        </p:sp>
        <p:cxnSp>
          <p:nvCxnSpPr>
            <p:cNvPr id="43" name="Conector: angular 449">
              <a:extLst>
                <a:ext uri="{FF2B5EF4-FFF2-40B4-BE49-F238E27FC236}">
                  <a16:creationId xmlns:a16="http://schemas.microsoft.com/office/drawing/2014/main" xmlns="" id="{5E71C352-7AD1-44AC-02A6-FEBDA39C4E31}"/>
                </a:ext>
              </a:extLst>
            </p:cNvPr>
            <p:cNvCxnSpPr>
              <a:cxnSpLocks/>
              <a:stCxn id="36" idx="0"/>
              <a:endCxn id="7" idx="6"/>
            </p:cNvCxnSpPr>
            <p:nvPr/>
          </p:nvCxnSpPr>
          <p:spPr bwMode="auto">
            <a:xfrm rot="16200000" flipV="1">
              <a:off x="6783977" y="1487443"/>
              <a:ext cx="2096446" cy="1474731"/>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angular 451">
              <a:extLst>
                <a:ext uri="{FF2B5EF4-FFF2-40B4-BE49-F238E27FC236}">
                  <a16:creationId xmlns:a16="http://schemas.microsoft.com/office/drawing/2014/main" xmlns="" id="{B43C7646-996A-70A2-BEF8-F2240B23B6F5}"/>
                </a:ext>
              </a:extLst>
            </p:cNvPr>
            <p:cNvCxnSpPr>
              <a:cxnSpLocks/>
              <a:stCxn id="36" idx="2"/>
              <a:endCxn id="42" idx="3"/>
            </p:cNvCxnSpPr>
            <p:nvPr/>
          </p:nvCxnSpPr>
          <p:spPr bwMode="auto">
            <a:xfrm rot="5400000">
              <a:off x="7217209" y="4334926"/>
              <a:ext cx="2187555" cy="51715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3">
              <a:extLst>
                <a:ext uri="{FF2B5EF4-FFF2-40B4-BE49-F238E27FC236}">
                  <a16:creationId xmlns:a16="http://schemas.microsoft.com/office/drawing/2014/main" xmlns="" id="{B1B907A3-F960-29F0-4918-0AB1799DAFC1}"/>
                </a:ext>
              </a:extLst>
            </p:cNvPr>
            <p:cNvCxnSpPr>
              <a:cxnSpLocks/>
              <a:stCxn id="37" idx="1"/>
              <a:endCxn id="38" idx="0"/>
            </p:cNvCxnSpPr>
            <p:nvPr/>
          </p:nvCxnSpPr>
          <p:spPr bwMode="auto">
            <a:xfrm rot="10800000" flipV="1">
              <a:off x="4540909" y="2200003"/>
              <a:ext cx="1045801" cy="545487"/>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CuadroTexto 45">
              <a:extLst>
                <a:ext uri="{FF2B5EF4-FFF2-40B4-BE49-F238E27FC236}">
                  <a16:creationId xmlns:a16="http://schemas.microsoft.com/office/drawing/2014/main" xmlns="" id="{7318D73E-7431-A58A-9193-554E2DEDD497}"/>
                </a:ext>
              </a:extLst>
            </p:cNvPr>
            <p:cNvSpPr txBox="1"/>
            <p:nvPr/>
          </p:nvSpPr>
          <p:spPr bwMode="auto">
            <a:xfrm flipH="1">
              <a:off x="6151563" y="3955063"/>
              <a:ext cx="165100" cy="164870"/>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Tahoma" panose="020B0604030504040204" pitchFamily="34" charset="0"/>
                </a:rPr>
                <a:t>SI</a:t>
              </a:r>
            </a:p>
          </p:txBody>
        </p:sp>
        <p:sp>
          <p:nvSpPr>
            <p:cNvPr id="47" name="Decisión 21">
              <a:extLst>
                <a:ext uri="{FF2B5EF4-FFF2-40B4-BE49-F238E27FC236}">
                  <a16:creationId xmlns:a16="http://schemas.microsoft.com/office/drawing/2014/main" xmlns="" id="{8B41AA36-F0BF-4AD5-BB5A-24A47898C5D1}"/>
                </a:ext>
              </a:extLst>
            </p:cNvPr>
            <p:cNvSpPr/>
            <p:nvPr/>
          </p:nvSpPr>
          <p:spPr bwMode="auto">
            <a:xfrm>
              <a:off x="5944570" y="3565558"/>
              <a:ext cx="894918" cy="327507"/>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solidFill>
                    <a:srgbClr val="000000"/>
                  </a:solidFill>
                  <a:latin typeface="Inter" panose="020B0604020202020204" charset="0"/>
                  <a:ea typeface="Inter" panose="020B0604020202020204" charset="0"/>
                  <a:cs typeface="Tahoma" panose="020B0604030504040204" pitchFamily="34" charset="0"/>
                </a:rPr>
                <a:t>cumple</a:t>
              </a:r>
            </a:p>
          </p:txBody>
        </p:sp>
        <p:sp>
          <p:nvSpPr>
            <p:cNvPr id="48" name="CuadroTexto 47">
              <a:extLst>
                <a:ext uri="{FF2B5EF4-FFF2-40B4-BE49-F238E27FC236}">
                  <a16:creationId xmlns:a16="http://schemas.microsoft.com/office/drawing/2014/main" xmlns="" id="{98F83F5E-DD45-C234-4A67-8E101838D7DC}"/>
                </a:ext>
              </a:extLst>
            </p:cNvPr>
            <p:cNvSpPr txBox="1"/>
            <p:nvPr/>
          </p:nvSpPr>
          <p:spPr bwMode="auto">
            <a:xfrm>
              <a:off x="7339822" y="3543290"/>
              <a:ext cx="859133" cy="329740"/>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Tahoma" panose="020B0604030504040204" pitchFamily="34" charset="0"/>
                </a:rPr>
                <a:t>Requerir subsanar obs.</a:t>
              </a:r>
            </a:p>
          </p:txBody>
        </p:sp>
        <p:sp>
          <p:nvSpPr>
            <p:cNvPr id="49" name="CuadroTexto 48">
              <a:extLst>
                <a:ext uri="{FF2B5EF4-FFF2-40B4-BE49-F238E27FC236}">
                  <a16:creationId xmlns:a16="http://schemas.microsoft.com/office/drawing/2014/main" xmlns="" id="{5995F297-F765-1C8D-3D00-11389883AAE8}"/>
                </a:ext>
              </a:extLst>
            </p:cNvPr>
            <p:cNvSpPr txBox="1"/>
            <p:nvPr/>
          </p:nvSpPr>
          <p:spPr bwMode="auto">
            <a:xfrm>
              <a:off x="7339822" y="4375861"/>
              <a:ext cx="859133" cy="164870"/>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Tahoma" panose="020B0604030504040204" pitchFamily="34" charset="0"/>
                </a:rPr>
                <a:t>Subsana obs.</a:t>
              </a:r>
            </a:p>
          </p:txBody>
        </p:sp>
        <p:sp>
          <p:nvSpPr>
            <p:cNvPr id="50" name="72 CuadroTexto">
              <a:extLst>
                <a:ext uri="{FF2B5EF4-FFF2-40B4-BE49-F238E27FC236}">
                  <a16:creationId xmlns:a16="http://schemas.microsoft.com/office/drawing/2014/main" xmlns="" id="{AE1042E5-31CC-61E7-CD4B-936DD0D723DF}"/>
                </a:ext>
              </a:extLst>
            </p:cNvPr>
            <p:cNvSpPr txBox="1">
              <a:spLocks noChangeArrowheads="1"/>
            </p:cNvSpPr>
            <p:nvPr/>
          </p:nvSpPr>
          <p:spPr bwMode="auto">
            <a:xfrm>
              <a:off x="7391853" y="4110146"/>
              <a:ext cx="755068" cy="16487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Tahoma" panose="020B0604030504040204" pitchFamily="34" charset="0"/>
                </a:rPr>
                <a:t>Hasta   20 dh</a:t>
              </a:r>
            </a:p>
          </p:txBody>
        </p:sp>
        <p:sp>
          <p:nvSpPr>
            <p:cNvPr id="51" name="CuadroTexto 50">
              <a:extLst>
                <a:ext uri="{FF2B5EF4-FFF2-40B4-BE49-F238E27FC236}">
                  <a16:creationId xmlns:a16="http://schemas.microsoft.com/office/drawing/2014/main" xmlns="" id="{8E437C5C-814C-23C3-CABE-474AFEAD3291}"/>
                </a:ext>
              </a:extLst>
            </p:cNvPr>
            <p:cNvSpPr txBox="1"/>
            <p:nvPr/>
          </p:nvSpPr>
          <p:spPr bwMode="auto">
            <a:xfrm>
              <a:off x="6747980" y="3474400"/>
              <a:ext cx="306902" cy="164870"/>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wrap="square" lIns="0" tIns="0" rIns="0" bIns="0">
              <a:spAutoFit/>
            </a:bodyPr>
            <a:lstStyle/>
            <a:p>
              <a:pPr algn="ctr">
                <a:defRPr/>
              </a:pPr>
              <a:r>
                <a:rPr lang="es-PE" sz="1600" b="1" dirty="0">
                  <a:latin typeface="Inter" panose="020B0604020202020204" charset="0"/>
                  <a:ea typeface="Inter" panose="020B0604020202020204" charset="0"/>
                  <a:cs typeface="Tahoma" panose="020B0604030504040204" pitchFamily="34" charset="0"/>
                </a:rPr>
                <a:t>NO</a:t>
              </a:r>
            </a:p>
          </p:txBody>
        </p:sp>
        <p:cxnSp>
          <p:nvCxnSpPr>
            <p:cNvPr id="52" name="Conector recto de flecha 51">
              <a:extLst>
                <a:ext uri="{FF2B5EF4-FFF2-40B4-BE49-F238E27FC236}">
                  <a16:creationId xmlns:a16="http://schemas.microsoft.com/office/drawing/2014/main" xmlns="" id="{70BAE373-3B18-D893-20E5-3D699C5DD1FA}"/>
                </a:ext>
              </a:extLst>
            </p:cNvPr>
            <p:cNvCxnSpPr>
              <a:cxnSpLocks/>
              <a:stCxn id="47" idx="3"/>
              <a:endCxn id="48" idx="1"/>
            </p:cNvCxnSpPr>
            <p:nvPr/>
          </p:nvCxnSpPr>
          <p:spPr bwMode="auto">
            <a:xfrm flipV="1">
              <a:off x="6839488" y="3708160"/>
              <a:ext cx="500334" cy="21152"/>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xmlns="" id="{4835DD93-A0D0-C5A7-07C5-B95A29BB780F}"/>
                </a:ext>
              </a:extLst>
            </p:cNvPr>
            <p:cNvCxnSpPr>
              <a:cxnSpLocks/>
              <a:stCxn id="39" idx="2"/>
              <a:endCxn id="47" idx="0"/>
            </p:cNvCxnSpPr>
            <p:nvPr/>
          </p:nvCxnSpPr>
          <p:spPr bwMode="auto">
            <a:xfrm flipH="1">
              <a:off x="6392029" y="3170436"/>
              <a:ext cx="9069" cy="395122"/>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54" name="Conector recto 53">
              <a:extLst>
                <a:ext uri="{FF2B5EF4-FFF2-40B4-BE49-F238E27FC236}">
                  <a16:creationId xmlns:a16="http://schemas.microsoft.com/office/drawing/2014/main" xmlns="" id="{515D7ABC-B818-6434-6DFA-EC371602B4E9}"/>
                </a:ext>
              </a:extLst>
            </p:cNvPr>
            <p:cNvCxnSpPr>
              <a:stCxn id="48" idx="2"/>
              <a:endCxn id="49" idx="0"/>
            </p:cNvCxnSpPr>
            <p:nvPr/>
          </p:nvCxnSpPr>
          <p:spPr bwMode="auto">
            <a:xfrm>
              <a:off x="7769388" y="3873030"/>
              <a:ext cx="0" cy="502831"/>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Conector angular 29">
              <a:extLst>
                <a:ext uri="{FF2B5EF4-FFF2-40B4-BE49-F238E27FC236}">
                  <a16:creationId xmlns:a16="http://schemas.microsoft.com/office/drawing/2014/main" xmlns="" id="{9920AF51-EF8E-EDA7-EDD7-127AAF7FBD48}"/>
                </a:ext>
              </a:extLst>
            </p:cNvPr>
            <p:cNvCxnSpPr>
              <a:cxnSpLocks/>
              <a:stCxn id="49" idx="2"/>
              <a:endCxn id="42" idx="0"/>
            </p:cNvCxnSpPr>
            <p:nvPr/>
          </p:nvCxnSpPr>
          <p:spPr bwMode="auto">
            <a:xfrm rot="5400000">
              <a:off x="6777331" y="4169704"/>
              <a:ext cx="621030" cy="1363084"/>
            </a:xfrm>
            <a:prstGeom prst="bentConnector3">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72 CuadroTexto">
              <a:extLst>
                <a:ext uri="{FF2B5EF4-FFF2-40B4-BE49-F238E27FC236}">
                  <a16:creationId xmlns:a16="http://schemas.microsoft.com/office/drawing/2014/main" xmlns="" id="{2B5FB7D9-F39E-36FF-448D-27506D4D12E8}"/>
                </a:ext>
              </a:extLst>
            </p:cNvPr>
            <p:cNvSpPr txBox="1">
              <a:spLocks noChangeArrowheads="1"/>
            </p:cNvSpPr>
            <p:nvPr/>
          </p:nvSpPr>
          <p:spPr bwMode="auto">
            <a:xfrm>
              <a:off x="7496719" y="2611844"/>
              <a:ext cx="545338" cy="2266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Tahoma" panose="020B0604030504040204" pitchFamily="34" charset="0"/>
                </a:rPr>
                <a:t>15 dh</a:t>
              </a:r>
            </a:p>
          </p:txBody>
        </p:sp>
        <p:cxnSp>
          <p:nvCxnSpPr>
            <p:cNvPr id="57" name="Conector recto de flecha 56">
              <a:extLst>
                <a:ext uri="{FF2B5EF4-FFF2-40B4-BE49-F238E27FC236}">
                  <a16:creationId xmlns:a16="http://schemas.microsoft.com/office/drawing/2014/main" xmlns="" id="{0671B69D-C190-78A4-F2A1-A12CE3689A05}"/>
                </a:ext>
              </a:extLst>
            </p:cNvPr>
            <p:cNvCxnSpPr>
              <a:stCxn id="56" idx="2"/>
              <a:endCxn id="48" idx="0"/>
            </p:cNvCxnSpPr>
            <p:nvPr/>
          </p:nvCxnSpPr>
          <p:spPr bwMode="auto">
            <a:xfrm>
              <a:off x="7769388" y="2838540"/>
              <a:ext cx="0" cy="704750"/>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angular 32">
              <a:extLst>
                <a:ext uri="{FF2B5EF4-FFF2-40B4-BE49-F238E27FC236}">
                  <a16:creationId xmlns:a16="http://schemas.microsoft.com/office/drawing/2014/main" xmlns="" id="{94A5CF4D-C621-F7CF-115D-4D981E846138}"/>
                </a:ext>
              </a:extLst>
            </p:cNvPr>
            <p:cNvCxnSpPr>
              <a:stCxn id="56" idx="0"/>
              <a:endCxn id="7" idx="6"/>
            </p:cNvCxnSpPr>
            <p:nvPr/>
          </p:nvCxnSpPr>
          <p:spPr bwMode="auto">
            <a:xfrm rot="16200000" flipV="1">
              <a:off x="6714482" y="1556938"/>
              <a:ext cx="1435258" cy="674554"/>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55570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CF832A7-960F-DBB5-419B-7A12D7EE0381}"/>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E8405CF8-D314-8CC0-1347-29CBC0642B6A}"/>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13781FCB-6B85-4FC6-CF9A-4547A52169C3}"/>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6001D6AF-4507-2672-0E76-A68B398AAD35}"/>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04849113-08C2-0480-AEDB-5B749EF810F7}"/>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7B2AAF96-A28D-BB15-1BC7-53353F5A6669}"/>
              </a:ext>
            </a:extLst>
          </p:cNvPr>
          <p:cNvSpPr txBox="1"/>
          <p:nvPr/>
        </p:nvSpPr>
        <p:spPr>
          <a:xfrm>
            <a:off x="784611" y="3166856"/>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sym typeface="Futura Ultra-Bold"/>
              </a:rPr>
              <a:t>5.3 AUTORIZACIÓN DE BENEFICIO PMA</a:t>
            </a:r>
          </a:p>
        </p:txBody>
      </p:sp>
      <p:sp>
        <p:nvSpPr>
          <p:cNvPr id="2" name="CuadroTexto 1">
            <a:extLst>
              <a:ext uri="{FF2B5EF4-FFF2-40B4-BE49-F238E27FC236}">
                <a16:creationId xmlns:a16="http://schemas.microsoft.com/office/drawing/2014/main" xmlns="" id="{C9645971-DB30-CF41-16AF-04C544C56400}"/>
              </a:ext>
            </a:extLst>
          </p:cNvPr>
          <p:cNvSpPr txBox="1"/>
          <p:nvPr/>
        </p:nvSpPr>
        <p:spPr>
          <a:xfrm>
            <a:off x="784611" y="4830663"/>
            <a:ext cx="15665606" cy="1708160"/>
          </a:xfrm>
          <a:prstGeom prst="rect">
            <a:avLst/>
          </a:prstGeom>
          <a:noFill/>
        </p:spPr>
        <p:txBody>
          <a:bodyPr wrap="square">
            <a:spAutoFit/>
          </a:bodyPr>
          <a:lstStyle/>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AUTORIZACIÓN DE BENEFICIO DE MINERALES DE PMA </a:t>
            </a:r>
          </a:p>
          <a:p>
            <a:pPr marL="538163" lvl="2" indent="-538163">
              <a:buFont typeface="Arial" panose="020B0604020202020204" pitchFamily="34" charset="0"/>
              <a:buChar char="•"/>
            </a:pPr>
            <a:r>
              <a:rPr lang="es-PE" sz="3500" b="1" dirty="0">
                <a:latin typeface="Inter" panose="020B0604020202020204" charset="0"/>
                <a:ea typeface="Inter" panose="020B0604020202020204" charset="0"/>
              </a:rPr>
              <a:t>MODIFICACIONES DE LA AUTORIZACIÓN DE BENEFICIO DE MINERALES DE PMA</a:t>
            </a:r>
          </a:p>
        </p:txBody>
      </p:sp>
      <p:grpSp>
        <p:nvGrpSpPr>
          <p:cNvPr id="9" name="Group 2">
            <a:extLst>
              <a:ext uri="{FF2B5EF4-FFF2-40B4-BE49-F238E27FC236}">
                <a16:creationId xmlns:a16="http://schemas.microsoft.com/office/drawing/2014/main" xmlns="" id="{A8D574C3-0599-3330-F532-41BC064EF9AE}"/>
              </a:ext>
            </a:extLst>
          </p:cNvPr>
          <p:cNvGrpSpPr/>
          <p:nvPr/>
        </p:nvGrpSpPr>
        <p:grpSpPr>
          <a:xfrm>
            <a:off x="6397409" y="7556924"/>
            <a:ext cx="10861891" cy="2730076"/>
            <a:chOff x="0" y="0"/>
            <a:chExt cx="1363973" cy="342827"/>
          </a:xfrm>
        </p:grpSpPr>
        <p:sp>
          <p:nvSpPr>
            <p:cNvPr id="10" name="Freeform 3">
              <a:extLst>
                <a:ext uri="{FF2B5EF4-FFF2-40B4-BE49-F238E27FC236}">
                  <a16:creationId xmlns:a16="http://schemas.microsoft.com/office/drawing/2014/main" xmlns="" id="{AC30524F-53EB-1F4D-7869-2871BF6487BB}"/>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 name="TextBox 4">
              <a:extLst>
                <a:ext uri="{FF2B5EF4-FFF2-40B4-BE49-F238E27FC236}">
                  <a16:creationId xmlns:a16="http://schemas.microsoft.com/office/drawing/2014/main" xmlns="" id="{6D6EBBDF-E423-F59B-150B-E1B90DEED50C}"/>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Tree>
    <p:extLst>
      <p:ext uri="{BB962C8B-B14F-4D97-AF65-F5344CB8AC3E}">
        <p14:creationId xmlns:p14="http://schemas.microsoft.com/office/powerpoint/2010/main" val="6811809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ED8124-5658-EDE2-13F1-6DD0C280844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3EE386F9-05D8-9EFD-A831-F5DFC3BC2CF4}"/>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6FA5C40E-771D-320D-6438-2C8E66AB9181}"/>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E88FD0FA-0BA5-536C-0D73-0B68E38328E6}"/>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59326F90-7743-CCB1-8A0B-AFA594576693}"/>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F6965782-3010-C2D2-7500-0FA2B2A842C5}"/>
              </a:ext>
            </a:extLst>
          </p:cNvPr>
          <p:cNvSpPr txBox="1"/>
          <p:nvPr/>
        </p:nvSpPr>
        <p:spPr>
          <a:xfrm>
            <a:off x="533401" y="2845182"/>
            <a:ext cx="15773400"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sym typeface="Futura Ultra-Bold"/>
              </a:rPr>
              <a:t>5.3 AUTORIZACIÓN DE BENEFICIO PMA</a:t>
            </a:r>
          </a:p>
        </p:txBody>
      </p:sp>
      <p:grpSp>
        <p:nvGrpSpPr>
          <p:cNvPr id="9" name="Group 2">
            <a:extLst>
              <a:ext uri="{FF2B5EF4-FFF2-40B4-BE49-F238E27FC236}">
                <a16:creationId xmlns:a16="http://schemas.microsoft.com/office/drawing/2014/main" xmlns="" id="{7D3787A0-0AB4-4F2D-A5B4-35CA407F2130}"/>
              </a:ext>
            </a:extLst>
          </p:cNvPr>
          <p:cNvGrpSpPr/>
          <p:nvPr/>
        </p:nvGrpSpPr>
        <p:grpSpPr>
          <a:xfrm>
            <a:off x="6397409" y="7556924"/>
            <a:ext cx="10861891" cy="2730076"/>
            <a:chOff x="0" y="0"/>
            <a:chExt cx="1363973" cy="342827"/>
          </a:xfrm>
        </p:grpSpPr>
        <p:sp>
          <p:nvSpPr>
            <p:cNvPr id="10" name="Freeform 3">
              <a:extLst>
                <a:ext uri="{FF2B5EF4-FFF2-40B4-BE49-F238E27FC236}">
                  <a16:creationId xmlns:a16="http://schemas.microsoft.com/office/drawing/2014/main" xmlns="" id="{EDC3F4CA-46FD-4B10-DAFF-19DBC31E8D61}"/>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 name="TextBox 4">
              <a:extLst>
                <a:ext uri="{FF2B5EF4-FFF2-40B4-BE49-F238E27FC236}">
                  <a16:creationId xmlns:a16="http://schemas.microsoft.com/office/drawing/2014/main" xmlns="" id="{1A8FF5E2-E51C-1CD4-0461-1C9C58650B1A}"/>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3" name="Título 1">
            <a:extLst>
              <a:ext uri="{FF2B5EF4-FFF2-40B4-BE49-F238E27FC236}">
                <a16:creationId xmlns:a16="http://schemas.microsoft.com/office/drawing/2014/main" xmlns="" id="{CE137C61-7348-A49C-3642-BF97299A2CCD}"/>
              </a:ext>
            </a:extLst>
          </p:cNvPr>
          <p:cNvSpPr txBox="1">
            <a:spLocks/>
          </p:cNvSpPr>
          <p:nvPr/>
        </p:nvSpPr>
        <p:spPr>
          <a:xfrm>
            <a:off x="533400" y="3727685"/>
            <a:ext cx="6380847" cy="1072059"/>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Autorización de beneficio de minerales de PMA</a:t>
            </a:r>
            <a:endParaRPr lang="es-PE" sz="2400" dirty="0">
              <a:latin typeface="Inter" panose="020B0604020202020204" charset="0"/>
              <a:ea typeface="Inter" panose="020B0604020202020204" charset="0"/>
            </a:endParaRPr>
          </a:p>
        </p:txBody>
      </p:sp>
      <p:sp>
        <p:nvSpPr>
          <p:cNvPr id="12" name="Marcador de texto 3">
            <a:extLst>
              <a:ext uri="{FF2B5EF4-FFF2-40B4-BE49-F238E27FC236}">
                <a16:creationId xmlns:a16="http://schemas.microsoft.com/office/drawing/2014/main" xmlns="" id="{36F99642-4B77-BA0C-2E6C-4933F0C21D27}"/>
              </a:ext>
            </a:extLst>
          </p:cNvPr>
          <p:cNvSpPr txBox="1">
            <a:spLocks/>
          </p:cNvSpPr>
          <p:nvPr/>
        </p:nvSpPr>
        <p:spPr>
          <a:xfrm>
            <a:off x="537883" y="4799744"/>
            <a:ext cx="6380848" cy="535853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r>
              <a:rPr lang="es-PE" sz="2400" b="1" dirty="0">
                <a:solidFill>
                  <a:schemeClr val="accent2">
                    <a:lumMod val="50000"/>
                  </a:schemeClr>
                </a:solidFill>
                <a:latin typeface="Inter" panose="020B0604020202020204" charset="0"/>
                <a:ea typeface="Inter" panose="020B0604020202020204" charset="0"/>
              </a:rPr>
              <a:t>Artículo 18 del TUO de la ley General de Minería</a:t>
            </a:r>
          </a:p>
          <a:p>
            <a:r>
              <a:rPr lang="es-PE" sz="2400" b="1" dirty="0">
                <a:solidFill>
                  <a:schemeClr val="accent2">
                    <a:lumMod val="50000"/>
                  </a:schemeClr>
                </a:solidFill>
                <a:latin typeface="Inter" panose="020B0604020202020204" charset="0"/>
                <a:ea typeface="Inter" panose="020B0604020202020204" charset="0"/>
              </a:rPr>
              <a:t>El procedimiento de autorización está regulado en el Reglamento de Procedimientos Mineros en los artículos 92 y 93.</a:t>
            </a:r>
          </a:p>
          <a:p>
            <a:r>
              <a:rPr lang="es-PE" sz="2400" b="1" dirty="0">
                <a:solidFill>
                  <a:schemeClr val="accent2">
                    <a:lumMod val="50000"/>
                  </a:schemeClr>
                </a:solidFill>
                <a:latin typeface="Inter" panose="020B0604020202020204" charset="0"/>
                <a:ea typeface="Inter" panose="020B0604020202020204" charset="0"/>
              </a:rPr>
              <a:t>Ley 27651 - Ley de formalización y Promoción de la pequeña minería y la minería artesanal</a:t>
            </a:r>
          </a:p>
          <a:p>
            <a:r>
              <a:rPr lang="es-PE" sz="2400" b="1" dirty="0">
                <a:solidFill>
                  <a:schemeClr val="accent2">
                    <a:lumMod val="50000"/>
                  </a:schemeClr>
                </a:solidFill>
                <a:latin typeface="Inter" panose="020B0604020202020204" charset="0"/>
                <a:ea typeface="Inter" panose="020B0604020202020204" charset="0"/>
              </a:rPr>
              <a:t>Reglamento de la Ley de formalización y Promoción de la pequeña minería y la minería artesanal, aprobado por el D.S. 013-2002-EM</a:t>
            </a:r>
          </a:p>
        </p:txBody>
      </p:sp>
      <p:sp>
        <p:nvSpPr>
          <p:cNvPr id="14" name="CuadroTexto 13">
            <a:extLst>
              <a:ext uri="{FF2B5EF4-FFF2-40B4-BE49-F238E27FC236}">
                <a16:creationId xmlns:a16="http://schemas.microsoft.com/office/drawing/2014/main" xmlns="" id="{5B70A655-7693-F619-19B4-52DBB94956BE}"/>
              </a:ext>
            </a:extLst>
          </p:cNvPr>
          <p:cNvSpPr txBox="1"/>
          <p:nvPr/>
        </p:nvSpPr>
        <p:spPr>
          <a:xfrm>
            <a:off x="6921974" y="4285528"/>
            <a:ext cx="9525000" cy="4524315"/>
          </a:xfrm>
          <a:prstGeom prst="rect">
            <a:avLst/>
          </a:prstGeom>
          <a:noFill/>
        </p:spPr>
        <p:txBody>
          <a:bodyPr wrap="square">
            <a:spAutoFit/>
          </a:bodyPr>
          <a:lstStyle/>
          <a:p>
            <a:pPr marL="342900" indent="-342900">
              <a:buFont typeface="Arial" panose="020B0604020202020204" pitchFamily="34" charset="0"/>
              <a:buChar char="•"/>
            </a:pPr>
            <a:r>
              <a:rPr lang="es-PE" sz="2400" kern="800" dirty="0">
                <a:effectLst/>
                <a:latin typeface="Inter" panose="020B0604020202020204" charset="0"/>
                <a:ea typeface="Inter" panose="020B0604020202020204" charset="0"/>
              </a:rPr>
              <a:t>El conjunto de procesos físicos, químicos y/o físico-químicos </a:t>
            </a:r>
            <a:r>
              <a:rPr lang="es-PE" sz="2400" b="1" kern="800" dirty="0">
                <a:solidFill>
                  <a:srgbClr val="C00000"/>
                </a:solidFill>
                <a:effectLst/>
                <a:latin typeface="Inter" panose="020B0604020202020204" charset="0"/>
                <a:ea typeface="Inter" panose="020B0604020202020204" charset="0"/>
              </a:rPr>
              <a:t>que realizan los productores mineros artesanales </a:t>
            </a:r>
            <a:r>
              <a:rPr lang="es-PE" sz="2400" kern="800" dirty="0">
                <a:effectLst/>
                <a:latin typeface="Inter" panose="020B0604020202020204" charset="0"/>
                <a:ea typeface="Inter" panose="020B0604020202020204" charset="0"/>
              </a:rPr>
              <a:t>para extraer o concentrar las partes valiosas de un agregado de minerales y/o para purificar, fundir o refinar metales, </a:t>
            </a:r>
            <a:r>
              <a:rPr lang="es-PE" sz="2400" b="1" kern="800" dirty="0">
                <a:solidFill>
                  <a:srgbClr val="C00000"/>
                </a:solidFill>
                <a:effectLst/>
                <a:latin typeface="Inter" panose="020B0604020202020204" charset="0"/>
                <a:ea typeface="Inter" panose="020B0604020202020204" charset="0"/>
              </a:rPr>
              <a:t>no se encuentran comprendidos en el alcance del presente Título</a:t>
            </a:r>
            <a:r>
              <a:rPr lang="es-PE" sz="2400" kern="800" dirty="0">
                <a:solidFill>
                  <a:srgbClr val="C00000"/>
                </a:solidFill>
                <a:effectLst/>
                <a:latin typeface="Inter" panose="020B0604020202020204" charset="0"/>
                <a:ea typeface="Inter" panose="020B0604020202020204" charset="0"/>
              </a:rPr>
              <a:t>, </a:t>
            </a:r>
            <a:r>
              <a:rPr lang="es-PE" sz="2400" kern="800" dirty="0">
                <a:effectLst/>
                <a:latin typeface="Inter" panose="020B0604020202020204" charset="0"/>
                <a:ea typeface="Inter" panose="020B0604020202020204" charset="0"/>
              </a:rPr>
              <a:t>para su realización sólo será necesaria la solicitud acompañada de información técnica y una Declaración de Impacto Ambiental suscrita por un profesional competente en la materia.</a:t>
            </a:r>
          </a:p>
          <a:p>
            <a:pPr marL="342900" indent="-342900">
              <a:buFont typeface="Arial" panose="020B0604020202020204" pitchFamily="34" charset="0"/>
              <a:buChar char="•"/>
            </a:pPr>
            <a:endParaRPr lang="es-PE" sz="2400" kern="800" dirty="0">
              <a:effectLst/>
              <a:latin typeface="Inter" panose="020B0604020202020204" charset="0"/>
              <a:ea typeface="Inter" panose="020B0604020202020204" charset="0"/>
            </a:endParaRPr>
          </a:p>
          <a:p>
            <a:pPr marL="342900" indent="-342900">
              <a:buFont typeface="Arial" panose="020B0604020202020204" pitchFamily="34" charset="0"/>
              <a:buChar char="•"/>
            </a:pPr>
            <a:r>
              <a:rPr lang="es-PE" sz="2400" kern="800" dirty="0">
                <a:effectLst/>
                <a:latin typeface="Inter" panose="020B0604020202020204" charset="0"/>
                <a:ea typeface="Inter" panose="020B0604020202020204" charset="0"/>
              </a:rPr>
              <a:t>La autorización correspondiente será expedida por la Dirección General de Minería</a:t>
            </a:r>
            <a:endParaRPr lang="es-PE" sz="2400" dirty="0">
              <a:latin typeface="Inter" panose="020B0604020202020204" charset="0"/>
              <a:ea typeface="Inter" panose="020B0604020202020204" charset="0"/>
            </a:endParaRPr>
          </a:p>
        </p:txBody>
      </p:sp>
    </p:spTree>
    <p:extLst>
      <p:ext uri="{BB962C8B-B14F-4D97-AF65-F5344CB8AC3E}">
        <p14:creationId xmlns:p14="http://schemas.microsoft.com/office/powerpoint/2010/main" val="19891646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86FC8E5-0C26-F864-84A9-E3F33B3BABDF}"/>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8469D94B-EFE1-4C06-A6CF-E9EEEC036A32}"/>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924AA38B-9873-E327-03BD-D71DDA0F5597}"/>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A4605C74-9A28-B902-88E9-B1FB60EEF250}"/>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Autorización de beneficio de minerales para productores mineros artesanales</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87C2C3B6-3654-DA20-D1E2-5A6A70673851}"/>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92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treinta (30)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negativo.</a:t>
            </a:r>
          </a:p>
        </p:txBody>
      </p:sp>
      <p:grpSp>
        <p:nvGrpSpPr>
          <p:cNvPr id="8" name="Group 2">
            <a:extLst>
              <a:ext uri="{FF2B5EF4-FFF2-40B4-BE49-F238E27FC236}">
                <a16:creationId xmlns:a16="http://schemas.microsoft.com/office/drawing/2014/main" xmlns="" id="{F2625D13-152A-CB9A-5CF8-11BF33874AE7}"/>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59AC032B-1FB4-0E75-C5C7-FD09F13BAC48}"/>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08B1276A-EE9D-6436-908E-1198B754D7B6}"/>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grpSp>
        <p:nvGrpSpPr>
          <p:cNvPr id="11" name="Grupo 10">
            <a:extLst>
              <a:ext uri="{FF2B5EF4-FFF2-40B4-BE49-F238E27FC236}">
                <a16:creationId xmlns:a16="http://schemas.microsoft.com/office/drawing/2014/main" xmlns="" id="{F2BB71E1-CA2A-B142-2722-74E785C66AB3}"/>
              </a:ext>
            </a:extLst>
          </p:cNvPr>
          <p:cNvGrpSpPr/>
          <p:nvPr/>
        </p:nvGrpSpPr>
        <p:grpSpPr>
          <a:xfrm>
            <a:off x="4343400" y="816379"/>
            <a:ext cx="11481792" cy="8538978"/>
            <a:chOff x="1708974" y="781050"/>
            <a:chExt cx="4863823" cy="4931982"/>
          </a:xfrm>
        </p:grpSpPr>
        <p:sp>
          <p:nvSpPr>
            <p:cNvPr id="12" name="3 Elipse">
              <a:extLst>
                <a:ext uri="{FF2B5EF4-FFF2-40B4-BE49-F238E27FC236}">
                  <a16:creationId xmlns:a16="http://schemas.microsoft.com/office/drawing/2014/main" xmlns="" id="{ED8007BE-7616-5D75-06FE-670AE73CD51D}"/>
                </a:ext>
              </a:extLst>
            </p:cNvPr>
            <p:cNvSpPr/>
            <p:nvPr/>
          </p:nvSpPr>
          <p:spPr>
            <a:xfrm>
              <a:off x="4146550" y="781050"/>
              <a:ext cx="1403350"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Electrónico)</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13" name="5 Conector recto de flecha">
              <a:extLst>
                <a:ext uri="{FF2B5EF4-FFF2-40B4-BE49-F238E27FC236}">
                  <a16:creationId xmlns:a16="http://schemas.microsoft.com/office/drawing/2014/main" xmlns="" id="{FB766991-699A-B404-5DA3-7B931E9C36FE}"/>
                </a:ext>
              </a:extLst>
            </p:cNvPr>
            <p:cNvCxnSpPr>
              <a:cxnSpLocks/>
              <a:stCxn id="12" idx="4"/>
            </p:cNvCxnSpPr>
            <p:nvPr/>
          </p:nvCxnSpPr>
          <p:spPr>
            <a:xfrm>
              <a:off x="4848225" y="1541463"/>
              <a:ext cx="1" cy="44106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4" name="9 Título">
              <a:extLst>
                <a:ext uri="{FF2B5EF4-FFF2-40B4-BE49-F238E27FC236}">
                  <a16:creationId xmlns:a16="http://schemas.microsoft.com/office/drawing/2014/main" xmlns="" id="{71626106-67F5-FA5F-07CE-C3EE5A6793BD}"/>
                </a:ext>
              </a:extLst>
            </p:cNvPr>
            <p:cNvSpPr txBox="1">
              <a:spLocks/>
            </p:cNvSpPr>
            <p:nvPr/>
          </p:nvSpPr>
          <p:spPr>
            <a:xfrm>
              <a:off x="1708974" y="781050"/>
              <a:ext cx="1441450" cy="766763"/>
            </a:xfrm>
            <a:prstGeom prst="rect">
              <a:avLst/>
            </a:prstGeom>
            <a:solidFill>
              <a:srgbClr val="FFFFCC"/>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600" dirty="0">
                  <a:solidFill>
                    <a:srgbClr val="000000"/>
                  </a:solidFill>
                  <a:latin typeface="Inter" panose="020B0604020202020204" charset="0"/>
                  <a:ea typeface="Inter" panose="020B0604020202020204" charset="0"/>
                  <a:cs typeface="Arial" panose="020B0604020202020204" pitchFamily="34" charset="0"/>
                </a:rPr>
                <a:t>Si se advierte en forma referencial que el proyecto se encuentra en PPII se solicita opinión a OGGS.</a:t>
              </a:r>
            </a:p>
          </p:txBody>
        </p:sp>
        <p:sp>
          <p:nvSpPr>
            <p:cNvPr id="15" name="56 Rectángulo">
              <a:extLst>
                <a:ext uri="{FF2B5EF4-FFF2-40B4-BE49-F238E27FC236}">
                  <a16:creationId xmlns:a16="http://schemas.microsoft.com/office/drawing/2014/main" xmlns="" id="{75F40244-571D-2D96-E485-69372241DC79}"/>
                </a:ext>
              </a:extLst>
            </p:cNvPr>
            <p:cNvSpPr/>
            <p:nvPr/>
          </p:nvSpPr>
          <p:spPr>
            <a:xfrm>
              <a:off x="1720850" y="2499519"/>
              <a:ext cx="1836797" cy="2549950"/>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85725" indent="-85725" eaLnBrk="1" hangingPunct="1">
                <a:buFontTx/>
                <a:buChar char="-"/>
                <a:defRPr/>
              </a:pPr>
              <a:r>
                <a:rPr lang="es-PE" dirty="0">
                  <a:solidFill>
                    <a:schemeClr val="tx1"/>
                  </a:solidFill>
                  <a:latin typeface="Inter" panose="020B0604020202020204" charset="0"/>
                  <a:ea typeface="Inter" panose="020B0604020202020204" charset="0"/>
                  <a:cs typeface="Arial" panose="020B0604020202020204" pitchFamily="34" charset="0"/>
                </a:rPr>
                <a:t>Derecho de tramite</a:t>
              </a:r>
            </a:p>
            <a:p>
              <a:pPr marL="85725" indent="-85725">
                <a:buFontTx/>
                <a:buChar char="-"/>
                <a:defRPr/>
              </a:pPr>
              <a:r>
                <a:rPr lang="es-PE" dirty="0">
                  <a:solidFill>
                    <a:schemeClr val="tx1"/>
                  </a:solidFill>
                  <a:latin typeface="Inter" panose="020B0604020202020204" charset="0"/>
                  <a:ea typeface="Inter" panose="020B0604020202020204" charset="0"/>
                  <a:cs typeface="Arial" panose="020B0604020202020204" pitchFamily="34" charset="0"/>
                </a:rPr>
                <a:t>Instrumento de Gestión Ambiental aprobado.</a:t>
              </a:r>
            </a:p>
            <a:p>
              <a:pPr marL="85725" indent="-85725">
                <a:buFontTx/>
                <a:buChar char="-"/>
                <a:defRPr/>
              </a:pPr>
              <a:r>
                <a:rPr lang="es-PE" dirty="0">
                  <a:solidFill>
                    <a:schemeClr val="tx1"/>
                  </a:solidFill>
                  <a:latin typeface="Inter" panose="020B0604020202020204" charset="0"/>
                  <a:ea typeface="Inter" panose="020B0604020202020204" charset="0"/>
                  <a:cs typeface="Arial" panose="020B0604020202020204" pitchFamily="34" charset="0"/>
                </a:rPr>
                <a:t>Memoria descriptiva de la planta de beneficio, los componentes accesorios y auxiliares.</a:t>
              </a:r>
            </a:p>
            <a:p>
              <a:pPr marL="85725" indent="-85725">
                <a:buFontTx/>
                <a:buChar char="-"/>
                <a:defRPr/>
              </a:pPr>
              <a:r>
                <a:rPr lang="es-PE" dirty="0">
                  <a:solidFill>
                    <a:schemeClr val="tx1"/>
                  </a:solidFill>
                  <a:latin typeface="Inter" panose="020B0604020202020204" charset="0"/>
                  <a:ea typeface="Inter" panose="020B0604020202020204" charset="0"/>
                  <a:cs typeface="Arial" panose="020B0604020202020204" pitchFamily="34" charset="0"/>
                </a:rPr>
                <a:t>Autorización del terreno superficial.</a:t>
              </a:r>
            </a:p>
            <a:p>
              <a:pPr marL="85725" indent="-85725">
                <a:buFontTx/>
                <a:buChar char="-"/>
                <a:defRPr/>
              </a:pPr>
              <a:r>
                <a:rPr lang="es-PE" dirty="0">
                  <a:solidFill>
                    <a:schemeClr val="tx1"/>
                  </a:solidFill>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 </a:t>
              </a:r>
            </a:p>
            <a:p>
              <a:pPr marL="85725" indent="-85725">
                <a:buFontTx/>
                <a:buChar char="-"/>
                <a:defRPr/>
              </a:pPr>
              <a:r>
                <a:rPr lang="es-PE" dirty="0">
                  <a:solidFill>
                    <a:srgbClr val="000000"/>
                  </a:solidFill>
                  <a:latin typeface="Inter" panose="020B0604020202020204" charset="0"/>
                  <a:ea typeface="Inter" panose="020B0604020202020204" charset="0"/>
                  <a:cs typeface="Arial" panose="020B0604020202020204" pitchFamily="34" charset="0"/>
                </a:rPr>
                <a:t>Plan de cierre de minas aprobado</a:t>
              </a:r>
            </a:p>
            <a:p>
              <a:pPr marL="85725" indent="-85725">
                <a:buFontTx/>
                <a:buChar char="-"/>
                <a:defRPr/>
              </a:pPr>
              <a:r>
                <a:rPr lang="es-PE" dirty="0">
                  <a:solidFill>
                    <a:srgbClr val="000000"/>
                  </a:solidFill>
                  <a:latin typeface="Inter" panose="020B0604020202020204" charset="0"/>
                  <a:ea typeface="Inter" panose="020B0604020202020204" charset="0"/>
                  <a:cs typeface="Arial" panose="020B0604020202020204" pitchFamily="34" charset="0"/>
                </a:rPr>
                <a:t>Licencia de uso de agua para fines mineros</a:t>
              </a:r>
            </a:p>
            <a:p>
              <a:pPr marL="85725" indent="-85725">
                <a:buFontTx/>
                <a:buChar char="-"/>
                <a:defRPr/>
              </a:pPr>
              <a:r>
                <a:rPr lang="es-PE" dirty="0">
                  <a:solidFill>
                    <a:srgbClr val="000000"/>
                  </a:solidFill>
                  <a:latin typeface="Inter" panose="020B0604020202020204" charset="0"/>
                  <a:ea typeface="Inter" panose="020B0604020202020204" charset="0"/>
                  <a:cs typeface="Arial" panose="020B0604020202020204" pitchFamily="34" charset="0"/>
                </a:rPr>
                <a:t>Autorización de vertimiento de aguas residuales tratadas vigente</a:t>
              </a:r>
              <a:endParaRPr lang="es-PE" dirty="0">
                <a:solidFill>
                  <a:schemeClr val="tx1"/>
                </a:solidFill>
                <a:latin typeface="Inter" panose="020B0604020202020204" charset="0"/>
                <a:ea typeface="Inter" panose="020B0604020202020204" charset="0"/>
                <a:cs typeface="Arial" panose="020B0604020202020204" pitchFamily="34" charset="0"/>
              </a:endParaRPr>
            </a:p>
          </p:txBody>
        </p:sp>
        <p:cxnSp>
          <p:nvCxnSpPr>
            <p:cNvPr id="16" name="Conector: angular 338">
              <a:extLst>
                <a:ext uri="{FF2B5EF4-FFF2-40B4-BE49-F238E27FC236}">
                  <a16:creationId xmlns:a16="http://schemas.microsoft.com/office/drawing/2014/main" xmlns="" id="{47B4D618-28FD-0839-DB53-7CDC10BE82ED}"/>
                </a:ext>
              </a:extLst>
            </p:cNvPr>
            <p:cNvCxnSpPr>
              <a:cxnSpLocks/>
              <a:stCxn id="62" idx="1"/>
              <a:endCxn id="14" idx="3"/>
            </p:cNvCxnSpPr>
            <p:nvPr/>
          </p:nvCxnSpPr>
          <p:spPr>
            <a:xfrm rot="10800000">
              <a:off x="3150425" y="1164433"/>
              <a:ext cx="1079743" cy="1000689"/>
            </a:xfrm>
            <a:prstGeom prst="bentConnector3">
              <a:avLst>
                <a:gd name="adj1" fmla="val 50000"/>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angular 12">
              <a:extLst>
                <a:ext uri="{FF2B5EF4-FFF2-40B4-BE49-F238E27FC236}">
                  <a16:creationId xmlns:a16="http://schemas.microsoft.com/office/drawing/2014/main" xmlns="" id="{5B01C747-0D34-18E3-7926-C53F24B0DCA7}"/>
                </a:ext>
              </a:extLst>
            </p:cNvPr>
            <p:cNvCxnSpPr>
              <a:stCxn id="62" idx="1"/>
              <a:endCxn id="15" idx="0"/>
            </p:cNvCxnSpPr>
            <p:nvPr/>
          </p:nvCxnSpPr>
          <p:spPr>
            <a:xfrm rot="10800000" flipV="1">
              <a:off x="2639249" y="2165119"/>
              <a:ext cx="1590917" cy="334399"/>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2">
              <a:extLst>
                <a:ext uri="{FF2B5EF4-FFF2-40B4-BE49-F238E27FC236}">
                  <a16:creationId xmlns:a16="http://schemas.microsoft.com/office/drawing/2014/main" xmlns="" id="{EA052384-B674-503D-EE9D-2368FBFFF409}"/>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9" name="72 CuadroTexto">
              <a:extLst>
                <a:ext uri="{FF2B5EF4-FFF2-40B4-BE49-F238E27FC236}">
                  <a16:creationId xmlns:a16="http://schemas.microsoft.com/office/drawing/2014/main" xmlns="" id="{ABED0FD4-B643-4282-D404-8D87760E449B}"/>
                </a:ext>
              </a:extLst>
            </p:cNvPr>
            <p:cNvSpPr txBox="1">
              <a:spLocks noChangeArrowheads="1"/>
            </p:cNvSpPr>
            <p:nvPr/>
          </p:nvSpPr>
          <p:spPr bwMode="auto">
            <a:xfrm>
              <a:off x="6027459" y="3138580"/>
              <a:ext cx="545338" cy="19554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30 dh</a:t>
              </a:r>
            </a:p>
          </p:txBody>
        </p:sp>
        <p:sp>
          <p:nvSpPr>
            <p:cNvPr id="20" name="56 Rectángulo">
              <a:extLst>
                <a:ext uri="{FF2B5EF4-FFF2-40B4-BE49-F238E27FC236}">
                  <a16:creationId xmlns:a16="http://schemas.microsoft.com/office/drawing/2014/main" xmlns="" id="{C0AD2D6E-9AC1-848E-B992-BF260999EEB0}"/>
                </a:ext>
              </a:extLst>
            </p:cNvPr>
            <p:cNvSpPr/>
            <p:nvPr/>
          </p:nvSpPr>
          <p:spPr bwMode="auto">
            <a:xfrm>
              <a:off x="4470400" y="280151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21" name="177 Conector recto de flecha">
              <a:extLst>
                <a:ext uri="{FF2B5EF4-FFF2-40B4-BE49-F238E27FC236}">
                  <a16:creationId xmlns:a16="http://schemas.microsoft.com/office/drawing/2014/main" xmlns="" id="{D28549BB-3474-CF5D-7A68-A87B17C707F6}"/>
                </a:ext>
              </a:extLst>
            </p:cNvPr>
            <p:cNvCxnSpPr>
              <a:cxnSpLocks/>
              <a:stCxn id="27" idx="2"/>
              <a:endCxn id="23" idx="0"/>
            </p:cNvCxnSpPr>
            <p:nvPr/>
          </p:nvCxnSpPr>
          <p:spPr bwMode="auto">
            <a:xfrm>
              <a:off x="4860132" y="3768230"/>
              <a:ext cx="11112" cy="1607045"/>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2" name="177 Conector recto de flecha">
              <a:extLst>
                <a:ext uri="{FF2B5EF4-FFF2-40B4-BE49-F238E27FC236}">
                  <a16:creationId xmlns:a16="http://schemas.microsoft.com/office/drawing/2014/main" xmlns="" id="{EBCFF7A1-487F-D8E8-FB14-08B3BF7190B8}"/>
                </a:ext>
              </a:extLst>
            </p:cNvPr>
            <p:cNvCxnSpPr>
              <a:cxnSpLocks/>
              <a:endCxn id="20"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23" name="CuadroTexto 22">
              <a:extLst>
                <a:ext uri="{FF2B5EF4-FFF2-40B4-BE49-F238E27FC236}">
                  <a16:creationId xmlns:a16="http://schemas.microsoft.com/office/drawing/2014/main" xmlns="" id="{D5A39BE7-B8B6-DA64-5E76-B2C51FA8EC7E}"/>
                </a:ext>
              </a:extLst>
            </p:cNvPr>
            <p:cNvSpPr txBox="1"/>
            <p:nvPr/>
          </p:nvSpPr>
          <p:spPr bwMode="auto">
            <a:xfrm>
              <a:off x="3751263" y="5375275"/>
              <a:ext cx="2239962" cy="337757"/>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s-PE" sz="16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dirty="0">
                  <a:latin typeface="Inter" panose="020B0604020202020204" charset="0"/>
                  <a:ea typeface="Inter" panose="020B0604020202020204" charset="0"/>
                  <a:cs typeface="Arial" panose="020B0604020202020204" pitchFamily="34" charset="0"/>
                </a:rPr>
                <a:t>Autoriza el beneficio de minerales</a:t>
              </a:r>
              <a:endParaRPr lang="es-PE" sz="1600" b="1" dirty="0">
                <a:solidFill>
                  <a:srgbClr val="000000"/>
                </a:solidFill>
                <a:latin typeface="Inter" panose="020B0604020202020204" charset="0"/>
                <a:ea typeface="Inter" panose="020B0604020202020204" charset="0"/>
                <a:cs typeface="Arial" panose="020B0604020202020204" pitchFamily="34" charset="0"/>
              </a:endParaRPr>
            </a:p>
          </p:txBody>
        </p:sp>
        <p:cxnSp>
          <p:nvCxnSpPr>
            <p:cNvPr id="24" name="Conector: angular 449">
              <a:extLst>
                <a:ext uri="{FF2B5EF4-FFF2-40B4-BE49-F238E27FC236}">
                  <a16:creationId xmlns:a16="http://schemas.microsoft.com/office/drawing/2014/main" xmlns="" id="{B62E28EC-77C4-45F9-9EE2-ACB03F0EF1DF}"/>
                </a:ext>
              </a:extLst>
            </p:cNvPr>
            <p:cNvCxnSpPr>
              <a:cxnSpLocks/>
              <a:stCxn id="19" idx="0"/>
              <a:endCxn id="12" idx="6"/>
            </p:cNvCxnSpPr>
            <p:nvPr/>
          </p:nvCxnSpPr>
          <p:spPr bwMode="auto">
            <a:xfrm rot="16200000" flipV="1">
              <a:off x="4936353" y="1774804"/>
              <a:ext cx="1977323" cy="75022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451">
              <a:extLst>
                <a:ext uri="{FF2B5EF4-FFF2-40B4-BE49-F238E27FC236}">
                  <a16:creationId xmlns:a16="http://schemas.microsoft.com/office/drawing/2014/main" xmlns="" id="{964BDEE1-A4EA-D809-620C-BB91C6F42761}"/>
                </a:ext>
              </a:extLst>
            </p:cNvPr>
            <p:cNvCxnSpPr>
              <a:cxnSpLocks/>
              <a:stCxn id="19" idx="2"/>
              <a:endCxn id="23" idx="3"/>
            </p:cNvCxnSpPr>
            <p:nvPr/>
          </p:nvCxnSpPr>
          <p:spPr bwMode="auto">
            <a:xfrm rot="5400000">
              <a:off x="5040662" y="4284687"/>
              <a:ext cx="2210030" cy="30890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xmlns="" id="{62087D55-5017-E0EF-83F5-EF4BA80A11DA}"/>
                </a:ext>
              </a:extLst>
            </p:cNvPr>
            <p:cNvSpPr txBox="1"/>
            <p:nvPr/>
          </p:nvSpPr>
          <p:spPr bwMode="auto">
            <a:xfrm flipH="1">
              <a:off x="4677628" y="3778531"/>
              <a:ext cx="165100" cy="142213"/>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27" name="Decisión 22">
              <a:extLst>
                <a:ext uri="{FF2B5EF4-FFF2-40B4-BE49-F238E27FC236}">
                  <a16:creationId xmlns:a16="http://schemas.microsoft.com/office/drawing/2014/main" xmlns="" id="{A7D376CA-9C21-4803-A9C5-4A2C5295218D}"/>
                </a:ext>
              </a:extLst>
            </p:cNvPr>
            <p:cNvSpPr/>
            <p:nvPr/>
          </p:nvSpPr>
          <p:spPr bwMode="auto">
            <a:xfrm>
              <a:off x="4470400" y="3485728"/>
              <a:ext cx="779463" cy="282502"/>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28" name="CuadroTexto 27">
              <a:extLst>
                <a:ext uri="{FF2B5EF4-FFF2-40B4-BE49-F238E27FC236}">
                  <a16:creationId xmlns:a16="http://schemas.microsoft.com/office/drawing/2014/main" xmlns="" id="{1481E4AF-E530-F221-CA06-3A3C4FAA7440}"/>
                </a:ext>
              </a:extLst>
            </p:cNvPr>
            <p:cNvSpPr txBox="1"/>
            <p:nvPr/>
          </p:nvSpPr>
          <p:spPr bwMode="auto">
            <a:xfrm>
              <a:off x="5469732" y="3412114"/>
              <a:ext cx="684213" cy="426641"/>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29" name="CuadroTexto 28">
              <a:extLst>
                <a:ext uri="{FF2B5EF4-FFF2-40B4-BE49-F238E27FC236}">
                  <a16:creationId xmlns:a16="http://schemas.microsoft.com/office/drawing/2014/main" xmlns="" id="{152E4CEB-2305-61ED-D67F-13F440D08558}"/>
                </a:ext>
              </a:extLst>
            </p:cNvPr>
            <p:cNvSpPr txBox="1"/>
            <p:nvPr/>
          </p:nvSpPr>
          <p:spPr bwMode="auto">
            <a:xfrm>
              <a:off x="5480670" y="4312199"/>
              <a:ext cx="682625" cy="284427"/>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observaciones</a:t>
              </a:r>
            </a:p>
          </p:txBody>
        </p:sp>
        <p:sp>
          <p:nvSpPr>
            <p:cNvPr id="30" name="72 CuadroTexto">
              <a:extLst>
                <a:ext uri="{FF2B5EF4-FFF2-40B4-BE49-F238E27FC236}">
                  <a16:creationId xmlns:a16="http://schemas.microsoft.com/office/drawing/2014/main" xmlns="" id="{2C949416-FF50-8B57-F30F-EAB3F2C5BFFB}"/>
                </a:ext>
              </a:extLst>
            </p:cNvPr>
            <p:cNvSpPr txBox="1">
              <a:spLocks noChangeArrowheads="1"/>
            </p:cNvSpPr>
            <p:nvPr/>
          </p:nvSpPr>
          <p:spPr bwMode="auto">
            <a:xfrm>
              <a:off x="5854855" y="4018116"/>
              <a:ext cx="271538" cy="1422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31" name="CuadroTexto 30">
              <a:extLst>
                <a:ext uri="{FF2B5EF4-FFF2-40B4-BE49-F238E27FC236}">
                  <a16:creationId xmlns:a16="http://schemas.microsoft.com/office/drawing/2014/main" xmlns="" id="{90DDFD53-67C0-3486-428A-499BA18DCA73}"/>
                </a:ext>
              </a:extLst>
            </p:cNvPr>
            <p:cNvSpPr txBox="1"/>
            <p:nvPr/>
          </p:nvSpPr>
          <p:spPr bwMode="auto">
            <a:xfrm>
              <a:off x="5211729" y="3418521"/>
              <a:ext cx="171450" cy="142213"/>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32" name="Conector recto de flecha 31">
              <a:extLst>
                <a:ext uri="{FF2B5EF4-FFF2-40B4-BE49-F238E27FC236}">
                  <a16:creationId xmlns:a16="http://schemas.microsoft.com/office/drawing/2014/main" xmlns="" id="{63CC5F32-9306-7D38-8AFF-16325B96A3D1}"/>
                </a:ext>
              </a:extLst>
            </p:cNvPr>
            <p:cNvCxnSpPr>
              <a:stCxn id="27" idx="3"/>
              <a:endCxn id="28" idx="1"/>
            </p:cNvCxnSpPr>
            <p:nvPr/>
          </p:nvCxnSpPr>
          <p:spPr bwMode="auto">
            <a:xfrm flipV="1">
              <a:off x="5249863" y="3625435"/>
              <a:ext cx="219869" cy="1544"/>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xmlns="" id="{EE9BFD93-D588-1DD7-7834-1A41F73CE4C2}"/>
                </a:ext>
              </a:extLst>
            </p:cNvPr>
            <p:cNvCxnSpPr>
              <a:stCxn id="20" idx="2"/>
              <a:endCxn id="27" idx="0"/>
            </p:cNvCxnSpPr>
            <p:nvPr/>
          </p:nvCxnSpPr>
          <p:spPr bwMode="auto">
            <a:xfrm>
              <a:off x="4856163" y="3119016"/>
              <a:ext cx="3969" cy="366712"/>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34" name="Conector recto 33">
              <a:extLst>
                <a:ext uri="{FF2B5EF4-FFF2-40B4-BE49-F238E27FC236}">
                  <a16:creationId xmlns:a16="http://schemas.microsoft.com/office/drawing/2014/main" xmlns="" id="{96927841-6CA5-F734-BE12-01D119BED5C2}"/>
                </a:ext>
              </a:extLst>
            </p:cNvPr>
            <p:cNvCxnSpPr>
              <a:stCxn id="28" idx="2"/>
              <a:endCxn id="29" idx="0"/>
            </p:cNvCxnSpPr>
            <p:nvPr/>
          </p:nvCxnSpPr>
          <p:spPr bwMode="auto">
            <a:xfrm>
              <a:off x="5811839" y="3838755"/>
              <a:ext cx="10144" cy="473444"/>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59" name="72 CuadroTexto">
              <a:extLst>
                <a:ext uri="{FF2B5EF4-FFF2-40B4-BE49-F238E27FC236}">
                  <a16:creationId xmlns:a16="http://schemas.microsoft.com/office/drawing/2014/main" xmlns="" id="{B7EEA2FB-5452-9F36-06B3-DBD24F24A6A9}"/>
                </a:ext>
              </a:extLst>
            </p:cNvPr>
            <p:cNvSpPr txBox="1">
              <a:spLocks noChangeArrowheads="1"/>
            </p:cNvSpPr>
            <p:nvPr/>
          </p:nvSpPr>
          <p:spPr bwMode="auto">
            <a:xfrm>
              <a:off x="5587206" y="2330819"/>
              <a:ext cx="452055" cy="19554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60" name="Conector recto de flecha 59">
              <a:extLst>
                <a:ext uri="{FF2B5EF4-FFF2-40B4-BE49-F238E27FC236}">
                  <a16:creationId xmlns:a16="http://schemas.microsoft.com/office/drawing/2014/main" xmlns="" id="{A54027E6-E4FB-781F-8AF8-4EC81518F868}"/>
                </a:ext>
              </a:extLst>
            </p:cNvPr>
            <p:cNvCxnSpPr>
              <a:stCxn id="59" idx="2"/>
              <a:endCxn id="28" idx="0"/>
            </p:cNvCxnSpPr>
            <p:nvPr/>
          </p:nvCxnSpPr>
          <p:spPr bwMode="auto">
            <a:xfrm flipH="1">
              <a:off x="5811839" y="2526363"/>
              <a:ext cx="1395" cy="885751"/>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ector angular 32">
              <a:extLst>
                <a:ext uri="{FF2B5EF4-FFF2-40B4-BE49-F238E27FC236}">
                  <a16:creationId xmlns:a16="http://schemas.microsoft.com/office/drawing/2014/main" xmlns="" id="{45FB2EA2-55E8-7B38-A299-C478B74FF253}"/>
                </a:ext>
              </a:extLst>
            </p:cNvPr>
            <p:cNvCxnSpPr>
              <a:stCxn id="59" idx="0"/>
              <a:endCxn id="12" idx="6"/>
            </p:cNvCxnSpPr>
            <p:nvPr/>
          </p:nvCxnSpPr>
          <p:spPr bwMode="auto">
            <a:xfrm rot="16200000" flipV="1">
              <a:off x="5096786" y="1614371"/>
              <a:ext cx="1169563" cy="26333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24 Rectángulo">
              <a:extLst>
                <a:ext uri="{FF2B5EF4-FFF2-40B4-BE49-F238E27FC236}">
                  <a16:creationId xmlns:a16="http://schemas.microsoft.com/office/drawing/2014/main" xmlns="" id="{D790FB4E-08AA-9350-AB31-17D8517904F0}"/>
                </a:ext>
              </a:extLst>
            </p:cNvPr>
            <p:cNvSpPr/>
            <p:nvPr/>
          </p:nvSpPr>
          <p:spPr bwMode="auto">
            <a:xfrm>
              <a:off x="4230167" y="1872227"/>
              <a:ext cx="1235849"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cxnSp>
          <p:nvCxnSpPr>
            <p:cNvPr id="63" name="Conector angular 34">
              <a:extLst>
                <a:ext uri="{FF2B5EF4-FFF2-40B4-BE49-F238E27FC236}">
                  <a16:creationId xmlns:a16="http://schemas.microsoft.com/office/drawing/2014/main" xmlns="" id="{939EB8AE-7990-08AC-94FD-07A6BAC39253}"/>
                </a:ext>
              </a:extLst>
            </p:cNvPr>
            <p:cNvCxnSpPr>
              <a:stCxn id="29" idx="1"/>
              <a:endCxn id="23" idx="0"/>
            </p:cNvCxnSpPr>
            <p:nvPr/>
          </p:nvCxnSpPr>
          <p:spPr bwMode="auto">
            <a:xfrm rot="10800000" flipV="1">
              <a:off x="4871244" y="4454412"/>
              <a:ext cx="609426" cy="92086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52747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4811F79-F46D-3CB8-CE68-D5D29B4A45F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1EE1F2F3-7264-1B96-172B-2EAA6584C3C8}"/>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BA21ADB8-8134-DAB5-A873-F31304D1608F}"/>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1461461D-DBE5-1275-96F1-908F8783CD47}"/>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Autorización de beneficio de minerales para PMA, con ampliación de área</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90E68566-8D99-9A22-7D02-E002B2E951B1}"/>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93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treinta (30)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negativo.</a:t>
            </a:r>
          </a:p>
        </p:txBody>
      </p:sp>
      <p:grpSp>
        <p:nvGrpSpPr>
          <p:cNvPr id="8" name="Group 2">
            <a:extLst>
              <a:ext uri="{FF2B5EF4-FFF2-40B4-BE49-F238E27FC236}">
                <a16:creationId xmlns:a16="http://schemas.microsoft.com/office/drawing/2014/main" xmlns="" id="{7EE5648F-FF5A-27E4-A674-EB3690388014}"/>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41C065D3-2BDE-2B40-B87B-F088B5AE20EA}"/>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D7FE17F3-75D3-AA43-AD0D-9E5D82628988}"/>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grpSp>
        <p:nvGrpSpPr>
          <p:cNvPr id="6" name="Grupo 5">
            <a:extLst>
              <a:ext uri="{FF2B5EF4-FFF2-40B4-BE49-F238E27FC236}">
                <a16:creationId xmlns:a16="http://schemas.microsoft.com/office/drawing/2014/main" xmlns="" id="{34C8D06F-D611-34B3-67B9-BE706413021A}"/>
              </a:ext>
            </a:extLst>
          </p:cNvPr>
          <p:cNvGrpSpPr/>
          <p:nvPr/>
        </p:nvGrpSpPr>
        <p:grpSpPr>
          <a:xfrm>
            <a:off x="4367808" y="740179"/>
            <a:ext cx="11405592" cy="7923615"/>
            <a:chOff x="1708974" y="781050"/>
            <a:chExt cx="4863823" cy="4960303"/>
          </a:xfrm>
        </p:grpSpPr>
        <p:sp>
          <p:nvSpPr>
            <p:cNvPr id="7" name="3 Elipse">
              <a:extLst>
                <a:ext uri="{FF2B5EF4-FFF2-40B4-BE49-F238E27FC236}">
                  <a16:creationId xmlns:a16="http://schemas.microsoft.com/office/drawing/2014/main" xmlns="" id="{5D0B710A-6E29-7710-AD49-3B474F8E6B16}"/>
                </a:ext>
              </a:extLst>
            </p:cNvPr>
            <p:cNvSpPr/>
            <p:nvPr/>
          </p:nvSpPr>
          <p:spPr>
            <a:xfrm>
              <a:off x="4146550" y="781050"/>
              <a:ext cx="1403350"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Electrónico)</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35" name="5 Conector recto de flecha">
              <a:extLst>
                <a:ext uri="{FF2B5EF4-FFF2-40B4-BE49-F238E27FC236}">
                  <a16:creationId xmlns:a16="http://schemas.microsoft.com/office/drawing/2014/main" xmlns="" id="{6B14B558-597B-2B89-BDCA-82AE3D47838D}"/>
                </a:ext>
              </a:extLst>
            </p:cNvPr>
            <p:cNvCxnSpPr>
              <a:cxnSpLocks/>
              <a:stCxn id="7" idx="4"/>
            </p:cNvCxnSpPr>
            <p:nvPr/>
          </p:nvCxnSpPr>
          <p:spPr>
            <a:xfrm>
              <a:off x="4848225" y="1541463"/>
              <a:ext cx="1" cy="44106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36" name="9 Título">
              <a:extLst>
                <a:ext uri="{FF2B5EF4-FFF2-40B4-BE49-F238E27FC236}">
                  <a16:creationId xmlns:a16="http://schemas.microsoft.com/office/drawing/2014/main" xmlns="" id="{BAD42F74-6909-1617-EC71-ABF0D220D649}"/>
                </a:ext>
              </a:extLst>
            </p:cNvPr>
            <p:cNvSpPr txBox="1">
              <a:spLocks/>
            </p:cNvSpPr>
            <p:nvPr/>
          </p:nvSpPr>
          <p:spPr>
            <a:xfrm>
              <a:off x="1708974" y="781050"/>
              <a:ext cx="1441450" cy="766763"/>
            </a:xfrm>
            <a:prstGeom prst="rect">
              <a:avLst/>
            </a:prstGeom>
            <a:solidFill>
              <a:srgbClr val="FFFFCC"/>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600" dirty="0">
                  <a:solidFill>
                    <a:srgbClr val="000000"/>
                  </a:solidFill>
                  <a:latin typeface="Inter" panose="020B0604020202020204" charset="0"/>
                  <a:ea typeface="Inter" panose="020B0604020202020204" charset="0"/>
                  <a:cs typeface="Arial" panose="020B0604020202020204" pitchFamily="34" charset="0"/>
                </a:rPr>
                <a:t>Si se advierte en forma referencial que el proyecto se encuentra en PPII se solicita opinión a OGGS.</a:t>
              </a:r>
            </a:p>
          </p:txBody>
        </p:sp>
        <p:sp>
          <p:nvSpPr>
            <p:cNvPr id="37" name="56 Rectángulo">
              <a:extLst>
                <a:ext uri="{FF2B5EF4-FFF2-40B4-BE49-F238E27FC236}">
                  <a16:creationId xmlns:a16="http://schemas.microsoft.com/office/drawing/2014/main" xmlns="" id="{5F6B0583-4D0A-6785-9890-B16610EA6D5C}"/>
                </a:ext>
              </a:extLst>
            </p:cNvPr>
            <p:cNvSpPr/>
            <p:nvPr/>
          </p:nvSpPr>
          <p:spPr>
            <a:xfrm>
              <a:off x="1720850" y="2499519"/>
              <a:ext cx="1836797" cy="2549950"/>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85725" indent="-85725" eaLnBrk="1" hangingPunct="1">
                <a:buFontTx/>
                <a:buChar char="-"/>
                <a:defRPr/>
              </a:pPr>
              <a:r>
                <a:rPr lang="es-PE" sz="1700" dirty="0">
                  <a:solidFill>
                    <a:schemeClr val="tx1"/>
                  </a:solidFill>
                  <a:latin typeface="Inter" panose="020B0604020202020204" charset="0"/>
                  <a:ea typeface="Inter" panose="020B0604020202020204" charset="0"/>
                  <a:cs typeface="Arial" panose="020B0604020202020204" pitchFamily="34" charset="0"/>
                </a:rPr>
                <a:t>Derecho de tramite</a:t>
              </a:r>
            </a:p>
            <a:p>
              <a:pPr marL="85725" indent="-85725">
                <a:buFontTx/>
                <a:buChar char="-"/>
                <a:defRPr/>
              </a:pPr>
              <a:r>
                <a:rPr lang="es-PE" sz="1700" dirty="0">
                  <a:solidFill>
                    <a:schemeClr val="tx1"/>
                  </a:solidFill>
                  <a:latin typeface="Inter" panose="020B0604020202020204" charset="0"/>
                  <a:ea typeface="Inter" panose="020B0604020202020204" charset="0"/>
                  <a:cs typeface="Arial" panose="020B0604020202020204" pitchFamily="34" charset="0"/>
                </a:rPr>
                <a:t>Instrumento de Gestión Ambiental aprobado.</a:t>
              </a:r>
            </a:p>
            <a:p>
              <a:pPr marL="85725" indent="-85725">
                <a:buFontTx/>
                <a:buChar char="-"/>
                <a:defRPr/>
              </a:pPr>
              <a:r>
                <a:rPr lang="es-PE" sz="1700" dirty="0">
                  <a:solidFill>
                    <a:schemeClr val="tx1"/>
                  </a:solidFill>
                  <a:latin typeface="Inter" panose="020B0604020202020204" charset="0"/>
                  <a:ea typeface="Inter" panose="020B0604020202020204" charset="0"/>
                  <a:cs typeface="Arial" panose="020B0604020202020204" pitchFamily="34" charset="0"/>
                </a:rPr>
                <a:t>Memoria descriptiva de la planta de beneficio, los componentes accesorios y auxiliares.</a:t>
              </a:r>
            </a:p>
            <a:p>
              <a:pPr marL="85725" indent="-85725">
                <a:buFontTx/>
                <a:buChar char="-"/>
                <a:defRPr/>
              </a:pPr>
              <a:r>
                <a:rPr lang="es-PE" sz="1700" dirty="0">
                  <a:solidFill>
                    <a:schemeClr val="tx1"/>
                  </a:solidFill>
                  <a:latin typeface="Inter" panose="020B0604020202020204" charset="0"/>
                  <a:ea typeface="Inter" panose="020B0604020202020204" charset="0"/>
                  <a:cs typeface="Arial" panose="020B0604020202020204" pitchFamily="34" charset="0"/>
                </a:rPr>
                <a:t>Autorización del terreno superficial.</a:t>
              </a:r>
            </a:p>
            <a:p>
              <a:pPr marL="85725" indent="-85725">
                <a:buFontTx/>
                <a:buChar char="-"/>
                <a:defRPr/>
              </a:pPr>
              <a:r>
                <a:rPr lang="es-PE" sz="1700" dirty="0">
                  <a:solidFill>
                    <a:schemeClr val="tx1"/>
                  </a:solidFill>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 </a:t>
              </a:r>
            </a:p>
            <a:p>
              <a:pPr marL="85725" indent="-85725">
                <a:buFontTx/>
                <a:buChar char="-"/>
                <a:defRPr/>
              </a:pPr>
              <a:r>
                <a:rPr lang="es-PE" sz="1700" dirty="0">
                  <a:solidFill>
                    <a:srgbClr val="000000"/>
                  </a:solidFill>
                  <a:latin typeface="Inter" panose="020B0604020202020204" charset="0"/>
                  <a:ea typeface="Inter" panose="020B0604020202020204" charset="0"/>
                  <a:cs typeface="Arial" panose="020B0604020202020204" pitchFamily="34" charset="0"/>
                </a:rPr>
                <a:t>Plan de cierre de minas aprobado</a:t>
              </a:r>
            </a:p>
            <a:p>
              <a:pPr marL="85725" indent="-85725">
                <a:buFontTx/>
                <a:buChar char="-"/>
                <a:defRPr/>
              </a:pPr>
              <a:r>
                <a:rPr lang="es-PE" sz="1700" dirty="0">
                  <a:solidFill>
                    <a:srgbClr val="000000"/>
                  </a:solidFill>
                  <a:latin typeface="Inter" panose="020B0604020202020204" charset="0"/>
                  <a:ea typeface="Inter" panose="020B0604020202020204" charset="0"/>
                  <a:cs typeface="Arial" panose="020B0604020202020204" pitchFamily="34" charset="0"/>
                </a:rPr>
                <a:t>Licencia de uso de agua para fines mineros</a:t>
              </a:r>
            </a:p>
            <a:p>
              <a:pPr marL="85725" indent="-85725">
                <a:buFontTx/>
                <a:buChar char="-"/>
                <a:defRPr/>
              </a:pPr>
              <a:r>
                <a:rPr lang="es-PE" sz="1700" dirty="0">
                  <a:solidFill>
                    <a:srgbClr val="000000"/>
                  </a:solidFill>
                  <a:latin typeface="Inter" panose="020B0604020202020204" charset="0"/>
                  <a:ea typeface="Inter" panose="020B0604020202020204" charset="0"/>
                  <a:cs typeface="Arial" panose="020B0604020202020204" pitchFamily="34" charset="0"/>
                </a:rPr>
                <a:t>Autorización de vertimiento de aguas residuales tratadas vigente</a:t>
              </a:r>
              <a:endParaRPr lang="es-PE" sz="1700" dirty="0">
                <a:solidFill>
                  <a:schemeClr val="tx1"/>
                </a:solidFill>
                <a:latin typeface="Inter" panose="020B0604020202020204" charset="0"/>
                <a:ea typeface="Inter" panose="020B0604020202020204" charset="0"/>
                <a:cs typeface="Arial" panose="020B0604020202020204" pitchFamily="34" charset="0"/>
              </a:endParaRPr>
            </a:p>
          </p:txBody>
        </p:sp>
        <p:cxnSp>
          <p:nvCxnSpPr>
            <p:cNvPr id="38" name="Conector: angular 338">
              <a:extLst>
                <a:ext uri="{FF2B5EF4-FFF2-40B4-BE49-F238E27FC236}">
                  <a16:creationId xmlns:a16="http://schemas.microsoft.com/office/drawing/2014/main" xmlns="" id="{0B1ECD92-F992-3423-F49B-27F43D657B69}"/>
                </a:ext>
              </a:extLst>
            </p:cNvPr>
            <p:cNvCxnSpPr>
              <a:cxnSpLocks/>
              <a:stCxn id="65" idx="1"/>
              <a:endCxn id="36" idx="3"/>
            </p:cNvCxnSpPr>
            <p:nvPr/>
          </p:nvCxnSpPr>
          <p:spPr>
            <a:xfrm rot="10800000">
              <a:off x="3150425" y="1164433"/>
              <a:ext cx="1079743" cy="1000689"/>
            </a:xfrm>
            <a:prstGeom prst="bentConnector3">
              <a:avLst>
                <a:gd name="adj1" fmla="val 50000"/>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ector angular 12">
              <a:extLst>
                <a:ext uri="{FF2B5EF4-FFF2-40B4-BE49-F238E27FC236}">
                  <a16:creationId xmlns:a16="http://schemas.microsoft.com/office/drawing/2014/main" xmlns="" id="{6475457E-6E95-E418-54D7-5700A24BD57B}"/>
                </a:ext>
              </a:extLst>
            </p:cNvPr>
            <p:cNvCxnSpPr>
              <a:stCxn id="65" idx="1"/>
              <a:endCxn id="37" idx="0"/>
            </p:cNvCxnSpPr>
            <p:nvPr/>
          </p:nvCxnSpPr>
          <p:spPr>
            <a:xfrm rot="10800000" flipV="1">
              <a:off x="2639249" y="2165119"/>
              <a:ext cx="1590917" cy="334399"/>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2">
              <a:extLst>
                <a:ext uri="{FF2B5EF4-FFF2-40B4-BE49-F238E27FC236}">
                  <a16:creationId xmlns:a16="http://schemas.microsoft.com/office/drawing/2014/main" xmlns="" id="{6BED7385-E1C8-AF7E-9C43-00E68964FC24}"/>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41" name="72 CuadroTexto">
              <a:extLst>
                <a:ext uri="{FF2B5EF4-FFF2-40B4-BE49-F238E27FC236}">
                  <a16:creationId xmlns:a16="http://schemas.microsoft.com/office/drawing/2014/main" xmlns="" id="{8089B861-867C-16B6-9371-B7FFADE52E3A}"/>
                </a:ext>
              </a:extLst>
            </p:cNvPr>
            <p:cNvSpPr txBox="1">
              <a:spLocks noChangeArrowheads="1"/>
            </p:cNvSpPr>
            <p:nvPr/>
          </p:nvSpPr>
          <p:spPr bwMode="auto">
            <a:xfrm>
              <a:off x="6027459" y="3138580"/>
              <a:ext cx="545338" cy="2119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30 dh</a:t>
              </a:r>
            </a:p>
          </p:txBody>
        </p:sp>
        <p:sp>
          <p:nvSpPr>
            <p:cNvPr id="42" name="56 Rectángulo">
              <a:extLst>
                <a:ext uri="{FF2B5EF4-FFF2-40B4-BE49-F238E27FC236}">
                  <a16:creationId xmlns:a16="http://schemas.microsoft.com/office/drawing/2014/main" xmlns="" id="{8183CF77-987E-F280-0110-068561630A9D}"/>
                </a:ext>
              </a:extLst>
            </p:cNvPr>
            <p:cNvSpPr/>
            <p:nvPr/>
          </p:nvSpPr>
          <p:spPr bwMode="auto">
            <a:xfrm>
              <a:off x="4470400" y="280151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43" name="177 Conector recto de flecha">
              <a:extLst>
                <a:ext uri="{FF2B5EF4-FFF2-40B4-BE49-F238E27FC236}">
                  <a16:creationId xmlns:a16="http://schemas.microsoft.com/office/drawing/2014/main" xmlns="" id="{3BD84583-6B6F-D204-38A2-BCC251E155E7}"/>
                </a:ext>
              </a:extLst>
            </p:cNvPr>
            <p:cNvCxnSpPr>
              <a:cxnSpLocks/>
              <a:stCxn id="49" idx="2"/>
              <a:endCxn id="45" idx="0"/>
            </p:cNvCxnSpPr>
            <p:nvPr/>
          </p:nvCxnSpPr>
          <p:spPr bwMode="auto">
            <a:xfrm>
              <a:off x="4860132" y="3791918"/>
              <a:ext cx="11112" cy="1583357"/>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44" name="177 Conector recto de flecha">
              <a:extLst>
                <a:ext uri="{FF2B5EF4-FFF2-40B4-BE49-F238E27FC236}">
                  <a16:creationId xmlns:a16="http://schemas.microsoft.com/office/drawing/2014/main" xmlns="" id="{0C6BBBC9-5D22-1C48-E66D-CDD6D6DAE2B2}"/>
                </a:ext>
              </a:extLst>
            </p:cNvPr>
            <p:cNvCxnSpPr>
              <a:cxnSpLocks/>
              <a:endCxn id="42"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45" name="CuadroTexto 44">
              <a:extLst>
                <a:ext uri="{FF2B5EF4-FFF2-40B4-BE49-F238E27FC236}">
                  <a16:creationId xmlns:a16="http://schemas.microsoft.com/office/drawing/2014/main" xmlns="" id="{08FFC727-40E4-A056-4E3E-68D1B604F1A3}"/>
                </a:ext>
              </a:extLst>
            </p:cNvPr>
            <p:cNvSpPr txBox="1"/>
            <p:nvPr/>
          </p:nvSpPr>
          <p:spPr bwMode="auto">
            <a:xfrm>
              <a:off x="3751263" y="5375275"/>
              <a:ext cx="2239962" cy="366078"/>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s-PE" sz="16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dirty="0">
                  <a:latin typeface="Inter" panose="020B0604020202020204" charset="0"/>
                  <a:ea typeface="Inter" panose="020B0604020202020204" charset="0"/>
                  <a:cs typeface="Arial" panose="020B0604020202020204" pitchFamily="34" charset="0"/>
                </a:rPr>
                <a:t>Autoriza el beneficio de minerales</a:t>
              </a:r>
              <a:endParaRPr lang="es-PE" sz="1600" b="1" dirty="0">
                <a:solidFill>
                  <a:srgbClr val="000000"/>
                </a:solidFill>
                <a:latin typeface="Inter" panose="020B0604020202020204" charset="0"/>
                <a:ea typeface="Inter" panose="020B0604020202020204" charset="0"/>
                <a:cs typeface="Arial" panose="020B0604020202020204" pitchFamily="34" charset="0"/>
              </a:endParaRPr>
            </a:p>
          </p:txBody>
        </p:sp>
        <p:cxnSp>
          <p:nvCxnSpPr>
            <p:cNvPr id="46" name="Conector: angular 449">
              <a:extLst>
                <a:ext uri="{FF2B5EF4-FFF2-40B4-BE49-F238E27FC236}">
                  <a16:creationId xmlns:a16="http://schemas.microsoft.com/office/drawing/2014/main" xmlns="" id="{B8818A19-E439-DC63-D315-4C0FDCDB1275}"/>
                </a:ext>
              </a:extLst>
            </p:cNvPr>
            <p:cNvCxnSpPr>
              <a:cxnSpLocks/>
              <a:stCxn id="41" idx="0"/>
              <a:endCxn id="7" idx="6"/>
            </p:cNvCxnSpPr>
            <p:nvPr/>
          </p:nvCxnSpPr>
          <p:spPr bwMode="auto">
            <a:xfrm rot="16200000" flipV="1">
              <a:off x="4936353" y="1774804"/>
              <a:ext cx="1977323" cy="75022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angular 451">
              <a:extLst>
                <a:ext uri="{FF2B5EF4-FFF2-40B4-BE49-F238E27FC236}">
                  <a16:creationId xmlns:a16="http://schemas.microsoft.com/office/drawing/2014/main" xmlns="" id="{55327B95-A2E5-2823-85F6-AB34E2797E76}"/>
                </a:ext>
              </a:extLst>
            </p:cNvPr>
            <p:cNvCxnSpPr>
              <a:cxnSpLocks/>
              <a:stCxn id="41" idx="2"/>
              <a:endCxn id="45" idx="3"/>
            </p:cNvCxnSpPr>
            <p:nvPr/>
          </p:nvCxnSpPr>
          <p:spPr bwMode="auto">
            <a:xfrm rot="5400000">
              <a:off x="5041780" y="4299965"/>
              <a:ext cx="2207795" cy="30890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CuadroTexto 47">
              <a:extLst>
                <a:ext uri="{FF2B5EF4-FFF2-40B4-BE49-F238E27FC236}">
                  <a16:creationId xmlns:a16="http://schemas.microsoft.com/office/drawing/2014/main" xmlns="" id="{115ADDA7-39C7-0474-D8C6-5D486CA8FA5B}"/>
                </a:ext>
              </a:extLst>
            </p:cNvPr>
            <p:cNvSpPr txBox="1"/>
            <p:nvPr/>
          </p:nvSpPr>
          <p:spPr bwMode="auto">
            <a:xfrm flipH="1">
              <a:off x="4677628" y="3778531"/>
              <a:ext cx="165100" cy="154138"/>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49" name="Decisión 22">
              <a:extLst>
                <a:ext uri="{FF2B5EF4-FFF2-40B4-BE49-F238E27FC236}">
                  <a16:creationId xmlns:a16="http://schemas.microsoft.com/office/drawing/2014/main" xmlns="" id="{E10892A6-783D-A5D9-12E6-933555C85DD6}"/>
                </a:ext>
              </a:extLst>
            </p:cNvPr>
            <p:cNvSpPr/>
            <p:nvPr/>
          </p:nvSpPr>
          <p:spPr bwMode="auto">
            <a:xfrm>
              <a:off x="4470400" y="3485728"/>
              <a:ext cx="779463" cy="306190"/>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50" name="CuadroTexto 49">
              <a:extLst>
                <a:ext uri="{FF2B5EF4-FFF2-40B4-BE49-F238E27FC236}">
                  <a16:creationId xmlns:a16="http://schemas.microsoft.com/office/drawing/2014/main" xmlns="" id="{560A7692-FBED-AC4F-86C2-4046F83A3E0F}"/>
                </a:ext>
              </a:extLst>
            </p:cNvPr>
            <p:cNvSpPr txBox="1"/>
            <p:nvPr/>
          </p:nvSpPr>
          <p:spPr bwMode="auto">
            <a:xfrm>
              <a:off x="5469732" y="3412114"/>
              <a:ext cx="684213" cy="462415"/>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51" name="CuadroTexto 50">
              <a:extLst>
                <a:ext uri="{FF2B5EF4-FFF2-40B4-BE49-F238E27FC236}">
                  <a16:creationId xmlns:a16="http://schemas.microsoft.com/office/drawing/2014/main" xmlns="" id="{722D4F08-9A25-6959-7924-B01699A6A662}"/>
                </a:ext>
              </a:extLst>
            </p:cNvPr>
            <p:cNvSpPr txBox="1"/>
            <p:nvPr/>
          </p:nvSpPr>
          <p:spPr bwMode="auto">
            <a:xfrm>
              <a:off x="5480670" y="4312199"/>
              <a:ext cx="682625" cy="308277"/>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observaciones</a:t>
              </a:r>
            </a:p>
          </p:txBody>
        </p:sp>
        <p:sp>
          <p:nvSpPr>
            <p:cNvPr id="52" name="72 CuadroTexto">
              <a:extLst>
                <a:ext uri="{FF2B5EF4-FFF2-40B4-BE49-F238E27FC236}">
                  <a16:creationId xmlns:a16="http://schemas.microsoft.com/office/drawing/2014/main" xmlns="" id="{CFA9FD34-9FE0-25E8-CE44-277E6642FB8F}"/>
                </a:ext>
              </a:extLst>
            </p:cNvPr>
            <p:cNvSpPr txBox="1">
              <a:spLocks noChangeArrowheads="1"/>
            </p:cNvSpPr>
            <p:nvPr/>
          </p:nvSpPr>
          <p:spPr bwMode="auto">
            <a:xfrm>
              <a:off x="5854855" y="4018116"/>
              <a:ext cx="271538" cy="1541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53" name="CuadroTexto 52">
              <a:extLst>
                <a:ext uri="{FF2B5EF4-FFF2-40B4-BE49-F238E27FC236}">
                  <a16:creationId xmlns:a16="http://schemas.microsoft.com/office/drawing/2014/main" xmlns="" id="{39EB56C5-B9FF-81A8-5F32-6BBD1533FD9C}"/>
                </a:ext>
              </a:extLst>
            </p:cNvPr>
            <p:cNvSpPr txBox="1"/>
            <p:nvPr/>
          </p:nvSpPr>
          <p:spPr bwMode="auto">
            <a:xfrm>
              <a:off x="5211729" y="3418521"/>
              <a:ext cx="171450" cy="154138"/>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54" name="Conector recto de flecha 53">
              <a:extLst>
                <a:ext uri="{FF2B5EF4-FFF2-40B4-BE49-F238E27FC236}">
                  <a16:creationId xmlns:a16="http://schemas.microsoft.com/office/drawing/2014/main" xmlns="" id="{3DCFF49E-5B89-F53E-676D-4DC16BB2441A}"/>
                </a:ext>
              </a:extLst>
            </p:cNvPr>
            <p:cNvCxnSpPr>
              <a:stCxn id="49" idx="3"/>
              <a:endCxn id="50" idx="1"/>
            </p:cNvCxnSpPr>
            <p:nvPr/>
          </p:nvCxnSpPr>
          <p:spPr bwMode="auto">
            <a:xfrm>
              <a:off x="5249863" y="3638823"/>
              <a:ext cx="219869" cy="4499"/>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xmlns="" id="{47BB2FA3-31E7-E628-5ABC-7274CB82693D}"/>
                </a:ext>
              </a:extLst>
            </p:cNvPr>
            <p:cNvCxnSpPr>
              <a:stCxn id="42" idx="2"/>
              <a:endCxn id="49" idx="0"/>
            </p:cNvCxnSpPr>
            <p:nvPr/>
          </p:nvCxnSpPr>
          <p:spPr bwMode="auto">
            <a:xfrm>
              <a:off x="4856163" y="3119016"/>
              <a:ext cx="3969" cy="366712"/>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56" name="Conector recto 55">
              <a:extLst>
                <a:ext uri="{FF2B5EF4-FFF2-40B4-BE49-F238E27FC236}">
                  <a16:creationId xmlns:a16="http://schemas.microsoft.com/office/drawing/2014/main" xmlns="" id="{C39F2DC2-80CD-1299-A4DF-C2B5F453404F}"/>
                </a:ext>
              </a:extLst>
            </p:cNvPr>
            <p:cNvCxnSpPr>
              <a:stCxn id="50" idx="2"/>
              <a:endCxn id="51" idx="0"/>
            </p:cNvCxnSpPr>
            <p:nvPr/>
          </p:nvCxnSpPr>
          <p:spPr bwMode="auto">
            <a:xfrm>
              <a:off x="5811839" y="3874529"/>
              <a:ext cx="10144" cy="43767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57" name="72 CuadroTexto">
              <a:extLst>
                <a:ext uri="{FF2B5EF4-FFF2-40B4-BE49-F238E27FC236}">
                  <a16:creationId xmlns:a16="http://schemas.microsoft.com/office/drawing/2014/main" xmlns="" id="{5E75C515-6C47-92C7-88E8-7576811CE768}"/>
                </a:ext>
              </a:extLst>
            </p:cNvPr>
            <p:cNvSpPr txBox="1">
              <a:spLocks noChangeArrowheads="1"/>
            </p:cNvSpPr>
            <p:nvPr/>
          </p:nvSpPr>
          <p:spPr bwMode="auto">
            <a:xfrm>
              <a:off x="5587206" y="2330819"/>
              <a:ext cx="452055" cy="2119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b="1"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58" name="Conector recto de flecha 57">
              <a:extLst>
                <a:ext uri="{FF2B5EF4-FFF2-40B4-BE49-F238E27FC236}">
                  <a16:creationId xmlns:a16="http://schemas.microsoft.com/office/drawing/2014/main" xmlns="" id="{63E43C40-F6A0-197B-DDB7-0D85D0EB9F1F}"/>
                </a:ext>
              </a:extLst>
            </p:cNvPr>
            <p:cNvCxnSpPr>
              <a:stCxn id="57" idx="2"/>
              <a:endCxn id="50" idx="0"/>
            </p:cNvCxnSpPr>
            <p:nvPr/>
          </p:nvCxnSpPr>
          <p:spPr bwMode="auto">
            <a:xfrm flipH="1">
              <a:off x="5811839" y="2542759"/>
              <a:ext cx="1395" cy="869355"/>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ector angular 32">
              <a:extLst>
                <a:ext uri="{FF2B5EF4-FFF2-40B4-BE49-F238E27FC236}">
                  <a16:creationId xmlns:a16="http://schemas.microsoft.com/office/drawing/2014/main" xmlns="" id="{1EB55A02-0D5A-084D-2AAD-3A289D589332}"/>
                </a:ext>
              </a:extLst>
            </p:cNvPr>
            <p:cNvCxnSpPr>
              <a:stCxn id="57" idx="0"/>
              <a:endCxn id="7" idx="6"/>
            </p:cNvCxnSpPr>
            <p:nvPr/>
          </p:nvCxnSpPr>
          <p:spPr bwMode="auto">
            <a:xfrm rot="16200000" flipV="1">
              <a:off x="5096786" y="1614371"/>
              <a:ext cx="1169562" cy="26333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24 Rectángulo">
              <a:extLst>
                <a:ext uri="{FF2B5EF4-FFF2-40B4-BE49-F238E27FC236}">
                  <a16:creationId xmlns:a16="http://schemas.microsoft.com/office/drawing/2014/main" xmlns="" id="{8AE2120C-51EA-8708-22F3-F3730E7309E9}"/>
                </a:ext>
              </a:extLst>
            </p:cNvPr>
            <p:cNvSpPr/>
            <p:nvPr/>
          </p:nvSpPr>
          <p:spPr bwMode="auto">
            <a:xfrm>
              <a:off x="4230167" y="1872227"/>
              <a:ext cx="1235849"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cxnSp>
          <p:nvCxnSpPr>
            <p:cNvPr id="66" name="Conector angular 34">
              <a:extLst>
                <a:ext uri="{FF2B5EF4-FFF2-40B4-BE49-F238E27FC236}">
                  <a16:creationId xmlns:a16="http://schemas.microsoft.com/office/drawing/2014/main" xmlns="" id="{3B6D811D-59BA-53CD-AA5C-FC8ABFC7BD1C}"/>
                </a:ext>
              </a:extLst>
            </p:cNvPr>
            <p:cNvCxnSpPr>
              <a:stCxn id="51" idx="1"/>
              <a:endCxn id="45" idx="0"/>
            </p:cNvCxnSpPr>
            <p:nvPr/>
          </p:nvCxnSpPr>
          <p:spPr bwMode="auto">
            <a:xfrm rot="10800000" flipV="1">
              <a:off x="4871245" y="4466337"/>
              <a:ext cx="609426" cy="908937"/>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40312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3CC6C16-2492-B080-10A0-C4630C0DF72D}"/>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5FA3F4D6-CAB1-56BF-D1A1-BBAF136AC27B}"/>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8599E1A4-56FF-3CBB-64A8-6272379C407C}"/>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34CF3894-D4EA-4FB0-E1B3-B188C6454616}"/>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Autorización de beneficio de minerales para PMA, sin ampliación de área</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83184C7B-1E71-257E-7A6F-B58AC619EA81}"/>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87, 87.5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noventa (90)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positivo.</a:t>
            </a:r>
          </a:p>
        </p:txBody>
      </p:sp>
      <p:grpSp>
        <p:nvGrpSpPr>
          <p:cNvPr id="8" name="Group 2">
            <a:extLst>
              <a:ext uri="{FF2B5EF4-FFF2-40B4-BE49-F238E27FC236}">
                <a16:creationId xmlns:a16="http://schemas.microsoft.com/office/drawing/2014/main" xmlns="" id="{03B62A43-F673-672A-4D45-F458FE84BB10}"/>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787CF530-5626-886C-DBCE-116811EA49AD}"/>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24149860-004C-9632-09E6-0E0CBCF41CA7}"/>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grpSp>
        <p:nvGrpSpPr>
          <p:cNvPr id="11" name="Grupo 10">
            <a:extLst>
              <a:ext uri="{FF2B5EF4-FFF2-40B4-BE49-F238E27FC236}">
                <a16:creationId xmlns:a16="http://schemas.microsoft.com/office/drawing/2014/main" xmlns="" id="{C0816802-23A1-883E-E515-E2B1F5930CE9}"/>
              </a:ext>
            </a:extLst>
          </p:cNvPr>
          <p:cNvGrpSpPr/>
          <p:nvPr/>
        </p:nvGrpSpPr>
        <p:grpSpPr>
          <a:xfrm>
            <a:off x="4455672" y="914400"/>
            <a:ext cx="11241528" cy="8353520"/>
            <a:chOff x="1720850" y="781050"/>
            <a:chExt cx="4851947" cy="5101739"/>
          </a:xfrm>
        </p:grpSpPr>
        <p:sp>
          <p:nvSpPr>
            <p:cNvPr id="12" name="3 Elipse">
              <a:extLst>
                <a:ext uri="{FF2B5EF4-FFF2-40B4-BE49-F238E27FC236}">
                  <a16:creationId xmlns:a16="http://schemas.microsoft.com/office/drawing/2014/main" xmlns="" id="{0D5196B7-A14F-377B-5C30-9F3F3E9CC50E}"/>
                </a:ext>
              </a:extLst>
            </p:cNvPr>
            <p:cNvSpPr/>
            <p:nvPr/>
          </p:nvSpPr>
          <p:spPr>
            <a:xfrm>
              <a:off x="4146550" y="781050"/>
              <a:ext cx="1403350"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Electrónico)</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13" name="5 Conector recto de flecha">
              <a:extLst>
                <a:ext uri="{FF2B5EF4-FFF2-40B4-BE49-F238E27FC236}">
                  <a16:creationId xmlns:a16="http://schemas.microsoft.com/office/drawing/2014/main" xmlns="" id="{9EF58899-2A9D-4C00-8FD2-75625E099816}"/>
                </a:ext>
              </a:extLst>
            </p:cNvPr>
            <p:cNvCxnSpPr>
              <a:cxnSpLocks/>
              <a:stCxn id="12" idx="4"/>
            </p:cNvCxnSpPr>
            <p:nvPr/>
          </p:nvCxnSpPr>
          <p:spPr>
            <a:xfrm>
              <a:off x="4848225" y="1541463"/>
              <a:ext cx="1" cy="44106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4" name="56 Rectángulo">
              <a:extLst>
                <a:ext uri="{FF2B5EF4-FFF2-40B4-BE49-F238E27FC236}">
                  <a16:creationId xmlns:a16="http://schemas.microsoft.com/office/drawing/2014/main" xmlns="" id="{60AA588F-BE7E-C95C-D764-6954F334218F}"/>
                </a:ext>
              </a:extLst>
            </p:cNvPr>
            <p:cNvSpPr/>
            <p:nvPr/>
          </p:nvSpPr>
          <p:spPr>
            <a:xfrm>
              <a:off x="1720850" y="2499519"/>
              <a:ext cx="1550622" cy="2249628"/>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85725" indent="-85725" eaLnBrk="1" hangingPunct="1">
                <a:buFontTx/>
                <a:buChar char="-"/>
                <a:defRPr/>
              </a:pPr>
              <a:r>
                <a:rPr lang="es-PE" dirty="0">
                  <a:solidFill>
                    <a:schemeClr val="tx1"/>
                  </a:solidFill>
                  <a:latin typeface="Inter" panose="020B0604020202020204" charset="0"/>
                  <a:ea typeface="Inter" panose="020B0604020202020204" charset="0"/>
                  <a:cs typeface="Arial" panose="020B0604020202020204" pitchFamily="34" charset="0"/>
                </a:rPr>
                <a:t>Derecho de tramite</a:t>
              </a:r>
            </a:p>
            <a:p>
              <a:pPr marL="85725" indent="-85725">
                <a:buFontTx/>
                <a:buChar char="-"/>
                <a:defRPr/>
              </a:pPr>
              <a:r>
                <a:rPr lang="es-PE" dirty="0">
                  <a:solidFill>
                    <a:schemeClr val="tx1"/>
                  </a:solidFill>
                  <a:latin typeface="Inter" panose="020B0604020202020204" charset="0"/>
                  <a:ea typeface="Inter" panose="020B0604020202020204" charset="0"/>
                  <a:cs typeface="Arial" panose="020B0604020202020204" pitchFamily="34" charset="0"/>
                </a:rPr>
                <a:t>Instrumento de Gestión Ambiental aprobado.</a:t>
              </a:r>
            </a:p>
            <a:p>
              <a:pPr marL="85725" indent="-85725">
                <a:buFontTx/>
                <a:buChar char="-"/>
                <a:defRPr/>
              </a:pPr>
              <a:r>
                <a:rPr lang="es-PE" dirty="0">
                  <a:solidFill>
                    <a:schemeClr val="tx1"/>
                  </a:solidFill>
                  <a:latin typeface="Inter" panose="020B0604020202020204" charset="0"/>
                  <a:ea typeface="Inter" panose="020B0604020202020204" charset="0"/>
                  <a:cs typeface="Arial" panose="020B0604020202020204" pitchFamily="34" charset="0"/>
                </a:rPr>
                <a:t>Memoria descriptiva de la modificación de la autorización de beneficio.</a:t>
              </a:r>
            </a:p>
            <a:p>
              <a:pPr marL="85725" indent="-85725">
                <a:buFontTx/>
                <a:buChar char="-"/>
                <a:defRPr/>
              </a:pPr>
              <a:r>
                <a:rPr lang="es-PE" dirty="0">
                  <a:solidFill>
                    <a:srgbClr val="000000"/>
                  </a:solidFill>
                  <a:latin typeface="Inter" panose="020B0604020202020204" charset="0"/>
                  <a:ea typeface="Inter" panose="020B0604020202020204" charset="0"/>
                  <a:cs typeface="Arial" panose="020B0604020202020204" pitchFamily="34" charset="0"/>
                </a:rPr>
                <a:t>Plan de cierre de minas aprobado</a:t>
              </a:r>
            </a:p>
            <a:p>
              <a:pPr marL="85725" indent="-85725">
                <a:buFontTx/>
                <a:buChar char="-"/>
                <a:defRPr/>
              </a:pPr>
              <a:r>
                <a:rPr lang="es-PE" dirty="0">
                  <a:solidFill>
                    <a:srgbClr val="000000"/>
                  </a:solidFill>
                  <a:latin typeface="Inter" panose="020B0604020202020204" charset="0"/>
                  <a:ea typeface="Inter" panose="020B0604020202020204" charset="0"/>
                  <a:cs typeface="Arial" panose="020B0604020202020204" pitchFamily="34" charset="0"/>
                </a:rPr>
                <a:t>Licencia de uso de agua para fines mineros</a:t>
              </a:r>
            </a:p>
            <a:p>
              <a:pPr marL="85725" indent="-85725">
                <a:buFontTx/>
                <a:buChar char="-"/>
                <a:defRPr/>
              </a:pPr>
              <a:r>
                <a:rPr lang="es-PE" dirty="0">
                  <a:solidFill>
                    <a:srgbClr val="000000"/>
                  </a:solidFill>
                  <a:latin typeface="Inter" panose="020B0604020202020204" charset="0"/>
                  <a:ea typeface="Inter" panose="020B0604020202020204" charset="0"/>
                  <a:cs typeface="Arial" panose="020B0604020202020204" pitchFamily="34" charset="0"/>
                </a:rPr>
                <a:t>Autorización de vertimiento de aguas residuales tratadas vigente</a:t>
              </a:r>
              <a:endParaRPr lang="es-PE" dirty="0">
                <a:solidFill>
                  <a:schemeClr val="tx1"/>
                </a:solidFill>
                <a:latin typeface="Inter" panose="020B0604020202020204" charset="0"/>
                <a:ea typeface="Inter" panose="020B0604020202020204" charset="0"/>
                <a:cs typeface="Arial" panose="020B0604020202020204" pitchFamily="34" charset="0"/>
              </a:endParaRPr>
            </a:p>
          </p:txBody>
        </p:sp>
        <p:cxnSp>
          <p:nvCxnSpPr>
            <p:cNvPr id="15" name="Conector angular 10">
              <a:extLst>
                <a:ext uri="{FF2B5EF4-FFF2-40B4-BE49-F238E27FC236}">
                  <a16:creationId xmlns:a16="http://schemas.microsoft.com/office/drawing/2014/main" xmlns="" id="{7D05BE2B-25EE-7F64-CC37-3EACCE844620}"/>
                </a:ext>
              </a:extLst>
            </p:cNvPr>
            <p:cNvCxnSpPr>
              <a:cxnSpLocks/>
              <a:stCxn id="60" idx="1"/>
              <a:endCxn id="14" idx="0"/>
            </p:cNvCxnSpPr>
            <p:nvPr/>
          </p:nvCxnSpPr>
          <p:spPr>
            <a:xfrm rot="10800000" flipV="1">
              <a:off x="2496161" y="2165121"/>
              <a:ext cx="1734006" cy="33439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2">
              <a:extLst>
                <a:ext uri="{FF2B5EF4-FFF2-40B4-BE49-F238E27FC236}">
                  <a16:creationId xmlns:a16="http://schemas.microsoft.com/office/drawing/2014/main" xmlns="" id="{ABFBDDD1-0E0E-B903-56E9-0B8438340F64}"/>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7" name="72 CuadroTexto">
              <a:extLst>
                <a:ext uri="{FF2B5EF4-FFF2-40B4-BE49-F238E27FC236}">
                  <a16:creationId xmlns:a16="http://schemas.microsoft.com/office/drawing/2014/main" xmlns="" id="{32C4A6FB-3851-3829-05BE-9C6ECE5B0FAC}"/>
                </a:ext>
              </a:extLst>
            </p:cNvPr>
            <p:cNvSpPr txBox="1">
              <a:spLocks noChangeArrowheads="1"/>
            </p:cNvSpPr>
            <p:nvPr/>
          </p:nvSpPr>
          <p:spPr bwMode="auto">
            <a:xfrm>
              <a:off x="6027459" y="3138580"/>
              <a:ext cx="545338" cy="2067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30 dh</a:t>
              </a:r>
            </a:p>
          </p:txBody>
        </p:sp>
        <p:sp>
          <p:nvSpPr>
            <p:cNvPr id="18" name="56 Rectángulo">
              <a:extLst>
                <a:ext uri="{FF2B5EF4-FFF2-40B4-BE49-F238E27FC236}">
                  <a16:creationId xmlns:a16="http://schemas.microsoft.com/office/drawing/2014/main" xmlns="" id="{D0D0C245-E573-1366-4FEC-031838DE7B26}"/>
                </a:ext>
              </a:extLst>
            </p:cNvPr>
            <p:cNvSpPr/>
            <p:nvPr/>
          </p:nvSpPr>
          <p:spPr bwMode="auto">
            <a:xfrm>
              <a:off x="4470400" y="280151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a:t>
              </a:r>
            </a:p>
          </p:txBody>
        </p:sp>
        <p:cxnSp>
          <p:nvCxnSpPr>
            <p:cNvPr id="19" name="177 Conector recto de flecha">
              <a:extLst>
                <a:ext uri="{FF2B5EF4-FFF2-40B4-BE49-F238E27FC236}">
                  <a16:creationId xmlns:a16="http://schemas.microsoft.com/office/drawing/2014/main" xmlns="" id="{3DE76B2A-8719-858B-D4E8-5DB62B5AF239}"/>
                </a:ext>
              </a:extLst>
            </p:cNvPr>
            <p:cNvCxnSpPr>
              <a:cxnSpLocks/>
              <a:stCxn id="25" idx="2"/>
              <a:endCxn id="21" idx="0"/>
            </p:cNvCxnSpPr>
            <p:nvPr/>
          </p:nvCxnSpPr>
          <p:spPr bwMode="auto">
            <a:xfrm>
              <a:off x="4860132" y="3784441"/>
              <a:ext cx="11113" cy="1590834"/>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0" name="177 Conector recto de flecha">
              <a:extLst>
                <a:ext uri="{FF2B5EF4-FFF2-40B4-BE49-F238E27FC236}">
                  <a16:creationId xmlns:a16="http://schemas.microsoft.com/office/drawing/2014/main" xmlns="" id="{463BB030-4ED6-D03D-0FFA-A351B8D52F22}"/>
                </a:ext>
              </a:extLst>
            </p:cNvPr>
            <p:cNvCxnSpPr>
              <a:cxnSpLocks/>
              <a:endCxn id="18"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21" name="CuadroTexto 20">
              <a:extLst>
                <a:ext uri="{FF2B5EF4-FFF2-40B4-BE49-F238E27FC236}">
                  <a16:creationId xmlns:a16="http://schemas.microsoft.com/office/drawing/2014/main" xmlns="" id="{64036092-F8F0-F7CA-EEB5-4A310AAD7058}"/>
                </a:ext>
              </a:extLst>
            </p:cNvPr>
            <p:cNvSpPr txBox="1"/>
            <p:nvPr/>
          </p:nvSpPr>
          <p:spPr bwMode="auto">
            <a:xfrm>
              <a:off x="3751263" y="5375275"/>
              <a:ext cx="2239962" cy="507514"/>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s-PE" sz="16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dirty="0">
                  <a:latin typeface="Inter" panose="020B0604020202020204" charset="0"/>
                  <a:ea typeface="Inter" panose="020B0604020202020204" charset="0"/>
                  <a:cs typeface="Arial" panose="020B0604020202020204" pitchFamily="34" charset="0"/>
                </a:rPr>
                <a:t>Autoriza la modificación de la autorización de beneficio de minerales</a:t>
              </a:r>
              <a:endParaRPr lang="es-PE" sz="1600" b="1" dirty="0">
                <a:solidFill>
                  <a:srgbClr val="000000"/>
                </a:solidFill>
                <a:latin typeface="Inter" panose="020B0604020202020204" charset="0"/>
                <a:ea typeface="Inter" panose="020B0604020202020204" charset="0"/>
                <a:cs typeface="Arial" panose="020B0604020202020204" pitchFamily="34" charset="0"/>
              </a:endParaRPr>
            </a:p>
          </p:txBody>
        </p:sp>
        <p:cxnSp>
          <p:nvCxnSpPr>
            <p:cNvPr id="22" name="Conector: angular 449">
              <a:extLst>
                <a:ext uri="{FF2B5EF4-FFF2-40B4-BE49-F238E27FC236}">
                  <a16:creationId xmlns:a16="http://schemas.microsoft.com/office/drawing/2014/main" xmlns="" id="{41A30A2C-3C2B-85BF-C789-3F1C21974E9E}"/>
                </a:ext>
              </a:extLst>
            </p:cNvPr>
            <p:cNvCxnSpPr>
              <a:cxnSpLocks/>
              <a:stCxn id="17" idx="0"/>
              <a:endCxn id="12" idx="6"/>
            </p:cNvCxnSpPr>
            <p:nvPr/>
          </p:nvCxnSpPr>
          <p:spPr bwMode="auto">
            <a:xfrm rot="16200000" flipV="1">
              <a:off x="4936352" y="1774804"/>
              <a:ext cx="1977324" cy="75022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angular 451">
              <a:extLst>
                <a:ext uri="{FF2B5EF4-FFF2-40B4-BE49-F238E27FC236}">
                  <a16:creationId xmlns:a16="http://schemas.microsoft.com/office/drawing/2014/main" xmlns="" id="{E6342387-FE1E-DD47-8899-D2AF1A231131}"/>
                </a:ext>
              </a:extLst>
            </p:cNvPr>
            <p:cNvCxnSpPr>
              <a:cxnSpLocks/>
              <a:stCxn id="17" idx="2"/>
              <a:endCxn id="21" idx="3"/>
            </p:cNvCxnSpPr>
            <p:nvPr/>
          </p:nvCxnSpPr>
          <p:spPr bwMode="auto">
            <a:xfrm rot="5400000">
              <a:off x="5003833" y="4332737"/>
              <a:ext cx="2283688" cy="30890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xmlns="" id="{837E9E62-45F3-BD10-AB4F-3A531FE24E0F}"/>
                </a:ext>
              </a:extLst>
            </p:cNvPr>
            <p:cNvSpPr txBox="1"/>
            <p:nvPr/>
          </p:nvSpPr>
          <p:spPr bwMode="auto">
            <a:xfrm flipH="1">
              <a:off x="4677628" y="3778531"/>
              <a:ext cx="165100" cy="150374"/>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25" name="Decisión 20">
              <a:extLst>
                <a:ext uri="{FF2B5EF4-FFF2-40B4-BE49-F238E27FC236}">
                  <a16:creationId xmlns:a16="http://schemas.microsoft.com/office/drawing/2014/main" xmlns="" id="{0030EF74-6B1F-E922-02CE-0A23541FD81A}"/>
                </a:ext>
              </a:extLst>
            </p:cNvPr>
            <p:cNvSpPr/>
            <p:nvPr/>
          </p:nvSpPr>
          <p:spPr bwMode="auto">
            <a:xfrm>
              <a:off x="4470400" y="3485728"/>
              <a:ext cx="779463" cy="298713"/>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26" name="CuadroTexto 25">
              <a:extLst>
                <a:ext uri="{FF2B5EF4-FFF2-40B4-BE49-F238E27FC236}">
                  <a16:creationId xmlns:a16="http://schemas.microsoft.com/office/drawing/2014/main" xmlns="" id="{50771779-8690-CEAC-57CD-99BBA23F14FB}"/>
                </a:ext>
              </a:extLst>
            </p:cNvPr>
            <p:cNvSpPr txBox="1"/>
            <p:nvPr/>
          </p:nvSpPr>
          <p:spPr bwMode="auto">
            <a:xfrm>
              <a:off x="5469732" y="3412114"/>
              <a:ext cx="684213" cy="451124"/>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observaciones</a:t>
              </a:r>
            </a:p>
          </p:txBody>
        </p:sp>
        <p:sp>
          <p:nvSpPr>
            <p:cNvPr id="27" name="CuadroTexto 26">
              <a:extLst>
                <a:ext uri="{FF2B5EF4-FFF2-40B4-BE49-F238E27FC236}">
                  <a16:creationId xmlns:a16="http://schemas.microsoft.com/office/drawing/2014/main" xmlns="" id="{CBA7C1F9-1ED6-8944-5582-83E9EF0F21F3}"/>
                </a:ext>
              </a:extLst>
            </p:cNvPr>
            <p:cNvSpPr txBox="1"/>
            <p:nvPr/>
          </p:nvSpPr>
          <p:spPr bwMode="auto">
            <a:xfrm>
              <a:off x="5480670" y="4312199"/>
              <a:ext cx="682625" cy="300749"/>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observaciones</a:t>
              </a:r>
            </a:p>
          </p:txBody>
        </p:sp>
        <p:sp>
          <p:nvSpPr>
            <p:cNvPr id="28" name="72 CuadroTexto">
              <a:extLst>
                <a:ext uri="{FF2B5EF4-FFF2-40B4-BE49-F238E27FC236}">
                  <a16:creationId xmlns:a16="http://schemas.microsoft.com/office/drawing/2014/main" xmlns="" id="{CDF77D8A-0C6B-6244-96B0-56734D9825FE}"/>
                </a:ext>
              </a:extLst>
            </p:cNvPr>
            <p:cNvSpPr txBox="1">
              <a:spLocks noChangeArrowheads="1"/>
            </p:cNvSpPr>
            <p:nvPr/>
          </p:nvSpPr>
          <p:spPr bwMode="auto">
            <a:xfrm>
              <a:off x="5854855" y="4018116"/>
              <a:ext cx="271538" cy="15037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20 dh</a:t>
              </a:r>
            </a:p>
          </p:txBody>
        </p:sp>
        <p:sp>
          <p:nvSpPr>
            <p:cNvPr id="29" name="CuadroTexto 28">
              <a:extLst>
                <a:ext uri="{FF2B5EF4-FFF2-40B4-BE49-F238E27FC236}">
                  <a16:creationId xmlns:a16="http://schemas.microsoft.com/office/drawing/2014/main" xmlns="" id="{F1EB37E2-AE68-A68F-9EDE-825B315D8818}"/>
                </a:ext>
              </a:extLst>
            </p:cNvPr>
            <p:cNvSpPr txBox="1"/>
            <p:nvPr/>
          </p:nvSpPr>
          <p:spPr bwMode="auto">
            <a:xfrm>
              <a:off x="5211729" y="3418521"/>
              <a:ext cx="171450" cy="150374"/>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cxnSp>
          <p:nvCxnSpPr>
            <p:cNvPr id="30" name="Conector recto de flecha 29">
              <a:extLst>
                <a:ext uri="{FF2B5EF4-FFF2-40B4-BE49-F238E27FC236}">
                  <a16:creationId xmlns:a16="http://schemas.microsoft.com/office/drawing/2014/main" xmlns="" id="{C471FBC9-22E2-2D4D-C82B-6E5FC53840B5}"/>
                </a:ext>
              </a:extLst>
            </p:cNvPr>
            <p:cNvCxnSpPr>
              <a:stCxn id="25" idx="3"/>
              <a:endCxn id="26" idx="1"/>
            </p:cNvCxnSpPr>
            <p:nvPr/>
          </p:nvCxnSpPr>
          <p:spPr bwMode="auto">
            <a:xfrm>
              <a:off x="5249863" y="3635085"/>
              <a:ext cx="219869" cy="2591"/>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xmlns="" id="{45FD0469-0EE4-128F-BDC7-5CFAD9A0C555}"/>
                </a:ext>
              </a:extLst>
            </p:cNvPr>
            <p:cNvCxnSpPr>
              <a:stCxn id="18" idx="2"/>
              <a:endCxn id="25" idx="0"/>
            </p:cNvCxnSpPr>
            <p:nvPr/>
          </p:nvCxnSpPr>
          <p:spPr bwMode="auto">
            <a:xfrm>
              <a:off x="4856163" y="3119016"/>
              <a:ext cx="3969" cy="366712"/>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32" name="Conector recto 31">
              <a:extLst>
                <a:ext uri="{FF2B5EF4-FFF2-40B4-BE49-F238E27FC236}">
                  <a16:creationId xmlns:a16="http://schemas.microsoft.com/office/drawing/2014/main" xmlns="" id="{B5FFDAE1-748B-6A73-100C-32C7C478B2DE}"/>
                </a:ext>
              </a:extLst>
            </p:cNvPr>
            <p:cNvCxnSpPr>
              <a:stCxn id="26" idx="2"/>
              <a:endCxn id="27" idx="0"/>
            </p:cNvCxnSpPr>
            <p:nvPr/>
          </p:nvCxnSpPr>
          <p:spPr bwMode="auto">
            <a:xfrm>
              <a:off x="5811838" y="3863237"/>
              <a:ext cx="10144" cy="448962"/>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3" name="72 CuadroTexto">
              <a:extLst>
                <a:ext uri="{FF2B5EF4-FFF2-40B4-BE49-F238E27FC236}">
                  <a16:creationId xmlns:a16="http://schemas.microsoft.com/office/drawing/2014/main" xmlns="" id="{B914DEDF-C565-4121-AF1C-DCC6CE641792}"/>
                </a:ext>
              </a:extLst>
            </p:cNvPr>
            <p:cNvSpPr txBox="1">
              <a:spLocks noChangeArrowheads="1"/>
            </p:cNvSpPr>
            <p:nvPr/>
          </p:nvSpPr>
          <p:spPr bwMode="auto">
            <a:xfrm>
              <a:off x="5587206" y="2330819"/>
              <a:ext cx="452055" cy="2067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34" name="Conector recto de flecha 33">
              <a:extLst>
                <a:ext uri="{FF2B5EF4-FFF2-40B4-BE49-F238E27FC236}">
                  <a16:creationId xmlns:a16="http://schemas.microsoft.com/office/drawing/2014/main" xmlns="" id="{E46B9965-E8D5-C16C-7DFA-B029E37176F7}"/>
                </a:ext>
              </a:extLst>
            </p:cNvPr>
            <p:cNvCxnSpPr>
              <a:stCxn id="33" idx="2"/>
              <a:endCxn id="26" idx="0"/>
            </p:cNvCxnSpPr>
            <p:nvPr/>
          </p:nvCxnSpPr>
          <p:spPr bwMode="auto">
            <a:xfrm flipH="1">
              <a:off x="5811838" y="2537584"/>
              <a:ext cx="1395" cy="874530"/>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angular 30">
              <a:extLst>
                <a:ext uri="{FF2B5EF4-FFF2-40B4-BE49-F238E27FC236}">
                  <a16:creationId xmlns:a16="http://schemas.microsoft.com/office/drawing/2014/main" xmlns="" id="{4DFBB458-F41D-613D-7BF6-C5CF780231B6}"/>
                </a:ext>
              </a:extLst>
            </p:cNvPr>
            <p:cNvCxnSpPr>
              <a:stCxn id="33" idx="0"/>
              <a:endCxn id="12" idx="6"/>
            </p:cNvCxnSpPr>
            <p:nvPr/>
          </p:nvCxnSpPr>
          <p:spPr bwMode="auto">
            <a:xfrm rot="16200000" flipV="1">
              <a:off x="5096786" y="1614370"/>
              <a:ext cx="1169562" cy="263334"/>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24 Rectángulo">
              <a:extLst>
                <a:ext uri="{FF2B5EF4-FFF2-40B4-BE49-F238E27FC236}">
                  <a16:creationId xmlns:a16="http://schemas.microsoft.com/office/drawing/2014/main" xmlns="" id="{E0AE7E37-2CCF-688F-762F-03FB34EFE7F0}"/>
                </a:ext>
              </a:extLst>
            </p:cNvPr>
            <p:cNvSpPr/>
            <p:nvPr/>
          </p:nvSpPr>
          <p:spPr bwMode="auto">
            <a:xfrm>
              <a:off x="4230167" y="1872227"/>
              <a:ext cx="1235849"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la solicitud y los requisitos de presentación </a:t>
              </a:r>
            </a:p>
          </p:txBody>
        </p:sp>
        <p:cxnSp>
          <p:nvCxnSpPr>
            <p:cNvPr id="61" name="Conector angular 32">
              <a:extLst>
                <a:ext uri="{FF2B5EF4-FFF2-40B4-BE49-F238E27FC236}">
                  <a16:creationId xmlns:a16="http://schemas.microsoft.com/office/drawing/2014/main" xmlns="" id="{DF89FA49-D9B8-3082-E715-A775001A6A4D}"/>
                </a:ext>
              </a:extLst>
            </p:cNvPr>
            <p:cNvCxnSpPr>
              <a:stCxn id="27" idx="1"/>
              <a:endCxn id="21" idx="0"/>
            </p:cNvCxnSpPr>
            <p:nvPr/>
          </p:nvCxnSpPr>
          <p:spPr bwMode="auto">
            <a:xfrm rot="10800000" flipV="1">
              <a:off x="4871245" y="4462573"/>
              <a:ext cx="609426" cy="912701"/>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672517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72D88BB-0CAE-B02E-F070-A8D7C03ED76A}"/>
            </a:ext>
          </a:extLst>
        </p:cNvPr>
        <p:cNvGrpSpPr/>
        <p:nvPr/>
      </p:nvGrpSpPr>
      <p:grpSpPr>
        <a:xfrm>
          <a:off x="0" y="0"/>
          <a:ext cx="0" cy="0"/>
          <a:chOff x="0" y="0"/>
          <a:chExt cx="0" cy="0"/>
        </a:xfrm>
      </p:grpSpPr>
      <p:sp>
        <p:nvSpPr>
          <p:cNvPr id="29" name="Freeform 26">
            <a:extLst>
              <a:ext uri="{FF2B5EF4-FFF2-40B4-BE49-F238E27FC236}">
                <a16:creationId xmlns:a16="http://schemas.microsoft.com/office/drawing/2014/main" xmlns="" id="{E4B445D1-9310-0D8E-3673-6C1EFA14D6C4}"/>
              </a:ext>
            </a:extLst>
          </p:cNvPr>
          <p:cNvSpPr/>
          <p:nvPr/>
        </p:nvSpPr>
        <p:spPr>
          <a:xfrm flipV="1">
            <a:off x="1" y="7700772"/>
            <a:ext cx="8621468" cy="2637896"/>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2" name="Group 2">
            <a:extLst>
              <a:ext uri="{FF2B5EF4-FFF2-40B4-BE49-F238E27FC236}">
                <a16:creationId xmlns:a16="http://schemas.microsoft.com/office/drawing/2014/main" xmlns="" id="{E6C9D627-8519-AFBE-2EA6-0D6F947E249D}"/>
              </a:ext>
            </a:extLst>
          </p:cNvPr>
          <p:cNvGrpSpPr/>
          <p:nvPr/>
        </p:nvGrpSpPr>
        <p:grpSpPr>
          <a:xfrm>
            <a:off x="8233660" y="3843226"/>
            <a:ext cx="12164805" cy="12164805"/>
            <a:chOff x="0" y="0"/>
            <a:chExt cx="812800" cy="812800"/>
          </a:xfrm>
        </p:grpSpPr>
        <p:sp>
          <p:nvSpPr>
            <p:cNvPr id="3" name="Freeform 3">
              <a:extLst>
                <a:ext uri="{FF2B5EF4-FFF2-40B4-BE49-F238E27FC236}">
                  <a16:creationId xmlns:a16="http://schemas.microsoft.com/office/drawing/2014/main" xmlns="" id="{2601B7F8-AD6E-CA06-9550-8C2F67059C7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tx1"/>
            </a:solidFill>
          </p:spPr>
        </p:sp>
        <p:sp>
          <p:nvSpPr>
            <p:cNvPr id="4" name="TextBox 4">
              <a:extLst>
                <a:ext uri="{FF2B5EF4-FFF2-40B4-BE49-F238E27FC236}">
                  <a16:creationId xmlns:a16="http://schemas.microsoft.com/office/drawing/2014/main" xmlns="" id="{B0BC16CE-1351-435F-4B6C-82EBF0ED19E2}"/>
                </a:ext>
              </a:extLst>
            </p:cNvPr>
            <p:cNvSpPr txBox="1"/>
            <p:nvPr/>
          </p:nvSpPr>
          <p:spPr>
            <a:xfrm>
              <a:off x="76200" y="76200"/>
              <a:ext cx="660400" cy="660400"/>
            </a:xfrm>
            <a:prstGeom prst="rect">
              <a:avLst/>
            </a:prstGeom>
          </p:spPr>
          <p:txBody>
            <a:bodyPr lIns="50800" tIns="50800" rIns="50800" bIns="50800" rtlCol="0" anchor="ctr"/>
            <a:lstStyle/>
            <a:p>
              <a:pPr algn="ctr">
                <a:lnSpc>
                  <a:spcPts val="2157"/>
                </a:lnSpc>
              </a:pPr>
              <a:endParaRPr dirty="0"/>
            </a:p>
          </p:txBody>
        </p:sp>
      </p:grpSp>
      <p:grpSp>
        <p:nvGrpSpPr>
          <p:cNvPr id="5" name="Group 5">
            <a:extLst>
              <a:ext uri="{FF2B5EF4-FFF2-40B4-BE49-F238E27FC236}">
                <a16:creationId xmlns:a16="http://schemas.microsoft.com/office/drawing/2014/main" xmlns="" id="{C44F2312-394D-EAC9-A1B1-E8852A6E6262}"/>
              </a:ext>
            </a:extLst>
          </p:cNvPr>
          <p:cNvGrpSpPr>
            <a:grpSpLocks noChangeAspect="1"/>
          </p:cNvGrpSpPr>
          <p:nvPr/>
        </p:nvGrpSpPr>
        <p:grpSpPr>
          <a:xfrm>
            <a:off x="13757357" y="806171"/>
            <a:ext cx="4151041" cy="8213549"/>
            <a:chOff x="0" y="0"/>
            <a:chExt cx="2620010" cy="5184140"/>
          </a:xfrm>
        </p:grpSpPr>
        <p:sp>
          <p:nvSpPr>
            <p:cNvPr id="6" name="Freeform 6">
              <a:extLst>
                <a:ext uri="{FF2B5EF4-FFF2-40B4-BE49-F238E27FC236}">
                  <a16:creationId xmlns:a16="http://schemas.microsoft.com/office/drawing/2014/main" xmlns="" id="{2E705551-83C1-E374-BA79-B2E4D876AB9A}"/>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a:extLst>
                <a:ext uri="{FF2B5EF4-FFF2-40B4-BE49-F238E27FC236}">
                  <a16:creationId xmlns:a16="http://schemas.microsoft.com/office/drawing/2014/main" xmlns="" id="{D9397577-4D33-CD5C-4F75-5022081403DC}"/>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38913" r="-185735"/>
              </a:stretch>
            </a:blipFill>
          </p:spPr>
        </p:sp>
        <p:sp>
          <p:nvSpPr>
            <p:cNvPr id="8" name="Freeform 8">
              <a:extLst>
                <a:ext uri="{FF2B5EF4-FFF2-40B4-BE49-F238E27FC236}">
                  <a16:creationId xmlns:a16="http://schemas.microsoft.com/office/drawing/2014/main" xmlns="" id="{434ED65B-100B-F85F-1995-D870D1ADF205}"/>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a:extLst>
                <a:ext uri="{FF2B5EF4-FFF2-40B4-BE49-F238E27FC236}">
                  <a16:creationId xmlns:a16="http://schemas.microsoft.com/office/drawing/2014/main" xmlns="" id="{72B0CF9F-736C-2BD7-0A7E-8265DD0DF726}"/>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a:extLst>
                <a:ext uri="{FF2B5EF4-FFF2-40B4-BE49-F238E27FC236}">
                  <a16:creationId xmlns:a16="http://schemas.microsoft.com/office/drawing/2014/main" xmlns="" id="{3871563F-3527-16B1-A29D-71297BAAD8DC}"/>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a:extLst>
                <a:ext uri="{FF2B5EF4-FFF2-40B4-BE49-F238E27FC236}">
                  <a16:creationId xmlns:a16="http://schemas.microsoft.com/office/drawing/2014/main" xmlns="" id="{B64F566A-F53E-08A3-E17B-BA2BAECFF4E8}"/>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a:extLst>
                <a:ext uri="{FF2B5EF4-FFF2-40B4-BE49-F238E27FC236}">
                  <a16:creationId xmlns:a16="http://schemas.microsoft.com/office/drawing/2014/main" xmlns="" id="{5D12706D-28C4-FA7A-5190-3867EA9DCBF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a:extLst>
                <a:ext uri="{FF2B5EF4-FFF2-40B4-BE49-F238E27FC236}">
                  <a16:creationId xmlns:a16="http://schemas.microsoft.com/office/drawing/2014/main" xmlns="" id="{20F2666E-07A6-9092-5F73-C3584239D742}"/>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a:extLst>
                <a:ext uri="{FF2B5EF4-FFF2-40B4-BE49-F238E27FC236}">
                  <a16:creationId xmlns:a16="http://schemas.microsoft.com/office/drawing/2014/main" xmlns="" id="{D767952D-BD0F-FF28-83B9-2C379EA9D6A2}"/>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6" name="Group 16">
            <a:extLst>
              <a:ext uri="{FF2B5EF4-FFF2-40B4-BE49-F238E27FC236}">
                <a16:creationId xmlns:a16="http://schemas.microsoft.com/office/drawing/2014/main" xmlns="" id="{EA70F9AA-8563-6D65-4211-45DD298D7D65}"/>
              </a:ext>
            </a:extLst>
          </p:cNvPr>
          <p:cNvGrpSpPr>
            <a:grpSpLocks noChangeAspect="1"/>
          </p:cNvGrpSpPr>
          <p:nvPr/>
        </p:nvGrpSpPr>
        <p:grpSpPr>
          <a:xfrm>
            <a:off x="9602083" y="4152900"/>
            <a:ext cx="3920541" cy="7757463"/>
            <a:chOff x="0" y="0"/>
            <a:chExt cx="2620010" cy="5184140"/>
          </a:xfrm>
        </p:grpSpPr>
        <p:sp>
          <p:nvSpPr>
            <p:cNvPr id="17" name="Freeform 17">
              <a:extLst>
                <a:ext uri="{FF2B5EF4-FFF2-40B4-BE49-F238E27FC236}">
                  <a16:creationId xmlns:a16="http://schemas.microsoft.com/office/drawing/2014/main" xmlns="" id="{BCF9397A-C38A-4F8D-CBC1-EA9674D74CA2}"/>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8" name="Freeform 18">
              <a:extLst>
                <a:ext uri="{FF2B5EF4-FFF2-40B4-BE49-F238E27FC236}">
                  <a16:creationId xmlns:a16="http://schemas.microsoft.com/office/drawing/2014/main" xmlns="" id="{88B96FC9-F9F6-EF3B-CC73-3C2E190EFE55}"/>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67653" r="-121283"/>
              </a:stretch>
            </a:blipFill>
          </p:spPr>
        </p:sp>
        <p:sp>
          <p:nvSpPr>
            <p:cNvPr id="19" name="Freeform 19">
              <a:extLst>
                <a:ext uri="{FF2B5EF4-FFF2-40B4-BE49-F238E27FC236}">
                  <a16:creationId xmlns:a16="http://schemas.microsoft.com/office/drawing/2014/main" xmlns="" id="{4E5EE889-181D-B944-4719-9272EDFFA35A}"/>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20" name="Freeform 20">
              <a:extLst>
                <a:ext uri="{FF2B5EF4-FFF2-40B4-BE49-F238E27FC236}">
                  <a16:creationId xmlns:a16="http://schemas.microsoft.com/office/drawing/2014/main" xmlns="" id="{C418E4F2-3C90-1778-EB10-FE8B0CC3D4D2}"/>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1" name="Freeform 21">
              <a:extLst>
                <a:ext uri="{FF2B5EF4-FFF2-40B4-BE49-F238E27FC236}">
                  <a16:creationId xmlns:a16="http://schemas.microsoft.com/office/drawing/2014/main" xmlns="" id="{18F911EF-BEAB-B52C-DC9F-2A74920F0F0A}"/>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2" name="Freeform 22">
              <a:extLst>
                <a:ext uri="{FF2B5EF4-FFF2-40B4-BE49-F238E27FC236}">
                  <a16:creationId xmlns:a16="http://schemas.microsoft.com/office/drawing/2014/main" xmlns="" id="{36941E08-D002-51CB-6F9B-7E0399C8A0AA}"/>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3" name="Freeform 23">
              <a:extLst>
                <a:ext uri="{FF2B5EF4-FFF2-40B4-BE49-F238E27FC236}">
                  <a16:creationId xmlns:a16="http://schemas.microsoft.com/office/drawing/2014/main" xmlns="" id="{F825771E-6484-F18F-7659-EE1AB0B7DFF8}"/>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4" name="Freeform 24">
              <a:extLst>
                <a:ext uri="{FF2B5EF4-FFF2-40B4-BE49-F238E27FC236}">
                  <a16:creationId xmlns:a16="http://schemas.microsoft.com/office/drawing/2014/main" xmlns="" id="{D163681F-472C-74C4-67EC-1B62D336C37E}"/>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5" name="Freeform 25">
              <a:extLst>
                <a:ext uri="{FF2B5EF4-FFF2-40B4-BE49-F238E27FC236}">
                  <a16:creationId xmlns:a16="http://schemas.microsoft.com/office/drawing/2014/main" xmlns="" id="{FB21B94B-E281-5D59-5E93-AD91906A5B1E}"/>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7" name="Freeform 27">
            <a:extLst>
              <a:ext uri="{FF2B5EF4-FFF2-40B4-BE49-F238E27FC236}">
                <a16:creationId xmlns:a16="http://schemas.microsoft.com/office/drawing/2014/main" xmlns="" id="{23AA44D3-C46E-FE18-574E-0A871FE6D140}"/>
              </a:ext>
            </a:extLst>
          </p:cNvPr>
          <p:cNvSpPr/>
          <p:nvPr/>
        </p:nvSpPr>
        <p:spPr>
          <a:xfrm>
            <a:off x="0"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6"/>
            <a:stretch>
              <a:fillRect/>
            </a:stretch>
          </a:blipFill>
        </p:spPr>
      </p:sp>
      <p:sp>
        <p:nvSpPr>
          <p:cNvPr id="28" name="TextBox 28">
            <a:extLst>
              <a:ext uri="{FF2B5EF4-FFF2-40B4-BE49-F238E27FC236}">
                <a16:creationId xmlns:a16="http://schemas.microsoft.com/office/drawing/2014/main" xmlns="" id="{3F833E0B-326A-EEAE-6297-58A05D046C9D}"/>
              </a:ext>
            </a:extLst>
          </p:cNvPr>
          <p:cNvSpPr txBox="1"/>
          <p:nvPr/>
        </p:nvSpPr>
        <p:spPr>
          <a:xfrm>
            <a:off x="1774346" y="3296840"/>
            <a:ext cx="6205882" cy="4308872"/>
          </a:xfrm>
          <a:prstGeom prst="rect">
            <a:avLst/>
          </a:prstGeom>
        </p:spPr>
        <p:txBody>
          <a:bodyPr wrap="square" lIns="0" tIns="0" rIns="0" bIns="0" rtlCol="0" anchor="t">
            <a:spAutoFit/>
          </a:bodyPr>
          <a:lstStyle/>
          <a:p>
            <a:pPr algn="ctr">
              <a:lnSpc>
                <a:spcPts val="4800"/>
              </a:lnSpc>
            </a:pPr>
            <a:r>
              <a:rPr lang="es-PE" sz="4800" b="1" dirty="0">
                <a:solidFill>
                  <a:srgbClr val="303030"/>
                </a:solidFill>
                <a:latin typeface="Futura Std Book" panose="020B0802020204020204" pitchFamily="34" charset="0"/>
                <a:ea typeface="Montserrat Bold"/>
                <a:cs typeface="Montserrat Bold"/>
                <a:sym typeface="Montserrat Bold"/>
              </a:rPr>
              <a:t>TEMA 06: </a:t>
            </a:r>
          </a:p>
          <a:p>
            <a:pPr algn="ctr">
              <a:lnSpc>
                <a:spcPts val="4800"/>
              </a:lnSpc>
            </a:pPr>
            <a:endParaRPr lang="es-PE" sz="4800" b="1" dirty="0">
              <a:solidFill>
                <a:srgbClr val="303030"/>
              </a:solidFill>
              <a:latin typeface="Futura Std Book" panose="020B0802020204020204" pitchFamily="34" charset="0"/>
              <a:ea typeface="Montserrat Bold"/>
              <a:cs typeface="Montserrat Bold"/>
              <a:sym typeface="Montserrat Bold"/>
            </a:endParaRPr>
          </a:p>
          <a:p>
            <a:pPr algn="ctr">
              <a:lnSpc>
                <a:spcPts val="4800"/>
              </a:lnSpc>
            </a:pPr>
            <a:r>
              <a:rPr lang="es-PE" sz="4800" b="1" dirty="0">
                <a:solidFill>
                  <a:srgbClr val="303030"/>
                </a:solidFill>
                <a:latin typeface="Futura Std Book" panose="020B0802020204020204" pitchFamily="34" charset="0"/>
                <a:sym typeface="Montserrat Bold"/>
              </a:rPr>
              <a:t>CONCESIÓN DE TRANSPORTE MINERO – SUSPENSIÓN DE OPERACIONES</a:t>
            </a:r>
          </a:p>
        </p:txBody>
      </p:sp>
    </p:spTree>
    <p:extLst>
      <p:ext uri="{BB962C8B-B14F-4D97-AF65-F5344CB8AC3E}">
        <p14:creationId xmlns:p14="http://schemas.microsoft.com/office/powerpoint/2010/main" val="20289876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4802CF6-61D9-1296-F736-76C36B27E3C0}"/>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xmlns="" id="{37966C99-B3B6-6D7C-AA78-BE923A4EF490}"/>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A66785BD-F502-C5FE-23BE-6ED1C47B3EA1}"/>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grpSp>
        <p:nvGrpSpPr>
          <p:cNvPr id="6" name="Group 6">
            <a:extLst>
              <a:ext uri="{FF2B5EF4-FFF2-40B4-BE49-F238E27FC236}">
                <a16:creationId xmlns:a16="http://schemas.microsoft.com/office/drawing/2014/main" xmlns="" id="{171C4780-DC1B-E474-662C-5C08D819A68F}"/>
              </a:ext>
            </a:extLst>
          </p:cNvPr>
          <p:cNvGrpSpPr/>
          <p:nvPr/>
        </p:nvGrpSpPr>
        <p:grpSpPr>
          <a:xfrm>
            <a:off x="3733800" y="235864"/>
            <a:ext cx="10116046" cy="2253857"/>
            <a:chOff x="0" y="0"/>
            <a:chExt cx="1438895" cy="320586"/>
          </a:xfrm>
        </p:grpSpPr>
        <p:sp>
          <p:nvSpPr>
            <p:cNvPr id="7" name="Freeform 7">
              <a:extLst>
                <a:ext uri="{FF2B5EF4-FFF2-40B4-BE49-F238E27FC236}">
                  <a16:creationId xmlns:a16="http://schemas.microsoft.com/office/drawing/2014/main" xmlns="" id="{3DE74F87-C61B-B45B-F2DF-36E8F34AAC33}"/>
                </a:ext>
              </a:extLst>
            </p:cNvPr>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5"/>
              <a:stretch>
                <a:fillRect t="-76302" b="-14451"/>
              </a:stretch>
            </a:blipFill>
          </p:spPr>
        </p:sp>
      </p:grpSp>
      <p:sp>
        <p:nvSpPr>
          <p:cNvPr id="8" name="TextBox 8">
            <a:extLst>
              <a:ext uri="{FF2B5EF4-FFF2-40B4-BE49-F238E27FC236}">
                <a16:creationId xmlns:a16="http://schemas.microsoft.com/office/drawing/2014/main" xmlns="" id="{8EDB028A-1F7A-20E2-2A7A-CF6827B22DC4}"/>
              </a:ext>
            </a:extLst>
          </p:cNvPr>
          <p:cNvSpPr txBox="1"/>
          <p:nvPr/>
        </p:nvSpPr>
        <p:spPr>
          <a:xfrm>
            <a:off x="533400" y="2845182"/>
            <a:ext cx="17449799" cy="570669"/>
          </a:xfrm>
          <a:prstGeom prst="rect">
            <a:avLst/>
          </a:prstGeom>
        </p:spPr>
        <p:txBody>
          <a:bodyPr wrap="square" lIns="0" tIns="0" rIns="0" bIns="0" rtlCol="0" anchor="t">
            <a:spAutoFit/>
          </a:bodyPr>
          <a:lstStyle/>
          <a:p>
            <a:pPr algn="l">
              <a:lnSpc>
                <a:spcPts val="5039"/>
              </a:lnSpc>
            </a:pPr>
            <a:r>
              <a:rPr lang="es-PE" sz="4000" b="1" dirty="0">
                <a:solidFill>
                  <a:srgbClr val="A42F0F"/>
                </a:solidFill>
                <a:latin typeface="Futura Ultra-Bold"/>
                <a:sym typeface="Futura Ultra-Bold"/>
              </a:rPr>
              <a:t>6.1 CONCESIONES DE LABOR GENERAL Y TRANSPORTE MINERO</a:t>
            </a:r>
          </a:p>
        </p:txBody>
      </p:sp>
      <p:grpSp>
        <p:nvGrpSpPr>
          <p:cNvPr id="9" name="Group 2">
            <a:extLst>
              <a:ext uri="{FF2B5EF4-FFF2-40B4-BE49-F238E27FC236}">
                <a16:creationId xmlns:a16="http://schemas.microsoft.com/office/drawing/2014/main" xmlns="" id="{C191FED9-EF9C-D3B3-22A8-DAE85C25FDBE}"/>
              </a:ext>
            </a:extLst>
          </p:cNvPr>
          <p:cNvGrpSpPr/>
          <p:nvPr/>
        </p:nvGrpSpPr>
        <p:grpSpPr>
          <a:xfrm>
            <a:off x="6397409" y="7556924"/>
            <a:ext cx="10861891" cy="2730076"/>
            <a:chOff x="0" y="0"/>
            <a:chExt cx="1363973" cy="342827"/>
          </a:xfrm>
        </p:grpSpPr>
        <p:sp>
          <p:nvSpPr>
            <p:cNvPr id="10" name="Freeform 3">
              <a:extLst>
                <a:ext uri="{FF2B5EF4-FFF2-40B4-BE49-F238E27FC236}">
                  <a16:creationId xmlns:a16="http://schemas.microsoft.com/office/drawing/2014/main" xmlns="" id="{46F92650-DCF8-DA61-66A6-D17C58CC5FF5}"/>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1" name="TextBox 4">
              <a:extLst>
                <a:ext uri="{FF2B5EF4-FFF2-40B4-BE49-F238E27FC236}">
                  <a16:creationId xmlns:a16="http://schemas.microsoft.com/office/drawing/2014/main" xmlns="" id="{BDBF7E88-60CF-923B-E136-2CC44F57484D}"/>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2" name="CuadroTexto 1">
            <a:extLst>
              <a:ext uri="{FF2B5EF4-FFF2-40B4-BE49-F238E27FC236}">
                <a16:creationId xmlns:a16="http://schemas.microsoft.com/office/drawing/2014/main" xmlns="" id="{B5E76A1E-CC8E-9B88-F544-AA7D98B6779E}"/>
              </a:ext>
            </a:extLst>
          </p:cNvPr>
          <p:cNvSpPr txBox="1"/>
          <p:nvPr/>
        </p:nvSpPr>
        <p:spPr>
          <a:xfrm>
            <a:off x="533400" y="4033382"/>
            <a:ext cx="7635435" cy="196977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0" algn="just"/>
            <a:r>
              <a:rPr lang="es-PE" sz="2600" b="1" dirty="0">
                <a:solidFill>
                  <a:srgbClr val="A42F0F"/>
                </a:solidFill>
                <a:latin typeface="Inter" panose="020B0604020202020204" charset="0"/>
                <a:ea typeface="Inter" panose="020B0604020202020204" charset="0"/>
              </a:rPr>
              <a:t>CONCESIÓN DE LABOR GENERAL: </a:t>
            </a:r>
          </a:p>
          <a:p>
            <a:pPr lvl="0" algn="just"/>
            <a:r>
              <a:rPr lang="es-PE" sz="2400" dirty="0">
                <a:latin typeface="Inter" panose="020B0604020202020204" charset="0"/>
                <a:ea typeface="Inter" panose="020B0604020202020204" charset="0"/>
              </a:rPr>
              <a:t>Es toda actividad minera que presta servicios auxiliares, tales como </a:t>
            </a:r>
            <a:r>
              <a:rPr lang="es-PE" sz="2400" b="1" dirty="0">
                <a:latin typeface="Inter" panose="020B0604020202020204" charset="0"/>
                <a:ea typeface="Inter" panose="020B0604020202020204" charset="0"/>
              </a:rPr>
              <a:t>ventilación</a:t>
            </a:r>
            <a:r>
              <a:rPr lang="es-PE" sz="2400" dirty="0">
                <a:latin typeface="Inter" panose="020B0604020202020204" charset="0"/>
                <a:ea typeface="Inter" panose="020B0604020202020204" charset="0"/>
              </a:rPr>
              <a:t>, </a:t>
            </a:r>
            <a:r>
              <a:rPr lang="es-PE" sz="2400" b="1" dirty="0">
                <a:latin typeface="Inter" panose="020B0604020202020204" charset="0"/>
                <a:ea typeface="Inter" panose="020B0604020202020204" charset="0"/>
              </a:rPr>
              <a:t>desagüe</a:t>
            </a:r>
            <a:r>
              <a:rPr lang="es-PE" sz="2400" dirty="0">
                <a:latin typeface="Inter" panose="020B0604020202020204" charset="0"/>
                <a:ea typeface="Inter" panose="020B0604020202020204" charset="0"/>
              </a:rPr>
              <a:t>, </a:t>
            </a:r>
            <a:r>
              <a:rPr lang="es-PE" sz="2400" b="1" dirty="0">
                <a:latin typeface="Inter" panose="020B0604020202020204" charset="0"/>
                <a:ea typeface="Inter" panose="020B0604020202020204" charset="0"/>
              </a:rPr>
              <a:t>izaje</a:t>
            </a:r>
            <a:r>
              <a:rPr lang="es-PE" sz="2400" dirty="0">
                <a:latin typeface="Inter" panose="020B0604020202020204" charset="0"/>
                <a:ea typeface="Inter" panose="020B0604020202020204" charset="0"/>
              </a:rPr>
              <a:t> o </a:t>
            </a:r>
            <a:r>
              <a:rPr lang="es-PE" sz="2400" b="1" dirty="0">
                <a:latin typeface="Inter" panose="020B0604020202020204" charset="0"/>
                <a:ea typeface="Inter" panose="020B0604020202020204" charset="0"/>
              </a:rPr>
              <a:t>extracción</a:t>
            </a:r>
            <a:r>
              <a:rPr lang="es-PE" sz="2400" dirty="0">
                <a:latin typeface="Inter" panose="020B0604020202020204" charset="0"/>
                <a:ea typeface="Inter" panose="020B0604020202020204" charset="0"/>
              </a:rPr>
              <a:t> a dos o más concesiones de distintos concesionarios.</a:t>
            </a:r>
          </a:p>
        </p:txBody>
      </p:sp>
      <p:sp>
        <p:nvSpPr>
          <p:cNvPr id="13" name="CuadroTexto 12">
            <a:extLst>
              <a:ext uri="{FF2B5EF4-FFF2-40B4-BE49-F238E27FC236}">
                <a16:creationId xmlns:a16="http://schemas.microsoft.com/office/drawing/2014/main" xmlns="" id="{67B74C2D-A2D6-D0F6-3C1C-7AC008D37EEB}"/>
              </a:ext>
            </a:extLst>
          </p:cNvPr>
          <p:cNvSpPr txBox="1"/>
          <p:nvPr/>
        </p:nvSpPr>
        <p:spPr>
          <a:xfrm>
            <a:off x="4034350" y="6301398"/>
            <a:ext cx="9815495" cy="270843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s-PE" sz="2400" dirty="0">
                <a:latin typeface="Inter" panose="020B0604020202020204" charset="0"/>
                <a:ea typeface="Inter" panose="020B0604020202020204" charset="0"/>
              </a:rPr>
              <a:t>La </a:t>
            </a:r>
            <a:r>
              <a:rPr lang="es-PE" sz="2600" b="1" dirty="0">
                <a:solidFill>
                  <a:srgbClr val="A42F0F"/>
                </a:solidFill>
                <a:latin typeface="Inter" panose="020B0604020202020204" charset="0"/>
                <a:ea typeface="Inter" panose="020B0604020202020204" charset="0"/>
              </a:rPr>
              <a:t>CONCESIÓN DE LABOR GENERAL </a:t>
            </a:r>
            <a:r>
              <a:rPr lang="es-PE" sz="2400" dirty="0">
                <a:latin typeface="Inter" panose="020B0604020202020204" charset="0"/>
                <a:ea typeface="Inter" panose="020B0604020202020204" charset="0"/>
              </a:rPr>
              <a:t>otorga a su titular el derecho de prestar servicios auxiliares a dos o mas concesiones mineras.</a:t>
            </a:r>
          </a:p>
          <a:p>
            <a:pPr algn="just"/>
            <a:r>
              <a:rPr lang="es-PE" sz="2400" dirty="0">
                <a:latin typeface="Inter" panose="020B0604020202020204" charset="0"/>
                <a:ea typeface="Inter" panose="020B0604020202020204" charset="0"/>
              </a:rPr>
              <a:t>En el caso de que la labor general lumbre aguas que contengan materias minerales utilizables, el aprovechamiento de estas corresponde al concesionario de la labor general, salvo pacto en contrario.</a:t>
            </a:r>
          </a:p>
        </p:txBody>
      </p:sp>
    </p:spTree>
    <p:extLst>
      <p:ext uri="{BB962C8B-B14F-4D97-AF65-F5344CB8AC3E}">
        <p14:creationId xmlns:p14="http://schemas.microsoft.com/office/powerpoint/2010/main" val="19007027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6F5CF66-2739-AC95-6A89-D369B9117DC5}"/>
            </a:ext>
          </a:extLst>
        </p:cNvPr>
        <p:cNvGrpSpPr/>
        <p:nvPr/>
      </p:nvGrpSpPr>
      <p:grpSpPr>
        <a:xfrm>
          <a:off x="0" y="0"/>
          <a:ext cx="0" cy="0"/>
          <a:chOff x="0" y="0"/>
          <a:chExt cx="0" cy="0"/>
        </a:xfrm>
      </p:grpSpPr>
      <p:grpSp>
        <p:nvGrpSpPr>
          <p:cNvPr id="8" name="Group 2">
            <a:extLst>
              <a:ext uri="{FF2B5EF4-FFF2-40B4-BE49-F238E27FC236}">
                <a16:creationId xmlns:a16="http://schemas.microsoft.com/office/drawing/2014/main" xmlns="" id="{A67549A7-768E-B7F6-F895-3615669F59EC}"/>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1579A23E-267E-D72A-8FC2-42B884AA8430}"/>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02400004-6EB8-5707-ABFE-FFF14289F392}"/>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4" name="Freeform 4">
            <a:extLst>
              <a:ext uri="{FF2B5EF4-FFF2-40B4-BE49-F238E27FC236}">
                <a16:creationId xmlns:a16="http://schemas.microsoft.com/office/drawing/2014/main" xmlns="" id="{EF3683E3-C9EE-A938-FF1A-2C7B882EB9B5}"/>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A568C086-3EDA-5E6E-D845-688B4D755A25}"/>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357583D9-71E8-4A81-8D79-522026FEAF86}"/>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Otorgamiento del título de la concesión de Labor General</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776BFA92-F865-4042-52FA-DBE787227BAA}"/>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94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noventa (90)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positivo.</a:t>
            </a:r>
          </a:p>
        </p:txBody>
      </p:sp>
      <p:grpSp>
        <p:nvGrpSpPr>
          <p:cNvPr id="6" name="Grupo 5">
            <a:extLst>
              <a:ext uri="{FF2B5EF4-FFF2-40B4-BE49-F238E27FC236}">
                <a16:creationId xmlns:a16="http://schemas.microsoft.com/office/drawing/2014/main" xmlns="" id="{53AFE666-9CA9-2898-2C96-821BAA16B49B}"/>
              </a:ext>
            </a:extLst>
          </p:cNvPr>
          <p:cNvGrpSpPr/>
          <p:nvPr/>
        </p:nvGrpSpPr>
        <p:grpSpPr>
          <a:xfrm>
            <a:off x="4292375" y="694215"/>
            <a:ext cx="11125200" cy="8474427"/>
            <a:chOff x="4367808" y="828136"/>
            <a:chExt cx="6760267" cy="5244499"/>
          </a:xfrm>
        </p:grpSpPr>
        <p:sp>
          <p:nvSpPr>
            <p:cNvPr id="7" name="3 Elipse">
              <a:extLst>
                <a:ext uri="{FF2B5EF4-FFF2-40B4-BE49-F238E27FC236}">
                  <a16:creationId xmlns:a16="http://schemas.microsoft.com/office/drawing/2014/main" xmlns="" id="{DD20F083-CED1-22E2-A423-418DAB7245C9}"/>
                </a:ext>
              </a:extLst>
            </p:cNvPr>
            <p:cNvSpPr/>
            <p:nvPr/>
          </p:nvSpPr>
          <p:spPr bwMode="auto">
            <a:xfrm>
              <a:off x="6775800" y="828136"/>
              <a:ext cx="2054001" cy="802196"/>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(Formulario Físico)</a:t>
              </a:r>
            </a:p>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DGM/GORE</a:t>
              </a:r>
            </a:p>
          </p:txBody>
        </p:sp>
        <p:cxnSp>
          <p:nvCxnSpPr>
            <p:cNvPr id="35" name="5 Conector recto de flecha">
              <a:extLst>
                <a:ext uri="{FF2B5EF4-FFF2-40B4-BE49-F238E27FC236}">
                  <a16:creationId xmlns:a16="http://schemas.microsoft.com/office/drawing/2014/main" xmlns="" id="{8276FCCE-256B-8A2C-53C6-46E9A25E043E}"/>
                </a:ext>
              </a:extLst>
            </p:cNvPr>
            <p:cNvCxnSpPr>
              <a:cxnSpLocks/>
              <a:stCxn id="7" idx="4"/>
              <a:endCxn id="50" idx="0"/>
            </p:cNvCxnSpPr>
            <p:nvPr/>
          </p:nvCxnSpPr>
          <p:spPr bwMode="auto">
            <a:xfrm>
              <a:off x="7802800" y="1630332"/>
              <a:ext cx="81" cy="18924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36" name="24 Rectángulo">
              <a:extLst>
                <a:ext uri="{FF2B5EF4-FFF2-40B4-BE49-F238E27FC236}">
                  <a16:creationId xmlns:a16="http://schemas.microsoft.com/office/drawing/2014/main" xmlns="" id="{08E1B56F-D3A5-54EC-76BA-1B81A8DAFA17}"/>
                </a:ext>
              </a:extLst>
            </p:cNvPr>
            <p:cNvSpPr/>
            <p:nvPr/>
          </p:nvSpPr>
          <p:spPr bwMode="auto">
            <a:xfrm>
              <a:off x="8097964" y="4040617"/>
              <a:ext cx="1016246" cy="273888"/>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1ra. Citación</a:t>
              </a:r>
            </a:p>
          </p:txBody>
        </p:sp>
        <p:sp>
          <p:nvSpPr>
            <p:cNvPr id="37" name="25 Rectángulo">
              <a:extLst>
                <a:ext uri="{FF2B5EF4-FFF2-40B4-BE49-F238E27FC236}">
                  <a16:creationId xmlns:a16="http://schemas.microsoft.com/office/drawing/2014/main" xmlns="" id="{48CB6CCB-1A95-DC09-8544-5C6CD8C3B95C}"/>
                </a:ext>
              </a:extLst>
            </p:cNvPr>
            <p:cNvSpPr/>
            <p:nvPr/>
          </p:nvSpPr>
          <p:spPr bwMode="auto">
            <a:xfrm>
              <a:off x="7025024" y="4942580"/>
              <a:ext cx="1584648" cy="311500"/>
            </a:xfrm>
            <a:prstGeom prst="rect">
              <a:avLst/>
            </a:prstGeom>
            <a:solidFill>
              <a:srgbClr val="E2F4C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es-PE" sz="1600" dirty="0">
                  <a:solidFill>
                    <a:schemeClr val="tx1"/>
                  </a:solidFill>
                  <a:latin typeface="Inter" panose="020B0604020202020204" charset="0"/>
                  <a:ea typeface="Inter" panose="020B0604020202020204" charset="0"/>
                  <a:cs typeface="Arial" panose="020B0604020202020204" pitchFamily="34" charset="0"/>
                </a:rPr>
                <a:t>Aprobación de la ejecución de obras</a:t>
              </a:r>
            </a:p>
          </p:txBody>
        </p:sp>
        <p:sp>
          <p:nvSpPr>
            <p:cNvPr id="38" name="26 Rectángulo">
              <a:extLst>
                <a:ext uri="{FF2B5EF4-FFF2-40B4-BE49-F238E27FC236}">
                  <a16:creationId xmlns:a16="http://schemas.microsoft.com/office/drawing/2014/main" xmlns="" id="{FBC13870-77BB-172B-4E36-DAC0F336935B}"/>
                </a:ext>
              </a:extLst>
            </p:cNvPr>
            <p:cNvSpPr/>
            <p:nvPr/>
          </p:nvSpPr>
          <p:spPr bwMode="auto">
            <a:xfrm>
              <a:off x="8520574" y="4510642"/>
              <a:ext cx="1022853" cy="222740"/>
            </a:xfrm>
            <a:prstGeom prst="rect">
              <a:avLst/>
            </a:prstGeom>
            <a:solidFill>
              <a:srgbClr val="FDD8B9"/>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eaLnBrk="1" hangingPunct="1">
                <a:defRPr/>
              </a:pPr>
              <a:r>
                <a:rPr lang="es-PE" sz="1600" dirty="0">
                  <a:solidFill>
                    <a:srgbClr val="000000"/>
                  </a:solidFill>
                  <a:latin typeface="Inter" panose="020B0604020202020204" charset="0"/>
                  <a:ea typeface="Inter" panose="020B0604020202020204" charset="0"/>
                  <a:cs typeface="Arial" panose="020B0604020202020204" pitchFamily="34" charset="0"/>
                </a:rPr>
                <a:t>2da. Citación</a:t>
              </a:r>
            </a:p>
          </p:txBody>
        </p:sp>
        <p:sp>
          <p:nvSpPr>
            <p:cNvPr id="39" name="72 CuadroTexto">
              <a:extLst>
                <a:ext uri="{FF2B5EF4-FFF2-40B4-BE49-F238E27FC236}">
                  <a16:creationId xmlns:a16="http://schemas.microsoft.com/office/drawing/2014/main" xmlns="" id="{D51688DE-CDFC-8DDC-FC95-CCE45C2D6F09}"/>
                </a:ext>
              </a:extLst>
            </p:cNvPr>
            <p:cNvSpPr txBox="1">
              <a:spLocks noChangeArrowheads="1"/>
            </p:cNvSpPr>
            <p:nvPr/>
          </p:nvSpPr>
          <p:spPr bwMode="auto">
            <a:xfrm>
              <a:off x="9218092" y="3773753"/>
              <a:ext cx="496359" cy="1523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15 dh</a:t>
              </a:r>
            </a:p>
          </p:txBody>
        </p:sp>
        <p:sp>
          <p:nvSpPr>
            <p:cNvPr id="40" name="72 CuadroTexto">
              <a:extLst>
                <a:ext uri="{FF2B5EF4-FFF2-40B4-BE49-F238E27FC236}">
                  <a16:creationId xmlns:a16="http://schemas.microsoft.com/office/drawing/2014/main" xmlns="" id="{E08CDF22-06AC-9F5C-47D1-BBF221497566}"/>
                </a:ext>
              </a:extLst>
            </p:cNvPr>
            <p:cNvSpPr txBox="1">
              <a:spLocks noChangeArrowheads="1"/>
            </p:cNvSpPr>
            <p:nvPr/>
          </p:nvSpPr>
          <p:spPr bwMode="auto">
            <a:xfrm>
              <a:off x="9820226" y="4054652"/>
              <a:ext cx="567341" cy="1523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30 dh</a:t>
              </a:r>
            </a:p>
          </p:txBody>
        </p:sp>
        <p:sp>
          <p:nvSpPr>
            <p:cNvPr id="41" name="72 CuadroTexto">
              <a:extLst>
                <a:ext uri="{FF2B5EF4-FFF2-40B4-BE49-F238E27FC236}">
                  <a16:creationId xmlns:a16="http://schemas.microsoft.com/office/drawing/2014/main" xmlns="" id="{A2F0334A-F376-5F83-09CE-D621C7701963}"/>
                </a:ext>
              </a:extLst>
            </p:cNvPr>
            <p:cNvSpPr txBox="1">
              <a:spLocks noChangeArrowheads="1"/>
            </p:cNvSpPr>
            <p:nvPr/>
          </p:nvSpPr>
          <p:spPr bwMode="auto">
            <a:xfrm>
              <a:off x="7867345" y="5372464"/>
              <a:ext cx="464831" cy="1523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15 dh</a:t>
              </a:r>
            </a:p>
          </p:txBody>
        </p:sp>
        <p:sp>
          <p:nvSpPr>
            <p:cNvPr id="42" name="Rectángulo 41">
              <a:extLst>
                <a:ext uri="{FF2B5EF4-FFF2-40B4-BE49-F238E27FC236}">
                  <a16:creationId xmlns:a16="http://schemas.microsoft.com/office/drawing/2014/main" xmlns="" id="{A9E2B2D6-DDE8-FC4A-F8FD-AF48E4CF2D28}"/>
                </a:ext>
              </a:extLst>
            </p:cNvPr>
            <p:cNvSpPr/>
            <p:nvPr/>
          </p:nvSpPr>
          <p:spPr bwMode="auto">
            <a:xfrm>
              <a:off x="7019771" y="3397230"/>
              <a:ext cx="1584648" cy="378508"/>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Citación a la Junta de Concesionarios</a:t>
              </a:r>
            </a:p>
          </p:txBody>
        </p:sp>
        <p:sp>
          <p:nvSpPr>
            <p:cNvPr id="43" name="56 Rectángulo">
              <a:extLst>
                <a:ext uri="{FF2B5EF4-FFF2-40B4-BE49-F238E27FC236}">
                  <a16:creationId xmlns:a16="http://schemas.microsoft.com/office/drawing/2014/main" xmlns="" id="{BE754FD4-316E-3A86-3439-B0AFDEC96885}"/>
                </a:ext>
              </a:extLst>
            </p:cNvPr>
            <p:cNvSpPr/>
            <p:nvPr/>
          </p:nvSpPr>
          <p:spPr bwMode="auto">
            <a:xfrm>
              <a:off x="4367808" y="2303575"/>
              <a:ext cx="2509241" cy="1785193"/>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Arial" panose="020B0604020202020204" pitchFamily="34" charset="0"/>
                </a:rPr>
                <a:t>Derecho de tramite</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Arial" panose="020B0604020202020204" pitchFamily="34" charset="0"/>
                </a:rPr>
                <a:t>Derecho de vigencia</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Arial" panose="020B0604020202020204" pitchFamily="34" charset="0"/>
                </a:rPr>
                <a:t>Memoria descriptiva y Estudio Técnico del proyecto</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Arial" panose="020B0604020202020204" pitchFamily="34" charset="0"/>
                </a:rPr>
                <a:t>Plano en coordenadas UTM WGS84 a escala 1/500, con información de  las concesiones mineras.</a:t>
              </a:r>
            </a:p>
            <a:p>
              <a:pPr marL="228600" indent="-228600">
                <a:buFont typeface="+mj-lt"/>
                <a:buAutoNum type="arabicPeriod"/>
                <a:defRPr/>
              </a:pPr>
              <a:r>
                <a:rPr lang="es-PE" dirty="0">
                  <a:solidFill>
                    <a:srgbClr val="000000"/>
                  </a:solidFill>
                  <a:latin typeface="Inter" panose="020B0604020202020204" charset="0"/>
                  <a:ea typeface="Inter" panose="020B0604020202020204" charset="0"/>
                  <a:cs typeface="Arial" panose="020B0604020202020204" pitchFamily="34" charset="0"/>
                </a:rPr>
                <a:t>Planos de cortes longitudinales y transversales necesarios .</a:t>
              </a:r>
            </a:p>
          </p:txBody>
        </p:sp>
        <p:cxnSp>
          <p:nvCxnSpPr>
            <p:cNvPr id="44" name="177 Conector recto de flecha">
              <a:extLst>
                <a:ext uri="{FF2B5EF4-FFF2-40B4-BE49-F238E27FC236}">
                  <a16:creationId xmlns:a16="http://schemas.microsoft.com/office/drawing/2014/main" xmlns="" id="{3D6BE1B4-1F43-4F30-E6DA-79D3F72EAB0B}"/>
                </a:ext>
              </a:extLst>
            </p:cNvPr>
            <p:cNvCxnSpPr>
              <a:cxnSpLocks/>
              <a:stCxn id="52" idx="2"/>
              <a:endCxn id="42" idx="0"/>
            </p:cNvCxnSpPr>
            <p:nvPr/>
          </p:nvCxnSpPr>
          <p:spPr bwMode="auto">
            <a:xfrm>
              <a:off x="7802800" y="2693352"/>
              <a:ext cx="9295" cy="70387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45" name="CuadroTexto 44">
              <a:extLst>
                <a:ext uri="{FF2B5EF4-FFF2-40B4-BE49-F238E27FC236}">
                  <a16:creationId xmlns:a16="http://schemas.microsoft.com/office/drawing/2014/main" xmlns="" id="{A1C53E59-3E82-AFB7-04C8-6AB8E9A62C9D}"/>
                </a:ext>
              </a:extLst>
            </p:cNvPr>
            <p:cNvSpPr txBox="1"/>
            <p:nvPr/>
          </p:nvSpPr>
          <p:spPr bwMode="auto">
            <a:xfrm>
              <a:off x="6274858" y="5710740"/>
              <a:ext cx="3083546" cy="361895"/>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600" b="1" dirty="0">
                  <a:solidFill>
                    <a:srgbClr val="000000"/>
                  </a:solidFill>
                  <a:latin typeface="Inter" panose="020B0604020202020204" charset="0"/>
                  <a:ea typeface="Inter" panose="020B0604020202020204" charset="0"/>
                  <a:cs typeface="Arial" panose="020B0604020202020204" pitchFamily="34" charset="0"/>
                </a:rPr>
                <a:t>Resolución que: </a:t>
              </a:r>
            </a:p>
            <a:p>
              <a:pPr marL="85725" indent="-85725">
                <a:buFontTx/>
                <a:buChar char="-"/>
                <a:defRPr/>
              </a:pPr>
              <a:r>
                <a:rPr lang="es-PE" sz="1600" b="1" dirty="0">
                  <a:solidFill>
                    <a:srgbClr val="000000"/>
                  </a:solidFill>
                  <a:latin typeface="Inter" panose="020B0604020202020204" charset="0"/>
                  <a:ea typeface="Inter" panose="020B0604020202020204" charset="0"/>
                  <a:cs typeface="Arial" panose="020B0604020202020204" pitchFamily="34" charset="0"/>
                </a:rPr>
                <a:t>Otorgamiento del Título de Labor General</a:t>
              </a:r>
            </a:p>
          </p:txBody>
        </p:sp>
        <p:sp>
          <p:nvSpPr>
            <p:cNvPr id="46" name="72 CuadroTexto">
              <a:extLst>
                <a:ext uri="{FF2B5EF4-FFF2-40B4-BE49-F238E27FC236}">
                  <a16:creationId xmlns:a16="http://schemas.microsoft.com/office/drawing/2014/main" xmlns="" id="{26C0BCF7-FF15-D3E4-E0C3-53EDDF31078B}"/>
                </a:ext>
              </a:extLst>
            </p:cNvPr>
            <p:cNvSpPr txBox="1">
              <a:spLocks noChangeArrowheads="1"/>
            </p:cNvSpPr>
            <p:nvPr/>
          </p:nvSpPr>
          <p:spPr bwMode="auto">
            <a:xfrm>
              <a:off x="9839883" y="2214284"/>
              <a:ext cx="545113" cy="1523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10 dh</a:t>
              </a:r>
            </a:p>
          </p:txBody>
        </p:sp>
        <p:cxnSp>
          <p:nvCxnSpPr>
            <p:cNvPr id="47" name="Conector: angular 77">
              <a:extLst>
                <a:ext uri="{FF2B5EF4-FFF2-40B4-BE49-F238E27FC236}">
                  <a16:creationId xmlns:a16="http://schemas.microsoft.com/office/drawing/2014/main" xmlns="" id="{392F54D5-45B4-2073-B56D-513AE1493921}"/>
                </a:ext>
              </a:extLst>
            </p:cNvPr>
            <p:cNvCxnSpPr>
              <a:cxnSpLocks/>
              <a:stCxn id="46" idx="0"/>
              <a:endCxn id="7" idx="6"/>
            </p:cNvCxnSpPr>
            <p:nvPr/>
          </p:nvCxnSpPr>
          <p:spPr bwMode="auto">
            <a:xfrm rot="16200000" flipV="1">
              <a:off x="8978596" y="1080439"/>
              <a:ext cx="985050" cy="1282639"/>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ector: angular 78">
              <a:extLst>
                <a:ext uri="{FF2B5EF4-FFF2-40B4-BE49-F238E27FC236}">
                  <a16:creationId xmlns:a16="http://schemas.microsoft.com/office/drawing/2014/main" xmlns="" id="{D528A1FF-9C85-ED9E-1E04-A713E5DBED43}"/>
                </a:ext>
              </a:extLst>
            </p:cNvPr>
            <p:cNvCxnSpPr>
              <a:cxnSpLocks/>
              <a:stCxn id="46" idx="2"/>
              <a:endCxn id="42" idx="3"/>
            </p:cNvCxnSpPr>
            <p:nvPr/>
          </p:nvCxnSpPr>
          <p:spPr bwMode="auto">
            <a:xfrm rot="5400000">
              <a:off x="8748518" y="2222562"/>
              <a:ext cx="1219823" cy="1508021"/>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CuadroTexto 48">
              <a:extLst>
                <a:ext uri="{FF2B5EF4-FFF2-40B4-BE49-F238E27FC236}">
                  <a16:creationId xmlns:a16="http://schemas.microsoft.com/office/drawing/2014/main" xmlns="" id="{79977FBD-4AAC-F127-8A93-1BD91A35FB9D}"/>
                </a:ext>
              </a:extLst>
            </p:cNvPr>
            <p:cNvSpPr txBox="1"/>
            <p:nvPr/>
          </p:nvSpPr>
          <p:spPr bwMode="auto">
            <a:xfrm flipH="1">
              <a:off x="7338094" y="2695462"/>
              <a:ext cx="239324" cy="152377"/>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SI</a:t>
              </a:r>
            </a:p>
          </p:txBody>
        </p:sp>
        <p:sp>
          <p:nvSpPr>
            <p:cNvPr id="50" name="Rectángulo 49">
              <a:extLst>
                <a:ext uri="{FF2B5EF4-FFF2-40B4-BE49-F238E27FC236}">
                  <a16:creationId xmlns:a16="http://schemas.microsoft.com/office/drawing/2014/main" xmlns="" id="{F26BEC8E-3CE9-E8F1-B1AE-017E209ED072}"/>
                </a:ext>
              </a:extLst>
            </p:cNvPr>
            <p:cNvSpPr/>
            <p:nvPr/>
          </p:nvSpPr>
          <p:spPr bwMode="auto">
            <a:xfrm>
              <a:off x="6825755" y="1819578"/>
              <a:ext cx="1954254" cy="304754"/>
            </a:xfrm>
            <a:prstGeom prst="rect">
              <a:avLst/>
            </a:prstGeom>
            <a:solidFill>
              <a:schemeClr val="accent2">
                <a:lumMod val="20000"/>
                <a:lumOff val="8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wrap="square"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Evaluación de los requisitos de la solicitud</a:t>
              </a:r>
            </a:p>
          </p:txBody>
        </p:sp>
        <p:cxnSp>
          <p:nvCxnSpPr>
            <p:cNvPr id="51" name="Conector angular 125">
              <a:extLst>
                <a:ext uri="{FF2B5EF4-FFF2-40B4-BE49-F238E27FC236}">
                  <a16:creationId xmlns:a16="http://schemas.microsoft.com/office/drawing/2014/main" xmlns="" id="{110DDD10-95E0-01A6-9A89-F7BB2CBCB1AE}"/>
                </a:ext>
              </a:extLst>
            </p:cNvPr>
            <p:cNvCxnSpPr>
              <a:cxnSpLocks/>
              <a:stCxn id="50" idx="1"/>
              <a:endCxn id="43" idx="0"/>
            </p:cNvCxnSpPr>
            <p:nvPr/>
          </p:nvCxnSpPr>
          <p:spPr bwMode="auto">
            <a:xfrm rot="10800000" flipV="1">
              <a:off x="5622428" y="1971955"/>
              <a:ext cx="1203327" cy="331620"/>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Decisión 126">
              <a:extLst>
                <a:ext uri="{FF2B5EF4-FFF2-40B4-BE49-F238E27FC236}">
                  <a16:creationId xmlns:a16="http://schemas.microsoft.com/office/drawing/2014/main" xmlns="" id="{F0214BE6-0C7C-050B-4706-FC493008625A}"/>
                </a:ext>
              </a:extLst>
            </p:cNvPr>
            <p:cNvSpPr/>
            <p:nvPr/>
          </p:nvSpPr>
          <p:spPr bwMode="auto">
            <a:xfrm>
              <a:off x="7240506" y="2390661"/>
              <a:ext cx="1124589" cy="302691"/>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Arial" panose="020B0604020202020204" pitchFamily="34" charset="0"/>
                </a:rPr>
                <a:t>cumple</a:t>
              </a:r>
            </a:p>
          </p:txBody>
        </p:sp>
        <p:sp>
          <p:nvSpPr>
            <p:cNvPr id="53" name="CuadroTexto 52">
              <a:extLst>
                <a:ext uri="{FF2B5EF4-FFF2-40B4-BE49-F238E27FC236}">
                  <a16:creationId xmlns:a16="http://schemas.microsoft.com/office/drawing/2014/main" xmlns="" id="{7DA64655-71D1-3515-2F25-F85C7A87DB13}"/>
                </a:ext>
              </a:extLst>
            </p:cNvPr>
            <p:cNvSpPr txBox="1"/>
            <p:nvPr/>
          </p:nvSpPr>
          <p:spPr bwMode="auto">
            <a:xfrm>
              <a:off x="8241948" y="2303575"/>
              <a:ext cx="250941" cy="152377"/>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Arial" panose="020B0604020202020204" pitchFamily="34" charset="0"/>
                </a:rPr>
                <a:t>NO</a:t>
              </a:r>
            </a:p>
          </p:txBody>
        </p:sp>
        <p:sp>
          <p:nvSpPr>
            <p:cNvPr id="54" name="CuadroTexto 53">
              <a:extLst>
                <a:ext uri="{FF2B5EF4-FFF2-40B4-BE49-F238E27FC236}">
                  <a16:creationId xmlns:a16="http://schemas.microsoft.com/office/drawing/2014/main" xmlns="" id="{2954DF73-61D9-F794-50AA-06D52905618A}"/>
                </a:ext>
              </a:extLst>
            </p:cNvPr>
            <p:cNvSpPr txBox="1"/>
            <p:nvPr/>
          </p:nvSpPr>
          <p:spPr bwMode="auto">
            <a:xfrm>
              <a:off x="8755321" y="2403646"/>
              <a:ext cx="1001442" cy="304754"/>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Requerir subsanar obs.</a:t>
              </a:r>
            </a:p>
          </p:txBody>
        </p:sp>
        <p:sp>
          <p:nvSpPr>
            <p:cNvPr id="55" name="CuadroTexto 54">
              <a:extLst>
                <a:ext uri="{FF2B5EF4-FFF2-40B4-BE49-F238E27FC236}">
                  <a16:creationId xmlns:a16="http://schemas.microsoft.com/office/drawing/2014/main" xmlns="" id="{0349B609-9AE1-E488-5C9F-4FE79485C52D}"/>
                </a:ext>
              </a:extLst>
            </p:cNvPr>
            <p:cNvSpPr txBox="1"/>
            <p:nvPr/>
          </p:nvSpPr>
          <p:spPr bwMode="auto">
            <a:xfrm>
              <a:off x="8761188" y="3065060"/>
              <a:ext cx="999118" cy="152377"/>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Arial" panose="020B0604020202020204" pitchFamily="34" charset="0"/>
                </a:rPr>
                <a:t>Subsana obs.</a:t>
              </a:r>
            </a:p>
          </p:txBody>
        </p:sp>
        <p:cxnSp>
          <p:nvCxnSpPr>
            <p:cNvPr id="56" name="Conector recto de flecha 55">
              <a:extLst>
                <a:ext uri="{FF2B5EF4-FFF2-40B4-BE49-F238E27FC236}">
                  <a16:creationId xmlns:a16="http://schemas.microsoft.com/office/drawing/2014/main" xmlns="" id="{83BAFD7A-58D5-216B-F254-A44CDDFAB8F8}"/>
                </a:ext>
              </a:extLst>
            </p:cNvPr>
            <p:cNvCxnSpPr>
              <a:stCxn id="52" idx="3"/>
              <a:endCxn id="54" idx="1"/>
            </p:cNvCxnSpPr>
            <p:nvPr/>
          </p:nvCxnSpPr>
          <p:spPr bwMode="auto">
            <a:xfrm>
              <a:off x="8365095" y="2542007"/>
              <a:ext cx="390226" cy="14017"/>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72 CuadroTexto">
              <a:extLst>
                <a:ext uri="{FF2B5EF4-FFF2-40B4-BE49-F238E27FC236}">
                  <a16:creationId xmlns:a16="http://schemas.microsoft.com/office/drawing/2014/main" xmlns="" id="{A3BB84EF-A674-B7B4-3CCA-CEA3761B6F6D}"/>
                </a:ext>
              </a:extLst>
            </p:cNvPr>
            <p:cNvSpPr txBox="1">
              <a:spLocks noChangeArrowheads="1"/>
            </p:cNvSpPr>
            <p:nvPr/>
          </p:nvSpPr>
          <p:spPr bwMode="auto">
            <a:xfrm>
              <a:off x="9032001" y="1806580"/>
              <a:ext cx="432316" cy="1523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15 dh</a:t>
              </a:r>
            </a:p>
          </p:txBody>
        </p:sp>
        <p:cxnSp>
          <p:nvCxnSpPr>
            <p:cNvPr id="58" name="Conector angular 132">
              <a:extLst>
                <a:ext uri="{FF2B5EF4-FFF2-40B4-BE49-F238E27FC236}">
                  <a16:creationId xmlns:a16="http://schemas.microsoft.com/office/drawing/2014/main" xmlns="" id="{AE660B0E-ACA1-92A4-2CF4-FC756410F53D}"/>
                </a:ext>
              </a:extLst>
            </p:cNvPr>
            <p:cNvCxnSpPr>
              <a:stCxn id="57" idx="0"/>
              <a:endCxn id="7" idx="6"/>
            </p:cNvCxnSpPr>
            <p:nvPr/>
          </p:nvCxnSpPr>
          <p:spPr bwMode="auto">
            <a:xfrm rot="16200000" flipV="1">
              <a:off x="8750307" y="1308728"/>
              <a:ext cx="577346" cy="418359"/>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ector recto de flecha 61">
              <a:extLst>
                <a:ext uri="{FF2B5EF4-FFF2-40B4-BE49-F238E27FC236}">
                  <a16:creationId xmlns:a16="http://schemas.microsoft.com/office/drawing/2014/main" xmlns="" id="{ABD4A246-062E-A8F8-CF38-E806DE98E00E}"/>
                </a:ext>
              </a:extLst>
            </p:cNvPr>
            <p:cNvCxnSpPr>
              <a:stCxn id="57" idx="2"/>
              <a:endCxn id="54" idx="0"/>
            </p:cNvCxnSpPr>
            <p:nvPr/>
          </p:nvCxnSpPr>
          <p:spPr bwMode="auto">
            <a:xfrm>
              <a:off x="9248159" y="1958957"/>
              <a:ext cx="7883" cy="444689"/>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ector recto de flecha 62">
              <a:extLst>
                <a:ext uri="{FF2B5EF4-FFF2-40B4-BE49-F238E27FC236}">
                  <a16:creationId xmlns:a16="http://schemas.microsoft.com/office/drawing/2014/main" xmlns="" id="{EEC7FB54-71EA-BA50-C955-7C7CA4F7B01F}"/>
                </a:ext>
              </a:extLst>
            </p:cNvPr>
            <p:cNvCxnSpPr>
              <a:stCxn id="54" idx="2"/>
              <a:endCxn id="55" idx="0"/>
            </p:cNvCxnSpPr>
            <p:nvPr/>
          </p:nvCxnSpPr>
          <p:spPr bwMode="auto">
            <a:xfrm>
              <a:off x="9256042" y="2708400"/>
              <a:ext cx="4705" cy="356660"/>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ector angular 137">
              <a:extLst>
                <a:ext uri="{FF2B5EF4-FFF2-40B4-BE49-F238E27FC236}">
                  <a16:creationId xmlns:a16="http://schemas.microsoft.com/office/drawing/2014/main" xmlns="" id="{9CF0E297-DBE2-D159-F075-C209ADAA9FD8}"/>
                </a:ext>
              </a:extLst>
            </p:cNvPr>
            <p:cNvCxnSpPr>
              <a:cxnSpLocks/>
              <a:stCxn id="55" idx="1"/>
              <a:endCxn id="42" idx="0"/>
            </p:cNvCxnSpPr>
            <p:nvPr/>
          </p:nvCxnSpPr>
          <p:spPr bwMode="auto">
            <a:xfrm rot="10800000" flipV="1">
              <a:off x="7812095" y="3141249"/>
              <a:ext cx="949093" cy="255981"/>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72 CuadroTexto">
              <a:extLst>
                <a:ext uri="{FF2B5EF4-FFF2-40B4-BE49-F238E27FC236}">
                  <a16:creationId xmlns:a16="http://schemas.microsoft.com/office/drawing/2014/main" xmlns="" id="{DACAC24E-CF70-0DAB-2DE7-32B61E63680C}"/>
                </a:ext>
              </a:extLst>
            </p:cNvPr>
            <p:cNvSpPr txBox="1">
              <a:spLocks noChangeArrowheads="1"/>
            </p:cNvSpPr>
            <p:nvPr/>
          </p:nvSpPr>
          <p:spPr bwMode="auto">
            <a:xfrm>
              <a:off x="8459933" y="2829519"/>
              <a:ext cx="758159" cy="1523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Hasta 20 dh</a:t>
              </a:r>
            </a:p>
          </p:txBody>
        </p:sp>
        <p:cxnSp>
          <p:nvCxnSpPr>
            <p:cNvPr id="66" name="Conector angular 10329">
              <a:extLst>
                <a:ext uri="{FF2B5EF4-FFF2-40B4-BE49-F238E27FC236}">
                  <a16:creationId xmlns:a16="http://schemas.microsoft.com/office/drawing/2014/main" xmlns="" id="{643BB973-6946-034C-29A4-36B135FED197}"/>
                </a:ext>
              </a:extLst>
            </p:cNvPr>
            <p:cNvCxnSpPr>
              <a:cxnSpLocks/>
              <a:stCxn id="42" idx="2"/>
              <a:endCxn id="36" idx="1"/>
            </p:cNvCxnSpPr>
            <p:nvPr/>
          </p:nvCxnSpPr>
          <p:spPr>
            <a:xfrm rot="16200000" flipH="1">
              <a:off x="7754117" y="3833715"/>
              <a:ext cx="401825" cy="285868"/>
            </a:xfrm>
            <a:prstGeom prst="bentConnector2">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Conector angular 10331">
              <a:extLst>
                <a:ext uri="{FF2B5EF4-FFF2-40B4-BE49-F238E27FC236}">
                  <a16:creationId xmlns:a16="http://schemas.microsoft.com/office/drawing/2014/main" xmlns="" id="{E156195B-297D-0611-FFE1-A1A099B5637F}"/>
                </a:ext>
              </a:extLst>
            </p:cNvPr>
            <p:cNvCxnSpPr>
              <a:cxnSpLocks/>
              <a:stCxn id="42" idx="2"/>
              <a:endCxn id="38" idx="1"/>
            </p:cNvCxnSpPr>
            <p:nvPr/>
          </p:nvCxnSpPr>
          <p:spPr>
            <a:xfrm rot="16200000" flipH="1">
              <a:off x="7743197" y="3844635"/>
              <a:ext cx="846275" cy="708479"/>
            </a:xfrm>
            <a:prstGeom prst="bentConnector2">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Conector recto de flecha 67">
              <a:extLst>
                <a:ext uri="{FF2B5EF4-FFF2-40B4-BE49-F238E27FC236}">
                  <a16:creationId xmlns:a16="http://schemas.microsoft.com/office/drawing/2014/main" xmlns="" id="{7DC05F5B-A9E1-C9BC-B601-2B409E367341}"/>
                </a:ext>
              </a:extLst>
            </p:cNvPr>
            <p:cNvCxnSpPr>
              <a:cxnSpLocks/>
              <a:stCxn id="42" idx="2"/>
              <a:endCxn id="37" idx="0"/>
            </p:cNvCxnSpPr>
            <p:nvPr/>
          </p:nvCxnSpPr>
          <p:spPr>
            <a:xfrm>
              <a:off x="7812096" y="3775737"/>
              <a:ext cx="5253" cy="1166843"/>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ector recto de flecha 68">
              <a:extLst>
                <a:ext uri="{FF2B5EF4-FFF2-40B4-BE49-F238E27FC236}">
                  <a16:creationId xmlns:a16="http://schemas.microsoft.com/office/drawing/2014/main" xmlns="" id="{77354677-B97A-EE00-6CD6-ECB3862958B3}"/>
                </a:ext>
              </a:extLst>
            </p:cNvPr>
            <p:cNvCxnSpPr>
              <a:stCxn id="37" idx="2"/>
              <a:endCxn id="45" idx="0"/>
            </p:cNvCxnSpPr>
            <p:nvPr/>
          </p:nvCxnSpPr>
          <p:spPr>
            <a:xfrm flipH="1">
              <a:off x="7816631" y="5254080"/>
              <a:ext cx="717" cy="456661"/>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0" name="72 CuadroTexto">
              <a:extLst>
                <a:ext uri="{FF2B5EF4-FFF2-40B4-BE49-F238E27FC236}">
                  <a16:creationId xmlns:a16="http://schemas.microsoft.com/office/drawing/2014/main" xmlns="" id="{BE1308DE-2BBA-C021-5BB2-56A81D370837}"/>
                </a:ext>
              </a:extLst>
            </p:cNvPr>
            <p:cNvSpPr txBox="1">
              <a:spLocks noChangeArrowheads="1"/>
            </p:cNvSpPr>
            <p:nvPr/>
          </p:nvSpPr>
          <p:spPr bwMode="auto">
            <a:xfrm>
              <a:off x="10560734" y="3464176"/>
              <a:ext cx="567341" cy="1523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pPr>
              <a:r>
                <a:rPr lang="es-PE" altLang="es-PE" sz="1600" dirty="0">
                  <a:solidFill>
                    <a:srgbClr val="000000"/>
                  </a:solidFill>
                  <a:latin typeface="Inter" panose="020B0604020202020204" charset="0"/>
                  <a:ea typeface="Inter" panose="020B0604020202020204" charset="0"/>
                  <a:cs typeface="Arial" panose="020B0604020202020204" pitchFamily="34" charset="0"/>
                </a:rPr>
                <a:t>90 dh</a:t>
              </a:r>
            </a:p>
          </p:txBody>
        </p:sp>
        <p:cxnSp>
          <p:nvCxnSpPr>
            <p:cNvPr id="71" name="Conector angular 10366">
              <a:extLst>
                <a:ext uri="{FF2B5EF4-FFF2-40B4-BE49-F238E27FC236}">
                  <a16:creationId xmlns:a16="http://schemas.microsoft.com/office/drawing/2014/main" xmlns="" id="{E72E4E3E-CD28-F70A-D49E-E70F66447413}"/>
                </a:ext>
              </a:extLst>
            </p:cNvPr>
            <p:cNvCxnSpPr>
              <a:stCxn id="50" idx="2"/>
              <a:endCxn id="52" idx="0"/>
            </p:cNvCxnSpPr>
            <p:nvPr/>
          </p:nvCxnSpPr>
          <p:spPr>
            <a:xfrm rot="5400000">
              <a:off x="7669677" y="2257456"/>
              <a:ext cx="266329" cy="81"/>
            </a:xfrm>
            <a:prstGeom prst="bentConnector3">
              <a:avLst/>
            </a:prstGeom>
            <a:ln>
              <a:solidFill>
                <a:schemeClr val="accent2">
                  <a:lumMod val="50000"/>
                </a:schemeClr>
              </a:solidFill>
            </a:ln>
          </p:spPr>
          <p:style>
            <a:lnRef idx="2">
              <a:schemeClr val="accent6"/>
            </a:lnRef>
            <a:fillRef idx="0">
              <a:schemeClr val="accent6"/>
            </a:fillRef>
            <a:effectRef idx="1">
              <a:schemeClr val="accent6"/>
            </a:effectRef>
            <a:fontRef idx="minor">
              <a:schemeClr val="tx1"/>
            </a:fontRef>
          </p:style>
        </p:cxnSp>
        <p:cxnSp>
          <p:nvCxnSpPr>
            <p:cNvPr id="72" name="Conector: angular 71">
              <a:extLst>
                <a:ext uri="{FF2B5EF4-FFF2-40B4-BE49-F238E27FC236}">
                  <a16:creationId xmlns:a16="http://schemas.microsoft.com/office/drawing/2014/main" xmlns="" id="{B74624B9-33FB-7385-7362-5D10BC2AA8C8}"/>
                </a:ext>
              </a:extLst>
            </p:cNvPr>
            <p:cNvCxnSpPr>
              <a:stCxn id="7" idx="6"/>
              <a:endCxn id="70" idx="0"/>
            </p:cNvCxnSpPr>
            <p:nvPr/>
          </p:nvCxnSpPr>
          <p:spPr>
            <a:xfrm>
              <a:off x="8829801" y="1229234"/>
              <a:ext cx="2014604" cy="2234942"/>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ector: angular 72">
              <a:extLst>
                <a:ext uri="{FF2B5EF4-FFF2-40B4-BE49-F238E27FC236}">
                  <a16:creationId xmlns:a16="http://schemas.microsoft.com/office/drawing/2014/main" xmlns="" id="{069143F9-41CD-3CF9-F059-DE443710399B}"/>
                </a:ext>
              </a:extLst>
            </p:cNvPr>
            <p:cNvCxnSpPr>
              <a:stCxn id="70" idx="2"/>
              <a:endCxn id="45" idx="3"/>
            </p:cNvCxnSpPr>
            <p:nvPr/>
          </p:nvCxnSpPr>
          <p:spPr>
            <a:xfrm rot="5400000">
              <a:off x="8963837" y="4011120"/>
              <a:ext cx="2275135" cy="1486001"/>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ector: angular 73">
              <a:extLst>
                <a:ext uri="{FF2B5EF4-FFF2-40B4-BE49-F238E27FC236}">
                  <a16:creationId xmlns:a16="http://schemas.microsoft.com/office/drawing/2014/main" xmlns="" id="{12F9A03F-9A70-A900-D373-F6963D8311D2}"/>
                </a:ext>
              </a:extLst>
            </p:cNvPr>
            <p:cNvCxnSpPr>
              <a:cxnSpLocks/>
              <a:stCxn id="42" idx="3"/>
              <a:endCxn id="39" idx="0"/>
            </p:cNvCxnSpPr>
            <p:nvPr/>
          </p:nvCxnSpPr>
          <p:spPr>
            <a:xfrm>
              <a:off x="8604419" y="3586484"/>
              <a:ext cx="861853" cy="187269"/>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ector: angular 74">
              <a:extLst>
                <a:ext uri="{FF2B5EF4-FFF2-40B4-BE49-F238E27FC236}">
                  <a16:creationId xmlns:a16="http://schemas.microsoft.com/office/drawing/2014/main" xmlns="" id="{52E52632-E70E-6479-9266-36E00AB0AB67}"/>
                </a:ext>
              </a:extLst>
            </p:cNvPr>
            <p:cNvCxnSpPr>
              <a:stCxn id="39" idx="2"/>
              <a:endCxn id="36" idx="3"/>
            </p:cNvCxnSpPr>
            <p:nvPr/>
          </p:nvCxnSpPr>
          <p:spPr>
            <a:xfrm rot="5400000">
              <a:off x="9164525" y="3875815"/>
              <a:ext cx="251432" cy="352062"/>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ector: angular 75">
              <a:extLst>
                <a:ext uri="{FF2B5EF4-FFF2-40B4-BE49-F238E27FC236}">
                  <a16:creationId xmlns:a16="http://schemas.microsoft.com/office/drawing/2014/main" xmlns="" id="{FBF8A90A-6BFF-DEC2-712A-EE15C6B2731E}"/>
                </a:ext>
              </a:extLst>
            </p:cNvPr>
            <p:cNvCxnSpPr>
              <a:cxnSpLocks/>
              <a:stCxn id="42" idx="3"/>
              <a:endCxn id="40" idx="0"/>
            </p:cNvCxnSpPr>
            <p:nvPr/>
          </p:nvCxnSpPr>
          <p:spPr>
            <a:xfrm>
              <a:off x="8604419" y="3586484"/>
              <a:ext cx="1499478" cy="46816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ector: angular 76">
              <a:extLst>
                <a:ext uri="{FF2B5EF4-FFF2-40B4-BE49-F238E27FC236}">
                  <a16:creationId xmlns:a16="http://schemas.microsoft.com/office/drawing/2014/main" xmlns="" id="{404855D8-20DF-6231-97CE-914AF71C7C3F}"/>
                </a:ext>
              </a:extLst>
            </p:cNvPr>
            <p:cNvCxnSpPr>
              <a:stCxn id="40" idx="2"/>
              <a:endCxn id="38" idx="3"/>
            </p:cNvCxnSpPr>
            <p:nvPr/>
          </p:nvCxnSpPr>
          <p:spPr>
            <a:xfrm rot="5400000">
              <a:off x="9616170" y="4134286"/>
              <a:ext cx="414984" cy="560470"/>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573713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935D125-5793-804C-BE59-6360D17B6210}"/>
            </a:ext>
          </a:extLst>
        </p:cNvPr>
        <p:cNvGrpSpPr/>
        <p:nvPr/>
      </p:nvGrpSpPr>
      <p:grpSpPr>
        <a:xfrm>
          <a:off x="0" y="0"/>
          <a:ext cx="0" cy="0"/>
          <a:chOff x="0" y="0"/>
          <a:chExt cx="0" cy="0"/>
        </a:xfrm>
      </p:grpSpPr>
      <p:grpSp>
        <p:nvGrpSpPr>
          <p:cNvPr id="8" name="Group 2">
            <a:extLst>
              <a:ext uri="{FF2B5EF4-FFF2-40B4-BE49-F238E27FC236}">
                <a16:creationId xmlns:a16="http://schemas.microsoft.com/office/drawing/2014/main" xmlns="" id="{6BF0E1DA-E602-3E14-EECA-493CC088C523}"/>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FF40ED59-10A9-DECE-DEB7-BFAAB8D3355C}"/>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F8468C5A-0FB2-8837-3843-B49C681CBDBC}"/>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4" name="Freeform 4">
            <a:extLst>
              <a:ext uri="{FF2B5EF4-FFF2-40B4-BE49-F238E27FC236}">
                <a16:creationId xmlns:a16="http://schemas.microsoft.com/office/drawing/2014/main" xmlns="" id="{752E65B5-8529-00AD-E3C6-3E59CA809496}"/>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0B238D85-7345-77E6-EF1D-B58AA1CF017C}"/>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EFC25354-0559-3B4D-6510-A2BADC84CEF8}"/>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Otorgamiento del título de la concesión de Transporte Minero</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24D99E39-980E-C6B2-99B9-DFA28A4FD519}"/>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95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noventa (90)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negativo.</a:t>
            </a:r>
          </a:p>
        </p:txBody>
      </p:sp>
      <p:grpSp>
        <p:nvGrpSpPr>
          <p:cNvPr id="80" name="Grupo 79">
            <a:extLst>
              <a:ext uri="{FF2B5EF4-FFF2-40B4-BE49-F238E27FC236}">
                <a16:creationId xmlns:a16="http://schemas.microsoft.com/office/drawing/2014/main" xmlns="" id="{C9BAD3FC-B0C8-7C18-03EB-289813E3EA2E}"/>
              </a:ext>
            </a:extLst>
          </p:cNvPr>
          <p:cNvGrpSpPr/>
          <p:nvPr/>
        </p:nvGrpSpPr>
        <p:grpSpPr>
          <a:xfrm>
            <a:off x="4191000" y="922874"/>
            <a:ext cx="10972800" cy="8441251"/>
            <a:chOff x="1708974" y="781050"/>
            <a:chExt cx="4938583" cy="6079339"/>
          </a:xfrm>
        </p:grpSpPr>
        <p:sp>
          <p:nvSpPr>
            <p:cNvPr id="81" name="3 Elipse">
              <a:extLst>
                <a:ext uri="{FF2B5EF4-FFF2-40B4-BE49-F238E27FC236}">
                  <a16:creationId xmlns:a16="http://schemas.microsoft.com/office/drawing/2014/main" xmlns="" id="{746038C9-4E1F-D5D9-D234-44A632A62545}"/>
                </a:ext>
              </a:extLst>
            </p:cNvPr>
            <p:cNvSpPr/>
            <p:nvPr/>
          </p:nvSpPr>
          <p:spPr>
            <a:xfrm>
              <a:off x="4146550" y="781050"/>
              <a:ext cx="1403350" cy="760413"/>
            </a:xfrm>
            <a:prstGeom prst="ellipse">
              <a:avLst/>
            </a:prstGeom>
            <a:solidFill>
              <a:srgbClr val="92D050"/>
            </a:solidFill>
            <a:ln w="12700" cap="flat" cmpd="sng" algn="ctr">
              <a:solidFill>
                <a:schemeClr val="accent2">
                  <a:lumMod val="50000"/>
                </a:scheme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SOLICITUD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(Formulario físico)</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DGM/GORE</a:t>
              </a:r>
            </a:p>
          </p:txBody>
        </p:sp>
        <p:cxnSp>
          <p:nvCxnSpPr>
            <p:cNvPr id="82" name="5 Conector recto de flecha">
              <a:extLst>
                <a:ext uri="{FF2B5EF4-FFF2-40B4-BE49-F238E27FC236}">
                  <a16:creationId xmlns:a16="http://schemas.microsoft.com/office/drawing/2014/main" xmlns="" id="{74BF59AE-95E5-F85D-B314-12C7313A9782}"/>
                </a:ext>
              </a:extLst>
            </p:cNvPr>
            <p:cNvCxnSpPr>
              <a:cxnSpLocks/>
              <a:stCxn id="81" idx="4"/>
            </p:cNvCxnSpPr>
            <p:nvPr/>
          </p:nvCxnSpPr>
          <p:spPr>
            <a:xfrm>
              <a:off x="4848225" y="1541463"/>
              <a:ext cx="1" cy="441066"/>
            </a:xfrm>
            <a:prstGeom prst="straightConnector1">
              <a:avLst/>
            </a:prstGeom>
            <a:noFill/>
            <a:ln w="12700" cap="flat" cmpd="sng" algn="ctr">
              <a:solidFill>
                <a:schemeClr val="accent2">
                  <a:lumMod val="50000"/>
                </a:schemeClr>
              </a:solidFill>
              <a:prstDash val="solid"/>
              <a:miter lim="800000"/>
              <a:tailEnd type="arrow"/>
            </a:ln>
            <a:effectLst/>
          </p:spPr>
        </p:cxnSp>
        <p:sp>
          <p:nvSpPr>
            <p:cNvPr id="83" name="9 Título">
              <a:extLst>
                <a:ext uri="{FF2B5EF4-FFF2-40B4-BE49-F238E27FC236}">
                  <a16:creationId xmlns:a16="http://schemas.microsoft.com/office/drawing/2014/main" xmlns="" id="{5AA5AD0D-86FC-858B-DFB5-3FEBA51B767C}"/>
                </a:ext>
              </a:extLst>
            </p:cNvPr>
            <p:cNvSpPr txBox="1">
              <a:spLocks/>
            </p:cNvSpPr>
            <p:nvPr/>
          </p:nvSpPr>
          <p:spPr>
            <a:xfrm>
              <a:off x="1708974" y="781050"/>
              <a:ext cx="1441450" cy="766763"/>
            </a:xfrm>
            <a:prstGeom prst="rect">
              <a:avLst/>
            </a:prstGeom>
            <a:solidFill>
              <a:srgbClr val="FFFFCC"/>
            </a:solidFill>
            <a:ln w="12700" cap="flat" cmpd="sng" algn="ctr">
              <a:solidFill>
                <a:schemeClr val="accent2">
                  <a:lumMod val="50000"/>
                </a:schemeClr>
              </a:solidFill>
              <a:prstDash val="solid"/>
              <a:miter lim="800000"/>
            </a:ln>
            <a:effectLst/>
          </p:spPr>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PE" sz="1600" b="0" i="0" u="none" strike="noStrike" kern="120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Si se advierte en forma referencial que el proyecto se encuentra en PPII se solicita opinión a OGGS.</a:t>
              </a:r>
            </a:p>
          </p:txBody>
        </p:sp>
        <p:sp>
          <p:nvSpPr>
            <p:cNvPr id="84" name="56 Rectángulo">
              <a:extLst>
                <a:ext uri="{FF2B5EF4-FFF2-40B4-BE49-F238E27FC236}">
                  <a16:creationId xmlns:a16="http://schemas.microsoft.com/office/drawing/2014/main" xmlns="" id="{816A7F53-C89D-3071-E76E-32C255B42E0C}"/>
                </a:ext>
              </a:extLst>
            </p:cNvPr>
            <p:cNvSpPr/>
            <p:nvPr/>
          </p:nvSpPr>
          <p:spPr>
            <a:xfrm>
              <a:off x="1720849" y="2561651"/>
              <a:ext cx="2418560" cy="2350907"/>
            </a:xfrm>
            <a:prstGeom prst="rect">
              <a:avLst/>
            </a:prstGeom>
            <a:solidFill>
              <a:srgbClr val="FF9933"/>
            </a:solidFill>
            <a:ln w="12700" cap="flat" cmpd="sng" algn="ctr">
              <a:solidFill>
                <a:schemeClr val="accent2">
                  <a:lumMod val="50000"/>
                </a:schemeClr>
              </a:solidFill>
              <a:prstDash val="solid"/>
              <a:miter lim="800000"/>
            </a:ln>
            <a:effectLst/>
          </p:spPr>
          <p:txBody>
            <a:bodyPr anchor="ctr"/>
            <a:lstStyle/>
            <a:p>
              <a:pPr marL="22860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Derecho de tramite</a:t>
              </a:r>
            </a:p>
            <a:p>
              <a:pPr marL="22860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Derecho de Vigencia</a:t>
              </a:r>
            </a:p>
            <a:p>
              <a:pPr marL="22860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Instrumento de Gestión Ambiental aprobado.</a:t>
              </a:r>
            </a:p>
            <a:p>
              <a:pPr marL="22860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Autorización del terreno superficial.</a:t>
              </a:r>
            </a:p>
            <a:p>
              <a:pPr marL="22860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Memoria descriptiva e Ingeniería detallada del proyecto de sistema de transporte minero.</a:t>
              </a:r>
            </a:p>
            <a:p>
              <a:pPr marL="22860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Plano de ubicación detallado indicando coordenadas UTM WGS84 de los vértices del área del proyecto.</a:t>
              </a:r>
            </a:p>
            <a:p>
              <a:pPr marL="22860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Certificado de inexistencia de restos arqueológicos - CIRA o el plan de monitoreo arqueológico-PMA.</a:t>
              </a:r>
            </a:p>
          </p:txBody>
        </p:sp>
        <p:cxnSp>
          <p:nvCxnSpPr>
            <p:cNvPr id="85" name="Conector: angular 338">
              <a:extLst>
                <a:ext uri="{FF2B5EF4-FFF2-40B4-BE49-F238E27FC236}">
                  <a16:creationId xmlns:a16="http://schemas.microsoft.com/office/drawing/2014/main" xmlns="" id="{166FC05D-661F-B5FA-377B-441E88BDD2AD}"/>
                </a:ext>
              </a:extLst>
            </p:cNvPr>
            <p:cNvCxnSpPr>
              <a:cxnSpLocks/>
              <a:stCxn id="107" idx="1"/>
              <a:endCxn id="83" idx="3"/>
            </p:cNvCxnSpPr>
            <p:nvPr/>
          </p:nvCxnSpPr>
          <p:spPr>
            <a:xfrm rot="10800000">
              <a:off x="3150425" y="1164433"/>
              <a:ext cx="1079743" cy="1000689"/>
            </a:xfrm>
            <a:prstGeom prst="bentConnector3">
              <a:avLst>
                <a:gd name="adj1" fmla="val 50000"/>
              </a:avLst>
            </a:prstGeom>
            <a:noFill/>
            <a:ln w="6350" cap="flat" cmpd="sng" algn="ctr">
              <a:solidFill>
                <a:schemeClr val="accent2">
                  <a:lumMod val="50000"/>
                </a:schemeClr>
              </a:solidFill>
              <a:prstDash val="solid"/>
              <a:miter lim="800000"/>
              <a:tailEnd type="triangle"/>
            </a:ln>
            <a:effectLst/>
          </p:spPr>
        </p:cxnSp>
        <p:cxnSp>
          <p:nvCxnSpPr>
            <p:cNvPr id="86" name="Conector angular 15">
              <a:extLst>
                <a:ext uri="{FF2B5EF4-FFF2-40B4-BE49-F238E27FC236}">
                  <a16:creationId xmlns:a16="http://schemas.microsoft.com/office/drawing/2014/main" xmlns="" id="{BDB319F6-FB28-0711-7D84-C149FBAA974B}"/>
                </a:ext>
              </a:extLst>
            </p:cNvPr>
            <p:cNvCxnSpPr>
              <a:cxnSpLocks/>
              <a:stCxn id="107" idx="1"/>
              <a:endCxn id="84" idx="0"/>
            </p:cNvCxnSpPr>
            <p:nvPr/>
          </p:nvCxnSpPr>
          <p:spPr>
            <a:xfrm rot="10800000" flipV="1">
              <a:off x="2930130" y="2165119"/>
              <a:ext cx="1300037" cy="396531"/>
            </a:xfrm>
            <a:prstGeom prst="bentConnector2">
              <a:avLst/>
            </a:prstGeom>
            <a:noFill/>
            <a:ln w="6350" cap="flat" cmpd="sng" algn="ctr">
              <a:solidFill>
                <a:schemeClr val="accent2">
                  <a:lumMod val="50000"/>
                </a:schemeClr>
              </a:solidFill>
              <a:prstDash val="solid"/>
              <a:miter lim="800000"/>
              <a:tailEnd type="triangle"/>
            </a:ln>
            <a:effectLst/>
          </p:spPr>
        </p:cxnSp>
        <p:cxnSp>
          <p:nvCxnSpPr>
            <p:cNvPr id="87" name="Conector recto 2">
              <a:extLst>
                <a:ext uri="{FF2B5EF4-FFF2-40B4-BE49-F238E27FC236}">
                  <a16:creationId xmlns:a16="http://schemas.microsoft.com/office/drawing/2014/main" xmlns="" id="{5B8299F1-CC55-BBDD-631A-DA2F6F12266D}"/>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88" name="72 CuadroTexto">
              <a:extLst>
                <a:ext uri="{FF2B5EF4-FFF2-40B4-BE49-F238E27FC236}">
                  <a16:creationId xmlns:a16="http://schemas.microsoft.com/office/drawing/2014/main" xmlns="" id="{86D58F8E-04FE-5540-A7A9-30006542E8CB}"/>
                </a:ext>
              </a:extLst>
            </p:cNvPr>
            <p:cNvSpPr txBox="1">
              <a:spLocks noChangeArrowheads="1"/>
            </p:cNvSpPr>
            <p:nvPr/>
          </p:nvSpPr>
          <p:spPr bwMode="auto">
            <a:xfrm>
              <a:off x="6238055" y="3138580"/>
              <a:ext cx="409502" cy="2438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PE" alt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45 dh</a:t>
              </a:r>
            </a:p>
          </p:txBody>
        </p:sp>
        <p:sp>
          <p:nvSpPr>
            <p:cNvPr id="89" name="56 Rectángulo">
              <a:extLst>
                <a:ext uri="{FF2B5EF4-FFF2-40B4-BE49-F238E27FC236}">
                  <a16:creationId xmlns:a16="http://schemas.microsoft.com/office/drawing/2014/main" xmlns="" id="{0685B44E-0356-FC6F-9A55-F9C6E6137304}"/>
                </a:ext>
              </a:extLst>
            </p:cNvPr>
            <p:cNvSpPr/>
            <p:nvPr/>
          </p:nvSpPr>
          <p:spPr bwMode="auto">
            <a:xfrm>
              <a:off x="4470400" y="2801516"/>
              <a:ext cx="771525" cy="31750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chemeClr val="accent2">
                  <a:lumMod val="50000"/>
                </a:scheme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Evaluación</a:t>
              </a:r>
            </a:p>
          </p:txBody>
        </p:sp>
        <p:cxnSp>
          <p:nvCxnSpPr>
            <p:cNvPr id="90" name="177 Conector recto de flecha">
              <a:extLst>
                <a:ext uri="{FF2B5EF4-FFF2-40B4-BE49-F238E27FC236}">
                  <a16:creationId xmlns:a16="http://schemas.microsoft.com/office/drawing/2014/main" xmlns="" id="{0EB82CEA-ED08-A60E-92C7-1345BAFF24D6}"/>
                </a:ext>
              </a:extLst>
            </p:cNvPr>
            <p:cNvCxnSpPr>
              <a:cxnSpLocks/>
              <a:stCxn id="96" idx="2"/>
              <a:endCxn id="92" idx="0"/>
            </p:cNvCxnSpPr>
            <p:nvPr/>
          </p:nvCxnSpPr>
          <p:spPr bwMode="auto">
            <a:xfrm flipH="1">
              <a:off x="4858738" y="3837981"/>
              <a:ext cx="1394" cy="1537295"/>
            </a:xfrm>
            <a:prstGeom prst="straightConnector1">
              <a:avLst/>
            </a:prstGeom>
            <a:noFill/>
            <a:ln w="12700" cap="flat" cmpd="sng" algn="ctr">
              <a:solidFill>
                <a:schemeClr val="accent2">
                  <a:lumMod val="50000"/>
                </a:schemeClr>
              </a:solidFill>
              <a:prstDash val="solid"/>
              <a:miter lim="800000"/>
              <a:tailEnd type="arrow"/>
            </a:ln>
            <a:effectLst/>
          </p:spPr>
        </p:cxnSp>
        <p:cxnSp>
          <p:nvCxnSpPr>
            <p:cNvPr id="91" name="177 Conector recto de flecha">
              <a:extLst>
                <a:ext uri="{FF2B5EF4-FFF2-40B4-BE49-F238E27FC236}">
                  <a16:creationId xmlns:a16="http://schemas.microsoft.com/office/drawing/2014/main" xmlns="" id="{EABA7F7C-C899-5082-D3DC-DC8E6C554109}"/>
                </a:ext>
              </a:extLst>
            </p:cNvPr>
            <p:cNvCxnSpPr>
              <a:cxnSpLocks/>
              <a:endCxn id="89" idx="0"/>
            </p:cNvCxnSpPr>
            <p:nvPr/>
          </p:nvCxnSpPr>
          <p:spPr bwMode="auto">
            <a:xfrm>
              <a:off x="4851400" y="2234778"/>
              <a:ext cx="4763" cy="566738"/>
            </a:xfrm>
            <a:prstGeom prst="straightConnector1">
              <a:avLst/>
            </a:prstGeom>
            <a:noFill/>
            <a:ln w="12700" cap="flat" cmpd="sng" algn="ctr">
              <a:solidFill>
                <a:schemeClr val="accent2">
                  <a:lumMod val="50000"/>
                </a:schemeClr>
              </a:solidFill>
              <a:prstDash val="solid"/>
              <a:miter lim="800000"/>
              <a:tailEnd type="arrow"/>
            </a:ln>
            <a:effectLst/>
          </p:spPr>
        </p:cxnSp>
        <p:sp>
          <p:nvSpPr>
            <p:cNvPr id="92" name="CuadroTexto 91">
              <a:extLst>
                <a:ext uri="{FF2B5EF4-FFF2-40B4-BE49-F238E27FC236}">
                  <a16:creationId xmlns:a16="http://schemas.microsoft.com/office/drawing/2014/main" xmlns="" id="{C7FD8986-4E82-9A3C-4120-0D01440B4AE8}"/>
                </a:ext>
              </a:extLst>
            </p:cNvPr>
            <p:cNvSpPr txBox="1"/>
            <p:nvPr/>
          </p:nvSpPr>
          <p:spPr bwMode="auto">
            <a:xfrm>
              <a:off x="3751263" y="5375275"/>
              <a:ext cx="2214950" cy="1485114"/>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chemeClr val="accent2">
                  <a:lumMod val="50000"/>
                </a:schemeClr>
              </a:solidFill>
              <a:prstDash val="solid"/>
              <a:miter lim="800000"/>
            </a:ln>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PE" sz="1600" b="1"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Resolución que: </a:t>
              </a:r>
            </a:p>
            <a:p>
              <a:pPr marL="85725" marR="0" lvl="0" indent="-85725" defTabSz="914400" eaLnBrk="1" fontAlgn="auto" latinLnBrk="0" hangingPunct="1">
                <a:lnSpc>
                  <a:spcPct val="100000"/>
                </a:lnSpc>
                <a:spcBef>
                  <a:spcPts val="0"/>
                </a:spcBef>
                <a:spcAft>
                  <a:spcPts val="0"/>
                </a:spcAft>
                <a:buClrTx/>
                <a:buSzTx/>
                <a:buFontTx/>
                <a:buChar char="-"/>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Aprueba el proyecto de la concesión de transporte minero, </a:t>
              </a:r>
            </a:p>
            <a:p>
              <a:pPr marL="85725" marR="0" lvl="0" indent="-85725" defTabSz="914400" eaLnBrk="1" fontAlgn="auto" latinLnBrk="0" hangingPunct="1">
                <a:lnSpc>
                  <a:spcPct val="100000"/>
                </a:lnSpc>
                <a:spcBef>
                  <a:spcPts val="0"/>
                </a:spcBef>
                <a:spcAft>
                  <a:spcPts val="0"/>
                </a:spcAft>
                <a:buClrTx/>
                <a:buSzTx/>
                <a:buFontTx/>
                <a:buChar char="-"/>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Autoriza la construcción del sistema de transporte, </a:t>
              </a:r>
            </a:p>
            <a:p>
              <a:pPr marL="85725" marR="0" lvl="0" indent="-85725" defTabSz="914400" eaLnBrk="1" fontAlgn="auto" latinLnBrk="0" hangingPunct="1">
                <a:lnSpc>
                  <a:spcPct val="100000"/>
                </a:lnSpc>
                <a:spcBef>
                  <a:spcPts val="0"/>
                </a:spcBef>
                <a:spcAft>
                  <a:spcPts val="0"/>
                </a:spcAft>
                <a:buClrTx/>
                <a:buSzTx/>
                <a:buFontTx/>
                <a:buChar char="-"/>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Otorga la concesión de Transporte Minero, y </a:t>
              </a:r>
            </a:p>
            <a:p>
              <a:pPr marL="85725" marR="0" lvl="0" indent="-85725" defTabSz="914400" eaLnBrk="1" fontAlgn="auto" latinLnBrk="0" hangingPunct="1">
                <a:lnSpc>
                  <a:spcPct val="100000"/>
                </a:lnSpc>
                <a:spcBef>
                  <a:spcPts val="0"/>
                </a:spcBef>
                <a:spcAft>
                  <a:spcPts val="0"/>
                </a:spcAft>
                <a:buClrTx/>
                <a:buSzTx/>
                <a:buFontTx/>
                <a:buChar char="-"/>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Autoriza el funcionamiento del sistema de transporte minero</a:t>
              </a:r>
              <a:r>
                <a:rPr kumimoji="0" lang="es-PE" sz="1600" b="1"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a:t>
              </a:r>
              <a:endParaRPr kumimoji="0" lang="es-PE" sz="1600" b="1"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endParaRPr>
            </a:p>
          </p:txBody>
        </p:sp>
        <p:cxnSp>
          <p:nvCxnSpPr>
            <p:cNvPr id="93" name="Conector: angular 449">
              <a:extLst>
                <a:ext uri="{FF2B5EF4-FFF2-40B4-BE49-F238E27FC236}">
                  <a16:creationId xmlns:a16="http://schemas.microsoft.com/office/drawing/2014/main" xmlns="" id="{8449E715-7DD0-3770-1D42-F5E71938D8FB}"/>
                </a:ext>
              </a:extLst>
            </p:cNvPr>
            <p:cNvCxnSpPr>
              <a:cxnSpLocks/>
              <a:stCxn id="88" idx="0"/>
              <a:endCxn id="81" idx="6"/>
            </p:cNvCxnSpPr>
            <p:nvPr/>
          </p:nvCxnSpPr>
          <p:spPr bwMode="auto">
            <a:xfrm rot="16200000" flipV="1">
              <a:off x="5007692" y="1703465"/>
              <a:ext cx="1977323" cy="892906"/>
            </a:xfrm>
            <a:prstGeom prst="bentConnector2">
              <a:avLst/>
            </a:prstGeom>
            <a:noFill/>
            <a:ln w="6350" cap="flat" cmpd="sng" algn="ctr">
              <a:solidFill>
                <a:schemeClr val="accent2">
                  <a:lumMod val="50000"/>
                </a:schemeClr>
              </a:solidFill>
              <a:prstDash val="solid"/>
              <a:miter lim="800000"/>
              <a:tailEnd type="triangle"/>
            </a:ln>
            <a:effectLst/>
          </p:spPr>
        </p:cxnSp>
        <p:cxnSp>
          <p:nvCxnSpPr>
            <p:cNvPr id="94" name="Conector: angular 451">
              <a:extLst>
                <a:ext uri="{FF2B5EF4-FFF2-40B4-BE49-F238E27FC236}">
                  <a16:creationId xmlns:a16="http://schemas.microsoft.com/office/drawing/2014/main" xmlns="" id="{28436EE9-58DF-721F-6AD6-EEA12181B7F1}"/>
                </a:ext>
              </a:extLst>
            </p:cNvPr>
            <p:cNvCxnSpPr>
              <a:cxnSpLocks/>
              <a:stCxn id="88" idx="2"/>
              <a:endCxn id="92" idx="3"/>
            </p:cNvCxnSpPr>
            <p:nvPr/>
          </p:nvCxnSpPr>
          <p:spPr bwMode="auto">
            <a:xfrm rot="5400000">
              <a:off x="4836796" y="4511822"/>
              <a:ext cx="2735427" cy="476594"/>
            </a:xfrm>
            <a:prstGeom prst="bentConnector2">
              <a:avLst/>
            </a:prstGeom>
            <a:noFill/>
            <a:ln w="6350" cap="flat" cmpd="sng" algn="ctr">
              <a:solidFill>
                <a:schemeClr val="accent2">
                  <a:lumMod val="50000"/>
                </a:schemeClr>
              </a:solidFill>
              <a:prstDash val="solid"/>
              <a:miter lim="800000"/>
              <a:tailEnd type="triangle"/>
            </a:ln>
            <a:effectLst/>
          </p:spPr>
        </p:cxnSp>
        <p:sp>
          <p:nvSpPr>
            <p:cNvPr id="95" name="CuadroTexto 94">
              <a:extLst>
                <a:ext uri="{FF2B5EF4-FFF2-40B4-BE49-F238E27FC236}">
                  <a16:creationId xmlns:a16="http://schemas.microsoft.com/office/drawing/2014/main" xmlns="" id="{BA50ABDA-92A4-142D-5D0B-4D7FC437158B}"/>
                </a:ext>
              </a:extLst>
            </p:cNvPr>
            <p:cNvSpPr txBox="1"/>
            <p:nvPr/>
          </p:nvSpPr>
          <p:spPr bwMode="auto">
            <a:xfrm flipH="1">
              <a:off x="4615699" y="3900348"/>
              <a:ext cx="279364" cy="177327"/>
            </a:xfrm>
            <a:prstGeom prst="rect">
              <a:avLst/>
            </a:prstGeom>
            <a:solidFill>
              <a:sysClr val="window" lastClr="FFFFFF"/>
            </a:solidFill>
            <a:ln w="12700" cap="flat" cmpd="sng" algn="ctr">
              <a:solidFill>
                <a:schemeClr val="accent2">
                  <a:lumMod val="50000"/>
                </a:schemeClr>
              </a:solidFill>
              <a:prstDash val="solid"/>
              <a:miter lim="800000"/>
            </a:ln>
            <a:effectLst/>
          </p:spPr>
          <p:txBody>
            <a:bodyPr wrap="squar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1"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SI</a:t>
              </a:r>
            </a:p>
          </p:txBody>
        </p:sp>
        <p:sp>
          <p:nvSpPr>
            <p:cNvPr id="96" name="Decisión 71">
              <a:extLst>
                <a:ext uri="{FF2B5EF4-FFF2-40B4-BE49-F238E27FC236}">
                  <a16:creationId xmlns:a16="http://schemas.microsoft.com/office/drawing/2014/main" xmlns="" id="{B860D659-575D-2D57-060A-FDE3E53674C0}"/>
                </a:ext>
              </a:extLst>
            </p:cNvPr>
            <p:cNvSpPr/>
            <p:nvPr/>
          </p:nvSpPr>
          <p:spPr bwMode="auto">
            <a:xfrm>
              <a:off x="4470400" y="3485728"/>
              <a:ext cx="779463" cy="352253"/>
            </a:xfrm>
            <a:prstGeom prst="flowChartDecision">
              <a:avLst/>
            </a:prstGeom>
            <a:solidFill>
              <a:srgbClr val="70AD47">
                <a:lumMod val="40000"/>
                <a:lumOff val="60000"/>
              </a:srgbClr>
            </a:solidFill>
            <a:ln w="6350" cap="flat" cmpd="sng" algn="ctr">
              <a:solidFill>
                <a:schemeClr val="accent2">
                  <a:lumMod val="50000"/>
                </a:schemeClr>
              </a:solidFill>
              <a:prstDash val="solid"/>
              <a:miter lim="800000"/>
            </a:ln>
            <a:effectLst/>
          </p:spPr>
          <p:txBody>
            <a:bodyPr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cumple</a:t>
              </a:r>
            </a:p>
          </p:txBody>
        </p:sp>
        <p:sp>
          <p:nvSpPr>
            <p:cNvPr id="97" name="CuadroTexto 96">
              <a:extLst>
                <a:ext uri="{FF2B5EF4-FFF2-40B4-BE49-F238E27FC236}">
                  <a16:creationId xmlns:a16="http://schemas.microsoft.com/office/drawing/2014/main" xmlns="" id="{9F00098B-CCDD-9508-6419-CF8280DE73D2}"/>
                </a:ext>
              </a:extLst>
            </p:cNvPr>
            <p:cNvSpPr txBox="1"/>
            <p:nvPr/>
          </p:nvSpPr>
          <p:spPr bwMode="auto">
            <a:xfrm>
              <a:off x="5469732" y="3412114"/>
              <a:ext cx="684213" cy="531981"/>
            </a:xfrm>
            <a:prstGeom prst="rect">
              <a:avLst/>
            </a:prstGeom>
            <a:gradFill rotWithShape="1">
              <a:gsLst>
                <a:gs pos="0">
                  <a:srgbClr val="1091D2">
                    <a:lumMod val="110000"/>
                    <a:satMod val="105000"/>
                    <a:tint val="67000"/>
                  </a:srgbClr>
                </a:gs>
                <a:gs pos="50000">
                  <a:srgbClr val="1091D2">
                    <a:lumMod val="105000"/>
                    <a:satMod val="103000"/>
                    <a:tint val="73000"/>
                  </a:srgbClr>
                </a:gs>
                <a:gs pos="100000">
                  <a:srgbClr val="1091D2">
                    <a:lumMod val="105000"/>
                    <a:satMod val="109000"/>
                    <a:tint val="81000"/>
                  </a:srgbClr>
                </a:gs>
              </a:gsLst>
              <a:lin ang="5400000" scaled="0"/>
            </a:gradFill>
            <a:ln w="6350" cap="flat" cmpd="sng" algn="ctr">
              <a:solidFill>
                <a:schemeClr val="accent2">
                  <a:lumMod val="50000"/>
                </a:schemeClr>
              </a:solidFill>
              <a:prstDash val="solid"/>
              <a:miter lim="800000"/>
            </a:ln>
            <a:effectLst/>
          </p:spPr>
          <p:txBody>
            <a:bodyPr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Requerir subsanar observaciones</a:t>
              </a:r>
            </a:p>
          </p:txBody>
        </p:sp>
        <p:sp>
          <p:nvSpPr>
            <p:cNvPr id="98" name="CuadroTexto 97">
              <a:extLst>
                <a:ext uri="{FF2B5EF4-FFF2-40B4-BE49-F238E27FC236}">
                  <a16:creationId xmlns:a16="http://schemas.microsoft.com/office/drawing/2014/main" xmlns="" id="{2AD3E83D-CD12-FDD9-6725-1414765C366C}"/>
                </a:ext>
              </a:extLst>
            </p:cNvPr>
            <p:cNvSpPr txBox="1"/>
            <p:nvPr/>
          </p:nvSpPr>
          <p:spPr bwMode="auto">
            <a:xfrm>
              <a:off x="5480670" y="4312199"/>
              <a:ext cx="682625" cy="354655"/>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chemeClr val="accent2">
                  <a:lumMod val="50000"/>
                </a:schemeClr>
              </a:solidFill>
              <a:prstDash val="solid"/>
              <a:miter lim="800000"/>
            </a:ln>
            <a:effectLst/>
          </p:spPr>
          <p:txBody>
            <a:bodyPr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0"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Subsana observaciones</a:t>
              </a:r>
            </a:p>
          </p:txBody>
        </p:sp>
        <p:sp>
          <p:nvSpPr>
            <p:cNvPr id="99" name="72 CuadroTexto">
              <a:extLst>
                <a:ext uri="{FF2B5EF4-FFF2-40B4-BE49-F238E27FC236}">
                  <a16:creationId xmlns:a16="http://schemas.microsoft.com/office/drawing/2014/main" xmlns="" id="{25125092-18DA-8F79-F1DE-438A97397E5F}"/>
                </a:ext>
              </a:extLst>
            </p:cNvPr>
            <p:cNvSpPr txBox="1">
              <a:spLocks noChangeArrowheads="1"/>
            </p:cNvSpPr>
            <p:nvPr/>
          </p:nvSpPr>
          <p:spPr bwMode="auto">
            <a:xfrm>
              <a:off x="5854855" y="4018117"/>
              <a:ext cx="271538" cy="17732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PE" alt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20 dh</a:t>
              </a:r>
            </a:p>
          </p:txBody>
        </p:sp>
        <p:sp>
          <p:nvSpPr>
            <p:cNvPr id="100" name="CuadroTexto 99">
              <a:extLst>
                <a:ext uri="{FF2B5EF4-FFF2-40B4-BE49-F238E27FC236}">
                  <a16:creationId xmlns:a16="http://schemas.microsoft.com/office/drawing/2014/main" xmlns="" id="{99DF4097-0B9F-30FD-BCDC-054FBED94A04}"/>
                </a:ext>
              </a:extLst>
            </p:cNvPr>
            <p:cNvSpPr txBox="1"/>
            <p:nvPr/>
          </p:nvSpPr>
          <p:spPr bwMode="auto">
            <a:xfrm>
              <a:off x="5211729" y="3418521"/>
              <a:ext cx="171450" cy="177327"/>
            </a:xfrm>
            <a:prstGeom prst="rect">
              <a:avLst/>
            </a:prstGeom>
            <a:solidFill>
              <a:sysClr val="window" lastClr="FFFFFF"/>
            </a:solidFill>
            <a:ln w="12700" cap="flat" cmpd="sng" algn="ctr">
              <a:solidFill>
                <a:schemeClr val="accent2">
                  <a:lumMod val="50000"/>
                </a:schemeClr>
              </a:solidFill>
              <a:prstDash val="solid"/>
              <a:miter lim="800000"/>
            </a:ln>
            <a:effectLst/>
          </p:spPr>
          <p:txBody>
            <a:bodyPr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1" i="0" u="none" strike="noStrike" kern="0" cap="none" spc="0" normalizeH="0" baseline="0" noProof="0" dirty="0">
                  <a:ln>
                    <a:noFill/>
                  </a:ln>
                  <a:solidFill>
                    <a:prstClr val="black"/>
                  </a:solidFill>
                  <a:effectLst/>
                  <a:uLnTx/>
                  <a:uFillTx/>
                  <a:latin typeface="Inter" panose="020B0604020202020204" charset="0"/>
                  <a:ea typeface="Inter" panose="020B0604020202020204" charset="0"/>
                  <a:cs typeface="Arial" panose="020B0604020202020204" pitchFamily="34" charset="0"/>
                </a:rPr>
                <a:t>NO</a:t>
              </a:r>
            </a:p>
          </p:txBody>
        </p:sp>
        <p:cxnSp>
          <p:nvCxnSpPr>
            <p:cNvPr id="101" name="Conector recto de flecha 100">
              <a:extLst>
                <a:ext uri="{FF2B5EF4-FFF2-40B4-BE49-F238E27FC236}">
                  <a16:creationId xmlns:a16="http://schemas.microsoft.com/office/drawing/2014/main" xmlns="" id="{95BC67C4-B753-3258-E853-5CCE4275D933}"/>
                </a:ext>
              </a:extLst>
            </p:cNvPr>
            <p:cNvCxnSpPr>
              <a:stCxn id="96" idx="3"/>
              <a:endCxn id="97" idx="1"/>
            </p:cNvCxnSpPr>
            <p:nvPr/>
          </p:nvCxnSpPr>
          <p:spPr bwMode="auto">
            <a:xfrm>
              <a:off x="5249863" y="3661854"/>
              <a:ext cx="219869" cy="16250"/>
            </a:xfrm>
            <a:prstGeom prst="straightConnector1">
              <a:avLst/>
            </a:prstGeom>
            <a:noFill/>
            <a:ln w="6350" cap="flat" cmpd="sng" algn="ctr">
              <a:solidFill>
                <a:schemeClr val="accent2">
                  <a:lumMod val="50000"/>
                </a:schemeClr>
              </a:solidFill>
              <a:prstDash val="solid"/>
              <a:miter lim="800000"/>
              <a:tailEnd type="triangle"/>
            </a:ln>
            <a:effectLst/>
          </p:spPr>
        </p:cxnSp>
        <p:cxnSp>
          <p:nvCxnSpPr>
            <p:cNvPr id="102" name="Conector recto 101">
              <a:extLst>
                <a:ext uri="{FF2B5EF4-FFF2-40B4-BE49-F238E27FC236}">
                  <a16:creationId xmlns:a16="http://schemas.microsoft.com/office/drawing/2014/main" xmlns="" id="{688F17E3-815A-0C0C-4422-FED9223FDD58}"/>
                </a:ext>
              </a:extLst>
            </p:cNvPr>
            <p:cNvCxnSpPr>
              <a:stCxn id="89" idx="2"/>
              <a:endCxn id="96" idx="0"/>
            </p:cNvCxnSpPr>
            <p:nvPr/>
          </p:nvCxnSpPr>
          <p:spPr bwMode="auto">
            <a:xfrm>
              <a:off x="4856163" y="3119016"/>
              <a:ext cx="3969" cy="366712"/>
            </a:xfrm>
            <a:prstGeom prst="line">
              <a:avLst/>
            </a:prstGeom>
            <a:noFill/>
            <a:ln w="12700" cap="flat" cmpd="sng" algn="ctr">
              <a:solidFill>
                <a:schemeClr val="accent2">
                  <a:lumMod val="50000"/>
                </a:schemeClr>
              </a:solidFill>
              <a:prstDash val="solid"/>
              <a:miter lim="800000"/>
              <a:tailEnd type="arrow"/>
            </a:ln>
            <a:effectLst/>
          </p:spPr>
        </p:cxnSp>
        <p:cxnSp>
          <p:nvCxnSpPr>
            <p:cNvPr id="103" name="Conector recto 102">
              <a:extLst>
                <a:ext uri="{FF2B5EF4-FFF2-40B4-BE49-F238E27FC236}">
                  <a16:creationId xmlns:a16="http://schemas.microsoft.com/office/drawing/2014/main" xmlns="" id="{665CD410-E71F-74A8-50A2-6E8EB60F6F02}"/>
                </a:ext>
              </a:extLst>
            </p:cNvPr>
            <p:cNvCxnSpPr>
              <a:stCxn id="97" idx="2"/>
              <a:endCxn id="98" idx="0"/>
            </p:cNvCxnSpPr>
            <p:nvPr/>
          </p:nvCxnSpPr>
          <p:spPr bwMode="auto">
            <a:xfrm>
              <a:off x="5811838" y="3944095"/>
              <a:ext cx="10144" cy="368104"/>
            </a:xfrm>
            <a:prstGeom prst="line">
              <a:avLst/>
            </a:prstGeom>
            <a:noFill/>
            <a:ln w="6350" cap="flat" cmpd="sng" algn="ctr">
              <a:solidFill>
                <a:schemeClr val="accent2">
                  <a:lumMod val="50000"/>
                </a:schemeClr>
              </a:solidFill>
              <a:prstDash val="solid"/>
              <a:miter lim="800000"/>
            </a:ln>
            <a:effectLst/>
          </p:spPr>
        </p:cxnSp>
        <p:sp>
          <p:nvSpPr>
            <p:cNvPr id="104" name="72 CuadroTexto">
              <a:extLst>
                <a:ext uri="{FF2B5EF4-FFF2-40B4-BE49-F238E27FC236}">
                  <a16:creationId xmlns:a16="http://schemas.microsoft.com/office/drawing/2014/main" xmlns="" id="{CA5B83A8-D2F0-CFD8-032D-94D58C9CECF8}"/>
                </a:ext>
              </a:extLst>
            </p:cNvPr>
            <p:cNvSpPr txBox="1">
              <a:spLocks noChangeArrowheads="1"/>
            </p:cNvSpPr>
            <p:nvPr/>
          </p:nvSpPr>
          <p:spPr bwMode="auto">
            <a:xfrm>
              <a:off x="5587206" y="2330819"/>
              <a:ext cx="452055" cy="2438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s-PE" alt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15 dh</a:t>
              </a:r>
            </a:p>
          </p:txBody>
        </p:sp>
        <p:cxnSp>
          <p:nvCxnSpPr>
            <p:cNvPr id="105" name="Conector recto de flecha 104">
              <a:extLst>
                <a:ext uri="{FF2B5EF4-FFF2-40B4-BE49-F238E27FC236}">
                  <a16:creationId xmlns:a16="http://schemas.microsoft.com/office/drawing/2014/main" xmlns="" id="{EDDAC75C-CB9B-0E1C-5465-ED1F46318294}"/>
                </a:ext>
              </a:extLst>
            </p:cNvPr>
            <p:cNvCxnSpPr>
              <a:stCxn id="104" idx="2"/>
              <a:endCxn id="97" idx="0"/>
            </p:cNvCxnSpPr>
            <p:nvPr/>
          </p:nvCxnSpPr>
          <p:spPr bwMode="auto">
            <a:xfrm flipH="1">
              <a:off x="5811838" y="2574644"/>
              <a:ext cx="1395" cy="837470"/>
            </a:xfrm>
            <a:prstGeom prst="straightConnector1">
              <a:avLst/>
            </a:prstGeom>
            <a:noFill/>
            <a:ln w="6350" cap="flat" cmpd="sng" algn="ctr">
              <a:solidFill>
                <a:schemeClr val="accent2">
                  <a:lumMod val="50000"/>
                </a:schemeClr>
              </a:solidFill>
              <a:prstDash val="solid"/>
              <a:miter lim="800000"/>
              <a:tailEnd type="triangle"/>
            </a:ln>
            <a:effectLst/>
          </p:spPr>
        </p:cxnSp>
        <p:cxnSp>
          <p:nvCxnSpPr>
            <p:cNvPr id="106" name="Conector angular 81">
              <a:extLst>
                <a:ext uri="{FF2B5EF4-FFF2-40B4-BE49-F238E27FC236}">
                  <a16:creationId xmlns:a16="http://schemas.microsoft.com/office/drawing/2014/main" xmlns="" id="{42513706-93E7-39F5-B532-452A74193FAA}"/>
                </a:ext>
              </a:extLst>
            </p:cNvPr>
            <p:cNvCxnSpPr>
              <a:stCxn id="104" idx="0"/>
              <a:endCxn id="81" idx="6"/>
            </p:cNvCxnSpPr>
            <p:nvPr/>
          </p:nvCxnSpPr>
          <p:spPr bwMode="auto">
            <a:xfrm rot="16200000" flipV="1">
              <a:off x="5096786" y="1614371"/>
              <a:ext cx="1169562" cy="263334"/>
            </a:xfrm>
            <a:prstGeom prst="bentConnector2">
              <a:avLst/>
            </a:prstGeom>
            <a:noFill/>
            <a:ln w="6350" cap="flat" cmpd="sng" algn="ctr">
              <a:solidFill>
                <a:schemeClr val="accent2">
                  <a:lumMod val="50000"/>
                </a:schemeClr>
              </a:solidFill>
              <a:prstDash val="solid"/>
              <a:miter lim="800000"/>
              <a:tailEnd type="triangle"/>
            </a:ln>
            <a:effectLst/>
          </p:spPr>
        </p:cxnSp>
        <p:sp>
          <p:nvSpPr>
            <p:cNvPr id="107" name="24 Rectángulo">
              <a:extLst>
                <a:ext uri="{FF2B5EF4-FFF2-40B4-BE49-F238E27FC236}">
                  <a16:creationId xmlns:a16="http://schemas.microsoft.com/office/drawing/2014/main" xmlns="" id="{50CA1A8F-6582-C9E3-8F12-2F370B795EBC}"/>
                </a:ext>
              </a:extLst>
            </p:cNvPr>
            <p:cNvSpPr/>
            <p:nvPr/>
          </p:nvSpPr>
          <p:spPr bwMode="auto">
            <a:xfrm>
              <a:off x="4230167" y="1872227"/>
              <a:ext cx="1235849" cy="585787"/>
            </a:xfrm>
            <a:prstGeom prst="rect">
              <a:avLst/>
            </a:prstGeom>
            <a:solidFill>
              <a:srgbClr val="5B9BD5">
                <a:lumMod val="20000"/>
                <a:lumOff val="80000"/>
              </a:srgbClr>
            </a:solidFill>
            <a:ln w="12700" cap="flat" cmpd="sng" algn="ctr">
              <a:solidFill>
                <a:schemeClr val="accent2">
                  <a:lumMod val="50000"/>
                </a:scheme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600" b="0" i="0" u="none" strike="noStrike" kern="0" cap="none" spc="0" normalizeH="0" baseline="0" noProof="0" dirty="0">
                  <a:ln>
                    <a:noFill/>
                  </a:ln>
                  <a:solidFill>
                    <a:srgbClr val="000000"/>
                  </a:solidFill>
                  <a:effectLst/>
                  <a:uLnTx/>
                  <a:uFillTx/>
                  <a:latin typeface="Inter" panose="020B0604020202020204" charset="0"/>
                  <a:ea typeface="Inter" panose="020B0604020202020204" charset="0"/>
                  <a:cs typeface="Arial" panose="020B0604020202020204" pitchFamily="34" charset="0"/>
                </a:rPr>
                <a:t>Evaluación de la solicitud y los requisitos de presentación </a:t>
              </a:r>
            </a:p>
          </p:txBody>
        </p:sp>
        <p:cxnSp>
          <p:nvCxnSpPr>
            <p:cNvPr id="108" name="Conector angular 101">
              <a:extLst>
                <a:ext uri="{FF2B5EF4-FFF2-40B4-BE49-F238E27FC236}">
                  <a16:creationId xmlns:a16="http://schemas.microsoft.com/office/drawing/2014/main" xmlns="" id="{4183A1D5-3812-F34D-749B-24B3D725FAF1}"/>
                </a:ext>
              </a:extLst>
            </p:cNvPr>
            <p:cNvCxnSpPr>
              <a:cxnSpLocks/>
              <a:stCxn id="98" idx="1"/>
              <a:endCxn id="92" idx="0"/>
            </p:cNvCxnSpPr>
            <p:nvPr/>
          </p:nvCxnSpPr>
          <p:spPr bwMode="auto">
            <a:xfrm rot="10800000" flipV="1">
              <a:off x="4858738" y="4489526"/>
              <a:ext cx="621932" cy="885749"/>
            </a:xfrm>
            <a:prstGeom prst="bentConnector2">
              <a:avLst/>
            </a:prstGeom>
            <a:noFill/>
            <a:ln w="6350" cap="flat" cmpd="sng" algn="ctr">
              <a:solidFill>
                <a:schemeClr val="accent2">
                  <a:lumMod val="50000"/>
                </a:schemeClr>
              </a:solidFill>
              <a:prstDash val="solid"/>
              <a:miter lim="800000"/>
              <a:tailEnd type="triangle"/>
            </a:ln>
            <a:effectLst/>
          </p:spPr>
        </p:cxnSp>
      </p:grpSp>
    </p:spTree>
    <p:extLst>
      <p:ext uri="{BB962C8B-B14F-4D97-AF65-F5344CB8AC3E}">
        <p14:creationId xmlns:p14="http://schemas.microsoft.com/office/powerpoint/2010/main" val="15583411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66B15B6-8404-CF09-F72A-AD34291326EF}"/>
            </a:ext>
          </a:extLst>
        </p:cNvPr>
        <p:cNvGrpSpPr/>
        <p:nvPr/>
      </p:nvGrpSpPr>
      <p:grpSpPr>
        <a:xfrm>
          <a:off x="0" y="0"/>
          <a:ext cx="0" cy="0"/>
          <a:chOff x="0" y="0"/>
          <a:chExt cx="0" cy="0"/>
        </a:xfrm>
      </p:grpSpPr>
      <p:grpSp>
        <p:nvGrpSpPr>
          <p:cNvPr id="8" name="Group 2">
            <a:extLst>
              <a:ext uri="{FF2B5EF4-FFF2-40B4-BE49-F238E27FC236}">
                <a16:creationId xmlns:a16="http://schemas.microsoft.com/office/drawing/2014/main" xmlns="" id="{E5CFB298-E7B1-4884-E06F-E820E6E67438}"/>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71E691E7-7D4B-621E-BA2B-8140239EAAB2}"/>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5C34FE64-5BB1-5D46-B323-D86FF2039F99}"/>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4" name="Freeform 4">
            <a:extLst>
              <a:ext uri="{FF2B5EF4-FFF2-40B4-BE49-F238E27FC236}">
                <a16:creationId xmlns:a16="http://schemas.microsoft.com/office/drawing/2014/main" xmlns="" id="{4DC03C6A-B139-3EE1-B57D-4B1B2C630608}"/>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02026457-3D75-E88A-6311-4F18AF4C5C64}"/>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27A8E6C3-25FB-EC21-76C7-7887D6277667}"/>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concesión de transporte  minero</a:t>
            </a:r>
            <a:br>
              <a:rPr lang="es-PE" altLang="es-PE" sz="2400" b="1" dirty="0">
                <a:latin typeface="Inter" panose="020B0604020202020204" charset="0"/>
                <a:ea typeface="Inter" panose="020B0604020202020204" charset="0"/>
              </a:rPr>
            </a:br>
            <a:r>
              <a:rPr lang="es-PE" altLang="es-PE" sz="2400" b="1" dirty="0">
                <a:latin typeface="Inter" panose="020B0604020202020204" charset="0"/>
                <a:ea typeface="Inter" panose="020B0604020202020204" charset="0"/>
              </a:rPr>
              <a:t>(con ampliación de área)</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10D7DFC8-0C68-4241-CD80-499FA87D54BB}"/>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96, 96.1, 1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cuarenta y cinco (45)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negativo.</a:t>
            </a:r>
          </a:p>
        </p:txBody>
      </p:sp>
      <p:grpSp>
        <p:nvGrpSpPr>
          <p:cNvPr id="6" name="Grupo 5">
            <a:extLst>
              <a:ext uri="{FF2B5EF4-FFF2-40B4-BE49-F238E27FC236}">
                <a16:creationId xmlns:a16="http://schemas.microsoft.com/office/drawing/2014/main" xmlns="" id="{0C46CE12-9B42-47B5-2B9F-283229DB1AC9}"/>
              </a:ext>
            </a:extLst>
          </p:cNvPr>
          <p:cNvGrpSpPr/>
          <p:nvPr/>
        </p:nvGrpSpPr>
        <p:grpSpPr>
          <a:xfrm>
            <a:off x="4254274" y="876300"/>
            <a:ext cx="11442926" cy="8970857"/>
            <a:chOff x="1708974" y="781050"/>
            <a:chExt cx="4863823" cy="6073725"/>
          </a:xfrm>
        </p:grpSpPr>
        <p:sp>
          <p:nvSpPr>
            <p:cNvPr id="7" name="3 Elipse">
              <a:extLst>
                <a:ext uri="{FF2B5EF4-FFF2-40B4-BE49-F238E27FC236}">
                  <a16:creationId xmlns:a16="http://schemas.microsoft.com/office/drawing/2014/main" xmlns="" id="{C4F1BCDA-C3D5-625E-DB23-0F1033171AD9}"/>
                </a:ext>
              </a:extLst>
            </p:cNvPr>
            <p:cNvSpPr/>
            <p:nvPr/>
          </p:nvSpPr>
          <p:spPr>
            <a:xfrm>
              <a:off x="4146550" y="781050"/>
              <a:ext cx="1403350"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Calibri" panose="020F050202020403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Calibri" panose="020F0502020204030204" pitchFamily="34" charset="0"/>
                </a:rPr>
                <a:t>(Formulario físico)</a:t>
              </a:r>
            </a:p>
            <a:p>
              <a:pPr algn="ctr" eaLnBrk="1" hangingPunct="1">
                <a:defRPr/>
              </a:pPr>
              <a:r>
                <a:rPr lang="es-PE" sz="1600" dirty="0">
                  <a:solidFill>
                    <a:srgbClr val="000000"/>
                  </a:solidFill>
                  <a:latin typeface="Inter" panose="020B0604020202020204" charset="0"/>
                  <a:ea typeface="Inter" panose="020B0604020202020204" charset="0"/>
                  <a:cs typeface="Calibri" panose="020F0502020204030204" pitchFamily="34" charset="0"/>
                </a:rPr>
                <a:t>DGM/GORE</a:t>
              </a:r>
            </a:p>
          </p:txBody>
        </p:sp>
        <p:cxnSp>
          <p:nvCxnSpPr>
            <p:cNvPr id="11" name="5 Conector recto de flecha">
              <a:extLst>
                <a:ext uri="{FF2B5EF4-FFF2-40B4-BE49-F238E27FC236}">
                  <a16:creationId xmlns:a16="http://schemas.microsoft.com/office/drawing/2014/main" xmlns="" id="{85F747D1-6C31-0D50-1563-254FB728C856}"/>
                </a:ext>
              </a:extLst>
            </p:cNvPr>
            <p:cNvCxnSpPr>
              <a:cxnSpLocks/>
              <a:stCxn id="7" idx="4"/>
            </p:cNvCxnSpPr>
            <p:nvPr/>
          </p:nvCxnSpPr>
          <p:spPr>
            <a:xfrm>
              <a:off x="4848225" y="1541463"/>
              <a:ext cx="1" cy="44106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12" name="9 Título">
              <a:extLst>
                <a:ext uri="{FF2B5EF4-FFF2-40B4-BE49-F238E27FC236}">
                  <a16:creationId xmlns:a16="http://schemas.microsoft.com/office/drawing/2014/main" xmlns="" id="{B54A9B5A-E4F6-6092-DAE4-CED3C926CFE7}"/>
                </a:ext>
              </a:extLst>
            </p:cNvPr>
            <p:cNvSpPr txBox="1">
              <a:spLocks/>
            </p:cNvSpPr>
            <p:nvPr/>
          </p:nvSpPr>
          <p:spPr>
            <a:xfrm>
              <a:off x="1708974" y="781050"/>
              <a:ext cx="1441450" cy="766763"/>
            </a:xfrm>
            <a:prstGeom prst="rect">
              <a:avLst/>
            </a:prstGeom>
            <a:solidFill>
              <a:srgbClr val="FFFFCC"/>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a:defRPr/>
              </a:pPr>
              <a:r>
                <a:rPr lang="es-PE" sz="1600" dirty="0">
                  <a:solidFill>
                    <a:srgbClr val="000000"/>
                  </a:solidFill>
                  <a:latin typeface="Inter" panose="020B0604020202020204" charset="0"/>
                  <a:ea typeface="Inter" panose="020B0604020202020204" charset="0"/>
                  <a:cs typeface="Calibri" panose="020F0502020204030204" pitchFamily="34" charset="0"/>
                </a:rPr>
                <a:t>Si se advierte en forma referencial que el proyecto se encuentra en PPII se solicita opinión a OGGS.</a:t>
              </a:r>
            </a:p>
          </p:txBody>
        </p:sp>
        <p:sp>
          <p:nvSpPr>
            <p:cNvPr id="13" name="56 Rectángulo">
              <a:extLst>
                <a:ext uri="{FF2B5EF4-FFF2-40B4-BE49-F238E27FC236}">
                  <a16:creationId xmlns:a16="http://schemas.microsoft.com/office/drawing/2014/main" xmlns="" id="{79AB0505-7C2F-0D54-8EC0-F2DF61B521CF}"/>
                </a:ext>
              </a:extLst>
            </p:cNvPr>
            <p:cNvSpPr/>
            <p:nvPr/>
          </p:nvSpPr>
          <p:spPr>
            <a:xfrm>
              <a:off x="1720849" y="2561651"/>
              <a:ext cx="2418560" cy="2192850"/>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sz="1700" dirty="0">
                  <a:solidFill>
                    <a:schemeClr val="tx1"/>
                  </a:solidFill>
                  <a:latin typeface="Inter" panose="020B0604020202020204" charset="0"/>
                  <a:ea typeface="Inter" panose="020B0604020202020204" charset="0"/>
                  <a:cs typeface="Calibri" panose="020F0502020204030204" pitchFamily="34" charset="0"/>
                </a:rPr>
                <a:t>Derecho de tramite</a:t>
              </a:r>
            </a:p>
            <a:p>
              <a:pPr marL="228600" indent="-228600" eaLnBrk="1" hangingPunct="1">
                <a:buFont typeface="+mj-lt"/>
                <a:buAutoNum type="arabicPeriod"/>
                <a:defRPr/>
              </a:pPr>
              <a:r>
                <a:rPr lang="es-PE" sz="1700" dirty="0">
                  <a:solidFill>
                    <a:schemeClr val="tx1"/>
                  </a:solidFill>
                  <a:latin typeface="Inter" panose="020B0604020202020204" charset="0"/>
                  <a:ea typeface="Inter" panose="020B0604020202020204" charset="0"/>
                  <a:cs typeface="Calibri" panose="020F0502020204030204" pitchFamily="34" charset="0"/>
                </a:rPr>
                <a:t>Derecho de Vigencia</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Calibri" panose="020F0502020204030204" pitchFamily="34" charset="0"/>
                </a:rPr>
                <a:t>Instrumento de Gestión Ambiental aprobado.</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cs typeface="Calibri" panose="020F0502020204030204" pitchFamily="34" charset="0"/>
                </a:rPr>
                <a:t>Autorización del terreno superficial.</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rPr>
                <a:t>Memoria descriptiva e Ingeniería detallada del proyecto de sistema de transporte minero.</a:t>
              </a: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rPr>
                <a:t>Plano de ubicación detallado indicando coordenadas UTM WGS84 de los vértices del área del proyecto.</a:t>
              </a:r>
              <a:endParaRPr lang="es-PE" sz="1700" dirty="0">
                <a:solidFill>
                  <a:schemeClr val="tx1"/>
                </a:solidFill>
                <a:latin typeface="Inter" panose="020B0604020202020204" charset="0"/>
                <a:ea typeface="Inter" panose="020B0604020202020204" charset="0"/>
                <a:cs typeface="Calibri" panose="020F0502020204030204" pitchFamily="34" charset="0"/>
              </a:endParaRPr>
            </a:p>
            <a:p>
              <a:pPr marL="228600" indent="-228600">
                <a:buFont typeface="+mj-lt"/>
                <a:buAutoNum type="arabicPeriod"/>
                <a:defRPr/>
              </a:pPr>
              <a:r>
                <a:rPr lang="es-PE" sz="1700" dirty="0">
                  <a:solidFill>
                    <a:schemeClr val="tx1"/>
                  </a:solidFill>
                  <a:latin typeface="Inter" panose="020B0604020202020204" charset="0"/>
                  <a:ea typeface="Inter" panose="020B0604020202020204" charset="0"/>
                </a:rPr>
                <a:t>Certificado de inexistencia de restos arqueológicos - CIRA o el plan de monitoreo arqueológico-PMA.</a:t>
              </a:r>
              <a:endParaRPr lang="es-PE" sz="1700" dirty="0">
                <a:solidFill>
                  <a:schemeClr val="tx1"/>
                </a:solidFill>
                <a:latin typeface="Inter" panose="020B0604020202020204" charset="0"/>
                <a:ea typeface="Inter" panose="020B0604020202020204" charset="0"/>
                <a:cs typeface="Calibri" panose="020F0502020204030204" pitchFamily="34" charset="0"/>
              </a:endParaRPr>
            </a:p>
          </p:txBody>
        </p:sp>
        <p:cxnSp>
          <p:nvCxnSpPr>
            <p:cNvPr id="14" name="Conector: angular 338">
              <a:extLst>
                <a:ext uri="{FF2B5EF4-FFF2-40B4-BE49-F238E27FC236}">
                  <a16:creationId xmlns:a16="http://schemas.microsoft.com/office/drawing/2014/main" xmlns="" id="{C4B4BE5F-126B-8A9F-E9E0-7FE303CC40B6}"/>
                </a:ext>
              </a:extLst>
            </p:cNvPr>
            <p:cNvCxnSpPr>
              <a:cxnSpLocks/>
              <a:stCxn id="68" idx="1"/>
              <a:endCxn id="12" idx="3"/>
            </p:cNvCxnSpPr>
            <p:nvPr/>
          </p:nvCxnSpPr>
          <p:spPr>
            <a:xfrm rot="10800000">
              <a:off x="3150425" y="1164433"/>
              <a:ext cx="1079743" cy="1000689"/>
            </a:xfrm>
            <a:prstGeom prst="bentConnector3">
              <a:avLst>
                <a:gd name="adj1" fmla="val 50000"/>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angular 15">
              <a:extLst>
                <a:ext uri="{FF2B5EF4-FFF2-40B4-BE49-F238E27FC236}">
                  <a16:creationId xmlns:a16="http://schemas.microsoft.com/office/drawing/2014/main" xmlns="" id="{DFA7E3C0-8414-BABA-BC4D-A6D0B23A4078}"/>
                </a:ext>
              </a:extLst>
            </p:cNvPr>
            <p:cNvCxnSpPr>
              <a:cxnSpLocks/>
              <a:stCxn id="68" idx="1"/>
              <a:endCxn id="13" idx="0"/>
            </p:cNvCxnSpPr>
            <p:nvPr/>
          </p:nvCxnSpPr>
          <p:spPr>
            <a:xfrm rot="10800000" flipV="1">
              <a:off x="2930129" y="2165120"/>
              <a:ext cx="1300038" cy="396530"/>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2">
              <a:extLst>
                <a:ext uri="{FF2B5EF4-FFF2-40B4-BE49-F238E27FC236}">
                  <a16:creationId xmlns:a16="http://schemas.microsoft.com/office/drawing/2014/main" xmlns="" id="{588F53A4-FB6D-1573-71B8-2B26D7C10EEC}"/>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7" name="72 CuadroTexto">
              <a:extLst>
                <a:ext uri="{FF2B5EF4-FFF2-40B4-BE49-F238E27FC236}">
                  <a16:creationId xmlns:a16="http://schemas.microsoft.com/office/drawing/2014/main" xmlns="" id="{746E0664-35EA-9795-2E1A-61D7AD92F335}"/>
                </a:ext>
              </a:extLst>
            </p:cNvPr>
            <p:cNvSpPr txBox="1">
              <a:spLocks noChangeArrowheads="1"/>
            </p:cNvSpPr>
            <p:nvPr/>
          </p:nvSpPr>
          <p:spPr bwMode="auto">
            <a:xfrm>
              <a:off x="6027459" y="3138580"/>
              <a:ext cx="545338" cy="2292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Calibri" panose="020F0502020204030204" pitchFamily="34" charset="0"/>
                </a:rPr>
                <a:t>45 dh</a:t>
              </a:r>
            </a:p>
          </p:txBody>
        </p:sp>
        <p:sp>
          <p:nvSpPr>
            <p:cNvPr id="18" name="56 Rectángulo">
              <a:extLst>
                <a:ext uri="{FF2B5EF4-FFF2-40B4-BE49-F238E27FC236}">
                  <a16:creationId xmlns:a16="http://schemas.microsoft.com/office/drawing/2014/main" xmlns="" id="{32FAD67A-BE97-E751-5800-086C4EFA0EE4}"/>
                </a:ext>
              </a:extLst>
            </p:cNvPr>
            <p:cNvSpPr/>
            <p:nvPr/>
          </p:nvSpPr>
          <p:spPr bwMode="auto">
            <a:xfrm>
              <a:off x="4470400" y="280151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Calibri" panose="020F0502020204030204" pitchFamily="34" charset="0"/>
                </a:rPr>
                <a:t>Evaluación</a:t>
              </a:r>
            </a:p>
          </p:txBody>
        </p:sp>
        <p:cxnSp>
          <p:nvCxnSpPr>
            <p:cNvPr id="19" name="177 Conector recto de flecha">
              <a:extLst>
                <a:ext uri="{FF2B5EF4-FFF2-40B4-BE49-F238E27FC236}">
                  <a16:creationId xmlns:a16="http://schemas.microsoft.com/office/drawing/2014/main" xmlns="" id="{394C0395-220C-9862-70A7-DD19F3B9B1F5}"/>
                </a:ext>
              </a:extLst>
            </p:cNvPr>
            <p:cNvCxnSpPr>
              <a:cxnSpLocks/>
              <a:stCxn id="25" idx="2"/>
              <a:endCxn id="21" idx="0"/>
            </p:cNvCxnSpPr>
            <p:nvPr/>
          </p:nvCxnSpPr>
          <p:spPr bwMode="auto">
            <a:xfrm flipH="1">
              <a:off x="4858738" y="3816880"/>
              <a:ext cx="1394" cy="1558394"/>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20" name="177 Conector recto de flecha">
              <a:extLst>
                <a:ext uri="{FF2B5EF4-FFF2-40B4-BE49-F238E27FC236}">
                  <a16:creationId xmlns:a16="http://schemas.microsoft.com/office/drawing/2014/main" xmlns="" id="{8BA2FB3A-0AAD-20C5-43A7-9E7A5DA6941D}"/>
                </a:ext>
              </a:extLst>
            </p:cNvPr>
            <p:cNvCxnSpPr>
              <a:cxnSpLocks/>
              <a:endCxn id="18"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21" name="CuadroTexto 20">
              <a:extLst>
                <a:ext uri="{FF2B5EF4-FFF2-40B4-BE49-F238E27FC236}">
                  <a16:creationId xmlns:a16="http://schemas.microsoft.com/office/drawing/2014/main" xmlns="" id="{0E6430CB-1715-021E-9A2E-3ACA14C606A8}"/>
                </a:ext>
              </a:extLst>
            </p:cNvPr>
            <p:cNvSpPr txBox="1"/>
            <p:nvPr/>
          </p:nvSpPr>
          <p:spPr bwMode="auto">
            <a:xfrm>
              <a:off x="3751263" y="5375274"/>
              <a:ext cx="2214950" cy="1479501"/>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lang="es-PE" sz="1700" b="1" dirty="0">
                  <a:solidFill>
                    <a:srgbClr val="000000"/>
                  </a:solidFill>
                  <a:latin typeface="Inter" panose="020B0604020202020204" charset="0"/>
                  <a:ea typeface="Inter" panose="020B0604020202020204" charset="0"/>
                  <a:cs typeface="Calibri" panose="020F0502020204030204" pitchFamily="34" charset="0"/>
                </a:rPr>
                <a:t>Resolución que: </a:t>
              </a:r>
            </a:p>
            <a:p>
              <a:pPr marL="85725" indent="-85725">
                <a:buFontTx/>
                <a:buChar char="-"/>
                <a:defRPr/>
              </a:pPr>
              <a:r>
                <a:rPr lang="es-PE" sz="1700" dirty="0">
                  <a:latin typeface="Inter" panose="020B0604020202020204" charset="0"/>
                  <a:ea typeface="Inter" panose="020B0604020202020204" charset="0"/>
                </a:rPr>
                <a:t>Aprueba el proyecto de la concesión de transporte minero, </a:t>
              </a:r>
            </a:p>
            <a:p>
              <a:pPr marL="85725" indent="-85725">
                <a:buFontTx/>
                <a:buChar char="-"/>
                <a:defRPr/>
              </a:pPr>
              <a:r>
                <a:rPr lang="es-PE" sz="1700" dirty="0">
                  <a:latin typeface="Inter" panose="020B0604020202020204" charset="0"/>
                  <a:ea typeface="Inter" panose="020B0604020202020204" charset="0"/>
                </a:rPr>
                <a:t>Autoriza la construcción del sistema de transporte, </a:t>
              </a:r>
            </a:p>
            <a:p>
              <a:pPr marL="85725" indent="-85725">
                <a:buFontTx/>
                <a:buChar char="-"/>
                <a:defRPr/>
              </a:pPr>
              <a:r>
                <a:rPr lang="es-PE" sz="1700" dirty="0">
                  <a:latin typeface="Inter" panose="020B0604020202020204" charset="0"/>
                  <a:ea typeface="Inter" panose="020B0604020202020204" charset="0"/>
                </a:rPr>
                <a:t>Otorga la concesión de Transporte Minero, y </a:t>
              </a:r>
            </a:p>
            <a:p>
              <a:pPr marL="85725" indent="-85725">
                <a:buFontTx/>
                <a:buChar char="-"/>
                <a:defRPr/>
              </a:pPr>
              <a:r>
                <a:rPr lang="es-PE" sz="1700" dirty="0">
                  <a:latin typeface="Inter" panose="020B0604020202020204" charset="0"/>
                  <a:ea typeface="Inter" panose="020B0604020202020204" charset="0"/>
                </a:rPr>
                <a:t>Autoriza el funcionamiento del sistema de transporte minero</a:t>
              </a:r>
              <a:r>
                <a:rPr lang="es-PE" sz="1700" b="1" dirty="0">
                  <a:latin typeface="Inter" panose="020B0604020202020204" charset="0"/>
                  <a:ea typeface="Inter" panose="020B0604020202020204" charset="0"/>
                </a:rPr>
                <a:t>.</a:t>
              </a:r>
              <a:endParaRPr lang="es-PE" sz="1700" b="1" dirty="0">
                <a:solidFill>
                  <a:srgbClr val="000000"/>
                </a:solidFill>
                <a:latin typeface="Inter" panose="020B0604020202020204" charset="0"/>
                <a:ea typeface="Inter" panose="020B0604020202020204" charset="0"/>
                <a:cs typeface="Calibri" panose="020F0502020204030204" pitchFamily="34" charset="0"/>
              </a:endParaRPr>
            </a:p>
          </p:txBody>
        </p:sp>
        <p:cxnSp>
          <p:nvCxnSpPr>
            <p:cNvPr id="22" name="Conector: angular 449">
              <a:extLst>
                <a:ext uri="{FF2B5EF4-FFF2-40B4-BE49-F238E27FC236}">
                  <a16:creationId xmlns:a16="http://schemas.microsoft.com/office/drawing/2014/main" xmlns="" id="{B01E9189-CA44-D083-5639-8D1B1C40B613}"/>
                </a:ext>
              </a:extLst>
            </p:cNvPr>
            <p:cNvCxnSpPr>
              <a:cxnSpLocks/>
              <a:stCxn id="17" idx="0"/>
              <a:endCxn id="7" idx="6"/>
            </p:cNvCxnSpPr>
            <p:nvPr/>
          </p:nvCxnSpPr>
          <p:spPr bwMode="auto">
            <a:xfrm rot="16200000" flipV="1">
              <a:off x="4936353" y="1774804"/>
              <a:ext cx="1977323" cy="75022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angular 451">
              <a:extLst>
                <a:ext uri="{FF2B5EF4-FFF2-40B4-BE49-F238E27FC236}">
                  <a16:creationId xmlns:a16="http://schemas.microsoft.com/office/drawing/2014/main" xmlns="" id="{492B4178-96AF-2DE4-478F-041D98242506}"/>
                </a:ext>
              </a:extLst>
            </p:cNvPr>
            <p:cNvCxnSpPr>
              <a:cxnSpLocks/>
              <a:stCxn id="17" idx="2"/>
              <a:endCxn id="21" idx="3"/>
            </p:cNvCxnSpPr>
            <p:nvPr/>
          </p:nvCxnSpPr>
          <p:spPr bwMode="auto">
            <a:xfrm rot="5400000">
              <a:off x="4759557" y="4574454"/>
              <a:ext cx="2747227" cy="333916"/>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xmlns="" id="{CBD10DE5-6282-FA56-8E5D-A288C4E7A9B3}"/>
                </a:ext>
              </a:extLst>
            </p:cNvPr>
            <p:cNvSpPr txBox="1"/>
            <p:nvPr/>
          </p:nvSpPr>
          <p:spPr bwMode="auto">
            <a:xfrm flipH="1">
              <a:off x="4677628" y="3778531"/>
              <a:ext cx="165100" cy="166704"/>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Calibri" panose="020F0502020204030204" pitchFamily="34" charset="0"/>
                </a:rPr>
                <a:t>SI</a:t>
              </a:r>
            </a:p>
          </p:txBody>
        </p:sp>
        <p:sp>
          <p:nvSpPr>
            <p:cNvPr id="25" name="Decisión 71">
              <a:extLst>
                <a:ext uri="{FF2B5EF4-FFF2-40B4-BE49-F238E27FC236}">
                  <a16:creationId xmlns:a16="http://schemas.microsoft.com/office/drawing/2014/main" xmlns="" id="{B3D33E98-6552-DD5E-F452-E652E60B5832}"/>
                </a:ext>
              </a:extLst>
            </p:cNvPr>
            <p:cNvSpPr/>
            <p:nvPr/>
          </p:nvSpPr>
          <p:spPr bwMode="auto">
            <a:xfrm>
              <a:off x="4470400" y="3485728"/>
              <a:ext cx="779463" cy="331152"/>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Calibri" panose="020F0502020204030204" pitchFamily="34" charset="0"/>
                </a:rPr>
                <a:t>cumple</a:t>
              </a:r>
            </a:p>
          </p:txBody>
        </p:sp>
        <p:sp>
          <p:nvSpPr>
            <p:cNvPr id="26" name="CuadroTexto 25">
              <a:extLst>
                <a:ext uri="{FF2B5EF4-FFF2-40B4-BE49-F238E27FC236}">
                  <a16:creationId xmlns:a16="http://schemas.microsoft.com/office/drawing/2014/main" xmlns="" id="{BC27BFC9-DE1B-B458-26A3-D0D57E5E223E}"/>
                </a:ext>
              </a:extLst>
            </p:cNvPr>
            <p:cNvSpPr txBox="1"/>
            <p:nvPr/>
          </p:nvSpPr>
          <p:spPr bwMode="auto">
            <a:xfrm>
              <a:off x="5469732" y="3492965"/>
              <a:ext cx="684213" cy="500113"/>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Calibri" panose="020F0502020204030204" pitchFamily="34" charset="0"/>
                </a:rPr>
                <a:t>Requerir subsanar observaciones</a:t>
              </a:r>
            </a:p>
          </p:txBody>
        </p:sp>
        <p:sp>
          <p:nvSpPr>
            <p:cNvPr id="27" name="CuadroTexto 26">
              <a:extLst>
                <a:ext uri="{FF2B5EF4-FFF2-40B4-BE49-F238E27FC236}">
                  <a16:creationId xmlns:a16="http://schemas.microsoft.com/office/drawing/2014/main" xmlns="" id="{B6058472-F6B4-F0FE-2894-19E74B3001B4}"/>
                </a:ext>
              </a:extLst>
            </p:cNvPr>
            <p:cNvSpPr txBox="1"/>
            <p:nvPr/>
          </p:nvSpPr>
          <p:spPr bwMode="auto">
            <a:xfrm>
              <a:off x="5480670" y="4312199"/>
              <a:ext cx="682625" cy="333409"/>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Calibri" panose="020F0502020204030204" pitchFamily="34" charset="0"/>
                </a:rPr>
                <a:t>Subsana observaciones</a:t>
              </a:r>
            </a:p>
          </p:txBody>
        </p:sp>
        <p:sp>
          <p:nvSpPr>
            <p:cNvPr id="28" name="72 CuadroTexto">
              <a:extLst>
                <a:ext uri="{FF2B5EF4-FFF2-40B4-BE49-F238E27FC236}">
                  <a16:creationId xmlns:a16="http://schemas.microsoft.com/office/drawing/2014/main" xmlns="" id="{1C2271C9-DC01-7600-7804-89446487D8EA}"/>
                </a:ext>
              </a:extLst>
            </p:cNvPr>
            <p:cNvSpPr txBox="1">
              <a:spLocks noChangeArrowheads="1"/>
            </p:cNvSpPr>
            <p:nvPr/>
          </p:nvSpPr>
          <p:spPr bwMode="auto">
            <a:xfrm>
              <a:off x="5854855" y="4018116"/>
              <a:ext cx="271538" cy="16670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Calibri" panose="020F0502020204030204" pitchFamily="34" charset="0"/>
                </a:rPr>
                <a:t>20 dh</a:t>
              </a:r>
            </a:p>
          </p:txBody>
        </p:sp>
        <p:sp>
          <p:nvSpPr>
            <p:cNvPr id="29" name="CuadroTexto 28">
              <a:extLst>
                <a:ext uri="{FF2B5EF4-FFF2-40B4-BE49-F238E27FC236}">
                  <a16:creationId xmlns:a16="http://schemas.microsoft.com/office/drawing/2014/main" xmlns="" id="{2E2DB3DF-CCD0-4F94-EB9B-A85DAE9762C5}"/>
                </a:ext>
              </a:extLst>
            </p:cNvPr>
            <p:cNvSpPr txBox="1"/>
            <p:nvPr/>
          </p:nvSpPr>
          <p:spPr bwMode="auto">
            <a:xfrm>
              <a:off x="5211729" y="3418521"/>
              <a:ext cx="171450" cy="166704"/>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Calibri" panose="020F0502020204030204" pitchFamily="34" charset="0"/>
                </a:rPr>
                <a:t>NO</a:t>
              </a:r>
            </a:p>
          </p:txBody>
        </p:sp>
        <p:cxnSp>
          <p:nvCxnSpPr>
            <p:cNvPr id="30" name="Conector recto de flecha 29">
              <a:extLst>
                <a:ext uri="{FF2B5EF4-FFF2-40B4-BE49-F238E27FC236}">
                  <a16:creationId xmlns:a16="http://schemas.microsoft.com/office/drawing/2014/main" xmlns="" id="{A3D0AC96-35CB-2449-E094-7E4E18091D09}"/>
                </a:ext>
              </a:extLst>
            </p:cNvPr>
            <p:cNvCxnSpPr>
              <a:stCxn id="25" idx="3"/>
              <a:endCxn id="26" idx="1"/>
            </p:cNvCxnSpPr>
            <p:nvPr/>
          </p:nvCxnSpPr>
          <p:spPr bwMode="auto">
            <a:xfrm>
              <a:off x="5249863" y="3651304"/>
              <a:ext cx="219869" cy="91717"/>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xmlns="" id="{B71A6DE6-B9ED-DD77-CF50-9619CC76223A}"/>
                </a:ext>
              </a:extLst>
            </p:cNvPr>
            <p:cNvCxnSpPr>
              <a:stCxn id="18" idx="2"/>
              <a:endCxn id="25" idx="0"/>
            </p:cNvCxnSpPr>
            <p:nvPr/>
          </p:nvCxnSpPr>
          <p:spPr bwMode="auto">
            <a:xfrm>
              <a:off x="4856163" y="3119016"/>
              <a:ext cx="3969" cy="366712"/>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64" name="Conector recto 63">
              <a:extLst>
                <a:ext uri="{FF2B5EF4-FFF2-40B4-BE49-F238E27FC236}">
                  <a16:creationId xmlns:a16="http://schemas.microsoft.com/office/drawing/2014/main" xmlns="" id="{56CAE149-87D1-2226-1539-F0DD49804E60}"/>
                </a:ext>
              </a:extLst>
            </p:cNvPr>
            <p:cNvCxnSpPr>
              <a:stCxn id="26" idx="2"/>
              <a:endCxn id="27" idx="0"/>
            </p:cNvCxnSpPr>
            <p:nvPr/>
          </p:nvCxnSpPr>
          <p:spPr bwMode="auto">
            <a:xfrm>
              <a:off x="5811839" y="3993078"/>
              <a:ext cx="10144" cy="319121"/>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65" name="72 CuadroTexto">
              <a:extLst>
                <a:ext uri="{FF2B5EF4-FFF2-40B4-BE49-F238E27FC236}">
                  <a16:creationId xmlns:a16="http://schemas.microsoft.com/office/drawing/2014/main" xmlns="" id="{8381CD68-B27D-3F03-D248-5225F6F3293A}"/>
                </a:ext>
              </a:extLst>
            </p:cNvPr>
            <p:cNvSpPr txBox="1">
              <a:spLocks noChangeArrowheads="1"/>
            </p:cNvSpPr>
            <p:nvPr/>
          </p:nvSpPr>
          <p:spPr bwMode="auto">
            <a:xfrm>
              <a:off x="5587206" y="2330819"/>
              <a:ext cx="452055" cy="2292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dirty="0">
                  <a:solidFill>
                    <a:srgbClr val="000000"/>
                  </a:solidFill>
                  <a:latin typeface="Inter" panose="020B0604020202020204" charset="0"/>
                  <a:ea typeface="Inter" panose="020B0604020202020204" charset="0"/>
                  <a:cs typeface="Calibri" panose="020F0502020204030204" pitchFamily="34" charset="0"/>
                </a:rPr>
                <a:t>15 dh</a:t>
              </a:r>
            </a:p>
          </p:txBody>
        </p:sp>
        <p:cxnSp>
          <p:nvCxnSpPr>
            <p:cNvPr id="66" name="Conector recto de flecha 65">
              <a:extLst>
                <a:ext uri="{FF2B5EF4-FFF2-40B4-BE49-F238E27FC236}">
                  <a16:creationId xmlns:a16="http://schemas.microsoft.com/office/drawing/2014/main" xmlns="" id="{76A6137A-6F87-CF6D-C693-7DAC832B4863}"/>
                </a:ext>
              </a:extLst>
            </p:cNvPr>
            <p:cNvCxnSpPr>
              <a:stCxn id="65" idx="2"/>
              <a:endCxn id="26" idx="0"/>
            </p:cNvCxnSpPr>
            <p:nvPr/>
          </p:nvCxnSpPr>
          <p:spPr bwMode="auto">
            <a:xfrm flipH="1">
              <a:off x="5811839" y="2560037"/>
              <a:ext cx="1395" cy="932928"/>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ector angular 81">
              <a:extLst>
                <a:ext uri="{FF2B5EF4-FFF2-40B4-BE49-F238E27FC236}">
                  <a16:creationId xmlns:a16="http://schemas.microsoft.com/office/drawing/2014/main" xmlns="" id="{4580F232-2444-6D8E-9BBC-1364F78B517A}"/>
                </a:ext>
              </a:extLst>
            </p:cNvPr>
            <p:cNvCxnSpPr>
              <a:stCxn id="65" idx="0"/>
              <a:endCxn id="7" idx="6"/>
            </p:cNvCxnSpPr>
            <p:nvPr/>
          </p:nvCxnSpPr>
          <p:spPr bwMode="auto">
            <a:xfrm rot="16200000" flipV="1">
              <a:off x="5096786" y="1614371"/>
              <a:ext cx="1169562" cy="263334"/>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24 Rectángulo">
              <a:extLst>
                <a:ext uri="{FF2B5EF4-FFF2-40B4-BE49-F238E27FC236}">
                  <a16:creationId xmlns:a16="http://schemas.microsoft.com/office/drawing/2014/main" xmlns="" id="{A771AB60-10F6-4F67-D6EA-39491BB3F0DC}"/>
                </a:ext>
              </a:extLst>
            </p:cNvPr>
            <p:cNvSpPr/>
            <p:nvPr/>
          </p:nvSpPr>
          <p:spPr bwMode="auto">
            <a:xfrm>
              <a:off x="4230167" y="1872227"/>
              <a:ext cx="1235849"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Calibri" panose="020F0502020204030204" pitchFamily="34" charset="0"/>
                </a:rPr>
                <a:t>Evaluación de la solicitud y los requisitos de presentación </a:t>
              </a:r>
            </a:p>
          </p:txBody>
        </p:sp>
        <p:cxnSp>
          <p:nvCxnSpPr>
            <p:cNvPr id="69" name="Conector angular 101">
              <a:extLst>
                <a:ext uri="{FF2B5EF4-FFF2-40B4-BE49-F238E27FC236}">
                  <a16:creationId xmlns:a16="http://schemas.microsoft.com/office/drawing/2014/main" xmlns="" id="{D0649722-B409-2A53-A649-324AED80DBE4}"/>
                </a:ext>
              </a:extLst>
            </p:cNvPr>
            <p:cNvCxnSpPr>
              <a:cxnSpLocks/>
              <a:stCxn id="27" idx="1"/>
              <a:endCxn id="21" idx="0"/>
            </p:cNvCxnSpPr>
            <p:nvPr/>
          </p:nvCxnSpPr>
          <p:spPr bwMode="auto">
            <a:xfrm rot="10800000" flipV="1">
              <a:off x="4858738" y="4478904"/>
              <a:ext cx="621932" cy="896370"/>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0391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9D00773-E5C4-E0AA-FE1C-761136974B1E}"/>
            </a:ext>
          </a:extLst>
        </p:cNvPr>
        <p:cNvGrpSpPr/>
        <p:nvPr/>
      </p:nvGrpSpPr>
      <p:grpSpPr>
        <a:xfrm>
          <a:off x="0" y="0"/>
          <a:ext cx="0" cy="0"/>
          <a:chOff x="0" y="0"/>
          <a:chExt cx="0" cy="0"/>
        </a:xfrm>
      </p:grpSpPr>
      <p:grpSp>
        <p:nvGrpSpPr>
          <p:cNvPr id="8" name="Group 2">
            <a:extLst>
              <a:ext uri="{FF2B5EF4-FFF2-40B4-BE49-F238E27FC236}">
                <a16:creationId xmlns:a16="http://schemas.microsoft.com/office/drawing/2014/main" xmlns="" id="{1E66DFEB-0D7F-8F90-CA4D-5D7CD61FDD1E}"/>
              </a:ext>
            </a:extLst>
          </p:cNvPr>
          <p:cNvGrpSpPr/>
          <p:nvPr/>
        </p:nvGrpSpPr>
        <p:grpSpPr>
          <a:xfrm>
            <a:off x="6397409" y="7556924"/>
            <a:ext cx="10861891" cy="2730076"/>
            <a:chOff x="0" y="0"/>
            <a:chExt cx="1363973" cy="342827"/>
          </a:xfrm>
        </p:grpSpPr>
        <p:sp>
          <p:nvSpPr>
            <p:cNvPr id="9" name="Freeform 3">
              <a:extLst>
                <a:ext uri="{FF2B5EF4-FFF2-40B4-BE49-F238E27FC236}">
                  <a16:creationId xmlns:a16="http://schemas.microsoft.com/office/drawing/2014/main" xmlns="" id="{BFCA6449-0084-EEBE-A4B0-7ACCBC92AE29}"/>
                </a:ext>
              </a:extLst>
            </p:cNvPr>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10" name="TextBox 4">
              <a:extLst>
                <a:ext uri="{FF2B5EF4-FFF2-40B4-BE49-F238E27FC236}">
                  <a16:creationId xmlns:a16="http://schemas.microsoft.com/office/drawing/2014/main" xmlns="" id="{12269A37-625A-0B7C-92F2-1DD640B5F67B}"/>
                </a:ext>
              </a:extLst>
            </p:cNvPr>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4" name="Freeform 4">
            <a:extLst>
              <a:ext uri="{FF2B5EF4-FFF2-40B4-BE49-F238E27FC236}">
                <a16:creationId xmlns:a16="http://schemas.microsoft.com/office/drawing/2014/main" xmlns="" id="{C66F2C09-C6F0-1FB1-255E-A2880AB25C1E}"/>
              </a:ext>
            </a:extLst>
          </p:cNvPr>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5" name="Freeform 5">
            <a:extLst>
              <a:ext uri="{FF2B5EF4-FFF2-40B4-BE49-F238E27FC236}">
                <a16:creationId xmlns:a16="http://schemas.microsoft.com/office/drawing/2014/main" xmlns="" id="{12DBBC30-A848-5301-BE11-F681A135A7EC}"/>
              </a:ext>
            </a:extLst>
          </p:cNvPr>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2" name="Título 1">
            <a:extLst>
              <a:ext uri="{FF2B5EF4-FFF2-40B4-BE49-F238E27FC236}">
                <a16:creationId xmlns:a16="http://schemas.microsoft.com/office/drawing/2014/main" xmlns="" id="{CAEE67BF-FEC5-8A50-51EA-7D295C39FD8C}"/>
              </a:ext>
            </a:extLst>
          </p:cNvPr>
          <p:cNvSpPr txBox="1">
            <a:spLocks/>
          </p:cNvSpPr>
          <p:nvPr/>
        </p:nvSpPr>
        <p:spPr>
          <a:xfrm>
            <a:off x="457199" y="952500"/>
            <a:ext cx="3581401" cy="2229601"/>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PE" altLang="es-PE" sz="2400" b="1" dirty="0">
                <a:latin typeface="Inter" panose="020B0604020202020204" charset="0"/>
                <a:ea typeface="Inter" panose="020B0604020202020204" charset="0"/>
              </a:rPr>
              <a:t>Modificación de la concesión de transporte  minero (sin ampliación de área)</a:t>
            </a:r>
            <a:endParaRPr lang="es-PE" sz="2400" dirty="0">
              <a:latin typeface="Inter" panose="020B0604020202020204" charset="0"/>
              <a:ea typeface="Inter" panose="020B0604020202020204" charset="0"/>
            </a:endParaRPr>
          </a:p>
        </p:txBody>
      </p:sp>
      <p:sp>
        <p:nvSpPr>
          <p:cNvPr id="3" name="Marcador de texto 3">
            <a:extLst>
              <a:ext uri="{FF2B5EF4-FFF2-40B4-BE49-F238E27FC236}">
                <a16:creationId xmlns:a16="http://schemas.microsoft.com/office/drawing/2014/main" xmlns="" id="{3B1F9834-94CC-D43C-EC1E-8CBB1FA523EB}"/>
              </a:ext>
            </a:extLst>
          </p:cNvPr>
          <p:cNvSpPr txBox="1">
            <a:spLocks/>
          </p:cNvSpPr>
          <p:nvPr/>
        </p:nvSpPr>
        <p:spPr>
          <a:xfrm>
            <a:off x="457200" y="3182101"/>
            <a:ext cx="3581400" cy="5089593"/>
          </a:xfrm>
          <a:prstGeom prst="rect">
            <a:avLst/>
          </a:prstGeom>
          <a:ln>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s-PE" sz="2400" dirty="0">
              <a:solidFill>
                <a:schemeClr val="accent2">
                  <a:lumMod val="50000"/>
                </a:schemeClr>
              </a:solidFill>
              <a:latin typeface="Inter" panose="020B0604020202020204" charset="0"/>
              <a:ea typeface="Inter" panose="020B0604020202020204" charset="0"/>
            </a:endParaRPr>
          </a:p>
          <a:p>
            <a:r>
              <a:rPr lang="es-PE" sz="2400" b="1" dirty="0">
                <a:solidFill>
                  <a:schemeClr val="accent2">
                    <a:lumMod val="50000"/>
                  </a:schemeClr>
                </a:solidFill>
                <a:latin typeface="Inter" panose="020B0604020202020204" charset="0"/>
                <a:ea typeface="Inter" panose="020B0604020202020204" charset="0"/>
              </a:rPr>
              <a:t>Art. 96, 96.1, 2 del RPM</a:t>
            </a:r>
          </a:p>
          <a:p>
            <a:r>
              <a:rPr lang="es-PE" sz="2400" b="1" dirty="0">
                <a:solidFill>
                  <a:schemeClr val="accent2">
                    <a:lumMod val="50000"/>
                  </a:schemeClr>
                </a:solidFill>
                <a:latin typeface="Inter" panose="020B0604020202020204" charset="0"/>
                <a:ea typeface="Inter" panose="020B0604020202020204" charset="0"/>
              </a:rPr>
              <a:t>El plazo máximo de evaluación: es de cuarenta y cinco (45) días hábiles </a:t>
            </a:r>
          </a:p>
          <a:p>
            <a:r>
              <a:rPr lang="es-PE" sz="2400" b="1" dirty="0">
                <a:solidFill>
                  <a:schemeClr val="accent2">
                    <a:lumMod val="50000"/>
                  </a:schemeClr>
                </a:solidFill>
                <a:latin typeface="Inter" panose="020B0604020202020204" charset="0"/>
                <a:ea typeface="Inter" panose="020B0604020202020204" charset="0"/>
              </a:rPr>
              <a:t>El procedimiento es de evaluación previa sujeto a silencio administrativo Positivo.</a:t>
            </a:r>
          </a:p>
        </p:txBody>
      </p:sp>
      <p:grpSp>
        <p:nvGrpSpPr>
          <p:cNvPr id="70" name="Grupo 69">
            <a:extLst>
              <a:ext uri="{FF2B5EF4-FFF2-40B4-BE49-F238E27FC236}">
                <a16:creationId xmlns:a16="http://schemas.microsoft.com/office/drawing/2014/main" xmlns="" id="{86FBB9D9-C996-4B79-AA9A-7E8B767B6342}"/>
              </a:ext>
            </a:extLst>
          </p:cNvPr>
          <p:cNvGrpSpPr/>
          <p:nvPr/>
        </p:nvGrpSpPr>
        <p:grpSpPr>
          <a:xfrm>
            <a:off x="4419600" y="1052318"/>
            <a:ext cx="11582400" cy="8363180"/>
            <a:chOff x="1722378" y="781050"/>
            <a:chExt cx="4850419" cy="5868425"/>
          </a:xfrm>
        </p:grpSpPr>
        <p:sp>
          <p:nvSpPr>
            <p:cNvPr id="71" name="3 Elipse">
              <a:extLst>
                <a:ext uri="{FF2B5EF4-FFF2-40B4-BE49-F238E27FC236}">
                  <a16:creationId xmlns:a16="http://schemas.microsoft.com/office/drawing/2014/main" xmlns="" id="{B75633B6-55B8-26F7-4D6D-FFE53FE10EB2}"/>
                </a:ext>
              </a:extLst>
            </p:cNvPr>
            <p:cNvSpPr/>
            <p:nvPr/>
          </p:nvSpPr>
          <p:spPr>
            <a:xfrm>
              <a:off x="4146550" y="781050"/>
              <a:ext cx="1403350" cy="760413"/>
            </a:xfrm>
            <a:prstGeom prst="ellipse">
              <a:avLst/>
            </a:prstGeom>
            <a:solidFill>
              <a:srgbClr val="92D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Calibri" panose="020F0502020204030204" pitchFamily="34" charset="0"/>
                </a:rPr>
                <a:t>SOLICITUD</a:t>
              </a:r>
            </a:p>
            <a:p>
              <a:pPr algn="ctr" eaLnBrk="1" hangingPunct="1">
                <a:defRPr/>
              </a:pPr>
              <a:r>
                <a:rPr lang="es-PE" sz="1600" dirty="0">
                  <a:solidFill>
                    <a:srgbClr val="000000"/>
                  </a:solidFill>
                  <a:latin typeface="Inter" panose="020B0604020202020204" charset="0"/>
                  <a:ea typeface="Inter" panose="020B0604020202020204" charset="0"/>
                  <a:cs typeface="Calibri" panose="020F0502020204030204" pitchFamily="34" charset="0"/>
                </a:rPr>
                <a:t>(Formulario físico)</a:t>
              </a:r>
            </a:p>
            <a:p>
              <a:pPr algn="ctr" eaLnBrk="1" hangingPunct="1">
                <a:defRPr/>
              </a:pPr>
              <a:r>
                <a:rPr lang="es-PE" sz="1600" dirty="0">
                  <a:solidFill>
                    <a:srgbClr val="000000"/>
                  </a:solidFill>
                  <a:latin typeface="Inter" panose="020B0604020202020204" charset="0"/>
                  <a:ea typeface="Inter" panose="020B0604020202020204" charset="0"/>
                  <a:cs typeface="Calibri" panose="020F0502020204030204" pitchFamily="34" charset="0"/>
                </a:rPr>
                <a:t>DGM/GORE</a:t>
              </a:r>
            </a:p>
          </p:txBody>
        </p:sp>
        <p:cxnSp>
          <p:nvCxnSpPr>
            <p:cNvPr id="72" name="5 Conector recto de flecha">
              <a:extLst>
                <a:ext uri="{FF2B5EF4-FFF2-40B4-BE49-F238E27FC236}">
                  <a16:creationId xmlns:a16="http://schemas.microsoft.com/office/drawing/2014/main" xmlns="" id="{328FD098-E26C-F185-C832-512AE16EF886}"/>
                </a:ext>
              </a:extLst>
            </p:cNvPr>
            <p:cNvCxnSpPr>
              <a:cxnSpLocks/>
              <a:stCxn id="71" idx="4"/>
            </p:cNvCxnSpPr>
            <p:nvPr/>
          </p:nvCxnSpPr>
          <p:spPr>
            <a:xfrm>
              <a:off x="4848225" y="1541463"/>
              <a:ext cx="1" cy="441066"/>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73" name="56 Rectángulo">
              <a:extLst>
                <a:ext uri="{FF2B5EF4-FFF2-40B4-BE49-F238E27FC236}">
                  <a16:creationId xmlns:a16="http://schemas.microsoft.com/office/drawing/2014/main" xmlns="" id="{5964E989-E878-91CF-1C61-780BB8DC2183}"/>
                </a:ext>
              </a:extLst>
            </p:cNvPr>
            <p:cNvSpPr/>
            <p:nvPr/>
          </p:nvSpPr>
          <p:spPr>
            <a:xfrm>
              <a:off x="1722378" y="2670384"/>
              <a:ext cx="2302786" cy="1641815"/>
            </a:xfrm>
            <a:prstGeom prst="rect">
              <a:avLst/>
            </a:prstGeom>
            <a:solidFill>
              <a:srgbClr val="FF993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eaLnBrk="1" hangingPunct="1">
                <a:buFont typeface="+mj-lt"/>
                <a:buAutoNum type="arabicPeriod"/>
                <a:defRPr/>
              </a:pPr>
              <a:r>
                <a:rPr lang="es-PE" dirty="0">
                  <a:solidFill>
                    <a:schemeClr val="tx1"/>
                  </a:solidFill>
                  <a:latin typeface="Inter" panose="020B0604020202020204" charset="0"/>
                  <a:ea typeface="Inter" panose="020B0604020202020204" charset="0"/>
                  <a:cs typeface="Calibri" panose="020F0502020204030204" pitchFamily="34" charset="0"/>
                </a:rPr>
                <a:t>Derecho de tramite</a:t>
              </a:r>
            </a:p>
            <a:p>
              <a:pPr marL="228600" indent="-228600">
                <a:buFont typeface="+mj-lt"/>
                <a:buAutoNum type="arabicPeriod"/>
                <a:defRPr/>
              </a:pPr>
              <a:r>
                <a:rPr lang="es-PE" dirty="0">
                  <a:solidFill>
                    <a:schemeClr val="tx1"/>
                  </a:solidFill>
                  <a:latin typeface="Inter" panose="020B0604020202020204" charset="0"/>
                  <a:ea typeface="Inter" panose="020B0604020202020204" charset="0"/>
                  <a:cs typeface="Calibri" panose="020F0502020204030204" pitchFamily="34" charset="0"/>
                </a:rPr>
                <a:t>Instrumento de Gestión Ambiental aprobado.</a:t>
              </a:r>
            </a:p>
            <a:p>
              <a:pPr marL="228600" indent="-228600">
                <a:buFont typeface="+mj-lt"/>
                <a:buAutoNum type="arabicPeriod"/>
                <a:defRPr/>
              </a:pPr>
              <a:r>
                <a:rPr lang="es-PE" dirty="0">
                  <a:solidFill>
                    <a:schemeClr val="tx1"/>
                  </a:solidFill>
                  <a:latin typeface="Inter" panose="020B0604020202020204" charset="0"/>
                  <a:ea typeface="Inter" panose="020B0604020202020204" charset="0"/>
                </a:rPr>
                <a:t>Memoria descriptiva e Ingeniería detallada del proyecto de modificación sistema de transporte minero.</a:t>
              </a:r>
            </a:p>
            <a:p>
              <a:pPr marL="228600" indent="-228600">
                <a:buFont typeface="+mj-lt"/>
                <a:buAutoNum type="arabicPeriod"/>
                <a:defRPr/>
              </a:pPr>
              <a:r>
                <a:rPr lang="es-PE" dirty="0">
                  <a:solidFill>
                    <a:schemeClr val="tx1"/>
                  </a:solidFill>
                  <a:latin typeface="Inter" panose="020B0604020202020204" charset="0"/>
                  <a:ea typeface="Inter" panose="020B0604020202020204" charset="0"/>
                </a:rPr>
                <a:t>Plano de ubicación detallado indicando coordenadas UTM WGS84 de los vértices del área del proyecto.</a:t>
              </a:r>
              <a:endParaRPr lang="es-PE" dirty="0">
                <a:solidFill>
                  <a:schemeClr val="tx1"/>
                </a:solidFill>
                <a:latin typeface="Inter" panose="020B0604020202020204" charset="0"/>
                <a:ea typeface="Inter" panose="020B0604020202020204" charset="0"/>
                <a:cs typeface="Calibri" panose="020F0502020204030204" pitchFamily="34" charset="0"/>
              </a:endParaRPr>
            </a:p>
          </p:txBody>
        </p:sp>
        <p:cxnSp>
          <p:nvCxnSpPr>
            <p:cNvPr id="74" name="Conector angular 15">
              <a:extLst>
                <a:ext uri="{FF2B5EF4-FFF2-40B4-BE49-F238E27FC236}">
                  <a16:creationId xmlns:a16="http://schemas.microsoft.com/office/drawing/2014/main" xmlns="" id="{03748C39-CB29-0EBB-5296-D0BECC7757AA}"/>
                </a:ext>
              </a:extLst>
            </p:cNvPr>
            <p:cNvCxnSpPr>
              <a:cxnSpLocks/>
              <a:stCxn id="95" idx="1"/>
              <a:endCxn id="73" idx="0"/>
            </p:cNvCxnSpPr>
            <p:nvPr/>
          </p:nvCxnSpPr>
          <p:spPr>
            <a:xfrm rot="10800000" flipV="1">
              <a:off x="2873772" y="2165121"/>
              <a:ext cx="1356396" cy="50526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ector recto 2">
              <a:extLst>
                <a:ext uri="{FF2B5EF4-FFF2-40B4-BE49-F238E27FC236}">
                  <a16:creationId xmlns:a16="http://schemas.microsoft.com/office/drawing/2014/main" xmlns="" id="{9361FF5A-DBF1-9A22-9F71-FB4759E0F1F1}"/>
                </a:ext>
              </a:extLst>
            </p:cNvPr>
            <p:cNvCxnSpPr>
              <a:cxnSpLocks noChangeShapeType="1"/>
            </p:cNvCxnSpPr>
            <p:nvPr/>
          </p:nvCxnSpPr>
          <p:spPr bwMode="auto">
            <a:xfrm flipH="1">
              <a:off x="4829177" y="2346325"/>
              <a:ext cx="68261" cy="690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6" name="72 CuadroTexto">
              <a:extLst>
                <a:ext uri="{FF2B5EF4-FFF2-40B4-BE49-F238E27FC236}">
                  <a16:creationId xmlns:a16="http://schemas.microsoft.com/office/drawing/2014/main" xmlns="" id="{FA144D7F-40E8-3710-19CD-331A1F80D211}"/>
                </a:ext>
              </a:extLst>
            </p:cNvPr>
            <p:cNvSpPr txBox="1">
              <a:spLocks noChangeArrowheads="1"/>
            </p:cNvSpPr>
            <p:nvPr/>
          </p:nvSpPr>
          <p:spPr bwMode="auto">
            <a:xfrm>
              <a:off x="6027459" y="3138580"/>
              <a:ext cx="545338" cy="2375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dirty="0">
                  <a:solidFill>
                    <a:srgbClr val="000000"/>
                  </a:solidFill>
                  <a:latin typeface="Inter" panose="020B0604020202020204" charset="0"/>
                  <a:ea typeface="Inter" panose="020B0604020202020204" charset="0"/>
                  <a:cs typeface="Calibri" panose="020F0502020204030204" pitchFamily="34" charset="0"/>
                </a:rPr>
                <a:t>45 dh</a:t>
              </a:r>
            </a:p>
          </p:txBody>
        </p:sp>
        <p:sp>
          <p:nvSpPr>
            <p:cNvPr id="77" name="56 Rectángulo">
              <a:extLst>
                <a:ext uri="{FF2B5EF4-FFF2-40B4-BE49-F238E27FC236}">
                  <a16:creationId xmlns:a16="http://schemas.microsoft.com/office/drawing/2014/main" xmlns="" id="{69F42885-3EE1-F896-6DCC-EDD900FE489E}"/>
                </a:ext>
              </a:extLst>
            </p:cNvPr>
            <p:cNvSpPr/>
            <p:nvPr/>
          </p:nvSpPr>
          <p:spPr bwMode="auto">
            <a:xfrm>
              <a:off x="4470400" y="2801516"/>
              <a:ext cx="771525" cy="3175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s-PE" sz="1600" dirty="0">
                  <a:solidFill>
                    <a:srgbClr val="000000"/>
                  </a:solidFill>
                  <a:latin typeface="Inter" panose="020B0604020202020204" charset="0"/>
                  <a:ea typeface="Inter" panose="020B0604020202020204" charset="0"/>
                  <a:cs typeface="Calibri" panose="020F0502020204030204" pitchFamily="34" charset="0"/>
                </a:rPr>
                <a:t>Evaluación</a:t>
              </a:r>
            </a:p>
          </p:txBody>
        </p:sp>
        <p:cxnSp>
          <p:nvCxnSpPr>
            <p:cNvPr id="78" name="177 Conector recto de flecha">
              <a:extLst>
                <a:ext uri="{FF2B5EF4-FFF2-40B4-BE49-F238E27FC236}">
                  <a16:creationId xmlns:a16="http://schemas.microsoft.com/office/drawing/2014/main" xmlns="" id="{6FC8C19D-148E-3356-52E7-2E0C49F673FD}"/>
                </a:ext>
              </a:extLst>
            </p:cNvPr>
            <p:cNvCxnSpPr>
              <a:cxnSpLocks/>
              <a:stCxn id="84" idx="2"/>
              <a:endCxn id="80" idx="0"/>
            </p:cNvCxnSpPr>
            <p:nvPr/>
          </p:nvCxnSpPr>
          <p:spPr bwMode="auto">
            <a:xfrm>
              <a:off x="4860132" y="3828935"/>
              <a:ext cx="11112" cy="1546340"/>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79" name="177 Conector recto de flecha">
              <a:extLst>
                <a:ext uri="{FF2B5EF4-FFF2-40B4-BE49-F238E27FC236}">
                  <a16:creationId xmlns:a16="http://schemas.microsoft.com/office/drawing/2014/main" xmlns="" id="{B375BCF4-DC4A-58CF-CE6F-4EC2270ABF49}"/>
                </a:ext>
              </a:extLst>
            </p:cNvPr>
            <p:cNvCxnSpPr>
              <a:cxnSpLocks/>
              <a:endCxn id="77" idx="0"/>
            </p:cNvCxnSpPr>
            <p:nvPr/>
          </p:nvCxnSpPr>
          <p:spPr bwMode="auto">
            <a:xfrm>
              <a:off x="4851400" y="2234778"/>
              <a:ext cx="4763" cy="566738"/>
            </a:xfrm>
            <a:prstGeom prst="straightConnector1">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sp>
          <p:nvSpPr>
            <p:cNvPr id="80" name="CuadroTexto 79">
              <a:extLst>
                <a:ext uri="{FF2B5EF4-FFF2-40B4-BE49-F238E27FC236}">
                  <a16:creationId xmlns:a16="http://schemas.microsoft.com/office/drawing/2014/main" xmlns="" id="{1AEEABDC-8391-BC35-29C9-434ABA0E14FE}"/>
                </a:ext>
              </a:extLst>
            </p:cNvPr>
            <p:cNvSpPr txBox="1"/>
            <p:nvPr/>
          </p:nvSpPr>
          <p:spPr bwMode="auto">
            <a:xfrm>
              <a:off x="3751263" y="5375275"/>
              <a:ext cx="2239962" cy="1274200"/>
            </a:xfrm>
            <a:prstGeom prst="rect">
              <a:avLst/>
            </a:prstGeom>
            <a:ln>
              <a:solidFill>
                <a:schemeClr val="accent2">
                  <a:lumMod val="50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s-PE" sz="1600" b="1" dirty="0">
                  <a:solidFill>
                    <a:srgbClr val="000000"/>
                  </a:solidFill>
                  <a:latin typeface="Inter" panose="020B0604020202020204" charset="0"/>
                  <a:ea typeface="Inter" panose="020B0604020202020204" charset="0"/>
                  <a:cs typeface="Calibri" panose="020F0502020204030204" pitchFamily="34" charset="0"/>
                </a:rPr>
                <a:t>Resolución que: </a:t>
              </a:r>
            </a:p>
            <a:p>
              <a:pPr marL="85725" indent="-85725">
                <a:buFontTx/>
                <a:buChar char="-"/>
                <a:defRPr/>
              </a:pPr>
              <a:r>
                <a:rPr lang="es-PE" sz="1600" dirty="0">
                  <a:latin typeface="Inter" panose="020B0604020202020204" charset="0"/>
                  <a:ea typeface="Inter" panose="020B0604020202020204" charset="0"/>
                </a:rPr>
                <a:t>Aprueba el proyecto de modificación de la concesión de transporte minero, </a:t>
              </a:r>
            </a:p>
            <a:p>
              <a:pPr marL="85725" indent="-85725">
                <a:buFontTx/>
                <a:buChar char="-"/>
                <a:defRPr/>
              </a:pPr>
              <a:r>
                <a:rPr lang="es-PE" sz="1600" dirty="0">
                  <a:latin typeface="Inter" panose="020B0604020202020204" charset="0"/>
                  <a:ea typeface="Inter" panose="020B0604020202020204" charset="0"/>
                </a:rPr>
                <a:t>Autoriza la construcción del proyecto de modificación del sistema de transporte, y </a:t>
              </a:r>
            </a:p>
            <a:p>
              <a:pPr marL="85725" indent="-85725">
                <a:buFontTx/>
                <a:buChar char="-"/>
                <a:defRPr/>
              </a:pPr>
              <a:r>
                <a:rPr lang="es-PE" sz="1600" dirty="0">
                  <a:latin typeface="Inter" panose="020B0604020202020204" charset="0"/>
                  <a:ea typeface="Inter" panose="020B0604020202020204" charset="0"/>
                </a:rPr>
                <a:t>Autoriza el funcionamiento de la modificación  sistema de transporte minero</a:t>
              </a:r>
              <a:r>
                <a:rPr lang="es-PE" sz="1600" b="1" dirty="0">
                  <a:latin typeface="Inter" panose="020B0604020202020204" charset="0"/>
                  <a:ea typeface="Inter" panose="020B0604020202020204" charset="0"/>
                </a:rPr>
                <a:t>.</a:t>
              </a:r>
              <a:endParaRPr lang="es-PE" sz="1600" b="1" dirty="0">
                <a:solidFill>
                  <a:srgbClr val="000000"/>
                </a:solidFill>
                <a:latin typeface="Inter" panose="020B0604020202020204" charset="0"/>
                <a:ea typeface="Inter" panose="020B0604020202020204" charset="0"/>
                <a:cs typeface="Calibri" panose="020F0502020204030204" pitchFamily="34" charset="0"/>
              </a:endParaRPr>
            </a:p>
          </p:txBody>
        </p:sp>
        <p:cxnSp>
          <p:nvCxnSpPr>
            <p:cNvPr id="81" name="Conector: angular 449">
              <a:extLst>
                <a:ext uri="{FF2B5EF4-FFF2-40B4-BE49-F238E27FC236}">
                  <a16:creationId xmlns:a16="http://schemas.microsoft.com/office/drawing/2014/main" xmlns="" id="{83DFFA88-2201-3AC7-093A-7447C487022A}"/>
                </a:ext>
              </a:extLst>
            </p:cNvPr>
            <p:cNvCxnSpPr>
              <a:cxnSpLocks/>
              <a:stCxn id="76" idx="0"/>
              <a:endCxn id="71" idx="6"/>
            </p:cNvCxnSpPr>
            <p:nvPr/>
          </p:nvCxnSpPr>
          <p:spPr bwMode="auto">
            <a:xfrm rot="16200000" flipV="1">
              <a:off x="4936353" y="1774805"/>
              <a:ext cx="1977323" cy="750228"/>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2" name="Conector: angular 451">
              <a:extLst>
                <a:ext uri="{FF2B5EF4-FFF2-40B4-BE49-F238E27FC236}">
                  <a16:creationId xmlns:a16="http://schemas.microsoft.com/office/drawing/2014/main" xmlns="" id="{7BF043DF-7973-976B-305F-352922795ED8}"/>
                </a:ext>
              </a:extLst>
            </p:cNvPr>
            <p:cNvCxnSpPr>
              <a:cxnSpLocks/>
              <a:stCxn id="76" idx="2"/>
              <a:endCxn id="80" idx="3"/>
            </p:cNvCxnSpPr>
            <p:nvPr/>
          </p:nvCxnSpPr>
          <p:spPr bwMode="auto">
            <a:xfrm rot="5400000">
              <a:off x="4827561" y="4539808"/>
              <a:ext cx="2636232" cy="30890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CuadroTexto 82">
              <a:extLst>
                <a:ext uri="{FF2B5EF4-FFF2-40B4-BE49-F238E27FC236}">
                  <a16:creationId xmlns:a16="http://schemas.microsoft.com/office/drawing/2014/main" xmlns="" id="{6A0C34EF-F138-1013-5E3F-3AEC6ADA12D9}"/>
                </a:ext>
              </a:extLst>
            </p:cNvPr>
            <p:cNvSpPr txBox="1"/>
            <p:nvPr/>
          </p:nvSpPr>
          <p:spPr bwMode="auto">
            <a:xfrm flipH="1">
              <a:off x="4677628" y="3947132"/>
              <a:ext cx="165100" cy="172773"/>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Calibri" panose="020F0502020204030204" pitchFamily="34" charset="0"/>
                </a:rPr>
                <a:t>SI</a:t>
              </a:r>
            </a:p>
          </p:txBody>
        </p:sp>
        <p:sp>
          <p:nvSpPr>
            <p:cNvPr id="84" name="Decisión 71">
              <a:extLst>
                <a:ext uri="{FF2B5EF4-FFF2-40B4-BE49-F238E27FC236}">
                  <a16:creationId xmlns:a16="http://schemas.microsoft.com/office/drawing/2014/main" xmlns="" id="{26446828-26C4-B054-C976-5DDD19FDA183}"/>
                </a:ext>
              </a:extLst>
            </p:cNvPr>
            <p:cNvSpPr/>
            <p:nvPr/>
          </p:nvSpPr>
          <p:spPr bwMode="auto">
            <a:xfrm>
              <a:off x="4470400" y="3485729"/>
              <a:ext cx="779463" cy="343207"/>
            </a:xfrm>
            <a:prstGeom prst="flowChartDecision">
              <a:avLst/>
            </a:prstGeom>
            <a:solidFill>
              <a:schemeClr val="accent6">
                <a:lumMod val="40000"/>
                <a:lumOff val="60000"/>
              </a:schemeClr>
            </a:solidFill>
            <a:ln>
              <a:solidFill>
                <a:schemeClr val="accent2">
                  <a:lumMod val="50000"/>
                </a:schemeClr>
              </a:solidFill>
            </a:ln>
          </p:spPr>
          <p:style>
            <a:lnRef idx="1">
              <a:schemeClr val="accent2"/>
            </a:lnRef>
            <a:fillRef idx="2">
              <a:schemeClr val="accent2"/>
            </a:fillRef>
            <a:effectRef idx="1">
              <a:schemeClr val="accent2"/>
            </a:effectRef>
            <a:fontRef idx="minor">
              <a:schemeClr val="dk1"/>
            </a:fontRef>
          </p:style>
          <p:txBody>
            <a:bodyPr lIns="0" tIns="0" rIns="0" bIns="0">
              <a:spAutoFit/>
            </a:bodyPr>
            <a:lstStyle/>
            <a:p>
              <a:pPr algn="ctr">
                <a:defRPr/>
              </a:pPr>
              <a:r>
                <a:rPr lang="es-PE" sz="1600" dirty="0">
                  <a:solidFill>
                    <a:srgbClr val="000000"/>
                  </a:solidFill>
                  <a:latin typeface="Inter" panose="020B0604020202020204" charset="0"/>
                  <a:ea typeface="Inter" panose="020B0604020202020204" charset="0"/>
                  <a:cs typeface="Calibri" panose="020F0502020204030204" pitchFamily="34" charset="0"/>
                </a:rPr>
                <a:t>cumple</a:t>
              </a:r>
            </a:p>
          </p:txBody>
        </p:sp>
        <p:sp>
          <p:nvSpPr>
            <p:cNvPr id="85" name="CuadroTexto 84">
              <a:extLst>
                <a:ext uri="{FF2B5EF4-FFF2-40B4-BE49-F238E27FC236}">
                  <a16:creationId xmlns:a16="http://schemas.microsoft.com/office/drawing/2014/main" xmlns="" id="{AAAF15B3-0823-930C-CFCA-992AA402E782}"/>
                </a:ext>
              </a:extLst>
            </p:cNvPr>
            <p:cNvSpPr txBox="1"/>
            <p:nvPr/>
          </p:nvSpPr>
          <p:spPr bwMode="auto">
            <a:xfrm>
              <a:off x="5457092" y="3498139"/>
              <a:ext cx="718541" cy="518319"/>
            </a:xfrm>
            <a:prstGeom prst="rect">
              <a:avLst/>
            </a:prstGeom>
            <a:ln>
              <a:solidFill>
                <a:schemeClr val="accent2">
                  <a:lumMod val="50000"/>
                </a:schemeClr>
              </a:solidFill>
            </a:ln>
          </p:spPr>
          <p:style>
            <a:lnRef idx="1">
              <a:schemeClr val="accent1"/>
            </a:lnRef>
            <a:fillRef idx="2">
              <a:schemeClr val="accent1"/>
            </a:fillRef>
            <a:effectRef idx="1">
              <a:schemeClr val="accent1"/>
            </a:effectRef>
            <a:fontRef idx="minor">
              <a:schemeClr val="dk1"/>
            </a:fontRef>
          </p:style>
          <p:txBody>
            <a:bodyPr wrap="square" lIns="0" tIns="0" rIns="0" bIns="0">
              <a:spAutoFit/>
            </a:bodyPr>
            <a:lstStyle/>
            <a:p>
              <a:pPr algn="ctr">
                <a:defRPr/>
              </a:pPr>
              <a:r>
                <a:rPr lang="es-PE" sz="1600" dirty="0">
                  <a:latin typeface="Inter" panose="020B0604020202020204" charset="0"/>
                  <a:ea typeface="Inter" panose="020B0604020202020204" charset="0"/>
                  <a:cs typeface="Calibri" panose="020F0502020204030204" pitchFamily="34" charset="0"/>
                </a:rPr>
                <a:t>Requerir subsanar observaciones</a:t>
              </a:r>
            </a:p>
          </p:txBody>
        </p:sp>
        <p:sp>
          <p:nvSpPr>
            <p:cNvPr id="86" name="CuadroTexto 85">
              <a:extLst>
                <a:ext uri="{FF2B5EF4-FFF2-40B4-BE49-F238E27FC236}">
                  <a16:creationId xmlns:a16="http://schemas.microsoft.com/office/drawing/2014/main" xmlns="" id="{21CC7EB4-7AF4-746F-B1E1-BC1203F4C885}"/>
                </a:ext>
              </a:extLst>
            </p:cNvPr>
            <p:cNvSpPr txBox="1"/>
            <p:nvPr/>
          </p:nvSpPr>
          <p:spPr bwMode="auto">
            <a:xfrm>
              <a:off x="5480670" y="4312199"/>
              <a:ext cx="682625" cy="345546"/>
            </a:xfrm>
            <a:prstGeom prst="rect">
              <a:avLst/>
            </a:prstGeom>
            <a:ln>
              <a:solidFill>
                <a:schemeClr val="accent2">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a:spAutoFit/>
            </a:bodyPr>
            <a:lstStyle/>
            <a:p>
              <a:pPr algn="ctr">
                <a:defRPr/>
              </a:pPr>
              <a:r>
                <a:rPr lang="es-PE" sz="1600" dirty="0">
                  <a:latin typeface="Inter" panose="020B0604020202020204" charset="0"/>
                  <a:ea typeface="Inter" panose="020B0604020202020204" charset="0"/>
                  <a:cs typeface="Calibri" panose="020F0502020204030204" pitchFamily="34" charset="0"/>
                </a:rPr>
                <a:t>Subsana observaciones</a:t>
              </a:r>
            </a:p>
          </p:txBody>
        </p:sp>
        <p:sp>
          <p:nvSpPr>
            <p:cNvPr id="87" name="72 CuadroTexto">
              <a:extLst>
                <a:ext uri="{FF2B5EF4-FFF2-40B4-BE49-F238E27FC236}">
                  <a16:creationId xmlns:a16="http://schemas.microsoft.com/office/drawing/2014/main" xmlns="" id="{138E502D-3ED0-6615-02E1-F4ABB71646FF}"/>
                </a:ext>
              </a:extLst>
            </p:cNvPr>
            <p:cNvSpPr txBox="1">
              <a:spLocks noChangeArrowheads="1"/>
            </p:cNvSpPr>
            <p:nvPr/>
          </p:nvSpPr>
          <p:spPr bwMode="auto">
            <a:xfrm>
              <a:off x="5854855" y="4018116"/>
              <a:ext cx="271538" cy="17277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pPr>
              <a:r>
                <a:rPr lang="es-PE" altLang="es-PE" sz="1600" dirty="0">
                  <a:solidFill>
                    <a:srgbClr val="000000"/>
                  </a:solidFill>
                  <a:latin typeface="Inter" panose="020B0604020202020204" charset="0"/>
                  <a:ea typeface="Inter" panose="020B0604020202020204" charset="0"/>
                  <a:cs typeface="Calibri" panose="020F0502020204030204" pitchFamily="34" charset="0"/>
                </a:rPr>
                <a:t>20 dh</a:t>
              </a:r>
            </a:p>
          </p:txBody>
        </p:sp>
        <p:sp>
          <p:nvSpPr>
            <p:cNvPr id="88" name="CuadroTexto 87">
              <a:extLst>
                <a:ext uri="{FF2B5EF4-FFF2-40B4-BE49-F238E27FC236}">
                  <a16:creationId xmlns:a16="http://schemas.microsoft.com/office/drawing/2014/main" xmlns="" id="{8897591B-D945-D8D0-108A-B7572E3FDDC6}"/>
                </a:ext>
              </a:extLst>
            </p:cNvPr>
            <p:cNvSpPr txBox="1"/>
            <p:nvPr/>
          </p:nvSpPr>
          <p:spPr bwMode="auto">
            <a:xfrm>
              <a:off x="5211729" y="3418521"/>
              <a:ext cx="171450" cy="172773"/>
            </a:xfrm>
            <a:prstGeom prst="rect">
              <a:avLst/>
            </a:prstGeom>
            <a:ln>
              <a:solidFill>
                <a:schemeClr val="accent2">
                  <a:lumMod val="50000"/>
                </a:schemeClr>
              </a:solidFill>
            </a:ln>
          </p:spPr>
          <p:style>
            <a:lnRef idx="2">
              <a:schemeClr val="dk1"/>
            </a:lnRef>
            <a:fillRef idx="1">
              <a:schemeClr val="lt1"/>
            </a:fillRef>
            <a:effectRef idx="0">
              <a:schemeClr val="dk1"/>
            </a:effectRef>
            <a:fontRef idx="minor">
              <a:schemeClr val="dk1"/>
            </a:fontRef>
          </p:style>
          <p:txBody>
            <a:bodyPr lIns="0" tIns="0" rIns="0" bIns="0">
              <a:spAutoFit/>
            </a:bodyPr>
            <a:lstStyle/>
            <a:p>
              <a:pPr algn="ctr">
                <a:defRPr/>
              </a:pPr>
              <a:r>
                <a:rPr lang="es-PE" sz="1600" b="1" dirty="0">
                  <a:latin typeface="Inter" panose="020B0604020202020204" charset="0"/>
                  <a:ea typeface="Inter" panose="020B0604020202020204" charset="0"/>
                  <a:cs typeface="Calibri" panose="020F0502020204030204" pitchFamily="34" charset="0"/>
                </a:rPr>
                <a:t>NO</a:t>
              </a:r>
            </a:p>
          </p:txBody>
        </p:sp>
        <p:cxnSp>
          <p:nvCxnSpPr>
            <p:cNvPr id="89" name="Conector recto de flecha 88">
              <a:extLst>
                <a:ext uri="{FF2B5EF4-FFF2-40B4-BE49-F238E27FC236}">
                  <a16:creationId xmlns:a16="http://schemas.microsoft.com/office/drawing/2014/main" xmlns="" id="{9EBC5D72-BBAC-CA9C-9912-2E0922FB0833}"/>
                </a:ext>
              </a:extLst>
            </p:cNvPr>
            <p:cNvCxnSpPr>
              <a:cxnSpLocks/>
              <a:stCxn id="84" idx="3"/>
              <a:endCxn id="85" idx="1"/>
            </p:cNvCxnSpPr>
            <p:nvPr/>
          </p:nvCxnSpPr>
          <p:spPr bwMode="auto">
            <a:xfrm>
              <a:off x="5249863" y="3657332"/>
              <a:ext cx="207229" cy="99966"/>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onector recto 89">
              <a:extLst>
                <a:ext uri="{FF2B5EF4-FFF2-40B4-BE49-F238E27FC236}">
                  <a16:creationId xmlns:a16="http://schemas.microsoft.com/office/drawing/2014/main" xmlns="" id="{00376035-9562-87E9-0BAA-09451A092DC7}"/>
                </a:ext>
              </a:extLst>
            </p:cNvPr>
            <p:cNvCxnSpPr>
              <a:stCxn id="77" idx="2"/>
              <a:endCxn id="84" idx="0"/>
            </p:cNvCxnSpPr>
            <p:nvPr/>
          </p:nvCxnSpPr>
          <p:spPr bwMode="auto">
            <a:xfrm>
              <a:off x="4856163" y="3119016"/>
              <a:ext cx="3969" cy="366713"/>
            </a:xfrm>
            <a:prstGeom prst="line">
              <a:avLst/>
            </a:prstGeom>
            <a:ln>
              <a:solidFill>
                <a:schemeClr val="accent2">
                  <a:lumMod val="50000"/>
                </a:schemeClr>
              </a:solidFill>
              <a:tailEnd type="arrow"/>
            </a:ln>
          </p:spPr>
          <p:style>
            <a:lnRef idx="2">
              <a:schemeClr val="accent4"/>
            </a:lnRef>
            <a:fillRef idx="0">
              <a:schemeClr val="accent4"/>
            </a:fillRef>
            <a:effectRef idx="1">
              <a:schemeClr val="accent4"/>
            </a:effectRef>
            <a:fontRef idx="minor">
              <a:schemeClr val="tx1"/>
            </a:fontRef>
          </p:style>
        </p:cxnSp>
        <p:cxnSp>
          <p:nvCxnSpPr>
            <p:cNvPr id="91" name="Conector recto 90">
              <a:extLst>
                <a:ext uri="{FF2B5EF4-FFF2-40B4-BE49-F238E27FC236}">
                  <a16:creationId xmlns:a16="http://schemas.microsoft.com/office/drawing/2014/main" xmlns="" id="{7D72F231-C8FB-0295-03D2-5E3914839715}"/>
                </a:ext>
              </a:extLst>
            </p:cNvPr>
            <p:cNvCxnSpPr>
              <a:cxnSpLocks/>
              <a:stCxn id="85" idx="2"/>
              <a:endCxn id="86" idx="0"/>
            </p:cNvCxnSpPr>
            <p:nvPr/>
          </p:nvCxnSpPr>
          <p:spPr bwMode="auto">
            <a:xfrm>
              <a:off x="5816363" y="4016458"/>
              <a:ext cx="5620" cy="295741"/>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92" name="72 CuadroTexto">
              <a:extLst>
                <a:ext uri="{FF2B5EF4-FFF2-40B4-BE49-F238E27FC236}">
                  <a16:creationId xmlns:a16="http://schemas.microsoft.com/office/drawing/2014/main" xmlns="" id="{0CEF6DE5-DE7A-AA43-0A18-E7513EB3E1EE}"/>
                </a:ext>
              </a:extLst>
            </p:cNvPr>
            <p:cNvSpPr txBox="1">
              <a:spLocks noChangeArrowheads="1"/>
            </p:cNvSpPr>
            <p:nvPr/>
          </p:nvSpPr>
          <p:spPr bwMode="auto">
            <a:xfrm>
              <a:off x="5587206" y="2330818"/>
              <a:ext cx="452055" cy="2375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defRPr sz="2200">
                  <a:solidFill>
                    <a:schemeClr val="tx1"/>
                  </a:solidFill>
                  <a:latin typeface="Arial" panose="020B0604020202020204" pitchFamily="34" charset="0"/>
                </a:defRPr>
              </a:lvl1pPr>
              <a:lvl2pPr marL="742950" indent="-285750">
                <a:spcBef>
                  <a:spcPct val="20000"/>
                </a:spcBef>
                <a:buClr>
                  <a:srgbClr val="A50021"/>
                </a:buClr>
                <a:buSzPct val="125000"/>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rgbClr val="A50021"/>
                </a:buClr>
                <a:buSzPct val="125000"/>
                <a:buChar char="•"/>
                <a:defRPr sz="2000">
                  <a:solidFill>
                    <a:schemeClr val="tx1"/>
                  </a:solidFill>
                  <a:latin typeface="Arial" panose="020B0604020202020204" pitchFamily="34" charset="0"/>
                </a:defRPr>
              </a:lvl3pPr>
              <a:lvl4pPr marL="1600200" indent="-228600">
                <a:spcBef>
                  <a:spcPct val="20000"/>
                </a:spcBef>
                <a:buClr>
                  <a:srgbClr val="A50021"/>
                </a:buClr>
                <a:buSzPct val="90000"/>
                <a:buFont typeface="Wingdings" panose="05000000000000000000" pitchFamily="2" charset="2"/>
                <a:buChar char="Ø"/>
                <a:defRPr sz="2000">
                  <a:solidFill>
                    <a:schemeClr val="tx1"/>
                  </a:solidFill>
                  <a:latin typeface="Arial" panose="020B0604020202020204" pitchFamily="34" charset="0"/>
                </a:defRPr>
              </a:lvl4pPr>
              <a:lvl5pPr marL="2057400" indent="-228600">
                <a:spcBef>
                  <a:spcPct val="20000"/>
                </a:spcBef>
                <a:buClr>
                  <a:srgbClr val="A50021"/>
                </a:buClr>
                <a:buSzPct val="12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A50021"/>
                </a:buClr>
                <a:buSzPct val="12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pPr>
              <a:r>
                <a:rPr lang="es-PE" altLang="es-PE" sz="1600" dirty="0">
                  <a:solidFill>
                    <a:srgbClr val="000000"/>
                  </a:solidFill>
                  <a:latin typeface="Inter" panose="020B0604020202020204" charset="0"/>
                  <a:ea typeface="Inter" panose="020B0604020202020204" charset="0"/>
                  <a:cs typeface="Calibri" panose="020F0502020204030204" pitchFamily="34" charset="0"/>
                </a:rPr>
                <a:t>15 dh</a:t>
              </a:r>
            </a:p>
          </p:txBody>
        </p:sp>
        <p:cxnSp>
          <p:nvCxnSpPr>
            <p:cNvPr id="93" name="Conector recto de flecha 92">
              <a:extLst>
                <a:ext uri="{FF2B5EF4-FFF2-40B4-BE49-F238E27FC236}">
                  <a16:creationId xmlns:a16="http://schemas.microsoft.com/office/drawing/2014/main" xmlns="" id="{97587FAE-132D-2442-F02C-90C5D187372D}"/>
                </a:ext>
              </a:extLst>
            </p:cNvPr>
            <p:cNvCxnSpPr>
              <a:cxnSpLocks/>
              <a:stCxn id="92" idx="2"/>
              <a:endCxn id="85" idx="0"/>
            </p:cNvCxnSpPr>
            <p:nvPr/>
          </p:nvCxnSpPr>
          <p:spPr bwMode="auto">
            <a:xfrm>
              <a:off x="5813233" y="2568381"/>
              <a:ext cx="3130" cy="929758"/>
            </a:xfrm>
            <a:prstGeom prst="straightConnector1">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ector angular 81">
              <a:extLst>
                <a:ext uri="{FF2B5EF4-FFF2-40B4-BE49-F238E27FC236}">
                  <a16:creationId xmlns:a16="http://schemas.microsoft.com/office/drawing/2014/main" xmlns="" id="{EFC8D8F5-F4C9-7519-6AA3-74A7BFBE74ED}"/>
                </a:ext>
              </a:extLst>
            </p:cNvPr>
            <p:cNvCxnSpPr>
              <a:stCxn id="92" idx="0"/>
              <a:endCxn id="71" idx="6"/>
            </p:cNvCxnSpPr>
            <p:nvPr/>
          </p:nvCxnSpPr>
          <p:spPr bwMode="auto">
            <a:xfrm rot="16200000" flipV="1">
              <a:off x="5096786" y="1614371"/>
              <a:ext cx="1169561" cy="26333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24 Rectángulo">
              <a:extLst>
                <a:ext uri="{FF2B5EF4-FFF2-40B4-BE49-F238E27FC236}">
                  <a16:creationId xmlns:a16="http://schemas.microsoft.com/office/drawing/2014/main" xmlns="" id="{E98C1058-A708-3CCC-A9C0-12F25D2BA10B}"/>
                </a:ext>
              </a:extLst>
            </p:cNvPr>
            <p:cNvSpPr/>
            <p:nvPr/>
          </p:nvSpPr>
          <p:spPr bwMode="auto">
            <a:xfrm>
              <a:off x="4230167" y="1872227"/>
              <a:ext cx="1235849" cy="585787"/>
            </a:xfrm>
            <a:prstGeom prst="rect">
              <a:avLst/>
            </a:prstGeom>
            <a:solidFill>
              <a:schemeClr val="accent5">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PE" sz="1600" dirty="0">
                  <a:solidFill>
                    <a:srgbClr val="000000"/>
                  </a:solidFill>
                  <a:latin typeface="Inter" panose="020B0604020202020204" charset="0"/>
                  <a:ea typeface="Inter" panose="020B0604020202020204" charset="0"/>
                  <a:cs typeface="Calibri" panose="020F0502020204030204" pitchFamily="34" charset="0"/>
                </a:rPr>
                <a:t>Evaluación de la solicitud y los requisitos de presentación </a:t>
              </a:r>
            </a:p>
          </p:txBody>
        </p:sp>
        <p:cxnSp>
          <p:nvCxnSpPr>
            <p:cNvPr id="96" name="Conector angular 101">
              <a:extLst>
                <a:ext uri="{FF2B5EF4-FFF2-40B4-BE49-F238E27FC236}">
                  <a16:creationId xmlns:a16="http://schemas.microsoft.com/office/drawing/2014/main" xmlns="" id="{F137ECCB-FE03-7CF3-384C-D68CFCDCC285}"/>
                </a:ext>
              </a:extLst>
            </p:cNvPr>
            <p:cNvCxnSpPr>
              <a:stCxn id="86" idx="1"/>
              <a:endCxn id="80" idx="0"/>
            </p:cNvCxnSpPr>
            <p:nvPr/>
          </p:nvCxnSpPr>
          <p:spPr bwMode="auto">
            <a:xfrm rot="10800000" flipV="1">
              <a:off x="4871244" y="4484972"/>
              <a:ext cx="609426" cy="890303"/>
            </a:xfrm>
            <a:prstGeom prst="bentConnector2">
              <a:avLst/>
            </a:prstGeom>
            <a:ln>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668104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7409" y="7556924"/>
            <a:ext cx="10861891" cy="2730076"/>
            <a:chOff x="0" y="0"/>
            <a:chExt cx="1363973" cy="342827"/>
          </a:xfrm>
        </p:grpSpPr>
        <p:sp>
          <p:nvSpPr>
            <p:cNvPr id="3" name="Freeform 3"/>
            <p:cNvSpPr/>
            <p:nvPr/>
          </p:nvSpPr>
          <p:spPr>
            <a:xfrm>
              <a:off x="0" y="0"/>
              <a:ext cx="1363973" cy="342827"/>
            </a:xfrm>
            <a:custGeom>
              <a:avLst/>
              <a:gdLst/>
              <a:ahLst/>
              <a:cxnLst/>
              <a:rect l="l" t="t" r="r" b="b"/>
              <a:pathLst>
                <a:path w="1363973" h="342827">
                  <a:moveTo>
                    <a:pt x="203200" y="0"/>
                  </a:moveTo>
                  <a:lnTo>
                    <a:pt x="1363973" y="0"/>
                  </a:lnTo>
                  <a:lnTo>
                    <a:pt x="1160773" y="342827"/>
                  </a:lnTo>
                  <a:lnTo>
                    <a:pt x="0" y="342827"/>
                  </a:lnTo>
                  <a:lnTo>
                    <a:pt x="203200" y="0"/>
                  </a:lnTo>
                  <a:close/>
                </a:path>
              </a:pathLst>
            </a:custGeom>
            <a:solidFill>
              <a:srgbClr val="E38C26">
                <a:alpha val="14902"/>
              </a:srgbClr>
            </a:solidFill>
          </p:spPr>
        </p:sp>
        <p:sp>
          <p:nvSpPr>
            <p:cNvPr id="4" name="TextBox 4"/>
            <p:cNvSpPr txBox="1"/>
            <p:nvPr/>
          </p:nvSpPr>
          <p:spPr>
            <a:xfrm>
              <a:off x="101600" y="-47625"/>
              <a:ext cx="1160773" cy="390452"/>
            </a:xfrm>
            <a:prstGeom prst="rect">
              <a:avLst/>
            </a:prstGeom>
          </p:spPr>
          <p:txBody>
            <a:bodyPr lIns="50800" tIns="50800" rIns="50800" bIns="50800" rtlCol="0" anchor="ctr"/>
            <a:lstStyle/>
            <a:p>
              <a:pPr algn="ctr">
                <a:lnSpc>
                  <a:spcPts val="3220"/>
                </a:lnSpc>
              </a:pPr>
              <a:endParaRPr dirty="0"/>
            </a:p>
          </p:txBody>
        </p:sp>
      </p:grpSp>
      <p:sp>
        <p:nvSpPr>
          <p:cNvPr id="5" name="Freeform 5"/>
          <p:cNvSpPr/>
          <p:nvPr/>
        </p:nvSpPr>
        <p:spPr>
          <a:xfrm flipH="1">
            <a:off x="13022868" y="4730132"/>
            <a:ext cx="5265132" cy="5556868"/>
          </a:xfrm>
          <a:custGeom>
            <a:avLst/>
            <a:gdLst/>
            <a:ahLst/>
            <a:cxnLst/>
            <a:rect l="l" t="t" r="r" b="b"/>
            <a:pathLst>
              <a:path w="5265132" h="5556868">
                <a:moveTo>
                  <a:pt x="5265132" y="0"/>
                </a:moveTo>
                <a:lnTo>
                  <a:pt x="0" y="0"/>
                </a:lnTo>
                <a:lnTo>
                  <a:pt x="0" y="5556868"/>
                </a:lnTo>
                <a:lnTo>
                  <a:pt x="5265132" y="5556868"/>
                </a:lnTo>
                <a:lnTo>
                  <a:pt x="5265132"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6" name="TextBox 6"/>
          <p:cNvSpPr txBox="1"/>
          <p:nvPr/>
        </p:nvSpPr>
        <p:spPr>
          <a:xfrm>
            <a:off x="995082" y="1181100"/>
            <a:ext cx="13298469" cy="570669"/>
          </a:xfrm>
          <a:prstGeom prst="rect">
            <a:avLst/>
          </a:prstGeom>
        </p:spPr>
        <p:txBody>
          <a:bodyPr lIns="0" tIns="0" rIns="0" bIns="0" rtlCol="0" anchor="t">
            <a:spAutoFit/>
          </a:bodyPr>
          <a:lstStyle/>
          <a:p>
            <a:pPr algn="l">
              <a:lnSpc>
                <a:spcPts val="5039"/>
              </a:lnSpc>
            </a:pPr>
            <a:r>
              <a:rPr lang="es-PE" sz="3999" b="1" dirty="0">
                <a:solidFill>
                  <a:srgbClr val="A42F0F"/>
                </a:solidFill>
                <a:latin typeface="Futura Ultra-Bold"/>
                <a:ea typeface="Futura Ultra-Bold"/>
                <a:cs typeface="Futura Ultra-Bold"/>
                <a:sym typeface="Futura Ultra-Bold"/>
              </a:rPr>
              <a:t>BIBLIOGRAFÍA</a:t>
            </a:r>
          </a:p>
        </p:txBody>
      </p:sp>
      <p:sp>
        <p:nvSpPr>
          <p:cNvPr id="8" name="Freeform 8"/>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4"/>
            <a:stretch>
              <a:fillRect/>
            </a:stretch>
          </a:blipFill>
        </p:spPr>
      </p:sp>
      <p:sp>
        <p:nvSpPr>
          <p:cNvPr id="11" name="CuadroTexto 10">
            <a:extLst>
              <a:ext uri="{FF2B5EF4-FFF2-40B4-BE49-F238E27FC236}">
                <a16:creationId xmlns:a16="http://schemas.microsoft.com/office/drawing/2014/main" xmlns="" id="{AFBCE569-7C0D-4CE4-970A-51B63AE4EE7C}"/>
              </a:ext>
            </a:extLst>
          </p:cNvPr>
          <p:cNvSpPr txBox="1"/>
          <p:nvPr/>
        </p:nvSpPr>
        <p:spPr>
          <a:xfrm>
            <a:off x="995082" y="1943100"/>
            <a:ext cx="13886729" cy="7478970"/>
          </a:xfrm>
          <a:prstGeom prst="rect">
            <a:avLst/>
          </a:prstGeom>
          <a:noFill/>
        </p:spPr>
        <p:txBody>
          <a:bodyPr wrap="square">
            <a:spAutoFit/>
          </a:bodyPr>
          <a:lstStyle/>
          <a:p>
            <a:pPr marL="285750" marR="0" lvl="0" indent="-285750" defTabSz="914400" rtl="0" eaLnBrk="0" fontAlgn="base" latinLnBrk="0" hangingPunct="0">
              <a:spcBef>
                <a:spcPct val="0"/>
              </a:spcBef>
              <a:spcAft>
                <a:spcPct val="0"/>
              </a:spcAft>
              <a:buClrTx/>
              <a:buSzTx/>
              <a:buFont typeface="Wingdings" panose="05000000000000000000" pitchFamily="2" charset="2"/>
              <a:buChar char="ü"/>
              <a:tabLst/>
            </a:pP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rPr>
              <a:t>Congreso de la República del Perú. (1992). Ley General de Minería – Decreto Supremo N.º 014-92-EM. Diario Oficial El Peruano. </a:t>
            </a: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hlinkClick r:id="rId5"/>
              </a:rPr>
              <a:t>https://www.minem.gob.pe</a:t>
            </a: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R="0" lvl="0" defTabSz="914400" rtl="0" eaLnBrk="0" fontAlgn="base" latinLnBrk="0" hangingPunct="0">
              <a:spcBef>
                <a:spcPct val="0"/>
              </a:spcBef>
              <a:spcAft>
                <a:spcPct val="0"/>
              </a:spcAft>
              <a:buClrTx/>
              <a:buSzTx/>
              <a:tabLst/>
            </a:pP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ü"/>
              <a:tabLst/>
            </a:pP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rPr>
              <a:t>Instituto de Ingenieros de Minas del Perú. (2020). Concesiones mineras: Aspectos legales y procedimientos administrativos. Lima: IIMP.</a:t>
            </a:r>
          </a:p>
          <a:p>
            <a:pPr marR="0" lvl="0" defTabSz="914400" rtl="0" eaLnBrk="0" fontAlgn="base" latinLnBrk="0" hangingPunct="0">
              <a:spcBef>
                <a:spcPct val="0"/>
              </a:spcBef>
              <a:spcAft>
                <a:spcPct val="0"/>
              </a:spcAft>
              <a:buClrTx/>
              <a:buSzTx/>
              <a:tabLst/>
            </a:pP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ü"/>
              <a:tabLst/>
            </a:pP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rPr>
              <a:t>Ministerio de Energía y Minas del Perú. (2022). Guía para la tramitación de concesiones mineras y derechos mineros. Dirección General de Minería. </a:t>
            </a: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hlinkClick r:id="rId5"/>
              </a:rPr>
              <a:t>https://www.minem.gob.pe</a:t>
            </a: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R="0" lvl="0" defTabSz="914400" rtl="0" eaLnBrk="0" fontAlgn="base" latinLnBrk="0" hangingPunct="0">
              <a:spcBef>
                <a:spcPct val="0"/>
              </a:spcBef>
              <a:spcAft>
                <a:spcPct val="0"/>
              </a:spcAft>
              <a:buClrTx/>
              <a:buSzTx/>
              <a:tabLst/>
            </a:pP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ü"/>
              <a:tabLst/>
            </a:pP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rPr>
              <a:t>Defensoría del Pueblo. (2014). Superposición de derechos: el caso de las concesiones mineras. Informe Defensorial N.º 164. </a:t>
            </a: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hlinkClick r:id="rId6"/>
              </a:rPr>
              <a:t>https://www.defensoria.gob.pe</a:t>
            </a: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R="0" lvl="0" defTabSz="914400" rtl="0" eaLnBrk="0" fontAlgn="base" latinLnBrk="0" hangingPunct="0">
              <a:spcBef>
                <a:spcPct val="0"/>
              </a:spcBef>
              <a:spcAft>
                <a:spcPct val="0"/>
              </a:spcAft>
              <a:buClrTx/>
              <a:buSzTx/>
              <a:tabLst/>
            </a:pP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ü"/>
              <a:tabLst/>
            </a:pP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rPr>
              <a:t>Villanueva, A. &amp; Rodríguez, M. (2018). Gestión estratégica en minería: Fundamentos y casos aplicados en el Perú. Lima: Universidad Nacional de Ingeniería.</a:t>
            </a:r>
          </a:p>
          <a:p>
            <a:pPr marR="0" lvl="0" defTabSz="914400" rtl="0" eaLnBrk="0" fontAlgn="base" latinLnBrk="0" hangingPunct="0">
              <a:spcBef>
                <a:spcPct val="0"/>
              </a:spcBef>
              <a:spcAft>
                <a:spcPct val="0"/>
              </a:spcAft>
              <a:buClrTx/>
              <a:buSzTx/>
              <a:tabLst/>
            </a:pP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ü"/>
              <a:tabLst/>
            </a:pP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rPr>
              <a:t>Osorio, J. (2021). Derecho minero peruano: Régimen legal y concesiones mineras. Lima: Gaceta Jurídica.</a:t>
            </a:r>
          </a:p>
          <a:p>
            <a:pPr marR="0" lvl="0" defTabSz="914400" rtl="0" eaLnBrk="0" fontAlgn="base" latinLnBrk="0" hangingPunct="0">
              <a:spcBef>
                <a:spcPct val="0"/>
              </a:spcBef>
              <a:spcAft>
                <a:spcPct val="0"/>
              </a:spcAft>
              <a:buClrTx/>
              <a:buSzTx/>
              <a:tabLst/>
            </a:pPr>
            <a:endPar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ü"/>
              <a:tabLst/>
            </a:pPr>
            <a:r>
              <a:rPr kumimoji="0" lang="es-PE" altLang="es-PE" sz="2400" b="1" i="0" u="none" strike="noStrike" cap="none" normalizeH="0" baseline="0" dirty="0">
                <a:ln>
                  <a:noFill/>
                </a:ln>
                <a:solidFill>
                  <a:schemeClr val="tx1"/>
                </a:solidFill>
                <a:effectLst/>
                <a:latin typeface="Inter" panose="020B0604020202020204" charset="0"/>
                <a:ea typeface="Inter" panose="020B0604020202020204" charset="0"/>
              </a:rPr>
              <a:t>Banco Mundial. (2016). Marco legal para el desarrollo del sector minero en América Latina y el Caribe. Washington, DC: Banco Mundial. https://www.worldbank.org</a:t>
            </a:r>
            <a:endParaRPr kumimoji="0" lang="es-PE" altLang="es-PE" sz="2400" b="0" i="0" u="none" strike="noStrike" cap="none" normalizeH="0" baseline="0" dirty="0">
              <a:ln>
                <a:noFill/>
              </a:ln>
              <a:solidFill>
                <a:schemeClr val="tx1"/>
              </a:solidFill>
              <a:effectLst/>
              <a:latin typeface="Inter" panose="020B0604020202020204" charset="0"/>
              <a:ea typeface="Inter" panose="020B060402020202020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7936525" y="8117742"/>
            <a:ext cx="10378369" cy="2232571"/>
          </a:xfrm>
          <a:custGeom>
            <a:avLst/>
            <a:gdLst/>
            <a:ahLst/>
            <a:cxnLst/>
            <a:rect l="l" t="t" r="r" b="b"/>
            <a:pathLst>
              <a:path w="10631292" h="2232571">
                <a:moveTo>
                  <a:pt x="0" y="2232571"/>
                </a:moveTo>
                <a:lnTo>
                  <a:pt x="10631292" y="2232571"/>
                </a:lnTo>
                <a:lnTo>
                  <a:pt x="10631292" y="0"/>
                </a:lnTo>
                <a:lnTo>
                  <a:pt x="0" y="0"/>
                </a:lnTo>
                <a:lnTo>
                  <a:pt x="0" y="2232571"/>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1751968" y="0"/>
            <a:ext cx="11086125" cy="2372699"/>
            <a:chOff x="0" y="0"/>
            <a:chExt cx="1601814" cy="342827"/>
          </a:xfrm>
        </p:grpSpPr>
        <p:sp>
          <p:nvSpPr>
            <p:cNvPr id="4" name="Freeform 4"/>
            <p:cNvSpPr/>
            <p:nvPr/>
          </p:nvSpPr>
          <p:spPr>
            <a:xfrm>
              <a:off x="0" y="0"/>
              <a:ext cx="1601814" cy="342827"/>
            </a:xfrm>
            <a:custGeom>
              <a:avLst/>
              <a:gdLst/>
              <a:ahLst/>
              <a:cxnLst/>
              <a:rect l="l" t="t" r="r" b="b"/>
              <a:pathLst>
                <a:path w="1601814" h="342827">
                  <a:moveTo>
                    <a:pt x="203200" y="0"/>
                  </a:moveTo>
                  <a:lnTo>
                    <a:pt x="1601814" y="0"/>
                  </a:lnTo>
                  <a:lnTo>
                    <a:pt x="1398614" y="342827"/>
                  </a:lnTo>
                  <a:lnTo>
                    <a:pt x="0" y="342827"/>
                  </a:lnTo>
                  <a:lnTo>
                    <a:pt x="203200" y="0"/>
                  </a:lnTo>
                  <a:close/>
                </a:path>
              </a:pathLst>
            </a:custGeom>
            <a:solidFill>
              <a:srgbClr val="E38C26">
                <a:alpha val="14902"/>
              </a:srgbClr>
            </a:solidFill>
          </p:spPr>
        </p:sp>
        <p:sp>
          <p:nvSpPr>
            <p:cNvPr id="5" name="TextBox 5"/>
            <p:cNvSpPr txBox="1"/>
            <p:nvPr/>
          </p:nvSpPr>
          <p:spPr>
            <a:xfrm>
              <a:off x="101600" y="-47625"/>
              <a:ext cx="1398614" cy="390452"/>
            </a:xfrm>
            <a:prstGeom prst="rect">
              <a:avLst/>
            </a:prstGeom>
          </p:spPr>
          <p:txBody>
            <a:bodyPr lIns="50800" tIns="50800" rIns="50800" bIns="50800" rtlCol="0" anchor="ctr"/>
            <a:lstStyle/>
            <a:p>
              <a:pPr algn="ctr">
                <a:lnSpc>
                  <a:spcPts val="3220"/>
                </a:lnSpc>
              </a:pPr>
              <a:endParaRPr dirty="0"/>
            </a:p>
          </p:txBody>
        </p:sp>
      </p:grpSp>
      <p:grpSp>
        <p:nvGrpSpPr>
          <p:cNvPr id="6" name="Group 6"/>
          <p:cNvGrpSpPr/>
          <p:nvPr/>
        </p:nvGrpSpPr>
        <p:grpSpPr>
          <a:xfrm>
            <a:off x="0" y="6671705"/>
            <a:ext cx="8305457" cy="3656470"/>
            <a:chOff x="0" y="0"/>
            <a:chExt cx="1286733" cy="566483"/>
          </a:xfrm>
        </p:grpSpPr>
        <p:sp>
          <p:nvSpPr>
            <p:cNvPr id="7" name="Freeform 7"/>
            <p:cNvSpPr/>
            <p:nvPr/>
          </p:nvSpPr>
          <p:spPr>
            <a:xfrm>
              <a:off x="0" y="0"/>
              <a:ext cx="1286733" cy="566483"/>
            </a:xfrm>
            <a:custGeom>
              <a:avLst/>
              <a:gdLst/>
              <a:ahLst/>
              <a:cxnLst/>
              <a:rect l="l" t="t" r="r" b="b"/>
              <a:pathLst>
                <a:path w="1286733" h="566483">
                  <a:moveTo>
                    <a:pt x="0" y="0"/>
                  </a:moveTo>
                  <a:lnTo>
                    <a:pt x="1286733" y="0"/>
                  </a:lnTo>
                  <a:lnTo>
                    <a:pt x="1286733" y="566483"/>
                  </a:lnTo>
                  <a:lnTo>
                    <a:pt x="0" y="566483"/>
                  </a:lnTo>
                  <a:close/>
                </a:path>
              </a:pathLst>
            </a:custGeom>
            <a:blipFill>
              <a:blip r:embed="rId4"/>
              <a:stretch>
                <a:fillRect t="-51334"/>
              </a:stretch>
            </a:blipFill>
            <a:ln cap="sq">
              <a:noFill/>
              <a:prstDash val="solid"/>
              <a:miter/>
            </a:ln>
          </p:spPr>
        </p:sp>
      </p:grpSp>
      <p:grpSp>
        <p:nvGrpSpPr>
          <p:cNvPr id="8" name="Group 8"/>
          <p:cNvGrpSpPr/>
          <p:nvPr/>
        </p:nvGrpSpPr>
        <p:grpSpPr>
          <a:xfrm>
            <a:off x="12458000" y="6499146"/>
            <a:ext cx="7000297" cy="1099303"/>
            <a:chOff x="0" y="0"/>
            <a:chExt cx="2183103" cy="342827"/>
          </a:xfrm>
        </p:grpSpPr>
        <p:sp>
          <p:nvSpPr>
            <p:cNvPr id="9" name="Freeform 9"/>
            <p:cNvSpPr/>
            <p:nvPr/>
          </p:nvSpPr>
          <p:spPr>
            <a:xfrm>
              <a:off x="0" y="0"/>
              <a:ext cx="2183103" cy="342827"/>
            </a:xfrm>
            <a:custGeom>
              <a:avLst/>
              <a:gdLst/>
              <a:ahLst/>
              <a:cxnLst/>
              <a:rect l="l" t="t" r="r" b="b"/>
              <a:pathLst>
                <a:path w="2183103" h="342827">
                  <a:moveTo>
                    <a:pt x="203200" y="0"/>
                  </a:moveTo>
                  <a:lnTo>
                    <a:pt x="2183103" y="0"/>
                  </a:lnTo>
                  <a:lnTo>
                    <a:pt x="1979903" y="342827"/>
                  </a:lnTo>
                  <a:lnTo>
                    <a:pt x="0" y="342827"/>
                  </a:lnTo>
                  <a:lnTo>
                    <a:pt x="203200" y="0"/>
                  </a:lnTo>
                  <a:close/>
                </a:path>
              </a:pathLst>
            </a:custGeom>
            <a:solidFill>
              <a:srgbClr val="E38C26">
                <a:alpha val="14902"/>
              </a:srgbClr>
            </a:solidFill>
          </p:spPr>
        </p:sp>
        <p:sp>
          <p:nvSpPr>
            <p:cNvPr id="10" name="TextBox 10"/>
            <p:cNvSpPr txBox="1"/>
            <p:nvPr/>
          </p:nvSpPr>
          <p:spPr>
            <a:xfrm>
              <a:off x="101600" y="-47625"/>
              <a:ext cx="1979903" cy="390452"/>
            </a:xfrm>
            <a:prstGeom prst="rect">
              <a:avLst/>
            </a:prstGeom>
          </p:spPr>
          <p:txBody>
            <a:bodyPr lIns="50800" tIns="50800" rIns="50800" bIns="50800" rtlCol="0" anchor="ctr"/>
            <a:lstStyle/>
            <a:p>
              <a:pPr algn="ctr">
                <a:lnSpc>
                  <a:spcPts val="3220"/>
                </a:lnSpc>
              </a:pPr>
              <a:endParaRPr dirty="0"/>
            </a:p>
          </p:txBody>
        </p:sp>
      </p:grpSp>
      <p:grpSp>
        <p:nvGrpSpPr>
          <p:cNvPr id="11" name="Group 11"/>
          <p:cNvGrpSpPr/>
          <p:nvPr/>
        </p:nvGrpSpPr>
        <p:grpSpPr>
          <a:xfrm>
            <a:off x="8458200" y="3534732"/>
            <a:ext cx="3086100" cy="3086100"/>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38C26"/>
            </a:solidFill>
          </p:spPr>
        </p:sp>
        <p:sp>
          <p:nvSpPr>
            <p:cNvPr id="13" name="TextBox 13"/>
            <p:cNvSpPr txBox="1"/>
            <p:nvPr/>
          </p:nvSpPr>
          <p:spPr>
            <a:xfrm>
              <a:off x="0" y="-47625"/>
              <a:ext cx="812800" cy="860425"/>
            </a:xfrm>
            <a:prstGeom prst="rect">
              <a:avLst/>
            </a:prstGeom>
          </p:spPr>
          <p:txBody>
            <a:bodyPr lIns="50800" tIns="50800" rIns="50800" bIns="50800" rtlCol="0" anchor="ctr"/>
            <a:lstStyle/>
            <a:p>
              <a:pPr algn="ctr">
                <a:lnSpc>
                  <a:spcPts val="3220"/>
                </a:lnSpc>
              </a:pPr>
              <a:endParaRPr dirty="0"/>
            </a:p>
          </p:txBody>
        </p:sp>
      </p:grpSp>
      <p:sp>
        <p:nvSpPr>
          <p:cNvPr id="14" name="TextBox 14"/>
          <p:cNvSpPr txBox="1"/>
          <p:nvPr/>
        </p:nvSpPr>
        <p:spPr>
          <a:xfrm>
            <a:off x="1028700" y="3938871"/>
            <a:ext cx="9329113" cy="2473819"/>
          </a:xfrm>
          <a:prstGeom prst="rect">
            <a:avLst/>
          </a:prstGeom>
        </p:spPr>
        <p:txBody>
          <a:bodyPr lIns="0" tIns="0" rIns="0" bIns="0" rtlCol="0" anchor="t">
            <a:spAutoFit/>
          </a:bodyPr>
          <a:lstStyle/>
          <a:p>
            <a:pPr algn="l">
              <a:lnSpc>
                <a:spcPts val="21070"/>
              </a:lnSpc>
            </a:pPr>
            <a:r>
              <a:rPr lang="es-PE" sz="16700" dirty="0">
                <a:solidFill>
                  <a:srgbClr val="A42F0F"/>
                </a:solidFill>
                <a:latin typeface="Impact"/>
                <a:ea typeface="Impact"/>
                <a:cs typeface="Impact"/>
                <a:sym typeface="Impact"/>
              </a:rPr>
              <a:t>GRACIAS </a:t>
            </a:r>
          </a:p>
        </p:txBody>
      </p:sp>
      <p:sp>
        <p:nvSpPr>
          <p:cNvPr id="15" name="Freeform 15"/>
          <p:cNvSpPr/>
          <p:nvPr/>
        </p:nvSpPr>
        <p:spPr>
          <a:xfrm>
            <a:off x="14881811" y="0"/>
            <a:ext cx="3406189" cy="2104637"/>
          </a:xfrm>
          <a:custGeom>
            <a:avLst/>
            <a:gdLst/>
            <a:ahLst/>
            <a:cxnLst/>
            <a:rect l="l" t="t" r="r" b="b"/>
            <a:pathLst>
              <a:path w="3406189" h="2104637">
                <a:moveTo>
                  <a:pt x="0" y="0"/>
                </a:moveTo>
                <a:lnTo>
                  <a:pt x="3406189" y="0"/>
                </a:lnTo>
                <a:lnTo>
                  <a:pt x="3406189" y="2104637"/>
                </a:lnTo>
                <a:lnTo>
                  <a:pt x="0" y="2104637"/>
                </a:lnTo>
                <a:lnTo>
                  <a:pt x="0" y="0"/>
                </a:lnTo>
                <a:close/>
              </a:path>
            </a:pathLst>
          </a:custGeom>
          <a:blipFill>
            <a:blip r:embed="rId5"/>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868</TotalTime>
  <Words>9539</Words>
  <Application>Microsoft Office PowerPoint</Application>
  <PresentationFormat>Personalizado</PresentationFormat>
  <Paragraphs>1270</Paragraphs>
  <Slides>91</Slides>
  <Notes>0</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91</vt:i4>
      </vt:variant>
    </vt:vector>
  </HeadingPairs>
  <TitlesOfParts>
    <vt:vector size="104" baseType="lpstr">
      <vt:lpstr>Arial</vt:lpstr>
      <vt:lpstr>Tahoma</vt:lpstr>
      <vt:lpstr>Futura Ultra-Bold</vt:lpstr>
      <vt:lpstr>Inter Bold</vt:lpstr>
      <vt:lpstr>Wingdings</vt:lpstr>
      <vt:lpstr>Montserrat Bold</vt:lpstr>
      <vt:lpstr>Montserrat</vt:lpstr>
      <vt:lpstr>Inter</vt:lpstr>
      <vt:lpstr>Impact</vt:lpstr>
      <vt:lpstr>Times New Roman</vt:lpstr>
      <vt:lpstr>Calibri</vt:lpstr>
      <vt:lpstr>Futura Std Book</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FORMATO LOGÍSTICA</dc:title>
  <dc:creator>user</dc:creator>
  <cp:lastModifiedBy>Luffi</cp:lastModifiedBy>
  <cp:revision>42</cp:revision>
  <dcterms:created xsi:type="dcterms:W3CDTF">2006-08-16T00:00:00Z</dcterms:created>
  <dcterms:modified xsi:type="dcterms:W3CDTF">2025-12-11T20:44:58Z</dcterms:modified>
  <dc:identifier>DAGjslusFkw</dc:identifier>
</cp:coreProperties>
</file>